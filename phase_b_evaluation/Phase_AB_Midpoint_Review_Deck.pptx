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slides/charts/chart1.xml" ContentType="application/vnd.openxmlformats-officedocument.drawingml.chart+xml"/>
  <Override PartName="/ppt/notesSlides/notesSlide3.xml" ContentType="application/vnd.openxmlformats-officedocument.presentationml.notesSlide+xml"/>
  <Override PartName="/ppt/slides/slide4.xml" ContentType="application/vnd.openxmlformats-officedocument.presentationml.slide+xml"/>
  <Override PartName="/ppt/slides/charts/chart2.xml" ContentType="application/vnd.openxmlformats-officedocument.drawingml.chart+xml"/>
  <Override PartName="/ppt/notesSlides/notesSlide4.xml" ContentType="application/vnd.openxmlformats-officedocument.presentationml.notesSlide+xml"/>
  <Override PartName="/ppt/slides/slide5.xml" ContentType="application/vnd.openxmlformats-officedocument.presentationml.slide+xml"/>
  <Override PartName="/ppt/slides/charts/chart3.xml" ContentType="application/vnd.openxmlformats-officedocument.drawingml.chart+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4.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5.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0d062473acc94f78" /><Relationship Type="http://schemas.openxmlformats.org/officeDocument/2006/relationships/extended-properties" Target="/docProps/app.xml" Id="R499ce9f656454281" /><Relationship Type="http://schemas.openxmlformats.org/officeDocument/2006/relationships/officeDocument" Target="/ppt/presentation.xml" Id="R30882623832343d6" /></Relationships>
</file>

<file path=ppt/presentation.xml><?xml version="1.0" encoding="utf-8"?>
<p:presentation xmlns:p="http://schemas.openxmlformats.org/presentationml/2006/main">
  <p:sldMasterIdLst>
    <p:sldMasterId xmlns:r="http://schemas.openxmlformats.org/officeDocument/2006/relationships" id="2147483648" r:id="R9749332c7f184603"/>
  </p:sldMasterIdLst>
  <p:notesMasterIdLst>
    <p:notesMasterId xmlns:r="http://schemas.openxmlformats.org/officeDocument/2006/relationships" r:id="R444b3798074d44ff"/>
  </p:notesMasterIdLst>
  <p:sldIdLst>
    <p:sldId xmlns:r="http://schemas.openxmlformats.org/officeDocument/2006/relationships" id="256" r:id="R8586aa3f924b4dbc"/>
    <p:sldId xmlns:r="http://schemas.openxmlformats.org/officeDocument/2006/relationships" id="257" r:id="R40dbf63909a34445"/>
    <p:sldId xmlns:r="http://schemas.openxmlformats.org/officeDocument/2006/relationships" id="258" r:id="R810ad9c8aaf14373"/>
    <p:sldId xmlns:r="http://schemas.openxmlformats.org/officeDocument/2006/relationships" id="259" r:id="R1b575558044f4790"/>
    <p:sldId xmlns:r="http://schemas.openxmlformats.org/officeDocument/2006/relationships" id="260" r:id="R13c145f94bb64be7"/>
    <p:sldId xmlns:r="http://schemas.openxmlformats.org/officeDocument/2006/relationships" id="261" r:id="R28cc3071193946ec"/>
    <p:sldId xmlns:r="http://schemas.openxmlformats.org/officeDocument/2006/relationships" id="262" r:id="R960093b214534a12"/>
    <p:sldId xmlns:r="http://schemas.openxmlformats.org/officeDocument/2006/relationships" id="263" r:id="R7b3fc5deaba14ef0"/>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e938fccf14b64acc" /><Relationship Type="http://schemas.openxmlformats.org/officeDocument/2006/relationships/slideMaster" Target="/ppt/slideMasters/slideMaster1.xml" Id="R9749332c7f184603" /><Relationship Type="http://schemas.openxmlformats.org/officeDocument/2006/relationships/notesMaster" Target="/ppt/notesMasters/notesMaster1.xml" Id="R444b3798074d44ff" /><Relationship Type="http://schemas.openxmlformats.org/officeDocument/2006/relationships/presProps" Target="/ppt/presProps.xml" Id="R04a6621e29a045c6" /><Relationship Type="http://schemas.openxmlformats.org/officeDocument/2006/relationships/tableStyles" Target="/ppt/tableStyles.xml" Id="R968b6aca5b6f4b2f" /><Relationship Type="http://schemas.openxmlformats.org/officeDocument/2006/relationships/slide" Target="/ppt/slides/slide1.xml" Id="R8586aa3f924b4dbc" /><Relationship Type="http://schemas.openxmlformats.org/officeDocument/2006/relationships/slide" Target="/ppt/slides/slide2.xml" Id="R40dbf63909a34445" /><Relationship Type="http://schemas.openxmlformats.org/officeDocument/2006/relationships/slide" Target="/ppt/slides/slide3.xml" Id="R810ad9c8aaf14373" /><Relationship Type="http://schemas.openxmlformats.org/officeDocument/2006/relationships/slide" Target="/ppt/slides/slide4.xml" Id="R1b575558044f4790" /><Relationship Type="http://schemas.openxmlformats.org/officeDocument/2006/relationships/slide" Target="/ppt/slides/slide5.xml" Id="R13c145f94bb64be7" /><Relationship Type="http://schemas.openxmlformats.org/officeDocument/2006/relationships/slide" Target="/ppt/slides/slide6.xml" Id="R28cc3071193946ec" /><Relationship Type="http://schemas.openxmlformats.org/officeDocument/2006/relationships/slide" Target="/ppt/slides/slide7.xml" Id="R960093b214534a12" /><Relationship Type="http://schemas.openxmlformats.org/officeDocument/2006/relationships/slide" Target="/ppt/slides/slide8.xml" Id="R7b3fc5deaba14ef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cf93571d28846c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1c981e07ae94c53" /><Relationship Type="http://schemas.openxmlformats.org/officeDocument/2006/relationships/notesMaster" Target="/ppt/notesMasters/notesMaster1.xml" Id="R9bc012f8d67e45fd" /></Relationships>
</file>

<file path=ppt/notesSlides/_rels/notesSlide2.xml.rels>&#65279;<?xml version="1.0" encoding="utf-8"?><Relationships xmlns="http://schemas.openxmlformats.org/package/2006/relationships"><Relationship Type="http://schemas.openxmlformats.org/officeDocument/2006/relationships/slide" Target="/ppt/slides/slide2.xml" Id="R444f219c83834457" /><Relationship Type="http://schemas.openxmlformats.org/officeDocument/2006/relationships/notesMaster" Target="/ppt/notesMasters/notesMaster1.xml" Id="R5839dca858d348e6" /></Relationships>
</file>

<file path=ppt/notesSlides/_rels/notesSlide3.xml.rels>&#65279;<?xml version="1.0" encoding="utf-8"?><Relationships xmlns="http://schemas.openxmlformats.org/package/2006/relationships"><Relationship Type="http://schemas.openxmlformats.org/officeDocument/2006/relationships/slide" Target="/ppt/slides/slide3.xml" Id="R4cee6aa9707d4e78" /><Relationship Type="http://schemas.openxmlformats.org/officeDocument/2006/relationships/notesMaster" Target="/ppt/notesMasters/notesMaster1.xml" Id="R50c8fad6f2504ff4" /></Relationships>
</file>

<file path=ppt/notesSlides/_rels/notesSlide4.xml.rels>&#65279;<?xml version="1.0" encoding="utf-8"?><Relationships xmlns="http://schemas.openxmlformats.org/package/2006/relationships"><Relationship Type="http://schemas.openxmlformats.org/officeDocument/2006/relationships/slide" Target="/ppt/slides/slide4.xml" Id="Rccbc29b37be74293" /><Relationship Type="http://schemas.openxmlformats.org/officeDocument/2006/relationships/notesMaster" Target="/ppt/notesMasters/notesMaster1.xml" Id="Rd1c0a7426b644b2c" /></Relationships>
</file>

<file path=ppt/notesSlides/_rels/notesSlide5.xml.rels>&#65279;<?xml version="1.0" encoding="utf-8"?><Relationships xmlns="http://schemas.openxmlformats.org/package/2006/relationships"><Relationship Type="http://schemas.openxmlformats.org/officeDocument/2006/relationships/slide" Target="/ppt/slides/slide5.xml" Id="R70a598d9bdda4eb6" /><Relationship Type="http://schemas.openxmlformats.org/officeDocument/2006/relationships/notesMaster" Target="/ppt/notesMasters/notesMaster1.xml" Id="R070c622901bc4cfb" /></Relationships>
</file>

<file path=ppt/notesSlides/_rels/notesSlide6.xml.rels>&#65279;<?xml version="1.0" encoding="utf-8"?><Relationships xmlns="http://schemas.openxmlformats.org/package/2006/relationships"><Relationship Type="http://schemas.openxmlformats.org/officeDocument/2006/relationships/slide" Target="/ppt/slides/slide6.xml" Id="Rb186157196e94168" /><Relationship Type="http://schemas.openxmlformats.org/officeDocument/2006/relationships/notesMaster" Target="/ppt/notesMasters/notesMaster1.xml" Id="R532f9bb61034461f" /></Relationships>
</file>

<file path=ppt/notesSlides/_rels/notesSlide7.xml.rels>&#65279;<?xml version="1.0" encoding="utf-8"?><Relationships xmlns="http://schemas.openxmlformats.org/package/2006/relationships"><Relationship Type="http://schemas.openxmlformats.org/officeDocument/2006/relationships/slide" Target="/ppt/slides/slide7.xml" Id="R92db1a5099494720" /><Relationship Type="http://schemas.openxmlformats.org/officeDocument/2006/relationships/notesMaster" Target="/ppt/notesMasters/notesMaster1.xml" Id="R51d454a718c24c36" /></Relationships>
</file>

<file path=ppt/notesSlides/_rels/notesSlide8.xml.rels>&#65279;<?xml version="1.0" encoding="utf-8"?><Relationships xmlns="http://schemas.openxmlformats.org/package/2006/relationships"><Relationship Type="http://schemas.openxmlformats.org/officeDocument/2006/relationships/slide" Target="/ppt/slides/slide8.xml" Id="R410f352e44b24d27" /><Relationship Type="http://schemas.openxmlformats.org/officeDocument/2006/relationships/notesMaster" Target="/ppt/notesMasters/notesMaster1.xml" Id="R9196009154ee4bd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midpoint review for the first four weeks and both completed phases, not a Week 4-only report. Phase A established the evaluation landscape and benchmark. Phase B extended the same evidence contract to a third language model, governed RAG, robustness, two vision-language architectures, and system cost. I will focus on the main comparisons and limitations; implementation details remain in the weekly reports.</a:t>
            </a:r>
          </a:p>
          <a:p xmlns:a="http://schemas.openxmlformats.org/drawingml/2006/main">
            <a:r>
              <a:t/>
            </a:r>
          </a:p>
          <a:p xmlns:a="http://schemas.openxmlformats.org/drawingml/2006/main">
            <a:r>
              <a:t>[Sources]</a:t>
            </a:r>
          </a:p>
          <a:p xmlns:a="http://schemas.openxmlformats.org/drawingml/2006/main">
            <a:r>
              <a:t>- phase_b_evaluation/Phase_AB_Midpoint_Report.md</a:t>
            </a:r>
          </a:p>
          <a:p xmlns:a="http://schemas.openxmlformats.org/drawingml/2006/main">
            <a:r>
              <a:t>- weekly/Wk-01-EvalLog.md through weekly/Wk-04-EvalLog.md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Week 1 defined what must be measured when model outputs affect physical products. Week 2 converted that into a frozen thirty-five-scenario benchmark across five InGen product contexts. Weeks 3 and 4 reused the same traceability rules while adding a third model, governed retrieval, paraphrase and missing-evidence tests, a controlled two-VLM comparison, and performance instrumentation. The key continuity is the evidence contract: pinned revisions, seed 42, deterministic decoding, immutable inputs, row hashes, and claim boundaries.</a:t>
            </a:r>
          </a:p>
          <a:p xmlns:a="http://schemas.openxmlformats.org/drawingml/2006/main">
            <a:r>
              <a:t/>
            </a:r>
          </a:p>
          <a:p xmlns:a="http://schemas.openxmlformats.org/drawingml/2006/main">
            <a:r>
              <a:t>[Sources]</a:t>
            </a:r>
          </a:p>
          <a:p xmlns:a="http://schemas.openxmlformats.org/drawingml/2006/main">
            <a:r>
              <a:t>- weekly/Wk-01-EvalLog.md</a:t>
            </a:r>
          </a:p>
          <a:p xmlns:a="http://schemas.openxmlformats.org/drawingml/2006/main">
            <a:r>
              <a:t>- phase_a_design/W02_Eval_Framework_Design.md</a:t>
            </a:r>
          </a:p>
          <a:p xmlns:a="http://schemas.openxmlformats.org/drawingml/2006/main">
            <a:r>
              <a:t>- phase_b_evaluation/W03_RAG_Expanded_Benchmark_Report.md</a:t>
            </a:r>
          </a:p>
          <a:p xmlns:a="http://schemas.openxmlformats.org/drawingml/2006/main">
            <a:r>
              <a:t>- phase_b_evaluation/W04_Evaluation_Report.md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On the frozen text benchmark, severity-weighted paired quality is 3.725 for FLAN, 4.288 for Mistral, and 4.061 for Llama. The stronger conclusion comes from candidate behavior: FLAN produced only seven unique responses and often copied the one-shot example, while Mistral and Llama produced scenario-specific answers. These bars are not a validated leaderboard. Prometheus failed the frozen calibration gates, and resolved quality coverage is only 13/35 for FLAN, 33/35 for Mistral, and 32/35 for Llama.</a:t>
            </a:r>
          </a:p>
          <a:p xmlns:a="http://schemas.openxmlformats.org/drawingml/2006/main">
            <a:r>
              <a:t/>
            </a:r>
          </a:p>
          <a:p xmlns:a="http://schemas.openxmlformats.org/drawingml/2006/main">
            <a:r>
              <a:t>[Sources]</a:t>
            </a:r>
          </a:p>
          <a:p xmlns:a="http://schemas.openxmlformats.org/drawingml/2006/main">
            <a:r>
              <a:t>- phase_b_evaluation/W03_Three_Model_Diagnostic_Summary.json</a:t>
            </a:r>
          </a:p>
          <a:p xmlns:a="http://schemas.openxmlformats.org/drawingml/2006/main">
            <a:r>
              <a:t>- phase_a_design/W02_Eval_Framework_Design.md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expanded public collection contains 331 traceable knowledge units and forty governed questions. Mean required-fact recall is 0.902, with complete expected evidence for 30/40 questions and zero metadata leakage. Diagnostic answer relevance changes only slightly for FLAN, but rises from 0.223 to 0.635 for Mistral and from 0.264 to 0.642 for Llama. Retrieval itself takes 408.893 milliseconds p50; full RAG takes 8.40 seconds because the prompt and answer are much longer. Private June material remains a separate collection and is excluded from these public metrics.</a:t>
            </a:r>
          </a:p>
          <a:p xmlns:a="http://schemas.openxmlformats.org/drawingml/2006/main">
            <a:r>
              <a:t/>
            </a:r>
          </a:p>
          <a:p xmlns:a="http://schemas.openxmlformats.org/drawingml/2006/main">
            <a:r>
              <a:t>[Sources]</a:t>
            </a:r>
          </a:p>
          <a:p xmlns:a="http://schemas.openxmlformats.org/drawingml/2006/main">
            <a:r>
              <a:t>- phase_b_evaluation/W03_RAG_Expanded_Final_Retrieval_Summary_v0.6.2.json</a:t>
            </a:r>
          </a:p>
          <a:p xmlns:a="http://schemas.openxmlformats.org/drawingml/2006/main">
            <a:r>
              <a:t>- phase_b_evaluation/W03_RAG_Expanded_Three_Model_RAGAS_Summary_v0.6.2.json</a:t>
            </a:r>
          </a:p>
          <a:p xmlns:a="http://schemas.openxmlformats.org/drawingml/2006/main">
            <a:r>
              <a:t>- phase_b_evaluation/W04_System_Performance_Summary_v0.2.0.json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Semantic decision consistency is 0.914 for FLAN and 0.857 for both Mistral and Llama. FLAN nevertheless has 25 stable failures, so consistency alone would reward a repeatedly wrong model. The line chart removes one, two, or three of five evidence groups while leaving the response instruction intact. This simulates missing structured inputs from sensor dropout, packet loss, field omission, or extraction failure; it does not mask the model's hidden embeddings. At sixty percent evidence removal, mean Task drops 0.357 for FLAN, 0.000 for Mistral, and 0.286 for Llama.</a:t>
            </a:r>
          </a:p>
          <a:p xmlns:a="http://schemas.openxmlformats.org/drawingml/2006/main">
            <a:r>
              <a:t/>
            </a:r>
          </a:p>
          <a:p xmlns:a="http://schemas.openxmlformats.org/drawingml/2006/main">
            <a:r>
              <a:t>[Sources]</a:t>
            </a:r>
          </a:p>
          <a:p xmlns:a="http://schemas.openxmlformats.org/drawingml/2006/main">
            <a:r>
              <a:t>- phase_b_evaluation/W04_Robustness_Summary_v0.1.0.json</a:t>
            </a:r>
          </a:p>
          <a:p xmlns:a="http://schemas.openxmlformats.org/drawingml/2006/main">
            <a:r>
              <a:t>- phase_b_evaluation/W04_Robustness_Curves_v0.1.0.csv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supervisor-requested second architecture is LLaVA-1.5-7B, selected from the reference list. Both VLMs receive the exact same sixty processed images, user prompt, seed, maximum output, rubric, and Llama Judge. Only the architecture and native processor template change. Idefics2 scores 4.900 on clean images; LLaVA scores 4.800. On the twenty clean scenarios, LLaVA has 0 wins, 19 ties, and 1 loss relative to Idefics2, with a mean difference of -0.100 points out of five. This is a controlled public-image proxy, not production camera accuracy.</a:t>
            </a:r>
          </a:p>
          <a:p xmlns:a="http://schemas.openxmlformats.org/drawingml/2006/main">
            <a:r>
              <a:t/>
            </a:r>
          </a:p>
          <a:p xmlns:a="http://schemas.openxmlformats.org/drawingml/2006/main">
            <a:r>
              <a:t>[Sources]</a:t>
            </a:r>
          </a:p>
          <a:p xmlns:a="http://schemas.openxmlformats.org/drawingml/2006/main">
            <a:r>
              <a:t>- phase_b_evaluation/W04_Multimodal_Architecture_Comparison_v0.2.0.json</a:t>
            </a:r>
          </a:p>
          <a:p xmlns:a="http://schemas.openxmlformats.org/drawingml/2006/main">
            <a:r>
              <a:t>- https://huggingface.co/docs/transformers/model_doc/llava</a:t>
            </a:r>
          </a:p>
          <a:p xmlns:a="http://schemas.openxmlformats.org/drawingml/2006/main">
            <a:r>
              <a:t>- https://huggingface.co/HuggingFaceM4/idefics2-8b-chatty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Across the same sixty warm requests, Idefics2 has a median end-to-end latency of 6.31 seconds and a device-wide peak of 18.23 GiB. LLaVA has a median of 4.39 seconds and a peak of 14.15 GiB. Time to first token is 768.809 versus 415.615 milliseconds. These values use one A40, batch size one, deterministic decoding, and the same output budget. Cold loading is reported separately; the chart shows warm request behavior.</a:t>
            </a:r>
          </a:p>
          <a:p xmlns:a="http://schemas.openxmlformats.org/drawingml/2006/main">
            <a:r>
              <a:t/>
            </a:r>
          </a:p>
          <a:p xmlns:a="http://schemas.openxmlformats.org/drawingml/2006/main">
            <a:r>
              <a:t>[Sources]</a:t>
            </a:r>
          </a:p>
          <a:p xmlns:a="http://schemas.openxmlformats.org/drawingml/2006/main">
            <a:r>
              <a:t>- phase_b_evaluation/W04_Multimodal_Architecture_Comparison_v0.2.0.json</a:t>
            </a:r>
          </a:p>
          <a:p xmlns:a="http://schemas.openxmlformats.org/drawingml/2006/main">
            <a:r>
              <a:t>- phase_b_evaluation/W04_System_Performance_Metrics_Spec.md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first half now has a reusable pipeline for text models, RAG, semantic and missing-evidence robustness, multimodal architecture comparison, and system cost. The main unresolved methodological risk is evaluator validity: automatic scores are useful for diagnosis but did not pass human-equivalent calibration. Phase C can reuse the frozen harness for PIC-aligned synthesis while prioritizing failure mechanisms and quality–cost trade-offs. The midpoint package also includes the six-dimension worksheet. The supervisor should enter their scores, agree the joint scores with me, record the top strength, development opportunity, and concrete next action, and sign the form.</a:t>
            </a:r>
          </a:p>
          <a:p xmlns:a="http://schemas.openxmlformats.org/drawingml/2006/main">
            <a:r>
              <a:t/>
            </a:r>
          </a:p>
          <a:p xmlns:a="http://schemas.openxmlformats.org/drawingml/2006/main">
            <a:r>
              <a:t>[Sources]</a:t>
            </a:r>
          </a:p>
          <a:p xmlns:a="http://schemas.openxmlformats.org/drawingml/2006/main">
            <a:r>
              <a:t>- phase_b_evaluation/Phase_AB_Midpoint_Report.md</a:t>
            </a:r>
          </a:p>
          <a:p xmlns:a="http://schemas.openxmlformats.org/drawingml/2006/main">
            <a:r>
              <a:t>- phase_b_evaluation/Phase_AB_Midpoint_Evaluation_Rubric.md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2e10bbe21f3426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b44de23e0de49e7" /><Relationship Type="http://schemas.openxmlformats.org/officeDocument/2006/relationships/slideLayout" Target="/ppt/slideLayouts/slideLayout1.xml" Id="R0e0ee11618444f8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e0ee11618444f8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86318996f6004ceb" /><Relationship Type="http://schemas.openxmlformats.org/officeDocument/2006/relationships/notesSlide" Target="/ppt/notesSlides/notesSlide1.xml" Id="R053bcab1341b4888"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296fcc189b924ad3" /><Relationship Type="http://schemas.openxmlformats.org/officeDocument/2006/relationships/notesSlide" Target="/ppt/notesSlides/notesSlide2.xml" Id="R170f54db015f4a2f"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a3ee1e9d2abd427a" /><Relationship Type="http://schemas.openxmlformats.org/officeDocument/2006/relationships/chart" Target="/ppt/slides/charts/chart1.xml" Id="Rbb099b200fd14a23" /><Relationship Type="http://schemas.openxmlformats.org/officeDocument/2006/relationships/notesSlide" Target="/ppt/notesSlides/notesSlide3.xml" Id="Rbf98debe201c46f2"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e0f41dfffee94215" /><Relationship Type="http://schemas.openxmlformats.org/officeDocument/2006/relationships/chart" Target="/ppt/slides/charts/chart2.xml" Id="Rd510a8b97ec74dd6" /><Relationship Type="http://schemas.openxmlformats.org/officeDocument/2006/relationships/notesSlide" Target="/ppt/notesSlides/notesSlide4.xml" Id="R0c32923824624fd5"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8b89a8f5ce1d4647" /><Relationship Type="http://schemas.openxmlformats.org/officeDocument/2006/relationships/chart" Target="/ppt/slides/charts/chart3.xml" Id="R33aec6dd4da447eb" /><Relationship Type="http://schemas.openxmlformats.org/officeDocument/2006/relationships/notesSlide" Target="/ppt/notesSlides/notesSlide5.xml" Id="R0c386d68c8504d7b"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e631053fb7454a8f" /><Relationship Type="http://schemas.openxmlformats.org/officeDocument/2006/relationships/chart" Target="/ppt/slides/charts/chart4.xml" Id="R46087dc9a2054646" /><Relationship Type="http://schemas.openxmlformats.org/officeDocument/2006/relationships/notesSlide" Target="/ppt/notesSlides/notesSlide6.xml" Id="R33d723b53e414b79"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e39d836816ac4d4c" /><Relationship Type="http://schemas.openxmlformats.org/officeDocument/2006/relationships/chart" Target="/ppt/slides/charts/chart5.xml" Id="R3f44a3d4744d48d9" /><Relationship Type="http://schemas.openxmlformats.org/officeDocument/2006/relationships/notesSlide" Target="/ppt/notesSlides/notesSlide7.xml" Id="R22d59949f7b1481c"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5e5f558b77e840da" /><Relationship Type="http://schemas.openxmlformats.org/officeDocument/2006/relationships/notesSlide" Target="/ppt/notesSlides/notesSlide8.xml" Id="Rd58737834b724813" /></Relationships>
</file>

<file path=ppt/slides/charts/chart1.xml><?xml version="1.0" encoding="utf-8"?>
<c:chartSpace xmlns:c="http://schemas.openxmlformats.org/drawingml/2006/chart">
  <c:lang val="en-US"/>
  <c:chart>
    <c:plotArea>
      <c:barChart>
        <c:barDir val="col"/>
        <c:grouping val="clustered"/>
        <c:varyColors val="0"/>
        <c:ser>
          <c:idx val="0"/>
          <c:order val="0"/>
          <c:tx>
            <c:v>FLAN</c:v>
          </c:tx>
          <c:spPr>
            <a:solidFill xmlns:a="http://schemas.openxmlformats.org/drawingml/2006/main">
              <a:srgbClr val="6DCBF4"/>
            </a:solidFill>
          </c:spPr>
          <c:cat>
            <c:strLit>
              <c:ptCount val="3"/>
              <c:pt idx="0">
                <c:v>Task</c:v>
              </c:pt>
              <c:pt idx="1">
                <c:v>Grounding</c:v>
              </c:pt>
              <c:pt idx="2">
                <c:v>Quality</c:v>
              </c:pt>
            </c:strLit>
          </c:cat>
          <c:val>
            <c:numLit>
              <c:formatCode>General</c:formatCode>
              <c:ptCount val="3"/>
              <c:pt idx="0">
                <c:v>3.13</c:v>
              </c:pt>
              <c:pt idx="1">
                <c:v>3.38</c:v>
              </c:pt>
              <c:pt idx="2">
                <c:v>3.73</c:v>
              </c:pt>
            </c:numLit>
          </c:val>
        </c:ser>
        <c:ser>
          <c:idx val="1"/>
          <c:order val="1"/>
          <c:tx>
            <c:v>Mistral</c:v>
          </c:tx>
          <c:spPr>
            <a:solidFill xmlns:a="http://schemas.openxmlformats.org/drawingml/2006/main">
              <a:srgbClr val="3D8DFF"/>
            </a:solidFill>
          </c:spPr>
          <c:cat>
            <c:strLit>
              <c:ptCount val="3"/>
              <c:pt idx="0">
                <c:v>Task</c:v>
              </c:pt>
              <c:pt idx="1">
                <c:v>Grounding</c:v>
              </c:pt>
              <c:pt idx="2">
                <c:v>Quality</c:v>
              </c:pt>
            </c:strLit>
          </c:cat>
          <c:val>
            <c:numLit>
              <c:formatCode>General</c:formatCode>
              <c:ptCount val="3"/>
              <c:pt idx="0">
                <c:v>4.08</c:v>
              </c:pt>
              <c:pt idx="1">
                <c:v>4.5</c:v>
              </c:pt>
              <c:pt idx="2">
                <c:v>4.29</c:v>
              </c:pt>
            </c:numLit>
          </c:val>
        </c:ser>
        <c:ser>
          <c:idx val="2"/>
          <c:order val="2"/>
          <c:tx>
            <c:v>Llama</c:v>
          </c:tx>
          <c:spPr>
            <a:solidFill xmlns:a="http://schemas.openxmlformats.org/drawingml/2006/main">
              <a:srgbClr val="9AA3AE"/>
            </a:solidFill>
          </c:spPr>
          <c:cat>
            <c:strLit>
              <c:ptCount val="3"/>
              <c:pt idx="0">
                <c:v>Task</c:v>
              </c:pt>
              <c:pt idx="1">
                <c:v>Grounding</c:v>
              </c:pt>
              <c:pt idx="2">
                <c:v>Quality</c:v>
              </c:pt>
            </c:strLit>
          </c:cat>
          <c:val>
            <c:numLit>
              <c:formatCode>General</c:formatCode>
              <c:ptCount val="3"/>
              <c:pt idx="0">
                <c:v>3.97</c:v>
              </c:pt>
              <c:pt idx="1">
                <c:v>4.05</c:v>
              </c:pt>
              <c:pt idx="2">
                <c:v>4.06</c:v>
              </c:pt>
            </c:numLit>
          </c:val>
        </c:ser>
        <c:dLbls>
          <c:showLegendKey val="0"/>
          <c:showVal val="1"/>
          <c:showCatName val="0"/>
          <c:showSerName val="0"/>
          <c:showPercent val="0"/>
          <c:showBubbleSize val="0"/>
          <c:showLeaderLines val="0"/>
        </c:dLbls>
        <c:gapWidth val="10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B8BCC4"/>
            </a:solidFill>
            <a:prstDash val="solid"/>
          </a:ln>
        </c:spPr>
        <c:txPr>
          <a:bodyPr xmlns:a="http://schemas.openxmlformats.org/drawingml/2006/main" anchorCtr="1"/>
          <a:lstStyle xmlns:a="http://schemas.openxmlformats.org/drawingml/2006/main"/>
          <a:p xmlns:a="http://schemas.openxmlformats.org/drawingml/2006/main">
            <a:pPr>
              <a:defRPr sz="825">
                <a:solidFill>
                  <a:srgbClr val="000000"/>
                </a:solidFill>
                <a:latin typeface="Helvetica Neue"/>
                <a:ea typeface="Helvetica Neue"/>
                <a:cs typeface="Helvetica Neue"/>
              </a:defRPr>
            </a:pPr>
          </a:p>
        </c:txPr>
        <c:crossAx val="48672768"/>
      </c:catAx>
      <c:valAx>
        <c:axId val="48672768"/>
        <c:scaling>
          <c:orientation val="minMax"/>
          <c:max val="5"/>
          <c:min val="0"/>
        </c:scaling>
        <c:delete val="0"/>
        <c:axPos val="l"/>
        <c:majorGridlines>
          <c:spPr>
            <a:ln xmlns:a="http://schemas.openxmlformats.org/drawingml/2006/main" w="9525">
              <a:solidFill>
                <a:srgbClr val="EDEDED"/>
              </a:solidFill>
              <a:prstDash val="solid"/>
            </a:ln>
          </c:spPr>
        </c:majorGridlines>
        <c:numFmt formatCode="General"/>
        <c:majorTickMark val="none"/>
        <c:minorTickMark val="none"/>
        <c:spPr>
          <a:ln xmlns:a="http://schemas.openxmlformats.org/drawingml/2006/main" w="0">
            <a:solidFill>
              <a:srgbClr val="FFFFFF"/>
            </a:solidFill>
            <a:prstDash val="solid"/>
          </a:ln>
        </c:spPr>
        <c:txPr>
          <a:bodyPr xmlns:a="http://schemas.openxmlformats.org/drawingml/2006/main" anchorCtr="1"/>
          <a:lstStyle xmlns:a="http://schemas.openxmlformats.org/drawingml/2006/main"/>
          <a:p xmlns:a="http://schemas.openxmlformats.org/drawingml/2006/main">
            <a:pPr>
              <a:defRPr sz="825">
                <a:solidFill>
                  <a:srgbClr val="000000"/>
                </a:solidFill>
                <a:latin typeface="Helvetica Neue"/>
                <a:ea typeface="Helvetica Neue"/>
                <a:cs typeface="Helvetica Neue"/>
              </a:defRPr>
            </a:pPr>
          </a:p>
        </c:txPr>
        <c:crossAx val="48650112"/>
        <c:crossBetween val="between"/>
        <c:majorUnit val="1"/>
      </c:valAx>
      <c:spPr>
        <a:noFill xmlns:a="http://schemas.openxmlformats.org/drawingml/2006/main"/>
        <a:ln xmlns:a="http://schemas.openxmlformats.org/drawingml/2006/main" w="0">
          <a:solidFill>
            <a:srgbClr val="FFFFFF"/>
          </a:solidFill>
          <a:prstDash val="solid"/>
        </a:ln>
      </c:spPr>
    </c:plotArea>
    <c:legend>
      <c:legendPos val="b"/>
      <c:overlay val="0"/>
    </c:legend>
    <c:plotVisOnly val="1"/>
  </c:chart>
  <c:spPr>
    <a:solidFill xmlns:a="http://schemas.openxmlformats.org/drawingml/2006/main">
      <a:srgbClr val="FFFFFF"/>
    </a:solidFill>
    <a:ln xmlns:a="http://schemas.openxmlformats.org/drawingml/2006/main" w="0">
      <a:solidFill>
        <a:srgbClr val="FFFFFF"/>
      </a:solidFill>
      <a:prstDash val="solid"/>
    </a:ln>
  </c:spPr>
</c:chartSpace>
</file>

<file path=ppt/slides/charts/chart2.xml><?xml version="1.0" encoding="utf-8"?>
<c:chartSpace xmlns:c="http://schemas.openxmlformats.org/drawingml/2006/chart">
  <c:lang val="en-US"/>
  <c:chart>
    <c:plotArea>
      <c:barChart>
        <c:barDir val="col"/>
        <c:grouping val="clustered"/>
        <c:varyColors val="0"/>
        <c:ser>
          <c:idx val="0"/>
          <c:order val="0"/>
          <c:tx>
            <c:v>Base relevance</c:v>
          </c:tx>
          <c:spPr>
            <a:solidFill xmlns:a="http://schemas.openxmlformats.org/drawingml/2006/main">
              <a:srgbClr val="B8BCC4"/>
            </a:solidFill>
          </c:spPr>
          <c:cat>
            <c:strLit>
              <c:ptCount val="3"/>
              <c:pt idx="0">
                <c:v>FLAN</c:v>
              </c:pt>
              <c:pt idx="1">
                <c:v>Mistral</c:v>
              </c:pt>
              <c:pt idx="2">
                <c:v>Llama</c:v>
              </c:pt>
            </c:strLit>
          </c:cat>
          <c:val>
            <c:numLit>
              <c:formatCode>General</c:formatCode>
              <c:ptCount val="3"/>
              <c:pt idx="0">
                <c:v>0.423</c:v>
              </c:pt>
              <c:pt idx="1">
                <c:v>0.223</c:v>
              </c:pt>
              <c:pt idx="2">
                <c:v>0.264</c:v>
              </c:pt>
            </c:numLit>
          </c:val>
        </c:ser>
        <c:ser>
          <c:idx val="1"/>
          <c:order val="1"/>
          <c:tx>
            <c:v>RAG relevance</c:v>
          </c:tx>
          <c:spPr>
            <a:solidFill xmlns:a="http://schemas.openxmlformats.org/drawingml/2006/main">
              <a:srgbClr val="3D8DFF"/>
            </a:solidFill>
          </c:spPr>
          <c:cat>
            <c:strLit>
              <c:ptCount val="3"/>
              <c:pt idx="0">
                <c:v>FLAN</c:v>
              </c:pt>
              <c:pt idx="1">
                <c:v>Mistral</c:v>
              </c:pt>
              <c:pt idx="2">
                <c:v>Llama</c:v>
              </c:pt>
            </c:strLit>
          </c:cat>
          <c:val>
            <c:numLit>
              <c:formatCode>General</c:formatCode>
              <c:ptCount val="3"/>
              <c:pt idx="0">
                <c:v>0.448</c:v>
              </c:pt>
              <c:pt idx="1">
                <c:v>0.635</c:v>
              </c:pt>
              <c:pt idx="2">
                <c:v>0.642</c:v>
              </c:pt>
            </c:numLit>
          </c:val>
        </c:ser>
        <c:dLbls>
          <c:showLegendKey val="0"/>
          <c:showVal val="1"/>
          <c:showCatName val="0"/>
          <c:showSerName val="0"/>
          <c:showPercent val="0"/>
          <c:showBubbleSize val="0"/>
          <c:showLeaderLines val="0"/>
        </c:dLbls>
        <c:gapWidth val="10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B8BCC4"/>
            </a:solidFill>
            <a:prstDash val="solid"/>
          </a:ln>
        </c:spPr>
        <c:txPr>
          <a:bodyPr xmlns:a="http://schemas.openxmlformats.org/drawingml/2006/main" anchorCtr="1"/>
          <a:lstStyle xmlns:a="http://schemas.openxmlformats.org/drawingml/2006/main"/>
          <a:p xmlns:a="http://schemas.openxmlformats.org/drawingml/2006/main">
            <a:pPr>
              <a:defRPr sz="825">
                <a:solidFill>
                  <a:srgbClr val="000000"/>
                </a:solidFill>
                <a:latin typeface="Helvetica Neue"/>
                <a:ea typeface="Helvetica Neue"/>
                <a:cs typeface="Helvetica Neue"/>
              </a:defRPr>
            </a:pPr>
          </a:p>
        </c:txPr>
        <c:crossAx val="48672768"/>
      </c:catAx>
      <c:valAx>
        <c:axId val="48672768"/>
        <c:scaling>
          <c:orientation val="minMax"/>
          <c:max val="0.8"/>
          <c:min val="0"/>
        </c:scaling>
        <c:delete val="0"/>
        <c:axPos val="l"/>
        <c:majorGridlines>
          <c:spPr>
            <a:ln xmlns:a="http://schemas.openxmlformats.org/drawingml/2006/main" w="9525">
              <a:solidFill>
                <a:srgbClr val="EDEDED"/>
              </a:solidFill>
              <a:prstDash val="solid"/>
            </a:ln>
          </c:spPr>
        </c:majorGridlines>
        <c:numFmt formatCode="General"/>
        <c:majorTickMark val="none"/>
        <c:minorTickMark val="none"/>
        <c:spPr>
          <a:ln xmlns:a="http://schemas.openxmlformats.org/drawingml/2006/main" w="0">
            <a:solidFill>
              <a:srgbClr val="FFFFFF"/>
            </a:solidFill>
            <a:prstDash val="solid"/>
          </a:ln>
        </c:spPr>
        <c:txPr>
          <a:bodyPr xmlns:a="http://schemas.openxmlformats.org/drawingml/2006/main" anchorCtr="1"/>
          <a:lstStyle xmlns:a="http://schemas.openxmlformats.org/drawingml/2006/main"/>
          <a:p xmlns:a="http://schemas.openxmlformats.org/drawingml/2006/main">
            <a:pPr>
              <a:defRPr sz="825">
                <a:solidFill>
                  <a:srgbClr val="000000"/>
                </a:solidFill>
                <a:latin typeface="Helvetica Neue"/>
                <a:ea typeface="Helvetica Neue"/>
                <a:cs typeface="Helvetica Neue"/>
              </a:defRPr>
            </a:pPr>
          </a:p>
        </c:txPr>
        <c:crossAx val="48650112"/>
        <c:crossBetween val="between"/>
        <c:majorUnit val="0.2"/>
      </c:valAx>
      <c:spPr>
        <a:noFill xmlns:a="http://schemas.openxmlformats.org/drawingml/2006/main"/>
        <a:ln xmlns:a="http://schemas.openxmlformats.org/drawingml/2006/main" w="0">
          <a:solidFill>
            <a:srgbClr val="FFFFFF"/>
          </a:solidFill>
          <a:prstDash val="solid"/>
        </a:ln>
      </c:spPr>
    </c:plotArea>
    <c:legend>
      <c:legendPos val="b"/>
      <c:overlay val="0"/>
    </c:legend>
    <c:plotVisOnly val="1"/>
  </c:chart>
  <c:spPr>
    <a:solidFill xmlns:a="http://schemas.openxmlformats.org/drawingml/2006/main">
      <a:srgbClr val="FFFFFF"/>
    </a:solidFill>
    <a:ln xmlns:a="http://schemas.openxmlformats.org/drawingml/2006/main" w="0">
      <a:solidFill>
        <a:srgbClr val="FFFFFF"/>
      </a:solidFill>
      <a:prstDash val="solid"/>
    </a:ln>
  </c:spPr>
</c:chartSpace>
</file>

<file path=ppt/slides/charts/chart3.xml><?xml version="1.0" encoding="utf-8"?>
<c:chartSpace xmlns:c="http://schemas.openxmlformats.org/drawingml/2006/chart">
  <c:lang val="en-US"/>
  <c:chart>
    <c:plotArea>
      <c:lineChart>
        <c:grouping val="standard"/>
        <c:varyColors val="0"/>
        <c:ser>
          <c:idx val="0"/>
          <c:order val="0"/>
          <c:tx>
            <c:v>FLAN</c:v>
          </c:tx>
          <c:spPr>
            <a:ln xmlns:a="http://schemas.openxmlformats.org/drawingml/2006/main" w="28575">
              <a:solidFill>
                <a:srgbClr val="6DCBF4"/>
              </a:solidFill>
              <a:prstDash val="solid"/>
            </a:ln>
          </c:spPr>
          <c:marker>
            <c:symbol val="circle"/>
            <c:size val="6"/>
            <c:spPr>
              <a:solidFill xmlns:a="http://schemas.openxmlformats.org/drawingml/2006/main">
                <a:srgbClr val="6DCBF4"/>
              </a:solidFill>
            </c:spPr>
          </c:marker>
          <c:cat>
            <c:strLit>
              <c:ptCount val="4"/>
              <c:pt idx="0">
                <c:v>0%</c:v>
              </c:pt>
              <c:pt idx="1">
                <c:v>20%</c:v>
              </c:pt>
              <c:pt idx="2">
                <c:v>40%</c:v>
              </c:pt>
              <c:pt idx="3">
                <c:v>60%</c:v>
              </c:pt>
            </c:strLit>
          </c:cat>
          <c:val>
            <c:numLit>
              <c:formatCode>General</c:formatCode>
              <c:ptCount val="4"/>
              <c:pt idx="0">
                <c:v>3.64</c:v>
              </c:pt>
              <c:pt idx="1">
                <c:v>3.5</c:v>
              </c:pt>
              <c:pt idx="2">
                <c:v>3.29</c:v>
              </c:pt>
              <c:pt idx="3">
                <c:v>3.29</c:v>
              </c:pt>
            </c:numLit>
          </c:val>
        </c:ser>
        <c:ser>
          <c:idx val="1"/>
          <c:order val="1"/>
          <c:tx>
            <c:v>Mistral</c:v>
          </c:tx>
          <c:spPr>
            <a:ln xmlns:a="http://schemas.openxmlformats.org/drawingml/2006/main" w="28575">
              <a:solidFill>
                <a:srgbClr val="3D8DFF"/>
              </a:solidFill>
              <a:prstDash val="solid"/>
            </a:ln>
          </c:spPr>
          <c:marker>
            <c:symbol val="circle"/>
            <c:size val="6"/>
            <c:spPr>
              <a:solidFill xmlns:a="http://schemas.openxmlformats.org/drawingml/2006/main">
                <a:srgbClr val="3D8DFF"/>
              </a:solidFill>
            </c:spPr>
          </c:marker>
          <c:cat>
            <c:strLit>
              <c:ptCount val="4"/>
              <c:pt idx="0">
                <c:v>0%</c:v>
              </c:pt>
              <c:pt idx="1">
                <c:v>20%</c:v>
              </c:pt>
              <c:pt idx="2">
                <c:v>40%</c:v>
              </c:pt>
              <c:pt idx="3">
                <c:v>60%</c:v>
              </c:pt>
            </c:strLit>
          </c:cat>
          <c:val>
            <c:numLit>
              <c:formatCode>General</c:formatCode>
              <c:ptCount val="4"/>
              <c:pt idx="0">
                <c:v>4.07</c:v>
              </c:pt>
              <c:pt idx="1">
                <c:v>4.07</c:v>
              </c:pt>
              <c:pt idx="2">
                <c:v>3.93</c:v>
              </c:pt>
              <c:pt idx="3">
                <c:v>4.07</c:v>
              </c:pt>
            </c:numLit>
          </c:val>
        </c:ser>
        <c:ser>
          <c:idx val="2"/>
          <c:order val="2"/>
          <c:tx>
            <c:v>Llama</c:v>
          </c:tx>
          <c:spPr>
            <a:ln xmlns:a="http://schemas.openxmlformats.org/drawingml/2006/main" w="28575">
              <a:solidFill>
                <a:srgbClr val="111827"/>
              </a:solidFill>
              <a:prstDash val="solid"/>
            </a:ln>
          </c:spPr>
          <c:marker>
            <c:symbol val="circle"/>
            <c:size val="6"/>
            <c:spPr>
              <a:solidFill xmlns:a="http://schemas.openxmlformats.org/drawingml/2006/main">
                <a:srgbClr val="111827"/>
              </a:solidFill>
            </c:spPr>
          </c:marker>
          <c:cat>
            <c:strLit>
              <c:ptCount val="4"/>
              <c:pt idx="0">
                <c:v>0%</c:v>
              </c:pt>
              <c:pt idx="1">
                <c:v>20%</c:v>
              </c:pt>
              <c:pt idx="2">
                <c:v>40%</c:v>
              </c:pt>
              <c:pt idx="3">
                <c:v>60%</c:v>
              </c:pt>
            </c:strLit>
          </c:cat>
          <c:val>
            <c:numLit>
              <c:formatCode>General</c:formatCode>
              <c:ptCount val="4"/>
              <c:pt idx="0">
                <c:v>4.64</c:v>
              </c:pt>
              <c:pt idx="1">
                <c:v>4.5</c:v>
              </c:pt>
              <c:pt idx="2">
                <c:v>4.57</c:v>
              </c:pt>
              <c:pt idx="3">
                <c:v>4.36</c:v>
              </c:pt>
            </c:numLit>
          </c:val>
        </c:ser>
        <c:dLbls>
          <c:showLegendKey val="0"/>
          <c:showVal val="1"/>
          <c:showCatName val="0"/>
          <c:showSerName val="0"/>
          <c:showPercent val="0"/>
          <c:showBubbleSize val="0"/>
          <c:showLeaderLines val="0"/>
        </c:dLbls>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B8BCC4"/>
            </a:solidFill>
            <a:prstDash val="solid"/>
          </a:ln>
        </c:spPr>
        <c:txPr>
          <a:bodyPr xmlns:a="http://schemas.openxmlformats.org/drawingml/2006/main" anchorCtr="1"/>
          <a:lstStyle xmlns:a="http://schemas.openxmlformats.org/drawingml/2006/main"/>
          <a:p xmlns:a="http://schemas.openxmlformats.org/drawingml/2006/main">
            <a:pPr>
              <a:defRPr sz="825">
                <a:solidFill>
                  <a:srgbClr val="000000"/>
                </a:solidFill>
                <a:latin typeface="Helvetica Neue"/>
                <a:ea typeface="Helvetica Neue"/>
                <a:cs typeface="Helvetica Neue"/>
              </a:defRPr>
            </a:pPr>
          </a:p>
        </c:txPr>
        <c:crossAx val="48672768"/>
      </c:catAx>
      <c:valAx>
        <c:axId val="48672768"/>
        <c:scaling>
          <c:orientation val="minMax"/>
          <c:max val="5"/>
          <c:min val="0"/>
        </c:scaling>
        <c:delete val="0"/>
        <c:axPos val="l"/>
        <c:majorGridlines>
          <c:spPr>
            <a:ln xmlns:a="http://schemas.openxmlformats.org/drawingml/2006/main" w="9525">
              <a:solidFill>
                <a:srgbClr val="EDEDED"/>
              </a:solidFill>
              <a:prstDash val="solid"/>
            </a:ln>
          </c:spPr>
        </c:majorGridlines>
        <c:numFmt formatCode="General"/>
        <c:majorTickMark val="none"/>
        <c:minorTickMark val="none"/>
        <c:spPr>
          <a:ln xmlns:a="http://schemas.openxmlformats.org/drawingml/2006/main" w="0">
            <a:solidFill>
              <a:srgbClr val="FFFFFF"/>
            </a:solidFill>
            <a:prstDash val="solid"/>
          </a:ln>
        </c:spPr>
        <c:txPr>
          <a:bodyPr xmlns:a="http://schemas.openxmlformats.org/drawingml/2006/main" anchorCtr="1"/>
          <a:lstStyle xmlns:a="http://schemas.openxmlformats.org/drawingml/2006/main"/>
          <a:p xmlns:a="http://schemas.openxmlformats.org/drawingml/2006/main">
            <a:pPr>
              <a:defRPr sz="825">
                <a:solidFill>
                  <a:srgbClr val="000000"/>
                </a:solidFill>
                <a:latin typeface="Helvetica Neue"/>
                <a:ea typeface="Helvetica Neue"/>
                <a:cs typeface="Helvetica Neue"/>
              </a:defRPr>
            </a:pPr>
          </a:p>
        </c:txPr>
        <c:crossAx val="48650112"/>
        <c:crossBetween val="between"/>
        <c:majorUnit val="1"/>
      </c:valAx>
      <c:spPr>
        <a:noFill xmlns:a="http://schemas.openxmlformats.org/drawingml/2006/main"/>
        <a:ln xmlns:a="http://schemas.openxmlformats.org/drawingml/2006/main" w="0">
          <a:solidFill>
            <a:srgbClr val="FFFFFF"/>
          </a:solidFill>
          <a:prstDash val="solid"/>
        </a:ln>
      </c:spPr>
    </c:plotArea>
    <c:legend>
      <c:legendPos val="b"/>
      <c:overlay val="0"/>
    </c:legend>
    <c:plotVisOnly val="1"/>
  </c:chart>
  <c:spPr>
    <a:solidFill xmlns:a="http://schemas.openxmlformats.org/drawingml/2006/main">
      <a:srgbClr val="FFFFFF"/>
    </a:solidFill>
    <a:ln xmlns:a="http://schemas.openxmlformats.org/drawingml/2006/main" w="0">
      <a:solidFill>
        <a:srgbClr val="FFFFFF"/>
      </a:solidFill>
      <a:prstDash val="solid"/>
    </a:ln>
  </c:spPr>
</c:chartSpace>
</file>

<file path=ppt/slides/charts/chart4.xml><?xml version="1.0" encoding="utf-8"?>
<c:chartSpace xmlns:c="http://schemas.openxmlformats.org/drawingml/2006/chart">
  <c:lang val="en-US"/>
  <c:chart>
    <c:plotArea>
      <c:barChart>
        <c:barDir val="col"/>
        <c:grouping val="clustered"/>
        <c:varyColors val="0"/>
        <c:ser>
          <c:idx val="0"/>
          <c:order val="0"/>
          <c:tx>
            <c:v>Idefics2</c:v>
          </c:tx>
          <c:spPr>
            <a:solidFill xmlns:a="http://schemas.openxmlformats.org/drawingml/2006/main">
              <a:srgbClr val="6DCBF4"/>
            </a:solidFill>
          </c:spPr>
          <c:cat>
            <c:strLit>
              <c:ptCount val="3"/>
              <c:pt idx="0">
                <c:v>Clean</c:v>
              </c:pt>
              <c:pt idx="1">
                <c:v>Noise</c:v>
              </c:pt>
              <c:pt idx="2">
                <c:v>Brightness</c:v>
              </c:pt>
            </c:strLit>
          </c:cat>
          <c:val>
            <c:numLit>
              <c:formatCode>General</c:formatCode>
              <c:ptCount val="3"/>
              <c:pt idx="0">
                <c:v>4.9</c:v>
              </c:pt>
              <c:pt idx="1">
                <c:v>4.8</c:v>
              </c:pt>
              <c:pt idx="2">
                <c:v>4.75</c:v>
              </c:pt>
            </c:numLit>
          </c:val>
        </c:ser>
        <c:ser>
          <c:idx val="1"/>
          <c:order val="1"/>
          <c:tx>
            <c:v>LLaVA-1.5</c:v>
          </c:tx>
          <c:spPr>
            <a:solidFill xmlns:a="http://schemas.openxmlformats.org/drawingml/2006/main">
              <a:srgbClr val="3D8DFF"/>
            </a:solidFill>
          </c:spPr>
          <c:cat>
            <c:strLit>
              <c:ptCount val="3"/>
              <c:pt idx="0">
                <c:v>Clean</c:v>
              </c:pt>
              <c:pt idx="1">
                <c:v>Noise</c:v>
              </c:pt>
              <c:pt idx="2">
                <c:v>Brightness</c:v>
              </c:pt>
            </c:strLit>
          </c:cat>
          <c:val>
            <c:numLit>
              <c:formatCode>General</c:formatCode>
              <c:ptCount val="3"/>
              <c:pt idx="0">
                <c:v>4.8</c:v>
              </c:pt>
              <c:pt idx="1">
                <c:v>4.85</c:v>
              </c:pt>
              <c:pt idx="2">
                <c:v>4.7</c:v>
              </c:pt>
            </c:numLit>
          </c:val>
        </c:ser>
        <c:dLbls>
          <c:showLegendKey val="0"/>
          <c:showVal val="1"/>
          <c:showCatName val="0"/>
          <c:showSerName val="0"/>
          <c:showPercent val="0"/>
          <c:showBubbleSize val="0"/>
          <c:showLeaderLines val="0"/>
        </c:dLbls>
        <c:gapWidth val="10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B8BCC4"/>
            </a:solidFill>
            <a:prstDash val="solid"/>
          </a:ln>
        </c:spPr>
        <c:txPr>
          <a:bodyPr xmlns:a="http://schemas.openxmlformats.org/drawingml/2006/main" anchorCtr="1"/>
          <a:lstStyle xmlns:a="http://schemas.openxmlformats.org/drawingml/2006/main"/>
          <a:p xmlns:a="http://schemas.openxmlformats.org/drawingml/2006/main">
            <a:pPr>
              <a:defRPr sz="825">
                <a:solidFill>
                  <a:srgbClr val="000000"/>
                </a:solidFill>
                <a:latin typeface="Helvetica Neue"/>
                <a:ea typeface="Helvetica Neue"/>
                <a:cs typeface="Helvetica Neue"/>
              </a:defRPr>
            </a:pPr>
          </a:p>
        </c:txPr>
        <c:crossAx val="48672768"/>
      </c:catAx>
      <c:valAx>
        <c:axId val="48672768"/>
        <c:scaling>
          <c:orientation val="minMax"/>
          <c:max val="5"/>
          <c:min val="0"/>
        </c:scaling>
        <c:delete val="0"/>
        <c:axPos val="l"/>
        <c:majorGridlines>
          <c:spPr>
            <a:ln xmlns:a="http://schemas.openxmlformats.org/drawingml/2006/main" w="9525">
              <a:solidFill>
                <a:srgbClr val="EDEDED"/>
              </a:solidFill>
              <a:prstDash val="solid"/>
            </a:ln>
          </c:spPr>
        </c:majorGridlines>
        <c:numFmt formatCode="General"/>
        <c:majorTickMark val="none"/>
        <c:minorTickMark val="none"/>
        <c:spPr>
          <a:ln xmlns:a="http://schemas.openxmlformats.org/drawingml/2006/main" w="0">
            <a:solidFill>
              <a:srgbClr val="FFFFFF"/>
            </a:solidFill>
            <a:prstDash val="solid"/>
          </a:ln>
        </c:spPr>
        <c:txPr>
          <a:bodyPr xmlns:a="http://schemas.openxmlformats.org/drawingml/2006/main" anchorCtr="1"/>
          <a:lstStyle xmlns:a="http://schemas.openxmlformats.org/drawingml/2006/main"/>
          <a:p xmlns:a="http://schemas.openxmlformats.org/drawingml/2006/main">
            <a:pPr>
              <a:defRPr sz="825">
                <a:solidFill>
                  <a:srgbClr val="000000"/>
                </a:solidFill>
                <a:latin typeface="Helvetica Neue"/>
                <a:ea typeface="Helvetica Neue"/>
                <a:cs typeface="Helvetica Neue"/>
              </a:defRPr>
            </a:pPr>
          </a:p>
        </c:txPr>
        <c:crossAx val="48650112"/>
        <c:crossBetween val="between"/>
        <c:majorUnit val="1"/>
      </c:valAx>
      <c:spPr>
        <a:noFill xmlns:a="http://schemas.openxmlformats.org/drawingml/2006/main"/>
        <a:ln xmlns:a="http://schemas.openxmlformats.org/drawingml/2006/main" w="0">
          <a:solidFill>
            <a:srgbClr val="FFFFFF"/>
          </a:solidFill>
          <a:prstDash val="solid"/>
        </a:ln>
      </c:spPr>
    </c:plotArea>
    <c:legend>
      <c:legendPos val="b"/>
      <c:overlay val="0"/>
    </c:legend>
    <c:plotVisOnly val="1"/>
  </c:chart>
  <c:spPr>
    <a:solidFill xmlns:a="http://schemas.openxmlformats.org/drawingml/2006/main">
      <a:srgbClr val="FFFFFF"/>
    </a:solidFill>
    <a:ln xmlns:a="http://schemas.openxmlformats.org/drawingml/2006/main" w="0">
      <a:solidFill>
        <a:srgbClr val="FFFFFF"/>
      </a:solidFill>
      <a:prstDash val="solid"/>
    </a:ln>
  </c:spPr>
</c:chartSpace>
</file>

<file path=ppt/slides/charts/chart5.xml><?xml version="1.0" encoding="utf-8"?>
<c:chartSpace xmlns:c="http://schemas.openxmlformats.org/drawingml/2006/chart">
  <c:lang val="en-US"/>
  <c:chart>
    <c:plotArea>
      <c:barChart>
        <c:barDir val="col"/>
        <c:grouping val="clustered"/>
        <c:varyColors val="0"/>
        <c:ser>
          <c:idx val="0"/>
          <c:order val="0"/>
          <c:tx>
            <c:v>Warm p50 seconds</c:v>
          </c:tx>
          <c:spPr>
            <a:solidFill xmlns:a="http://schemas.openxmlformats.org/drawingml/2006/main">
              <a:srgbClr val="3D8DFF"/>
            </a:solidFill>
          </c:spPr>
          <c:cat>
            <c:strLit>
              <c:ptCount val="2"/>
              <c:pt idx="0">
                <c:v>Idefics2</c:v>
              </c:pt>
              <c:pt idx="1">
                <c:v>LLaVA-1.5</c:v>
              </c:pt>
            </c:strLit>
          </c:cat>
          <c:val>
            <c:numLit>
              <c:formatCode>General</c:formatCode>
              <c:ptCount val="2"/>
              <c:pt idx="0">
                <c:v>6.31</c:v>
              </c:pt>
              <c:pt idx="1">
                <c:v>4.39</c:v>
              </c:pt>
            </c:numLit>
          </c:val>
        </c:ser>
        <c:dLbls>
          <c:showLegendKey val="0"/>
          <c:showVal val="1"/>
          <c:showCatName val="0"/>
          <c:showSerName val="0"/>
          <c:showPercent val="0"/>
          <c:showBubbleSize val="0"/>
          <c:showLeaderLines val="0"/>
        </c:dLbls>
        <c:gapWidth val="10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B8BCC4"/>
            </a:solidFill>
            <a:prstDash val="solid"/>
          </a:ln>
        </c:spPr>
        <c:txPr>
          <a:bodyPr xmlns:a="http://schemas.openxmlformats.org/drawingml/2006/main" anchorCtr="1"/>
          <a:lstStyle xmlns:a="http://schemas.openxmlformats.org/drawingml/2006/main"/>
          <a:p xmlns:a="http://schemas.openxmlformats.org/drawingml/2006/main">
            <a:pPr>
              <a:defRPr sz="825">
                <a:solidFill>
                  <a:srgbClr val="000000"/>
                </a:solidFill>
                <a:latin typeface="Helvetica Neue"/>
                <a:ea typeface="Helvetica Neue"/>
                <a:cs typeface="Helvetica Neue"/>
              </a:defRPr>
            </a:pPr>
          </a:p>
        </c:txPr>
        <c:crossAx val="48672768"/>
      </c:catAx>
      <c:valAx>
        <c:axId val="48672768"/>
        <c:scaling>
          <c:orientation val="minMax"/>
          <c:max val="10"/>
          <c:min val="0"/>
        </c:scaling>
        <c:delete val="0"/>
        <c:axPos val="l"/>
        <c:majorGridlines>
          <c:spPr>
            <a:ln xmlns:a="http://schemas.openxmlformats.org/drawingml/2006/main" w="9525">
              <a:solidFill>
                <a:srgbClr val="EDEDED"/>
              </a:solidFill>
              <a:prstDash val="solid"/>
            </a:ln>
          </c:spPr>
        </c:majorGridlines>
        <c:numFmt formatCode="General"/>
        <c:majorTickMark val="none"/>
        <c:minorTickMark val="none"/>
        <c:spPr>
          <a:ln xmlns:a="http://schemas.openxmlformats.org/drawingml/2006/main" w="0">
            <a:solidFill>
              <a:srgbClr val="FFFFFF"/>
            </a:solidFill>
            <a:prstDash val="solid"/>
          </a:ln>
        </c:spPr>
        <c:txPr>
          <a:bodyPr xmlns:a="http://schemas.openxmlformats.org/drawingml/2006/main" anchorCtr="1"/>
          <a:lstStyle xmlns:a="http://schemas.openxmlformats.org/drawingml/2006/main"/>
          <a:p xmlns:a="http://schemas.openxmlformats.org/drawingml/2006/main">
            <a:pPr>
              <a:defRPr sz="825">
                <a:solidFill>
                  <a:srgbClr val="000000"/>
                </a:solidFill>
                <a:latin typeface="Helvetica Neue"/>
                <a:ea typeface="Helvetica Neue"/>
                <a:cs typeface="Helvetica Neue"/>
              </a:defRPr>
            </a:pPr>
          </a:p>
        </c:txPr>
        <c:crossAx val="48650112"/>
        <c:crossBetween val="between"/>
        <c:majorUnit val="2.5"/>
      </c:valAx>
      <c:spPr>
        <a:noFill xmlns:a="http://schemas.openxmlformats.org/drawingml/2006/main"/>
        <a:ln xmlns:a="http://schemas.openxmlformats.org/drawingml/2006/main" w="0">
          <a:solidFill>
            <a:srgbClr val="FFFFFF"/>
          </a:solidFill>
          <a:prstDash val="solid"/>
        </a:ln>
      </c:spPr>
    </c:plotArea>
    <c:legend>
      <c:legendPos val="b"/>
      <c:overlay val="0"/>
    </c:legend>
    <c:plotVisOnly val="1"/>
  </c:chart>
  <c:spPr>
    <a:solidFill xmlns:a="http://schemas.openxmlformats.org/drawingml/2006/main">
      <a:srgbClr val="FFFFFF"/>
    </a:solidFill>
    <a:ln xmlns:a="http://schemas.openxmlformats.org/drawingml/2006/main" w="0">
      <a:solidFill>
        <a:srgbClr val="FFFFFF"/>
      </a:solidFill>
      <a:prstDash val="solid"/>
    </a:ln>
  </c:spPr>
</c:chartSpace>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4" name="Title-3-1">
            <a:extLst xmlns:a="http://schemas.openxmlformats.org/drawingml/2006/main">
              <a:ext uri="{FF2B5EF4-FFF2-40B4-BE49-F238E27FC236}">
                <a16:creationId xmlns:a16="http://schemas.microsoft.com/office/drawing/2014/main" id="{EB31E4B8-C9EC-4A86-91F7-1CCB166C2906}"/>
              </a:ext>
            </a:extLst>
          </p:cNvPr>
          <p:cNvSpPr>
            <a:spLocks xmlns:a="http://schemas.openxmlformats.org/drawingml/2006/main" noGrp="1"/>
          </p:cNvSpPr>
          <p:nvPr/>
        </p:nvSpPr>
        <p:spPr>
          <a:xfrm xmlns:a="http://schemas.openxmlformats.org/drawingml/2006/main">
            <a:off x="393668" y="1738789"/>
            <a:ext cx="9448800" cy="2491454"/>
          </a:xfrm>
          <a:prstGeom xmlns:a="http://schemas.openxmlformats.org/drawingml/2006/main" prst="rect">
            <a:avLst/>
          </a:prstGeom>
        </p:spPr>
        <p:txBody>
          <a:bodyPr xmlns:a="http://schemas.openxmlformats.org/drawingml/2006/main" lIns="0" tIns="0" rIns="0" bIns="0" anchor="b">
            <a:noAutofit/>
          </a:bodyPr>
          <a:lstStyle xmlns:a="http://schemas.openxmlformats.org/drawingml/2006/main"/>
          <a:p xmlns:a="http://schemas.openxmlformats.org/drawingml/2006/main">
            <a:pPr algn="l">
              <a:defRPr sz="6000">
                <a:solidFill>
                  <a:srgbClr val="000000"/>
                </a:solidFill>
                <a:latin typeface="Helvetica Neue"/>
                <a:ea typeface="Helvetica Neue"/>
                <a:cs typeface="Helvetica Neue"/>
              </a:defRPr>
            </a:pPr>
            <a:r>
              <a:t>Physical AI model
evaluation midpoint</a:t>
            </a:r>
          </a:p>
        </p:txBody>
      </p:sp>
      <p:sp>
        <p:nvSpPr>
          <p:cNvPr id="2" name="Subtitle-4-2">
            <a:extLst xmlns:a="http://schemas.openxmlformats.org/drawingml/2006/main">
              <a:ext uri="{FF2B5EF4-FFF2-40B4-BE49-F238E27FC236}">
                <a16:creationId xmlns:a16="http://schemas.microsoft.com/office/drawing/2014/main" id="{54E90FED-3E6E-41FF-BEAA-9DFBFAE522BA}"/>
              </a:ext>
            </a:extLst>
          </p:cNvPr>
          <p:cNvSpPr>
            <a:spLocks xmlns:a="http://schemas.openxmlformats.org/drawingml/2006/main" noGrp="1"/>
          </p:cNvSpPr>
          <p:nvPr/>
        </p:nvSpPr>
        <p:spPr>
          <a:xfrm xmlns:a="http://schemas.openxmlformats.org/drawingml/2006/main">
            <a:off x="393668" y="4742212"/>
            <a:ext cx="5702332" cy="1080230"/>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defRPr sz="2400">
                <a:solidFill>
                  <a:srgbClr val="000000"/>
                </a:solidFill>
                <a:latin typeface="Helvetica Neue"/>
                <a:ea typeface="Helvetica Neue"/>
                <a:cs typeface="Helvetica Neue"/>
              </a:defRPr>
            </a:pPr>
            <a:r>
              <a:t>From benchmark design to RAG, robustness, multimodal comparison, and system cost</a:t>
            </a:r>
          </a:p>
        </p:txBody>
      </p:sp>
      <p:sp>
        <p:nvSpPr>
          <p:cNvPr id="3" name="Subtitle-4-3">
            <a:extLst xmlns:a="http://schemas.openxmlformats.org/drawingml/2006/main">
              <a:ext uri="{FF2B5EF4-FFF2-40B4-BE49-F238E27FC236}">
                <a16:creationId xmlns:a16="http://schemas.microsoft.com/office/drawing/2014/main" id="{BC11F09D-7CE8-449D-9753-674EFAD6FB5B}"/>
              </a:ext>
            </a:extLst>
          </p:cNvPr>
          <p:cNvSpPr>
            <a:spLocks xmlns:a="http://schemas.openxmlformats.org/drawingml/2006/main" noGrp="1"/>
          </p:cNvSpPr>
          <p:nvPr/>
        </p:nvSpPr>
        <p:spPr>
          <a:xfrm xmlns:a="http://schemas.openxmlformats.org/drawingml/2006/main">
            <a:off x="393668" y="392240"/>
            <a:ext cx="5702332" cy="649129"/>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defRPr sz="2400">
                <a:solidFill>
                  <a:srgbClr val="000000"/>
                </a:solidFill>
                <a:latin typeface="Helvetica Neue"/>
                <a:ea typeface="Helvetica Neue"/>
                <a:cs typeface="Helvetica Neue"/>
              </a:defRPr>
            </a:pPr>
            <a:r>
              <a:t>PHASE A–B • WEEKS 1–4</a:t>
            </a:r>
          </a:p>
        </p:txBody>
      </p:sp>
    </p:spTree>
    <p:extLst>
      <p:ext uri="{BB962C8B-B14F-4D97-AF65-F5344CB8AC3E}">
        <p14:creationId xmlns:p14="http://schemas.microsoft.com/office/powerpoint/2010/main" val="1775437498"/>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13" name="Slide-Number-Placeholder-3-2">
            <a:extLst xmlns:a="http://schemas.openxmlformats.org/drawingml/2006/main">
              <a:ext uri="{FF2B5EF4-FFF2-40B4-BE49-F238E27FC236}">
                <a16:creationId xmlns:a16="http://schemas.microsoft.com/office/drawing/2014/main" id="{30211D39-76B2-491E-8282-3083468FA957}"/>
              </a:ext>
            </a:extLst>
          </p:cNvPr>
          <p:cNvSpPr>
            <a:spLocks xmlns:a="http://schemas.openxmlformats.org/drawingml/2006/main" noGrp="1"/>
          </p:cNvSpPr>
          <p:nvPr/>
        </p:nvSpPr>
        <p:spPr>
          <a:xfrm xmlns:a="http://schemas.openxmlformats.org/drawingml/2006/main">
            <a:off x="11279315" y="6279261"/>
            <a:ext cx="518922" cy="241268"/>
          </a:xfrm>
          <a:prstGeom xmlns:a="http://schemas.openxmlformats.org/drawingml/2006/main" prst="rect">
            <a:avLst/>
          </a:prstGeom>
        </p:spPr>
        <p:txBody>
          <a:bodyPr xmlns:a="http://schemas.openxmlformats.org/drawingml/2006/main" lIns="0" tIns="0" rIns="0" bIns="0" anchor="b"/>
          <a:lstStyle xmlns:a="http://schemas.openxmlformats.org/drawingml/2006/main"/>
          <a:p xmlns:a="http://schemas.openxmlformats.org/drawingml/2006/main">
            <a:pPr algn="r">
              <a:defRPr sz="1000">
                <a:solidFill>
                  <a:srgbClr val="000000"/>
                </a:solidFill>
                <a:latin typeface="Helvetica Neue"/>
                <a:ea typeface="Helvetica Neue"/>
                <a:cs typeface="Helvetica Neue"/>
              </a:defRPr>
            </a:pPr>
            <a:r>
              <a:t>2</a:t>
            </a:r>
          </a:p>
        </p:txBody>
      </p:sp>
      <p:sp>
        <p:nvSpPr>
          <p:cNvPr id="2" name="Title-10-3">
            <a:extLst xmlns:a="http://schemas.openxmlformats.org/drawingml/2006/main">
              <a:ext uri="{FF2B5EF4-FFF2-40B4-BE49-F238E27FC236}">
                <a16:creationId xmlns:a16="http://schemas.microsoft.com/office/drawing/2014/main" id="{F72C41EC-7E6D-4865-B780-7FE7F3B09A6C}"/>
              </a:ext>
            </a:extLst>
          </p:cNvPr>
          <p:cNvSpPr>
            <a:spLocks xmlns:a="http://schemas.openxmlformats.org/drawingml/2006/main" noGrp="1"/>
          </p:cNvSpPr>
          <p:nvPr/>
        </p:nvSpPr>
        <p:spPr>
          <a:xfrm xmlns:a="http://schemas.openxmlformats.org/drawingml/2006/main">
            <a:off x="393668" y="344043"/>
            <a:ext cx="11404568" cy="1047464"/>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900">
                <a:solidFill>
                  <a:srgbClr val="000000"/>
                </a:solidFill>
                <a:latin typeface="Helvetica Neue"/>
                <a:ea typeface="Helvetica Neue"/>
                <a:cs typeface="Helvetica Neue"/>
              </a:defRPr>
            </a:pPr>
            <a:r>
              <a:t>Four weeks built one traceable evaluation system</a:t>
            </a:r>
          </a:p>
        </p:txBody>
      </p:sp>
      <p:cxnSp>
        <p:nvCxnSpPr>
          <p:cNvPr id="15" name="Google-Shape-2259-p159-4"/>
          <p:cNvCxnSpPr/>
          <p:nvPr/>
        </p:nvCxnSpPr>
        <p:spPr>
          <a:xfrm xmlns:a="http://schemas.openxmlformats.org/drawingml/2006/main">
            <a:off x="337757" y="3373755"/>
            <a:ext cx="12245435" cy="286"/>
          </a:xfrm>
          <a:prstGeom xmlns:a="http://schemas.openxmlformats.org/drawingml/2006/main" prst="straightConnector1">
            <a:avLst/>
          </a:prstGeom>
          <a:ln xmlns:a="http://schemas.openxmlformats.org/drawingml/2006/main" w="9525">
            <a:solidFill>
              <a:srgbClr val="000000"/>
            </a:solidFill>
            <a:prstDash val="solid"/>
          </a:ln>
        </p:spPr>
      </p:cxnSp>
      <p:sp>
        <p:nvSpPr>
          <p:cNvPr id="4" name="Google-Shape-2260-p159-5">
            <a:extLst xmlns:a="http://schemas.openxmlformats.org/drawingml/2006/main">
              <a:ext uri="{FF2B5EF4-FFF2-40B4-BE49-F238E27FC236}">
                <a16:creationId xmlns:a16="http://schemas.microsoft.com/office/drawing/2014/main" id="{63E54E36-D206-4357-BD18-B106550D47C1}"/>
              </a:ext>
            </a:extLst>
          </p:cNvPr>
          <p:cNvSpPr>
            <a:spLocks xmlns:a="http://schemas.openxmlformats.org/drawingml/2006/main" noGrp="1"/>
          </p:cNvSpPr>
          <p:nvPr/>
        </p:nvSpPr>
        <p:spPr>
          <a:xfrm xmlns:a="http://schemas.openxmlformats.org/drawingml/2006/main">
            <a:off x="337757" y="3320225"/>
            <a:ext cx="107061" cy="107061"/>
          </a:xfrm>
          <a:prstGeom xmlns:a="http://schemas.openxmlformats.org/drawingml/2006/main" prst="ellipse">
            <a:avLst/>
          </a:prstGeom>
          <a:solidFill xmlns:a="http://schemas.openxmlformats.org/drawingml/2006/main">
            <a:srgbClr val="000000"/>
          </a:solidFill>
        </p:spPr>
      </p:sp>
      <p:sp>
        <p:nvSpPr>
          <p:cNvPr id="5" name="Google-Shape-2261-p159-6">
            <a:extLst xmlns:a="http://schemas.openxmlformats.org/drawingml/2006/main">
              <a:ext uri="{FF2B5EF4-FFF2-40B4-BE49-F238E27FC236}">
                <a16:creationId xmlns:a16="http://schemas.microsoft.com/office/drawing/2014/main" id="{264FAF3D-B0E6-499E-9197-374139922C46}"/>
              </a:ext>
            </a:extLst>
          </p:cNvPr>
          <p:cNvSpPr>
            <a:spLocks xmlns:a="http://schemas.openxmlformats.org/drawingml/2006/main" noGrp="1"/>
          </p:cNvSpPr>
          <p:nvPr/>
        </p:nvSpPr>
        <p:spPr>
          <a:xfrm xmlns:a="http://schemas.openxmlformats.org/drawingml/2006/main">
            <a:off x="4251770" y="3320225"/>
            <a:ext cx="107061" cy="107061"/>
          </a:xfrm>
          <a:prstGeom xmlns:a="http://schemas.openxmlformats.org/drawingml/2006/main" prst="ellipse">
            <a:avLst/>
          </a:prstGeom>
          <a:solidFill xmlns:a="http://schemas.openxmlformats.org/drawingml/2006/main">
            <a:srgbClr val="000000"/>
          </a:solidFill>
        </p:spPr>
      </p:sp>
      <p:sp>
        <p:nvSpPr>
          <p:cNvPr id="6" name="Google-Shape-2262-p159-7">
            <a:extLst xmlns:a="http://schemas.openxmlformats.org/drawingml/2006/main">
              <a:ext uri="{FF2B5EF4-FFF2-40B4-BE49-F238E27FC236}">
                <a16:creationId xmlns:a16="http://schemas.microsoft.com/office/drawing/2014/main" id="{FB2166D7-2475-4EBE-8A77-51A487C1A5D2}"/>
              </a:ext>
            </a:extLst>
          </p:cNvPr>
          <p:cNvSpPr>
            <a:spLocks xmlns:a="http://schemas.openxmlformats.org/drawingml/2006/main" noGrp="1"/>
          </p:cNvSpPr>
          <p:nvPr/>
        </p:nvSpPr>
        <p:spPr>
          <a:xfrm xmlns:a="http://schemas.openxmlformats.org/drawingml/2006/main">
            <a:off x="8176070" y="3320225"/>
            <a:ext cx="107061" cy="107061"/>
          </a:xfrm>
          <a:prstGeom xmlns:a="http://schemas.openxmlformats.org/drawingml/2006/main" prst="ellipse">
            <a:avLst/>
          </a:prstGeom>
          <a:solidFill xmlns:a="http://schemas.openxmlformats.org/drawingml/2006/main">
            <a:srgbClr val="000000"/>
          </a:solidFill>
        </p:spPr>
      </p:sp>
      <p:sp>
        <p:nvSpPr>
          <p:cNvPr id="7" name="Content-Placeholder-15-8">
            <a:extLst xmlns:a="http://schemas.openxmlformats.org/drawingml/2006/main">
              <a:ext uri="{FF2B5EF4-FFF2-40B4-BE49-F238E27FC236}">
                <a16:creationId xmlns:a16="http://schemas.microsoft.com/office/drawing/2014/main" id="{57D962A0-F509-4806-B61A-CAC87C5474D2}"/>
              </a:ext>
            </a:extLst>
          </p:cNvPr>
          <p:cNvSpPr>
            <a:spLocks xmlns:a="http://schemas.openxmlformats.org/drawingml/2006/main" noGrp="1"/>
          </p:cNvSpPr>
          <p:nvPr/>
        </p:nvSpPr>
        <p:spPr>
          <a:xfrm xmlns:a="http://schemas.openxmlformats.org/drawingml/2006/main">
            <a:off x="393668" y="2843308"/>
            <a:ext cx="1612868" cy="262414"/>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lnSpc>
                <a:spcPct val="106000"/>
              </a:lnSpc>
              <a:spcAft>
                <a:spcPts val="320"/>
              </a:spcAft>
              <a:buNone/>
              <a:defRPr sz="1600">
                <a:solidFill>
                  <a:srgbClr val="000000"/>
                </a:solidFill>
                <a:latin typeface="Helvetica Neue"/>
                <a:ea typeface="Helvetica Neue"/>
                <a:cs typeface="Helvetica Neue"/>
              </a:defRPr>
            </a:pPr>
            <a:r>
              <a:rPr sz="1425" b="1">
                <a:solidFill>
                  <a:srgbClr val="000000"/>
                </a:solidFill>
                <a:latin typeface="Helvetica Neue"/>
                <a:ea typeface="Helvetica Neue"/>
                <a:cs typeface="Helvetica Neue"/>
              </a:rPr>
              <a:t>WEEK 1</a:t>
            </a:r>
          </a:p>
        </p:txBody>
      </p:sp>
      <p:sp>
        <p:nvSpPr>
          <p:cNvPr id="8" name="Content-Placeholder-15-9">
            <a:extLst xmlns:a="http://schemas.openxmlformats.org/drawingml/2006/main">
              <a:ext uri="{FF2B5EF4-FFF2-40B4-BE49-F238E27FC236}">
                <a16:creationId xmlns:a16="http://schemas.microsoft.com/office/drawing/2014/main" id="{8E552E16-D084-45EB-AF24-2159BBF224CE}"/>
              </a:ext>
            </a:extLst>
          </p:cNvPr>
          <p:cNvSpPr>
            <a:spLocks xmlns:a="http://schemas.openxmlformats.org/drawingml/2006/main" noGrp="1"/>
          </p:cNvSpPr>
          <p:nvPr/>
        </p:nvSpPr>
        <p:spPr>
          <a:xfrm xmlns:a="http://schemas.openxmlformats.org/drawingml/2006/main">
            <a:off x="4294156" y="2843308"/>
            <a:ext cx="1612868" cy="262414"/>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lnSpc>
                <a:spcPct val="106000"/>
              </a:lnSpc>
              <a:spcAft>
                <a:spcPts val="320"/>
              </a:spcAft>
              <a:buNone/>
              <a:defRPr sz="1600">
                <a:solidFill>
                  <a:srgbClr val="000000"/>
                </a:solidFill>
                <a:latin typeface="Helvetica Neue"/>
                <a:ea typeface="Helvetica Neue"/>
                <a:cs typeface="Helvetica Neue"/>
              </a:defRPr>
            </a:pPr>
            <a:r>
              <a:rPr sz="1425" b="1">
                <a:solidFill>
                  <a:srgbClr val="000000"/>
                </a:solidFill>
                <a:latin typeface="Helvetica Neue"/>
                <a:ea typeface="Helvetica Neue"/>
                <a:cs typeface="Helvetica Neue"/>
              </a:rPr>
              <a:t>WEEK 2</a:t>
            </a:r>
          </a:p>
        </p:txBody>
      </p:sp>
      <p:sp>
        <p:nvSpPr>
          <p:cNvPr id="9" name="Content-Placeholder-15-10">
            <a:extLst xmlns:a="http://schemas.openxmlformats.org/drawingml/2006/main">
              <a:ext uri="{FF2B5EF4-FFF2-40B4-BE49-F238E27FC236}">
                <a16:creationId xmlns:a16="http://schemas.microsoft.com/office/drawing/2014/main" id="{9E170D20-667E-45F0-9E21-297E3F2BC0C2}"/>
              </a:ext>
            </a:extLst>
          </p:cNvPr>
          <p:cNvSpPr>
            <a:spLocks xmlns:a="http://schemas.openxmlformats.org/drawingml/2006/main" noGrp="1"/>
          </p:cNvSpPr>
          <p:nvPr/>
        </p:nvSpPr>
        <p:spPr>
          <a:xfrm xmlns:a="http://schemas.openxmlformats.org/drawingml/2006/main">
            <a:off x="8223218" y="2843308"/>
            <a:ext cx="1612868" cy="262414"/>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lnSpc>
                <a:spcPct val="106000"/>
              </a:lnSpc>
              <a:spcAft>
                <a:spcPts val="320"/>
              </a:spcAft>
              <a:buNone/>
              <a:defRPr sz="1600">
                <a:solidFill>
                  <a:srgbClr val="000000"/>
                </a:solidFill>
                <a:latin typeface="Helvetica Neue"/>
                <a:ea typeface="Helvetica Neue"/>
                <a:cs typeface="Helvetica Neue"/>
              </a:defRPr>
            </a:pPr>
            <a:r>
              <a:rPr sz="1425" b="1">
                <a:solidFill>
                  <a:srgbClr val="000000"/>
                </a:solidFill>
                <a:latin typeface="Helvetica Neue"/>
                <a:ea typeface="Helvetica Neue"/>
                <a:cs typeface="Helvetica Neue"/>
              </a:rPr>
              <a:t>WEEKS 3–4</a:t>
            </a:r>
          </a:p>
        </p:txBody>
      </p:sp>
      <p:sp>
        <p:nvSpPr>
          <p:cNvPr id="10" name="Text-Placeholder-16-11">
            <a:extLst xmlns:a="http://schemas.openxmlformats.org/drawingml/2006/main">
              <a:ext uri="{FF2B5EF4-FFF2-40B4-BE49-F238E27FC236}">
                <a16:creationId xmlns:a16="http://schemas.microsoft.com/office/drawing/2014/main" id="{BA185E13-06E0-455D-ABE2-4D9E28367E2E}"/>
              </a:ext>
            </a:extLst>
          </p:cNvPr>
          <p:cNvSpPr>
            <a:spLocks xmlns:a="http://schemas.openxmlformats.org/drawingml/2006/main" noGrp="1"/>
          </p:cNvSpPr>
          <p:nvPr/>
        </p:nvSpPr>
        <p:spPr>
          <a:xfrm xmlns:a="http://schemas.openxmlformats.org/drawingml/2006/main">
            <a:off x="4317111" y="3822668"/>
            <a:ext cx="3156109" cy="1586294"/>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lnSpc>
                <a:spcPct val="106000"/>
              </a:lnSpc>
              <a:spcAft>
                <a:spcPts val="320"/>
              </a:spcAft>
              <a:buNone/>
              <a:defRPr sz="2400">
                <a:solidFill>
                  <a:srgbClr val="000000"/>
                </a:solidFill>
                <a:latin typeface="Helvetica Neue"/>
                <a:ea typeface="Helvetica Neue"/>
                <a:cs typeface="Helvetica Neue"/>
              </a:defRPr>
            </a:pPr>
            <a:r>
              <a:rPr sz="1950" b="1">
                <a:solidFill>
                  <a:srgbClr val="000000"/>
                </a:solidFill>
                <a:latin typeface="Helvetica Neue"/>
                <a:ea typeface="Helvetica Neue"/>
                <a:cs typeface="Helvetica Neue"/>
              </a:rPr>
              <a:t>Frozen benchmark</a:t>
            </a:r>
          </a:p>
          <a:p xmlns:a="http://schemas.openxmlformats.org/drawingml/2006/main">
            <a:pPr algn="l">
              <a:lnSpc>
                <a:spcPct val="106000"/>
              </a:lnSpc>
              <a:spcAft>
                <a:spcPts val="320"/>
              </a:spcAft>
              <a:buNone/>
              <a:defRPr sz="2400">
                <a:solidFill>
                  <a:srgbClr val="000000"/>
                </a:solidFill>
                <a:latin typeface="Helvetica Neue"/>
                <a:ea typeface="Helvetica Neue"/>
                <a:cs typeface="Helvetica Neue"/>
              </a:defRPr>
            </a:pPr>
            <a:r>
              <a:rPr sz="1350" b="0">
                <a:solidFill>
                  <a:srgbClr val="000000"/>
                </a:solidFill>
                <a:latin typeface="Helvetica Neue"/>
                <a:ea typeface="Helvetica Neue"/>
                <a:cs typeface="Helvetica Neue"/>
              </a:rPr>
              <a:t>35 scenarios, five products, explicit Task/Grounding/failure/severity rules.</a:t>
            </a:r>
          </a:p>
        </p:txBody>
      </p:sp>
      <p:sp>
        <p:nvSpPr>
          <p:cNvPr id="11" name="Text-Placeholder-16-12">
            <a:extLst xmlns:a="http://schemas.openxmlformats.org/drawingml/2006/main">
              <a:ext uri="{FF2B5EF4-FFF2-40B4-BE49-F238E27FC236}">
                <a16:creationId xmlns:a16="http://schemas.microsoft.com/office/drawing/2014/main" id="{B6F9E562-5E8C-49DC-B9B4-B78E9A67682D}"/>
              </a:ext>
            </a:extLst>
          </p:cNvPr>
          <p:cNvSpPr>
            <a:spLocks xmlns:a="http://schemas.openxmlformats.org/drawingml/2006/main" noGrp="1"/>
          </p:cNvSpPr>
          <p:nvPr/>
        </p:nvSpPr>
        <p:spPr>
          <a:xfrm xmlns:a="http://schemas.openxmlformats.org/drawingml/2006/main">
            <a:off x="399859" y="3822668"/>
            <a:ext cx="3156109" cy="1586294"/>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lnSpc>
                <a:spcPct val="106000"/>
              </a:lnSpc>
              <a:spcAft>
                <a:spcPts val="320"/>
              </a:spcAft>
              <a:buNone/>
              <a:defRPr sz="2400">
                <a:solidFill>
                  <a:srgbClr val="000000"/>
                </a:solidFill>
                <a:latin typeface="Helvetica Neue"/>
                <a:ea typeface="Helvetica Neue"/>
                <a:cs typeface="Helvetica Neue"/>
              </a:defRPr>
            </a:pPr>
            <a:r>
              <a:rPr sz="1950" b="1">
                <a:solidFill>
                  <a:srgbClr val="000000"/>
                </a:solidFill>
                <a:latin typeface="Helvetica Neue"/>
                <a:ea typeface="Helvetica Neue"/>
                <a:cs typeface="Helvetica Neue"/>
              </a:rPr>
              <a:t>Measurement map</a:t>
            </a:r>
          </a:p>
          <a:p xmlns:a="http://schemas.openxmlformats.org/drawingml/2006/main">
            <a:pPr algn="l">
              <a:lnSpc>
                <a:spcPct val="106000"/>
              </a:lnSpc>
              <a:spcAft>
                <a:spcPts val="320"/>
              </a:spcAft>
              <a:buNone/>
              <a:defRPr sz="2400">
                <a:solidFill>
                  <a:srgbClr val="000000"/>
                </a:solidFill>
                <a:latin typeface="Helvetica Neue"/>
                <a:ea typeface="Helvetica Neue"/>
                <a:cs typeface="Helvetica Neue"/>
              </a:defRPr>
            </a:pPr>
            <a:r>
              <a:rPr sz="1350" b="0">
                <a:solidFill>
                  <a:srgbClr val="000000"/>
                </a:solidFill>
                <a:latin typeface="Helvetica Neue"/>
                <a:ea typeface="Helvetica Neue"/>
                <a:cs typeface="Helvetica Neue"/>
              </a:rPr>
              <a:t>Physical AI risk → capability → scenario → perturbation → metric → decision.</a:t>
            </a:r>
          </a:p>
        </p:txBody>
      </p:sp>
      <p:sp>
        <p:nvSpPr>
          <p:cNvPr id="12" name="Text-Placeholder-16-13">
            <a:extLst xmlns:a="http://schemas.openxmlformats.org/drawingml/2006/main">
              <a:ext uri="{FF2B5EF4-FFF2-40B4-BE49-F238E27FC236}">
                <a16:creationId xmlns:a16="http://schemas.microsoft.com/office/drawing/2014/main" id="{A21AB40E-F1C4-4031-BB78-CDEA584031A7}"/>
              </a:ext>
            </a:extLst>
          </p:cNvPr>
          <p:cNvSpPr>
            <a:spLocks xmlns:a="http://schemas.openxmlformats.org/drawingml/2006/main" noGrp="1"/>
          </p:cNvSpPr>
          <p:nvPr/>
        </p:nvSpPr>
        <p:spPr>
          <a:xfrm xmlns:a="http://schemas.openxmlformats.org/drawingml/2006/main">
            <a:off x="8177879" y="3822668"/>
            <a:ext cx="3156109" cy="1586294"/>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lnSpc>
                <a:spcPct val="106000"/>
              </a:lnSpc>
              <a:spcAft>
                <a:spcPts val="320"/>
              </a:spcAft>
              <a:buNone/>
              <a:defRPr sz="2400">
                <a:solidFill>
                  <a:srgbClr val="000000"/>
                </a:solidFill>
                <a:latin typeface="Helvetica Neue"/>
                <a:ea typeface="Helvetica Neue"/>
                <a:cs typeface="Helvetica Neue"/>
              </a:defRPr>
            </a:pPr>
            <a:r>
              <a:rPr sz="1950" b="1">
                <a:solidFill>
                  <a:srgbClr val="000000"/>
                </a:solidFill>
                <a:latin typeface="Helvetica Neue"/>
                <a:ea typeface="Helvetica Neue"/>
                <a:cs typeface="Helvetica Neue"/>
              </a:rPr>
              <a:t>Systematic evidence</a:t>
            </a:r>
          </a:p>
          <a:p xmlns:a="http://schemas.openxmlformats.org/drawingml/2006/main">
            <a:pPr algn="l">
              <a:lnSpc>
                <a:spcPct val="106000"/>
              </a:lnSpc>
              <a:spcAft>
                <a:spcPts val="320"/>
              </a:spcAft>
              <a:buNone/>
              <a:defRPr sz="2400">
                <a:solidFill>
                  <a:srgbClr val="000000"/>
                </a:solidFill>
                <a:latin typeface="Helvetica Neue"/>
                <a:ea typeface="Helvetica Neue"/>
                <a:cs typeface="Helvetica Neue"/>
              </a:defRPr>
            </a:pPr>
            <a:r>
              <a:rPr sz="1350" b="0">
                <a:solidFill>
                  <a:srgbClr val="000000"/>
                </a:solidFill>
                <a:latin typeface="Helvetica Neue"/>
                <a:ea typeface="Helvetica Neue"/>
                <a:cs typeface="Helvetica Neue"/>
              </a:rPr>
              <a:t>Third model, 331-unit RAG, text robustness, two VLMs, and resource traces.</a:t>
            </a:r>
          </a:p>
        </p:txBody>
      </p:sp>
    </p:spTree>
    <p:extLst>
      <p:ext uri="{BB962C8B-B14F-4D97-AF65-F5344CB8AC3E}">
        <p14:creationId xmlns:p14="http://schemas.microsoft.com/office/powerpoint/2010/main" val="1241363916"/>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10" name="Google-Shape-532-p58-2">
            <a:extLst xmlns:a="http://schemas.openxmlformats.org/drawingml/2006/main">
              <a:ext uri="{FF2B5EF4-FFF2-40B4-BE49-F238E27FC236}">
                <a16:creationId xmlns:a16="http://schemas.microsoft.com/office/drawing/2014/main" id="{B49D17D5-2D7B-4ED4-BA38-EA641959F758}"/>
              </a:ext>
            </a:extLst>
          </p:cNvPr>
          <p:cNvSpPr>
            <a:spLocks xmlns:a="http://schemas.openxmlformats.org/drawingml/2006/main" noGrp="1"/>
          </p:cNvSpPr>
          <p:nvPr/>
        </p:nvSpPr>
        <p:spPr>
          <a:xfrm xmlns:a="http://schemas.openxmlformats.org/drawingml/2006/main">
            <a:off x="11279315" y="6279261"/>
            <a:ext cx="518922" cy="241268"/>
          </a:xfrm>
          <a:prstGeom xmlns:a="http://schemas.openxmlformats.org/drawingml/2006/main" prst="rect">
            <a:avLst/>
          </a:prstGeom>
        </p:spPr>
        <p:txBody>
          <a:bodyPr xmlns:a="http://schemas.openxmlformats.org/drawingml/2006/main" wrap="square" lIns="0" tIns="0" rIns="0" bIns="0" anchor="b">
            <a:noAutofit/>
          </a:bodyPr>
          <a:lstStyle xmlns:a="http://schemas.openxmlformats.org/drawingml/2006/main"/>
          <a:p xmlns:a="http://schemas.openxmlformats.org/drawingml/2006/main">
            <a:pPr algn="r">
              <a:defRPr sz="1000">
                <a:solidFill>
                  <a:srgbClr val="000000"/>
                </a:solidFill>
                <a:latin typeface="Helvetica Neue"/>
                <a:ea typeface="Helvetica Neue"/>
                <a:cs typeface="Helvetica Neue"/>
              </a:defRPr>
            </a:pPr>
            <a:r>
              <a:t>3</a:t>
            </a:r>
          </a:p>
        </p:txBody>
      </p:sp>
      <p:sp>
        <p:nvSpPr>
          <p:cNvPr id="2" name="Google-Shape-533-p58-3">
            <a:extLst xmlns:a="http://schemas.openxmlformats.org/drawingml/2006/main">
              <a:ext uri="{FF2B5EF4-FFF2-40B4-BE49-F238E27FC236}">
                <a16:creationId xmlns:a16="http://schemas.microsoft.com/office/drawing/2014/main" id="{10FD9751-038A-404B-AAC5-0E70CD27455C}"/>
              </a:ext>
            </a:extLst>
          </p:cNvPr>
          <p:cNvSpPr>
            <a:spLocks xmlns:a="http://schemas.openxmlformats.org/drawingml/2006/main" noGrp="1"/>
          </p:cNvSpPr>
          <p:nvPr/>
        </p:nvSpPr>
        <p:spPr>
          <a:xfrm xmlns:a="http://schemas.openxmlformats.org/drawingml/2006/main">
            <a:off x="393668" y="344043"/>
            <a:ext cx="11404568" cy="1047464"/>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2900">
                <a:solidFill>
                  <a:srgbClr val="000000"/>
                </a:solidFill>
                <a:latin typeface="Helvetica Neue"/>
                <a:ea typeface="Helvetica Neue"/>
                <a:cs typeface="Helvetica Neue"/>
              </a:defRPr>
            </a:pPr>
            <a:r>
              <a:t>Mistral and Llama follow the task</a:t>
            </a:r>
          </a:p>
        </p:txBody>
      </p:sp>
      <p:sp>
        <p:nvSpPr>
          <p:cNvPr id="3" name="Rounded-Rectangle-6-4">
            <a:extLst xmlns:a="http://schemas.openxmlformats.org/drawingml/2006/main">
              <a:ext uri="{FF2B5EF4-FFF2-40B4-BE49-F238E27FC236}">
                <a16:creationId xmlns:a16="http://schemas.microsoft.com/office/drawing/2014/main" id="{96D7951B-D6D6-4B7A-A800-D05A9B114F3A}"/>
              </a:ext>
            </a:extLst>
          </p:cNvPr>
          <p:cNvSpPr>
            <a:spLocks xmlns:a="http://schemas.openxmlformats.org/drawingml/2006/main" noGrp="1"/>
          </p:cNvSpPr>
          <p:nvPr/>
        </p:nvSpPr>
        <p:spPr>
          <a:xfrm xmlns:a="http://schemas.openxmlformats.org/drawingml/2006/main">
            <a:off x="6264402" y="2369820"/>
            <a:ext cx="5533930" cy="1638300"/>
          </a:xfrm>
          <a:prstGeom xmlns:a="http://schemas.openxmlformats.org/drawingml/2006/main" prst="roundRect">
            <a:avLst>
              <a:gd name="adj" fmla="val 4651"/>
            </a:avLst>
          </a:prstGeom>
          <a:solidFill xmlns:a="http://schemas.openxmlformats.org/drawingml/2006/main">
            <a:srgbClr val="F2F2F2"/>
          </a:solidFill>
        </p:spPr>
      </p:sp>
      <p:sp>
        <p:nvSpPr>
          <p:cNvPr id="4" name="Content-Placeholder-10-5">
            <a:extLst xmlns:a="http://schemas.openxmlformats.org/drawingml/2006/main">
              <a:ext uri="{FF2B5EF4-FFF2-40B4-BE49-F238E27FC236}">
                <a16:creationId xmlns:a16="http://schemas.microsoft.com/office/drawing/2014/main" id="{AB0B7A57-05DD-410A-855C-59A4839AFFA7}"/>
              </a:ext>
            </a:extLst>
          </p:cNvPr>
          <p:cNvSpPr>
            <a:spLocks xmlns:a="http://schemas.openxmlformats.org/drawingml/2006/main" noGrp="1"/>
          </p:cNvSpPr>
          <p:nvPr/>
        </p:nvSpPr>
        <p:spPr>
          <a:xfrm xmlns:a="http://schemas.openxmlformats.org/drawingml/2006/main">
            <a:off x="6561677" y="2664809"/>
            <a:ext cx="4986909" cy="1048417"/>
          </a:xfrm>
          <a:prstGeom xmlns:a="http://schemas.openxmlformats.org/drawingml/2006/main" prst="rect">
            <a:avLst/>
          </a:prstGeom>
        </p:spPr>
        <p:txBody>
          <a:bodyPr xmlns:a="http://schemas.openxmlformats.org/drawingml/2006/main" lIns="0" tIns="0" rIns="0" bIns="0">
            <a:normAutofit fontScale="100000"/>
          </a:bodyPr>
          <a:lstStyle xmlns:a="http://schemas.openxmlformats.org/drawingml/2006/main"/>
          <a:p xmlns:a="http://schemas.openxmlformats.org/drawingml/2006/main">
            <a:pPr algn="l">
              <a:lnSpc>
                <a:spcPct val="106000"/>
              </a:lnSpc>
              <a:spcAft>
                <a:spcPts val="320"/>
              </a:spcAft>
              <a:buNone/>
              <a:defRPr sz="2400">
                <a:solidFill>
                  <a:srgbClr val="000000"/>
                </a:solidFill>
                <a:latin typeface="Helvetica Neue"/>
                <a:ea typeface="Helvetica Neue"/>
                <a:cs typeface="Helvetica Neue"/>
              </a:defRPr>
            </a:pPr>
            <a:r>
              <a:rPr sz="2025" b="1">
                <a:solidFill>
                  <a:srgbClr val="000000"/>
                </a:solidFill>
                <a:latin typeface="Helvetica Neue"/>
                <a:ea typeface="Helvetica Neue"/>
                <a:cs typeface="Helvetica Neue"/>
              </a:rPr>
              <a:t>FLAN: 7 unique</a:t>
            </a:r>
          </a:p>
          <a:p xmlns:a="http://schemas.openxmlformats.org/drawingml/2006/main">
            <a:pPr algn="l">
              <a:lnSpc>
                <a:spcPct val="106000"/>
              </a:lnSpc>
              <a:spcAft>
                <a:spcPts val="320"/>
              </a:spcAft>
              <a:buNone/>
              <a:defRPr sz="2400">
                <a:solidFill>
                  <a:srgbClr val="000000"/>
                </a:solidFill>
                <a:latin typeface="Helvetica Neue"/>
                <a:ea typeface="Helvetica Neue"/>
                <a:cs typeface="Helvetica Neue"/>
              </a:defRPr>
            </a:pPr>
            <a:r>
              <a:rPr sz="1200" b="0">
                <a:solidFill>
                  <a:srgbClr val="000000"/>
                </a:solidFill>
                <a:latin typeface="Helvetica Neue"/>
                <a:ea typeface="Helvetica Neue"/>
                <a:cs typeface="Helvetica Neue"/>
              </a:rPr>
              <a:t>Repeated labels and copied examples; useful only as a weak floor.</a:t>
            </a:r>
          </a:p>
        </p:txBody>
      </p:sp>
      <p:sp>
        <p:nvSpPr>
          <p:cNvPr id="5" name="Rounded-Rectangle-8-6">
            <a:extLst xmlns:a="http://schemas.openxmlformats.org/drawingml/2006/main">
              <a:ext uri="{FF2B5EF4-FFF2-40B4-BE49-F238E27FC236}">
                <a16:creationId xmlns:a16="http://schemas.microsoft.com/office/drawing/2014/main" id="{431E2886-FAED-47E4-8355-B3A95C068E39}"/>
              </a:ext>
            </a:extLst>
          </p:cNvPr>
          <p:cNvSpPr>
            <a:spLocks xmlns:a="http://schemas.openxmlformats.org/drawingml/2006/main" noGrp="1"/>
          </p:cNvSpPr>
          <p:nvPr/>
        </p:nvSpPr>
        <p:spPr>
          <a:xfrm xmlns:a="http://schemas.openxmlformats.org/drawingml/2006/main">
            <a:off x="6264402" y="393668"/>
            <a:ext cx="5533930" cy="1638300"/>
          </a:xfrm>
          <a:prstGeom xmlns:a="http://schemas.openxmlformats.org/drawingml/2006/main" prst="roundRect">
            <a:avLst>
              <a:gd name="adj" fmla="val 4651"/>
            </a:avLst>
          </a:prstGeom>
          <a:solidFill xmlns:a="http://schemas.openxmlformats.org/drawingml/2006/main">
            <a:srgbClr val="F2F2F2"/>
          </a:solidFill>
        </p:spPr>
      </p:sp>
      <p:sp>
        <p:nvSpPr>
          <p:cNvPr id="6" name="Content-Placeholder-10-7">
            <a:extLst xmlns:a="http://schemas.openxmlformats.org/drawingml/2006/main">
              <a:ext uri="{FF2B5EF4-FFF2-40B4-BE49-F238E27FC236}">
                <a16:creationId xmlns:a16="http://schemas.microsoft.com/office/drawing/2014/main" id="{F25CF676-661B-4FA9-94C8-E96A914A0B5B}"/>
              </a:ext>
            </a:extLst>
          </p:cNvPr>
          <p:cNvSpPr>
            <a:spLocks xmlns:a="http://schemas.openxmlformats.org/drawingml/2006/main" noGrp="1"/>
          </p:cNvSpPr>
          <p:nvPr/>
        </p:nvSpPr>
        <p:spPr>
          <a:xfrm xmlns:a="http://schemas.openxmlformats.org/drawingml/2006/main">
            <a:off x="6561677" y="688658"/>
            <a:ext cx="4986909" cy="1048417"/>
          </a:xfrm>
          <a:prstGeom xmlns:a="http://schemas.openxmlformats.org/drawingml/2006/main" prst="rect">
            <a:avLst/>
          </a:prstGeom>
        </p:spPr>
        <p:txBody>
          <a:bodyPr xmlns:a="http://schemas.openxmlformats.org/drawingml/2006/main" lIns="0" tIns="0" rIns="0" bIns="0">
            <a:normAutofit fontScale="100000"/>
          </a:bodyPr>
          <a:lstStyle xmlns:a="http://schemas.openxmlformats.org/drawingml/2006/main"/>
          <a:p xmlns:a="http://schemas.openxmlformats.org/drawingml/2006/main">
            <a:pPr algn="l">
              <a:lnSpc>
                <a:spcPct val="106000"/>
              </a:lnSpc>
              <a:spcAft>
                <a:spcPts val="320"/>
              </a:spcAft>
              <a:buNone/>
              <a:defRPr sz="2400">
                <a:solidFill>
                  <a:srgbClr val="000000"/>
                </a:solidFill>
                <a:latin typeface="Helvetica Neue"/>
                <a:ea typeface="Helvetica Neue"/>
                <a:cs typeface="Helvetica Neue"/>
              </a:defRPr>
            </a:pPr>
            <a:r>
              <a:rPr sz="2025" b="1">
                <a:solidFill>
                  <a:srgbClr val="000000"/>
                </a:solidFill>
                <a:latin typeface="Helvetica Neue"/>
                <a:ea typeface="Helvetica Neue"/>
                <a:cs typeface="Helvetica Neue"/>
              </a:rPr>
              <a:t>70 → 105 rows</a:t>
            </a:r>
          </a:p>
          <a:p xmlns:a="http://schemas.openxmlformats.org/drawingml/2006/main">
            <a:pPr algn="l">
              <a:lnSpc>
                <a:spcPct val="106000"/>
              </a:lnSpc>
              <a:spcAft>
                <a:spcPts val="320"/>
              </a:spcAft>
              <a:buNone/>
              <a:defRPr sz="2400">
                <a:solidFill>
                  <a:srgbClr val="000000"/>
                </a:solidFill>
                <a:latin typeface="Helvetica Neue"/>
                <a:ea typeface="Helvetica Neue"/>
                <a:cs typeface="Helvetica Neue"/>
              </a:defRPr>
            </a:pPr>
            <a:r>
              <a:rPr sz="1200" b="0">
                <a:solidFill>
                  <a:srgbClr val="000000"/>
                </a:solidFill>
                <a:latin typeface="Helvetica Neue"/>
                <a:ea typeface="Helvetica Neue"/>
                <a:cs typeface="Helvetica Neue"/>
              </a:rPr>
              <a:t>Same 35 scenarios and prompt; Llama added without changing the benchmark.</a:t>
            </a:r>
          </a:p>
        </p:txBody>
      </p:sp>
      <p:sp>
        <p:nvSpPr>
          <p:cNvPr id="7" name="Rounded-Rectangle-1-8">
            <a:extLst xmlns:a="http://schemas.openxmlformats.org/drawingml/2006/main">
              <a:ext uri="{FF2B5EF4-FFF2-40B4-BE49-F238E27FC236}">
                <a16:creationId xmlns:a16="http://schemas.microsoft.com/office/drawing/2014/main" id="{4B2B1F2F-57FB-416E-8AF9-CE41090C5CC3}"/>
              </a:ext>
            </a:extLst>
          </p:cNvPr>
          <p:cNvSpPr>
            <a:spLocks xmlns:a="http://schemas.openxmlformats.org/drawingml/2006/main" noGrp="1"/>
          </p:cNvSpPr>
          <p:nvPr/>
        </p:nvSpPr>
        <p:spPr>
          <a:xfrm xmlns:a="http://schemas.openxmlformats.org/drawingml/2006/main">
            <a:off x="6264402" y="4381500"/>
            <a:ext cx="5533930" cy="1638300"/>
          </a:xfrm>
          <a:prstGeom xmlns:a="http://schemas.openxmlformats.org/drawingml/2006/main" prst="roundRect">
            <a:avLst>
              <a:gd name="adj" fmla="val 4651"/>
            </a:avLst>
          </a:prstGeom>
          <a:solidFill xmlns:a="http://schemas.openxmlformats.org/drawingml/2006/main">
            <a:srgbClr val="F2F2F2"/>
          </a:solidFill>
        </p:spPr>
      </p:sp>
      <p:sp>
        <p:nvSpPr>
          <p:cNvPr id="8" name="Content-Placeholder-10-9">
            <a:extLst xmlns:a="http://schemas.openxmlformats.org/drawingml/2006/main">
              <a:ext uri="{FF2B5EF4-FFF2-40B4-BE49-F238E27FC236}">
                <a16:creationId xmlns:a16="http://schemas.microsoft.com/office/drawing/2014/main" id="{6D617B27-09CF-49D9-BED2-A742A9FBE364}"/>
              </a:ext>
            </a:extLst>
          </p:cNvPr>
          <p:cNvSpPr>
            <a:spLocks xmlns:a="http://schemas.openxmlformats.org/drawingml/2006/main" noGrp="1"/>
          </p:cNvSpPr>
          <p:nvPr/>
        </p:nvSpPr>
        <p:spPr>
          <a:xfrm xmlns:a="http://schemas.openxmlformats.org/drawingml/2006/main">
            <a:off x="6561677" y="4676489"/>
            <a:ext cx="4986909" cy="1048417"/>
          </a:xfrm>
          <a:prstGeom xmlns:a="http://schemas.openxmlformats.org/drawingml/2006/main" prst="rect">
            <a:avLst/>
          </a:prstGeom>
        </p:spPr>
        <p:txBody>
          <a:bodyPr xmlns:a="http://schemas.openxmlformats.org/drawingml/2006/main" lIns="0" tIns="0" rIns="0" bIns="0">
            <a:normAutofit fontScale="100000"/>
          </a:bodyPr>
          <a:lstStyle xmlns:a="http://schemas.openxmlformats.org/drawingml/2006/main"/>
          <a:p xmlns:a="http://schemas.openxmlformats.org/drawingml/2006/main">
            <a:pPr algn="l">
              <a:lnSpc>
                <a:spcPct val="106000"/>
              </a:lnSpc>
              <a:spcAft>
                <a:spcPts val="320"/>
              </a:spcAft>
              <a:buNone/>
              <a:defRPr sz="2400">
                <a:solidFill>
                  <a:srgbClr val="000000"/>
                </a:solidFill>
                <a:latin typeface="Helvetica Neue"/>
                <a:ea typeface="Helvetica Neue"/>
                <a:cs typeface="Helvetica Neue"/>
              </a:defRPr>
            </a:pPr>
            <a:r>
              <a:rPr sz="1875" b="1">
                <a:solidFill>
                  <a:srgbClr val="000000"/>
                </a:solidFill>
                <a:latin typeface="Helvetica Neue"/>
                <a:ea typeface="Helvetica Neue"/>
                <a:cs typeface="Helvetica Neue"/>
              </a:rPr>
              <a:t>Judge not calibrated</a:t>
            </a:r>
          </a:p>
          <a:p xmlns:a="http://schemas.openxmlformats.org/drawingml/2006/main">
            <a:pPr algn="l">
              <a:lnSpc>
                <a:spcPct val="106000"/>
              </a:lnSpc>
              <a:spcAft>
                <a:spcPts val="320"/>
              </a:spcAft>
              <a:buNone/>
              <a:defRPr sz="2400">
                <a:solidFill>
                  <a:srgbClr val="000000"/>
                </a:solidFill>
                <a:latin typeface="Helvetica Neue"/>
                <a:ea typeface="Helvetica Neue"/>
                <a:cs typeface="Helvetica Neue"/>
              </a:defRPr>
            </a:pPr>
            <a:r>
              <a:rPr sz="1200" b="0">
                <a:solidFill>
                  <a:srgbClr val="000000"/>
                </a:solidFill>
                <a:latin typeface="Helvetica Neue"/>
                <a:ea typeface="Helvetica Neue"/>
                <a:cs typeface="Helvetica Neue"/>
              </a:rPr>
              <a:t>Scores are diagnostic; resolution coverage is reported beside every mean.</a:t>
            </a:r>
          </a:p>
        </p:txBody>
      </p:sp>
      <p:graphicFrame>
        <p:nvGraphicFramePr>
          <p:cNvPr id="18" name="Chart"/>
          <p:cNvGraphicFramePr/>
          <p:nvPr/>
        </p:nvGraphicFramePr>
        <p:xfrm>
          <a:off xmlns:a="http://schemas.openxmlformats.org/drawingml/2006/main" x="408718" y="1054132"/>
          <a:ext xmlns:a="http://schemas.openxmlformats.org/drawingml/2006/main" cx="5124164" cy="5452015"/>
        </p:xfrm>
        <a:graphic xmlns:a="http://schemas.openxmlformats.org/drawingml/2006/main">
          <a:graphicData uri="http://schemas.openxmlformats.org/drawingml/2006/chart">
            <c:chart xmlns:r="http://schemas.openxmlformats.org/officeDocument/2006/relationships" xmlns:c="http://schemas.openxmlformats.org/drawingml/2006/chart" r:id="Rbb099b200fd14a23"/>
          </a:graphicData>
        </a:graphic>
      </p:graphicFrame>
    </p:spTree>
    <p:extLst>
      <p:ext uri="{BB962C8B-B14F-4D97-AF65-F5344CB8AC3E}">
        <p14:creationId xmlns:p14="http://schemas.microsoft.com/office/powerpoint/2010/main" val="878490152"/>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10" name="Google-Shape-532-p58-2">
            <a:extLst xmlns:a="http://schemas.openxmlformats.org/drawingml/2006/main">
              <a:ext uri="{FF2B5EF4-FFF2-40B4-BE49-F238E27FC236}">
                <a16:creationId xmlns:a16="http://schemas.microsoft.com/office/drawing/2014/main" id="{D65E85C6-A351-4851-926C-AE6028689810}"/>
              </a:ext>
            </a:extLst>
          </p:cNvPr>
          <p:cNvSpPr>
            <a:spLocks xmlns:a="http://schemas.openxmlformats.org/drawingml/2006/main" noGrp="1"/>
          </p:cNvSpPr>
          <p:nvPr/>
        </p:nvSpPr>
        <p:spPr>
          <a:xfrm xmlns:a="http://schemas.openxmlformats.org/drawingml/2006/main">
            <a:off x="11279315" y="6279261"/>
            <a:ext cx="518922" cy="241268"/>
          </a:xfrm>
          <a:prstGeom xmlns:a="http://schemas.openxmlformats.org/drawingml/2006/main" prst="rect">
            <a:avLst/>
          </a:prstGeom>
        </p:spPr>
        <p:txBody>
          <a:bodyPr xmlns:a="http://schemas.openxmlformats.org/drawingml/2006/main" wrap="square" lIns="0" tIns="0" rIns="0" bIns="0" anchor="b">
            <a:noAutofit/>
          </a:bodyPr>
          <a:lstStyle xmlns:a="http://schemas.openxmlformats.org/drawingml/2006/main"/>
          <a:p xmlns:a="http://schemas.openxmlformats.org/drawingml/2006/main">
            <a:pPr algn="r">
              <a:defRPr sz="1000">
                <a:solidFill>
                  <a:srgbClr val="000000"/>
                </a:solidFill>
                <a:latin typeface="Helvetica Neue"/>
                <a:ea typeface="Helvetica Neue"/>
                <a:cs typeface="Helvetica Neue"/>
              </a:defRPr>
            </a:pPr>
            <a:r>
              <a:t>4</a:t>
            </a:r>
          </a:p>
        </p:txBody>
      </p:sp>
      <p:sp>
        <p:nvSpPr>
          <p:cNvPr id="2" name="Google-Shape-533-p58-3">
            <a:extLst xmlns:a="http://schemas.openxmlformats.org/drawingml/2006/main">
              <a:ext uri="{FF2B5EF4-FFF2-40B4-BE49-F238E27FC236}">
                <a16:creationId xmlns:a16="http://schemas.microsoft.com/office/drawing/2014/main" id="{1A28902F-6B2E-41DE-A9DD-0E1A58F3B0D2}"/>
              </a:ext>
            </a:extLst>
          </p:cNvPr>
          <p:cNvSpPr>
            <a:spLocks xmlns:a="http://schemas.openxmlformats.org/drawingml/2006/main" noGrp="1"/>
          </p:cNvSpPr>
          <p:nvPr/>
        </p:nvSpPr>
        <p:spPr>
          <a:xfrm xmlns:a="http://schemas.openxmlformats.org/drawingml/2006/main">
            <a:off x="393668" y="344043"/>
            <a:ext cx="11404568" cy="1047464"/>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2900">
                <a:solidFill>
                  <a:srgbClr val="000000"/>
                </a:solidFill>
                <a:latin typeface="Helvetica Neue"/>
                <a:ea typeface="Helvetica Neue"/>
                <a:cs typeface="Helvetica Neue"/>
              </a:defRPr>
            </a:pPr>
            <a:r>
              <a:t>RAG helps; generation drives the cost</a:t>
            </a:r>
          </a:p>
        </p:txBody>
      </p:sp>
      <p:sp>
        <p:nvSpPr>
          <p:cNvPr id="3" name="Rounded-Rectangle-6-4">
            <a:extLst xmlns:a="http://schemas.openxmlformats.org/drawingml/2006/main">
              <a:ext uri="{FF2B5EF4-FFF2-40B4-BE49-F238E27FC236}">
                <a16:creationId xmlns:a16="http://schemas.microsoft.com/office/drawing/2014/main" id="{5DC569DE-F43C-4422-B363-0DE4AFB82A6F}"/>
              </a:ext>
            </a:extLst>
          </p:cNvPr>
          <p:cNvSpPr>
            <a:spLocks xmlns:a="http://schemas.openxmlformats.org/drawingml/2006/main" noGrp="1"/>
          </p:cNvSpPr>
          <p:nvPr/>
        </p:nvSpPr>
        <p:spPr>
          <a:xfrm xmlns:a="http://schemas.openxmlformats.org/drawingml/2006/main">
            <a:off x="6264402" y="2369820"/>
            <a:ext cx="5533930" cy="1638300"/>
          </a:xfrm>
          <a:prstGeom xmlns:a="http://schemas.openxmlformats.org/drawingml/2006/main" prst="roundRect">
            <a:avLst>
              <a:gd name="adj" fmla="val 4651"/>
            </a:avLst>
          </a:prstGeom>
          <a:solidFill xmlns:a="http://schemas.openxmlformats.org/drawingml/2006/main">
            <a:srgbClr val="F2F2F2"/>
          </a:solidFill>
        </p:spPr>
      </p:sp>
      <p:sp>
        <p:nvSpPr>
          <p:cNvPr id="4" name="Content-Placeholder-10-5">
            <a:extLst xmlns:a="http://schemas.openxmlformats.org/drawingml/2006/main">
              <a:ext uri="{FF2B5EF4-FFF2-40B4-BE49-F238E27FC236}">
                <a16:creationId xmlns:a16="http://schemas.microsoft.com/office/drawing/2014/main" id="{34B9CC11-6D3A-4B4C-8A7F-5C60E973D867}"/>
              </a:ext>
            </a:extLst>
          </p:cNvPr>
          <p:cNvSpPr>
            <a:spLocks xmlns:a="http://schemas.openxmlformats.org/drawingml/2006/main" noGrp="1"/>
          </p:cNvSpPr>
          <p:nvPr/>
        </p:nvSpPr>
        <p:spPr>
          <a:xfrm xmlns:a="http://schemas.openxmlformats.org/drawingml/2006/main">
            <a:off x="6561677" y="2664809"/>
            <a:ext cx="4986909" cy="1048417"/>
          </a:xfrm>
          <a:prstGeom xmlns:a="http://schemas.openxmlformats.org/drawingml/2006/main" prst="rect">
            <a:avLst/>
          </a:prstGeom>
        </p:spPr>
        <p:txBody>
          <a:bodyPr xmlns:a="http://schemas.openxmlformats.org/drawingml/2006/main" lIns="0" tIns="0" rIns="0" bIns="0">
            <a:normAutofit fontScale="100000"/>
          </a:bodyPr>
          <a:lstStyle xmlns:a="http://schemas.openxmlformats.org/drawingml/2006/main"/>
          <a:p xmlns:a="http://schemas.openxmlformats.org/drawingml/2006/main">
            <a:pPr algn="l">
              <a:lnSpc>
                <a:spcPct val="106000"/>
              </a:lnSpc>
              <a:spcAft>
                <a:spcPts val="320"/>
              </a:spcAft>
              <a:buNone/>
              <a:defRPr sz="2400">
                <a:solidFill>
                  <a:srgbClr val="000000"/>
                </a:solidFill>
                <a:latin typeface="Helvetica Neue"/>
                <a:ea typeface="Helvetica Neue"/>
                <a:cs typeface="Helvetica Neue"/>
              </a:defRPr>
            </a:pPr>
            <a:r>
              <a:rPr sz="2025" b="1">
                <a:solidFill>
                  <a:srgbClr val="000000"/>
                </a:solidFill>
                <a:latin typeface="Helvetica Neue"/>
                <a:ea typeface="Helvetica Neue"/>
                <a:cs typeface="Helvetica Neue"/>
              </a:rPr>
              <a:t>408.893 ms</a:t>
            </a:r>
          </a:p>
          <a:p xmlns:a="http://schemas.openxmlformats.org/drawingml/2006/main">
            <a:pPr algn="l">
              <a:lnSpc>
                <a:spcPct val="106000"/>
              </a:lnSpc>
              <a:spcAft>
                <a:spcPts val="320"/>
              </a:spcAft>
              <a:buNone/>
              <a:defRPr sz="2400">
                <a:solidFill>
                  <a:srgbClr val="000000"/>
                </a:solidFill>
                <a:latin typeface="Helvetica Neue"/>
                <a:ea typeface="Helvetica Neue"/>
                <a:cs typeface="Helvetica Neue"/>
              </a:defRPr>
            </a:pPr>
            <a:r>
              <a:rPr sz="1200" b="0">
                <a:solidFill>
                  <a:srgbClr val="000000"/>
                </a:solidFill>
                <a:latin typeface="Helvetica Neue"/>
                <a:ea typeface="Helvetica Neue"/>
                <a:cs typeface="Helvetica Neue"/>
              </a:rPr>
              <a:t>Vector search p50; full RAG p50 is 8.40 s.</a:t>
            </a:r>
          </a:p>
        </p:txBody>
      </p:sp>
      <p:sp>
        <p:nvSpPr>
          <p:cNvPr id="5" name="Rounded-Rectangle-8-6">
            <a:extLst xmlns:a="http://schemas.openxmlformats.org/drawingml/2006/main">
              <a:ext uri="{FF2B5EF4-FFF2-40B4-BE49-F238E27FC236}">
                <a16:creationId xmlns:a16="http://schemas.microsoft.com/office/drawing/2014/main" id="{08B812BE-2E9A-42A0-ACAD-6E248F56AAD4}"/>
              </a:ext>
            </a:extLst>
          </p:cNvPr>
          <p:cNvSpPr>
            <a:spLocks xmlns:a="http://schemas.openxmlformats.org/drawingml/2006/main" noGrp="1"/>
          </p:cNvSpPr>
          <p:nvPr/>
        </p:nvSpPr>
        <p:spPr>
          <a:xfrm xmlns:a="http://schemas.openxmlformats.org/drawingml/2006/main">
            <a:off x="6264402" y="393668"/>
            <a:ext cx="5533930" cy="1638300"/>
          </a:xfrm>
          <a:prstGeom xmlns:a="http://schemas.openxmlformats.org/drawingml/2006/main" prst="roundRect">
            <a:avLst>
              <a:gd name="adj" fmla="val 4651"/>
            </a:avLst>
          </a:prstGeom>
          <a:solidFill xmlns:a="http://schemas.openxmlformats.org/drawingml/2006/main">
            <a:srgbClr val="F2F2F2"/>
          </a:solidFill>
        </p:spPr>
      </p:sp>
      <p:sp>
        <p:nvSpPr>
          <p:cNvPr id="6" name="Content-Placeholder-10-7">
            <a:extLst xmlns:a="http://schemas.openxmlformats.org/drawingml/2006/main">
              <a:ext uri="{FF2B5EF4-FFF2-40B4-BE49-F238E27FC236}">
                <a16:creationId xmlns:a16="http://schemas.microsoft.com/office/drawing/2014/main" id="{D6E55D74-0593-4CE7-9988-043E1F066D00}"/>
              </a:ext>
            </a:extLst>
          </p:cNvPr>
          <p:cNvSpPr>
            <a:spLocks xmlns:a="http://schemas.openxmlformats.org/drawingml/2006/main" noGrp="1"/>
          </p:cNvSpPr>
          <p:nvPr/>
        </p:nvSpPr>
        <p:spPr>
          <a:xfrm xmlns:a="http://schemas.openxmlformats.org/drawingml/2006/main">
            <a:off x="6561677" y="688658"/>
            <a:ext cx="4986909" cy="1048417"/>
          </a:xfrm>
          <a:prstGeom xmlns:a="http://schemas.openxmlformats.org/drawingml/2006/main" prst="rect">
            <a:avLst/>
          </a:prstGeom>
        </p:spPr>
        <p:txBody>
          <a:bodyPr xmlns:a="http://schemas.openxmlformats.org/drawingml/2006/main" lIns="0" tIns="0" rIns="0" bIns="0">
            <a:normAutofit fontScale="100000"/>
          </a:bodyPr>
          <a:lstStyle xmlns:a="http://schemas.openxmlformats.org/drawingml/2006/main"/>
          <a:p xmlns:a="http://schemas.openxmlformats.org/drawingml/2006/main">
            <a:pPr algn="l">
              <a:lnSpc>
                <a:spcPct val="106000"/>
              </a:lnSpc>
              <a:spcAft>
                <a:spcPts val="320"/>
              </a:spcAft>
              <a:buNone/>
              <a:defRPr sz="2400">
                <a:solidFill>
                  <a:srgbClr val="000000"/>
                </a:solidFill>
                <a:latin typeface="Helvetica Neue"/>
                <a:ea typeface="Helvetica Neue"/>
                <a:cs typeface="Helvetica Neue"/>
              </a:defRPr>
            </a:pPr>
            <a:r>
              <a:rPr sz="2025" b="1">
                <a:solidFill>
                  <a:srgbClr val="000000"/>
                </a:solidFill>
                <a:latin typeface="Helvetica Neue"/>
                <a:ea typeface="Helvetica Neue"/>
                <a:cs typeface="Helvetica Neue"/>
              </a:rPr>
              <a:t>0.902 recall</a:t>
            </a:r>
          </a:p>
          <a:p xmlns:a="http://schemas.openxmlformats.org/drawingml/2006/main">
            <a:pPr algn="l">
              <a:lnSpc>
                <a:spcPct val="106000"/>
              </a:lnSpc>
              <a:spcAft>
                <a:spcPts val="320"/>
              </a:spcAft>
              <a:buNone/>
              <a:defRPr sz="2400">
                <a:solidFill>
                  <a:srgbClr val="000000"/>
                </a:solidFill>
                <a:latin typeface="Helvetica Neue"/>
                <a:ea typeface="Helvetica Neue"/>
                <a:cs typeface="Helvetica Neue"/>
              </a:defRPr>
            </a:pPr>
            <a:r>
              <a:rPr sz="1200" b="0">
                <a:solidFill>
                  <a:srgbClr val="000000"/>
                </a:solidFill>
                <a:latin typeface="Helvetica Neue"/>
                <a:ea typeface="Helvetica Neue"/>
                <a:cs typeface="Helvetica Neue"/>
              </a:rPr>
              <a:t>331 governed public units • 40 questions • no metadata leakage.</a:t>
            </a:r>
          </a:p>
        </p:txBody>
      </p:sp>
      <p:sp>
        <p:nvSpPr>
          <p:cNvPr id="7" name="Rounded-Rectangle-1-8">
            <a:extLst xmlns:a="http://schemas.openxmlformats.org/drawingml/2006/main">
              <a:ext uri="{FF2B5EF4-FFF2-40B4-BE49-F238E27FC236}">
                <a16:creationId xmlns:a16="http://schemas.microsoft.com/office/drawing/2014/main" id="{A0FF9F3F-30B2-4AB7-8A2E-4110DF39ABD4}"/>
              </a:ext>
            </a:extLst>
          </p:cNvPr>
          <p:cNvSpPr>
            <a:spLocks xmlns:a="http://schemas.openxmlformats.org/drawingml/2006/main" noGrp="1"/>
          </p:cNvSpPr>
          <p:nvPr/>
        </p:nvSpPr>
        <p:spPr>
          <a:xfrm xmlns:a="http://schemas.openxmlformats.org/drawingml/2006/main">
            <a:off x="6264402" y="4381500"/>
            <a:ext cx="5533930" cy="1638300"/>
          </a:xfrm>
          <a:prstGeom xmlns:a="http://schemas.openxmlformats.org/drawingml/2006/main" prst="roundRect">
            <a:avLst>
              <a:gd name="adj" fmla="val 4651"/>
            </a:avLst>
          </a:prstGeom>
          <a:solidFill xmlns:a="http://schemas.openxmlformats.org/drawingml/2006/main">
            <a:srgbClr val="F2F2F2"/>
          </a:solidFill>
        </p:spPr>
      </p:sp>
      <p:sp>
        <p:nvSpPr>
          <p:cNvPr id="8" name="Content-Placeholder-10-9">
            <a:extLst xmlns:a="http://schemas.openxmlformats.org/drawingml/2006/main">
              <a:ext uri="{FF2B5EF4-FFF2-40B4-BE49-F238E27FC236}">
                <a16:creationId xmlns:a16="http://schemas.microsoft.com/office/drawing/2014/main" id="{4FE77AC4-8385-40D7-92BF-35412A131C67}"/>
              </a:ext>
            </a:extLst>
          </p:cNvPr>
          <p:cNvSpPr>
            <a:spLocks xmlns:a="http://schemas.openxmlformats.org/drawingml/2006/main" noGrp="1"/>
          </p:cNvSpPr>
          <p:nvPr/>
        </p:nvSpPr>
        <p:spPr>
          <a:xfrm xmlns:a="http://schemas.openxmlformats.org/drawingml/2006/main">
            <a:off x="6561677" y="4676489"/>
            <a:ext cx="4986909" cy="1048417"/>
          </a:xfrm>
          <a:prstGeom xmlns:a="http://schemas.openxmlformats.org/drawingml/2006/main" prst="rect">
            <a:avLst/>
          </a:prstGeom>
        </p:spPr>
        <p:txBody>
          <a:bodyPr xmlns:a="http://schemas.openxmlformats.org/drawingml/2006/main" lIns="0" tIns="0" rIns="0" bIns="0">
            <a:normAutofit fontScale="100000"/>
          </a:bodyPr>
          <a:lstStyle xmlns:a="http://schemas.openxmlformats.org/drawingml/2006/main"/>
          <a:p xmlns:a="http://schemas.openxmlformats.org/drawingml/2006/main">
            <a:pPr algn="l">
              <a:lnSpc>
                <a:spcPct val="106000"/>
              </a:lnSpc>
              <a:spcAft>
                <a:spcPts val="320"/>
              </a:spcAft>
              <a:buNone/>
              <a:defRPr sz="2400">
                <a:solidFill>
                  <a:srgbClr val="000000"/>
                </a:solidFill>
                <a:latin typeface="Helvetica Neue"/>
                <a:ea typeface="Helvetica Neue"/>
                <a:cs typeface="Helvetica Neue"/>
              </a:defRPr>
            </a:pPr>
            <a:r>
              <a:rPr sz="1800" b="1">
                <a:solidFill>
                  <a:srgbClr val="000000"/>
                </a:solidFill>
                <a:latin typeface="Helvetica Neue"/>
                <a:ea typeface="Helvetica Neue"/>
                <a:cs typeface="Helvetica Neue"/>
              </a:rPr>
              <a:t>Public and private stay split</a:t>
            </a:r>
          </a:p>
          <a:p xmlns:a="http://schemas.openxmlformats.org/drawingml/2006/main">
            <a:pPr algn="l">
              <a:lnSpc>
                <a:spcPct val="106000"/>
              </a:lnSpc>
              <a:spcAft>
                <a:spcPts val="320"/>
              </a:spcAft>
              <a:buNone/>
              <a:defRPr sz="2400">
                <a:solidFill>
                  <a:srgbClr val="000000"/>
                </a:solidFill>
                <a:latin typeface="Helvetica Neue"/>
                <a:ea typeface="Helvetica Neue"/>
                <a:cs typeface="Helvetica Neue"/>
              </a:defRPr>
            </a:pPr>
            <a:r>
              <a:rPr sz="1200" b="0">
                <a:solidFill>
                  <a:srgbClr val="000000"/>
                </a:solidFill>
                <a:latin typeface="Helvetica Neue"/>
                <a:ea typeface="Helvetica Neue"/>
                <a:cs typeface="Helvetica Neue"/>
              </a:rPr>
              <a:t>June internship material passed a separate smoke test and is not pooled here.</a:t>
            </a:r>
          </a:p>
        </p:txBody>
      </p:sp>
      <p:graphicFrame>
        <p:nvGraphicFramePr>
          <p:cNvPr id="18" name="Chart"/>
          <p:cNvGraphicFramePr/>
          <p:nvPr/>
        </p:nvGraphicFramePr>
        <p:xfrm>
          <a:off xmlns:a="http://schemas.openxmlformats.org/drawingml/2006/main" x="408718" y="1054132"/>
          <a:ext xmlns:a="http://schemas.openxmlformats.org/drawingml/2006/main" cx="5124164" cy="5452015"/>
        </p:xfrm>
        <a:graphic xmlns:a="http://schemas.openxmlformats.org/drawingml/2006/main">
          <a:graphicData uri="http://schemas.openxmlformats.org/drawingml/2006/chart">
            <c:chart xmlns:r="http://schemas.openxmlformats.org/officeDocument/2006/relationships" xmlns:c="http://schemas.openxmlformats.org/drawingml/2006/chart" r:id="Rd510a8b97ec74dd6"/>
          </a:graphicData>
        </a:graphic>
      </p:graphicFrame>
    </p:spTree>
    <p:extLst>
      <p:ext uri="{BB962C8B-B14F-4D97-AF65-F5344CB8AC3E}">
        <p14:creationId xmlns:p14="http://schemas.microsoft.com/office/powerpoint/2010/main" val="1552916801"/>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11" name="Slide-Number-Placeholder-3-2">
            <a:extLst xmlns:a="http://schemas.openxmlformats.org/drawingml/2006/main">
              <a:ext uri="{FF2B5EF4-FFF2-40B4-BE49-F238E27FC236}">
                <a16:creationId xmlns:a16="http://schemas.microsoft.com/office/drawing/2014/main" id="{7D214F06-7D04-4F43-A90C-916A2A11AA0C}"/>
              </a:ext>
            </a:extLst>
          </p:cNvPr>
          <p:cNvSpPr>
            <a:spLocks xmlns:a="http://schemas.openxmlformats.org/drawingml/2006/main" noGrp="1"/>
          </p:cNvSpPr>
          <p:nvPr/>
        </p:nvSpPr>
        <p:spPr>
          <a:xfrm xmlns:a="http://schemas.openxmlformats.org/drawingml/2006/main">
            <a:off x="11279315" y="6279261"/>
            <a:ext cx="518922" cy="241268"/>
          </a:xfrm>
          <a:prstGeom xmlns:a="http://schemas.openxmlformats.org/drawingml/2006/main" prst="rect">
            <a:avLst/>
          </a:prstGeom>
        </p:spPr>
        <p:txBody>
          <a:bodyPr xmlns:a="http://schemas.openxmlformats.org/drawingml/2006/main" lIns="0" tIns="0" rIns="0" bIns="0" anchor="b"/>
          <a:lstStyle xmlns:a="http://schemas.openxmlformats.org/drawingml/2006/main"/>
          <a:p xmlns:a="http://schemas.openxmlformats.org/drawingml/2006/main">
            <a:pPr algn="r">
              <a:defRPr sz="1000">
                <a:solidFill>
                  <a:srgbClr val="000000"/>
                </a:solidFill>
                <a:latin typeface="Helvetica Neue"/>
                <a:ea typeface="Helvetica Neue"/>
                <a:cs typeface="Helvetica Neue"/>
              </a:defRPr>
            </a:pPr>
            <a:r>
              <a:t>5</a:t>
            </a:r>
          </a:p>
        </p:txBody>
      </p:sp>
      <p:sp>
        <p:nvSpPr>
          <p:cNvPr id="2" name="Title-10-3">
            <a:extLst xmlns:a="http://schemas.openxmlformats.org/drawingml/2006/main">
              <a:ext uri="{FF2B5EF4-FFF2-40B4-BE49-F238E27FC236}">
                <a16:creationId xmlns:a16="http://schemas.microsoft.com/office/drawing/2014/main" id="{4BEC000B-CCFA-4EA3-A861-E416B9318049}"/>
              </a:ext>
            </a:extLst>
          </p:cNvPr>
          <p:cNvSpPr>
            <a:spLocks xmlns:a="http://schemas.openxmlformats.org/drawingml/2006/main" noGrp="1"/>
          </p:cNvSpPr>
          <p:nvPr/>
        </p:nvSpPr>
        <p:spPr>
          <a:xfrm xmlns:a="http://schemas.openxmlformats.org/drawingml/2006/main">
            <a:off x="393668" y="344043"/>
            <a:ext cx="11404568" cy="1047464"/>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900">
                <a:solidFill>
                  <a:srgbClr val="000000"/>
                </a:solidFill>
                <a:latin typeface="Helvetica Neue"/>
                <a:ea typeface="Helvetica Neue"/>
                <a:cs typeface="Helvetica Neue"/>
              </a:defRPr>
            </a:pPr>
            <a:r>
              <a:t>Consistency alone can reward a stable failure</a:t>
            </a:r>
          </a:p>
        </p:txBody>
      </p:sp>
      <p:sp>
        <p:nvSpPr>
          <p:cNvPr id="3" name="Rounded-Rectangle-36-4">
            <a:extLst xmlns:a="http://schemas.openxmlformats.org/drawingml/2006/main">
              <a:ext uri="{FF2B5EF4-FFF2-40B4-BE49-F238E27FC236}">
                <a16:creationId xmlns:a16="http://schemas.microsoft.com/office/drawing/2014/main" id="{2A7D445E-0516-486E-9B42-17F888EF4563}"/>
              </a:ext>
            </a:extLst>
          </p:cNvPr>
          <p:cNvSpPr>
            <a:spLocks xmlns:a="http://schemas.openxmlformats.org/drawingml/2006/main" noGrp="1"/>
          </p:cNvSpPr>
          <p:nvPr/>
        </p:nvSpPr>
        <p:spPr>
          <a:xfrm xmlns:a="http://schemas.openxmlformats.org/drawingml/2006/main">
            <a:off x="6272022" y="3360039"/>
            <a:ext cx="2581942" cy="2656523"/>
          </a:xfrm>
          <a:prstGeom xmlns:a="http://schemas.openxmlformats.org/drawingml/2006/main" prst="roundRect">
            <a:avLst>
              <a:gd name="adj" fmla="val 2951"/>
            </a:avLst>
          </a:prstGeom>
          <a:solidFill xmlns:a="http://schemas.openxmlformats.org/drawingml/2006/main">
            <a:srgbClr val="F2F2F2"/>
          </a:solidFill>
        </p:spPr>
      </p:sp>
      <p:sp>
        <p:nvSpPr>
          <p:cNvPr id="4" name="Content-Placeholder-9-5">
            <a:extLst xmlns:a="http://schemas.openxmlformats.org/drawingml/2006/main">
              <a:ext uri="{FF2B5EF4-FFF2-40B4-BE49-F238E27FC236}">
                <a16:creationId xmlns:a16="http://schemas.microsoft.com/office/drawing/2014/main" id="{E58C8201-8192-4C20-BA75-DB1E0221099F}"/>
              </a:ext>
            </a:extLst>
          </p:cNvPr>
          <p:cNvSpPr>
            <a:spLocks xmlns:a="http://schemas.openxmlformats.org/drawingml/2006/main" noGrp="1"/>
          </p:cNvSpPr>
          <p:nvPr/>
        </p:nvSpPr>
        <p:spPr>
          <a:xfrm xmlns:a="http://schemas.openxmlformats.org/drawingml/2006/main">
            <a:off x="6509385" y="3579971"/>
            <a:ext cx="2133314" cy="1155859"/>
          </a:xfrm>
          <a:prstGeom xmlns:a="http://schemas.openxmlformats.org/drawingml/2006/main" prst="rect">
            <a:avLst/>
          </a:prstGeom>
        </p:spPr>
        <p:txBody>
          <a:bodyPr xmlns:a="http://schemas.openxmlformats.org/drawingml/2006/main" lIns="0" tIns="0" rIns="0" bIns="0" anchor="b">
            <a:normAutofit fontScale="100000"/>
          </a:bodyPr>
          <a:lstStyle xmlns:a="http://schemas.openxmlformats.org/drawingml/2006/main"/>
          <a:p xmlns:a="http://schemas.openxmlformats.org/drawingml/2006/main">
            <a:pPr algn="l">
              <a:lnSpc>
                <a:spcPct val="102000"/>
              </a:lnSpc>
              <a:buNone/>
              <a:defRPr sz="2400">
                <a:solidFill>
                  <a:srgbClr val="000000"/>
                </a:solidFill>
                <a:latin typeface="Helvetica Neue"/>
                <a:ea typeface="Helvetica Neue"/>
                <a:cs typeface="Helvetica Neue"/>
              </a:defRPr>
            </a:pPr>
            <a:r>
              <a:rPr sz="2400" b="1">
                <a:solidFill>
                  <a:srgbClr val="000000"/>
                </a:solidFill>
                <a:latin typeface="Helvetica Neue"/>
                <a:ea typeface="Helvetica Neue"/>
                <a:cs typeface="Helvetica Neue"/>
              </a:rPr>
              <a:t>0.914 / 25</a:t>
            </a:r>
            <a:r>
              <a:rPr sz="1200">
                <a:solidFill>
                  <a:srgbClr val="000000"/>
                </a:solidFill>
                <a:latin typeface="Helvetica Neue"/>
                <a:ea typeface="Helvetica Neue"/>
                <a:cs typeface="Helvetica Neue"/>
              </a:rPr>
              <a:t>
FLAN consistency / stable fails</a:t>
            </a:r>
          </a:p>
        </p:txBody>
      </p:sp>
      <p:sp>
        <p:nvSpPr>
          <p:cNvPr id="5" name="Content-Placeholder-15-6">
            <a:extLst xmlns:a="http://schemas.openxmlformats.org/drawingml/2006/main">
              <a:ext uri="{FF2B5EF4-FFF2-40B4-BE49-F238E27FC236}">
                <a16:creationId xmlns:a16="http://schemas.microsoft.com/office/drawing/2014/main" id="{8CAAC5CF-8448-4ED4-9441-C64232070BE9}"/>
              </a:ext>
            </a:extLst>
          </p:cNvPr>
          <p:cNvSpPr>
            <a:spLocks xmlns:a="http://schemas.openxmlformats.org/drawingml/2006/main" noGrp="1"/>
          </p:cNvSpPr>
          <p:nvPr/>
        </p:nvSpPr>
        <p:spPr>
          <a:xfrm xmlns:a="http://schemas.openxmlformats.org/drawingml/2006/main">
            <a:off x="6575965" y="5068253"/>
            <a:ext cx="2066735" cy="615982"/>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lnSpc>
                <a:spcPct val="106000"/>
              </a:lnSpc>
              <a:spcAft>
                <a:spcPts val="320"/>
              </a:spcAft>
              <a:buNone/>
              <a:defRPr sz="2400">
                <a:solidFill>
                  <a:srgbClr val="000000"/>
                </a:solidFill>
                <a:latin typeface="Helvetica Neue"/>
                <a:ea typeface="Helvetica Neue"/>
                <a:cs typeface="Helvetica Neue"/>
              </a:defRPr>
            </a:pPr>
            <a:r>
              <a:rPr sz="1275" b="1">
                <a:solidFill>
                  <a:srgbClr val="000000"/>
                </a:solidFill>
                <a:latin typeface="Helvetica Neue"/>
                <a:ea typeface="Helvetica Neue"/>
                <a:cs typeface="Helvetica Neue"/>
              </a:rPr>
              <a:t>High consistency is not high quality</a:t>
            </a:r>
          </a:p>
        </p:txBody>
      </p:sp>
      <p:sp>
        <p:nvSpPr>
          <p:cNvPr id="6" name="Rounded-Rectangle-39-7">
            <a:extLst xmlns:a="http://schemas.openxmlformats.org/drawingml/2006/main">
              <a:ext uri="{FF2B5EF4-FFF2-40B4-BE49-F238E27FC236}">
                <a16:creationId xmlns:a16="http://schemas.microsoft.com/office/drawing/2014/main" id="{B920BB11-DD6F-4B88-8A42-C9DCA8633070}"/>
              </a:ext>
            </a:extLst>
          </p:cNvPr>
          <p:cNvSpPr>
            <a:spLocks xmlns:a="http://schemas.openxmlformats.org/drawingml/2006/main" noGrp="1"/>
          </p:cNvSpPr>
          <p:nvPr/>
        </p:nvSpPr>
        <p:spPr>
          <a:xfrm xmlns:a="http://schemas.openxmlformats.org/drawingml/2006/main">
            <a:off x="9224201" y="3360039"/>
            <a:ext cx="2581942" cy="2656523"/>
          </a:xfrm>
          <a:prstGeom xmlns:a="http://schemas.openxmlformats.org/drawingml/2006/main" prst="roundRect">
            <a:avLst>
              <a:gd name="adj" fmla="val 2951"/>
            </a:avLst>
          </a:prstGeom>
          <a:solidFill xmlns:a="http://schemas.openxmlformats.org/drawingml/2006/main">
            <a:srgbClr val="F2F2F2"/>
          </a:solidFill>
        </p:spPr>
      </p:sp>
      <p:sp>
        <p:nvSpPr>
          <p:cNvPr id="7" name="Content-Placeholder-9-8">
            <a:extLst xmlns:a="http://schemas.openxmlformats.org/drawingml/2006/main">
              <a:ext uri="{FF2B5EF4-FFF2-40B4-BE49-F238E27FC236}">
                <a16:creationId xmlns:a16="http://schemas.microsoft.com/office/drawing/2014/main" id="{403023CE-483C-4F69-9642-3BA675E345D9}"/>
              </a:ext>
            </a:extLst>
          </p:cNvPr>
          <p:cNvSpPr>
            <a:spLocks xmlns:a="http://schemas.openxmlformats.org/drawingml/2006/main" noGrp="1"/>
          </p:cNvSpPr>
          <p:nvPr/>
        </p:nvSpPr>
        <p:spPr>
          <a:xfrm xmlns:a="http://schemas.openxmlformats.org/drawingml/2006/main">
            <a:off x="9461564" y="3579971"/>
            <a:ext cx="2133314" cy="1155859"/>
          </a:xfrm>
          <a:prstGeom xmlns:a="http://schemas.openxmlformats.org/drawingml/2006/main" prst="rect">
            <a:avLst/>
          </a:prstGeom>
        </p:spPr>
        <p:txBody>
          <a:bodyPr xmlns:a="http://schemas.openxmlformats.org/drawingml/2006/main" lIns="0" tIns="0" rIns="0" bIns="0" anchor="b">
            <a:normAutofit fontScale="100000"/>
          </a:bodyPr>
          <a:lstStyle xmlns:a="http://schemas.openxmlformats.org/drawingml/2006/main"/>
          <a:p xmlns:a="http://schemas.openxmlformats.org/drawingml/2006/main">
            <a:pPr algn="l">
              <a:lnSpc>
                <a:spcPct val="102000"/>
              </a:lnSpc>
              <a:buNone/>
              <a:defRPr sz="2400">
                <a:solidFill>
                  <a:srgbClr val="000000"/>
                </a:solidFill>
                <a:latin typeface="Helvetica Neue"/>
                <a:ea typeface="Helvetica Neue"/>
                <a:cs typeface="Helvetica Neue"/>
              </a:defRPr>
            </a:pPr>
            <a:r>
              <a:rPr sz="2400" b="1">
                <a:solidFill>
                  <a:srgbClr val="000000"/>
                </a:solidFill>
                <a:latin typeface="Helvetica Neue"/>
                <a:ea typeface="Helvetica Neue"/>
                <a:cs typeface="Helvetica Neue"/>
              </a:rPr>
              <a:t>0.857 / 4</a:t>
            </a:r>
            <a:r>
              <a:rPr sz="1200">
                <a:solidFill>
                  <a:srgbClr val="000000"/>
                </a:solidFill>
                <a:latin typeface="Helvetica Neue"/>
                <a:ea typeface="Helvetica Neue"/>
                <a:cs typeface="Helvetica Neue"/>
              </a:rPr>
              <a:t>
Llama consistency / stable fails</a:t>
            </a:r>
          </a:p>
        </p:txBody>
      </p:sp>
      <p:sp>
        <p:nvSpPr>
          <p:cNvPr id="8" name="Content-Placeholder-15-9">
            <a:extLst xmlns:a="http://schemas.openxmlformats.org/drawingml/2006/main">
              <a:ext uri="{FF2B5EF4-FFF2-40B4-BE49-F238E27FC236}">
                <a16:creationId xmlns:a16="http://schemas.microsoft.com/office/drawing/2014/main" id="{BA9DF113-25C8-4A27-AB7B-32C3FB5AF338}"/>
              </a:ext>
            </a:extLst>
          </p:cNvPr>
          <p:cNvSpPr>
            <a:spLocks xmlns:a="http://schemas.openxmlformats.org/drawingml/2006/main" noGrp="1"/>
          </p:cNvSpPr>
          <p:nvPr/>
        </p:nvSpPr>
        <p:spPr>
          <a:xfrm xmlns:a="http://schemas.openxmlformats.org/drawingml/2006/main">
            <a:off x="9528143" y="5068253"/>
            <a:ext cx="2066735" cy="615982"/>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lnSpc>
                <a:spcPct val="106000"/>
              </a:lnSpc>
              <a:spcAft>
                <a:spcPts val="320"/>
              </a:spcAft>
              <a:buNone/>
              <a:defRPr sz="2400">
                <a:solidFill>
                  <a:srgbClr val="000000"/>
                </a:solidFill>
                <a:latin typeface="Helvetica Neue"/>
                <a:ea typeface="Helvetica Neue"/>
                <a:cs typeface="Helvetica Neue"/>
              </a:defRPr>
            </a:pPr>
            <a:r>
              <a:rPr sz="1275" b="1">
                <a:solidFill>
                  <a:srgbClr val="000000"/>
                </a:solidFill>
                <a:latin typeface="Helvetica Neue"/>
                <a:ea typeface="Helvetica Neue"/>
                <a:cs typeface="Helvetica Neue"/>
              </a:rPr>
              <a:t>Mask = missing input evidence</a:t>
            </a:r>
          </a:p>
        </p:txBody>
      </p:sp>
      <p:sp>
        <p:nvSpPr>
          <p:cNvPr id="9" name="Content-Placeholder-2-10">
            <a:extLst xmlns:a="http://schemas.openxmlformats.org/drawingml/2006/main">
              <a:ext uri="{FF2B5EF4-FFF2-40B4-BE49-F238E27FC236}">
                <a16:creationId xmlns:a16="http://schemas.microsoft.com/office/drawing/2014/main" id="{AC97B8A4-BF83-42EB-911A-A6E17C5BB9ED}"/>
              </a:ext>
            </a:extLst>
          </p:cNvPr>
          <p:cNvSpPr>
            <a:spLocks xmlns:a="http://schemas.openxmlformats.org/drawingml/2006/main" noGrp="1"/>
          </p:cNvSpPr>
          <p:nvPr/>
        </p:nvSpPr>
        <p:spPr>
          <a:xfrm xmlns:a="http://schemas.openxmlformats.org/drawingml/2006/main">
            <a:off x="6261068" y="1955578"/>
            <a:ext cx="5539835" cy="990600"/>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lnSpc>
                <a:spcPct val="106000"/>
              </a:lnSpc>
              <a:spcAft>
                <a:spcPts val="320"/>
              </a:spcAft>
              <a:buNone/>
              <a:defRPr sz="2400">
                <a:solidFill>
                  <a:srgbClr val="000000"/>
                </a:solidFill>
                <a:latin typeface="Helvetica Neue"/>
                <a:ea typeface="Helvetica Neue"/>
                <a:cs typeface="Helvetica Neue"/>
              </a:defRPr>
            </a:pPr>
            <a:r>
              <a:rPr sz="1950" b="1">
                <a:solidFill>
                  <a:srgbClr val="000000"/>
                </a:solidFill>
                <a:latin typeface="Helvetica Neue"/>
                <a:ea typeface="Helvetica Neue"/>
                <a:cs typeface="Helvetica Neue"/>
              </a:rPr>
              <a:t>Task Accuracy / 5
Nested missing-evidence masks</a:t>
            </a:r>
          </a:p>
        </p:txBody>
      </p:sp>
      <p:graphicFrame>
        <p:nvGraphicFramePr>
          <p:cNvPr id="20" name="Chart"/>
          <p:cNvGraphicFramePr/>
          <p:nvPr/>
        </p:nvGraphicFramePr>
        <p:xfrm>
          <a:off xmlns:a="http://schemas.openxmlformats.org/drawingml/2006/main" x="385858" y="1254728"/>
          <a:ext xmlns:a="http://schemas.openxmlformats.org/drawingml/2006/main" cx="5534216" cy="5024533"/>
        </p:xfrm>
        <a:graphic xmlns:a="http://schemas.openxmlformats.org/drawingml/2006/main">
          <a:graphicData uri="http://schemas.openxmlformats.org/drawingml/2006/chart">
            <c:chart xmlns:r="http://schemas.openxmlformats.org/officeDocument/2006/relationships" xmlns:c="http://schemas.openxmlformats.org/drawingml/2006/chart" r:id="R33aec6dd4da447eb"/>
          </a:graphicData>
        </a:graphic>
      </p:graphicFrame>
    </p:spTree>
    <p:extLst>
      <p:ext uri="{BB962C8B-B14F-4D97-AF65-F5344CB8AC3E}">
        <p14:creationId xmlns:p14="http://schemas.microsoft.com/office/powerpoint/2010/main" val="1741397789"/>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10" name="Google-Shape-532-p58-2">
            <a:extLst xmlns:a="http://schemas.openxmlformats.org/drawingml/2006/main">
              <a:ext uri="{FF2B5EF4-FFF2-40B4-BE49-F238E27FC236}">
                <a16:creationId xmlns:a16="http://schemas.microsoft.com/office/drawing/2014/main" id="{35210A91-24E1-423F-8293-A4FA46ED1913}"/>
              </a:ext>
            </a:extLst>
          </p:cNvPr>
          <p:cNvSpPr>
            <a:spLocks xmlns:a="http://schemas.openxmlformats.org/drawingml/2006/main" noGrp="1"/>
          </p:cNvSpPr>
          <p:nvPr/>
        </p:nvSpPr>
        <p:spPr>
          <a:xfrm xmlns:a="http://schemas.openxmlformats.org/drawingml/2006/main">
            <a:off x="11279315" y="6279261"/>
            <a:ext cx="518922" cy="241268"/>
          </a:xfrm>
          <a:prstGeom xmlns:a="http://schemas.openxmlformats.org/drawingml/2006/main" prst="rect">
            <a:avLst/>
          </a:prstGeom>
        </p:spPr>
        <p:txBody>
          <a:bodyPr xmlns:a="http://schemas.openxmlformats.org/drawingml/2006/main" wrap="square" lIns="0" tIns="0" rIns="0" bIns="0" anchor="b">
            <a:noAutofit/>
          </a:bodyPr>
          <a:lstStyle xmlns:a="http://schemas.openxmlformats.org/drawingml/2006/main"/>
          <a:p xmlns:a="http://schemas.openxmlformats.org/drawingml/2006/main">
            <a:pPr algn="r">
              <a:defRPr sz="1000">
                <a:solidFill>
                  <a:srgbClr val="000000"/>
                </a:solidFill>
                <a:latin typeface="Helvetica Neue"/>
                <a:ea typeface="Helvetica Neue"/>
                <a:cs typeface="Helvetica Neue"/>
              </a:defRPr>
            </a:pPr>
            <a:r>
              <a:t>6</a:t>
            </a:r>
          </a:p>
        </p:txBody>
      </p:sp>
      <p:sp>
        <p:nvSpPr>
          <p:cNvPr id="2" name="Google-Shape-533-p58-3">
            <a:extLst xmlns:a="http://schemas.openxmlformats.org/drawingml/2006/main">
              <a:ext uri="{FF2B5EF4-FFF2-40B4-BE49-F238E27FC236}">
                <a16:creationId xmlns:a16="http://schemas.microsoft.com/office/drawing/2014/main" id="{324465DD-265A-47B4-B8E2-2D55306E5273}"/>
              </a:ext>
            </a:extLst>
          </p:cNvPr>
          <p:cNvSpPr>
            <a:spLocks xmlns:a="http://schemas.openxmlformats.org/drawingml/2006/main" noGrp="1"/>
          </p:cNvSpPr>
          <p:nvPr/>
        </p:nvSpPr>
        <p:spPr>
          <a:xfrm xmlns:a="http://schemas.openxmlformats.org/drawingml/2006/main">
            <a:off x="393668" y="344043"/>
            <a:ext cx="11404568" cy="1047464"/>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2900">
                <a:solidFill>
                  <a:srgbClr val="000000"/>
                </a:solidFill>
                <a:latin typeface="Helvetica Neue"/>
                <a:ea typeface="Helvetica Neue"/>
                <a:cs typeface="Helvetica Neue"/>
              </a:defRPr>
            </a:pPr>
            <a:r>
              <a:t>A controlled two-VLM comparison</a:t>
            </a:r>
          </a:p>
        </p:txBody>
      </p:sp>
      <p:sp>
        <p:nvSpPr>
          <p:cNvPr id="3" name="Rounded-Rectangle-6-4">
            <a:extLst xmlns:a="http://schemas.openxmlformats.org/drawingml/2006/main">
              <a:ext uri="{FF2B5EF4-FFF2-40B4-BE49-F238E27FC236}">
                <a16:creationId xmlns:a16="http://schemas.microsoft.com/office/drawing/2014/main" id="{304A7A36-626E-42CD-AAE0-7821CCED659B}"/>
              </a:ext>
            </a:extLst>
          </p:cNvPr>
          <p:cNvSpPr>
            <a:spLocks xmlns:a="http://schemas.openxmlformats.org/drawingml/2006/main" noGrp="1"/>
          </p:cNvSpPr>
          <p:nvPr/>
        </p:nvSpPr>
        <p:spPr>
          <a:xfrm xmlns:a="http://schemas.openxmlformats.org/drawingml/2006/main">
            <a:off x="6264402" y="2369820"/>
            <a:ext cx="5533930" cy="1638300"/>
          </a:xfrm>
          <a:prstGeom xmlns:a="http://schemas.openxmlformats.org/drawingml/2006/main" prst="roundRect">
            <a:avLst>
              <a:gd name="adj" fmla="val 4651"/>
            </a:avLst>
          </a:prstGeom>
          <a:solidFill xmlns:a="http://schemas.openxmlformats.org/drawingml/2006/main">
            <a:srgbClr val="F2F2F2"/>
          </a:solidFill>
        </p:spPr>
      </p:sp>
      <p:sp>
        <p:nvSpPr>
          <p:cNvPr id="4" name="Content-Placeholder-10-5">
            <a:extLst xmlns:a="http://schemas.openxmlformats.org/drawingml/2006/main">
              <a:ext uri="{FF2B5EF4-FFF2-40B4-BE49-F238E27FC236}">
                <a16:creationId xmlns:a16="http://schemas.microsoft.com/office/drawing/2014/main" id="{23987538-B287-4FDA-B59F-0FD2876643A4}"/>
              </a:ext>
            </a:extLst>
          </p:cNvPr>
          <p:cNvSpPr>
            <a:spLocks xmlns:a="http://schemas.openxmlformats.org/drawingml/2006/main" noGrp="1"/>
          </p:cNvSpPr>
          <p:nvPr/>
        </p:nvSpPr>
        <p:spPr>
          <a:xfrm xmlns:a="http://schemas.openxmlformats.org/drawingml/2006/main">
            <a:off x="6561677" y="2664809"/>
            <a:ext cx="4986909" cy="1048417"/>
          </a:xfrm>
          <a:prstGeom xmlns:a="http://schemas.openxmlformats.org/drawingml/2006/main" prst="rect">
            <a:avLst/>
          </a:prstGeom>
        </p:spPr>
        <p:txBody>
          <a:bodyPr xmlns:a="http://schemas.openxmlformats.org/drawingml/2006/main" lIns="0" tIns="0" rIns="0" bIns="0">
            <a:normAutofit fontScale="100000"/>
          </a:bodyPr>
          <a:lstStyle xmlns:a="http://schemas.openxmlformats.org/drawingml/2006/main"/>
          <a:p xmlns:a="http://schemas.openxmlformats.org/drawingml/2006/main">
            <a:pPr algn="l">
              <a:lnSpc>
                <a:spcPct val="106000"/>
              </a:lnSpc>
              <a:spcAft>
                <a:spcPts val="320"/>
              </a:spcAft>
              <a:buNone/>
              <a:defRPr sz="2400">
                <a:solidFill>
                  <a:srgbClr val="000000"/>
                </a:solidFill>
                <a:latin typeface="Helvetica Neue"/>
                <a:ea typeface="Helvetica Neue"/>
                <a:cs typeface="Helvetica Neue"/>
              </a:defRPr>
            </a:pPr>
            <a:r>
              <a:rPr sz="2025" b="1">
                <a:solidFill>
                  <a:srgbClr val="000000"/>
                </a:solidFill>
                <a:latin typeface="Helvetica Neue"/>
                <a:ea typeface="Helvetica Neue"/>
                <a:cs typeface="Helvetica Neue"/>
              </a:rPr>
              <a:t>SigLIP vs CLIP</a:t>
            </a:r>
          </a:p>
          <a:p xmlns:a="http://schemas.openxmlformats.org/drawingml/2006/main">
            <a:pPr algn="l">
              <a:lnSpc>
                <a:spcPct val="106000"/>
              </a:lnSpc>
              <a:spcAft>
                <a:spcPts val="320"/>
              </a:spcAft>
              <a:buNone/>
              <a:defRPr sz="2400">
                <a:solidFill>
                  <a:srgbClr val="000000"/>
                </a:solidFill>
                <a:latin typeface="Helvetica Neue"/>
                <a:ea typeface="Helvetica Neue"/>
                <a:cs typeface="Helvetica Neue"/>
              </a:defRPr>
            </a:pPr>
            <a:r>
              <a:rPr sz="1200" b="0">
                <a:solidFill>
                  <a:srgbClr val="000000"/>
                </a:solidFill>
                <a:latin typeface="Helvetica Neue"/>
                <a:ea typeface="Helvetica Neue"/>
                <a:cs typeface="Helvetica Neue"/>
              </a:rPr>
              <a:t>Idefics2 resampler/Mistral stack versus LLaVA projector/Vicuna stack.</a:t>
            </a:r>
          </a:p>
        </p:txBody>
      </p:sp>
      <p:sp>
        <p:nvSpPr>
          <p:cNvPr id="5" name="Rounded-Rectangle-8-6">
            <a:extLst xmlns:a="http://schemas.openxmlformats.org/drawingml/2006/main">
              <a:ext uri="{FF2B5EF4-FFF2-40B4-BE49-F238E27FC236}">
                <a16:creationId xmlns:a16="http://schemas.microsoft.com/office/drawing/2014/main" id="{C5EA180A-5705-4D69-946F-15395665FA08}"/>
              </a:ext>
            </a:extLst>
          </p:cNvPr>
          <p:cNvSpPr>
            <a:spLocks xmlns:a="http://schemas.openxmlformats.org/drawingml/2006/main" noGrp="1"/>
          </p:cNvSpPr>
          <p:nvPr/>
        </p:nvSpPr>
        <p:spPr>
          <a:xfrm xmlns:a="http://schemas.openxmlformats.org/drawingml/2006/main">
            <a:off x="6264402" y="393668"/>
            <a:ext cx="5533930" cy="1638300"/>
          </a:xfrm>
          <a:prstGeom xmlns:a="http://schemas.openxmlformats.org/drawingml/2006/main" prst="roundRect">
            <a:avLst>
              <a:gd name="adj" fmla="val 4651"/>
            </a:avLst>
          </a:prstGeom>
          <a:solidFill xmlns:a="http://schemas.openxmlformats.org/drawingml/2006/main">
            <a:srgbClr val="F2F2F2"/>
          </a:solidFill>
        </p:spPr>
      </p:sp>
      <p:sp>
        <p:nvSpPr>
          <p:cNvPr id="6" name="Content-Placeholder-10-7">
            <a:extLst xmlns:a="http://schemas.openxmlformats.org/drawingml/2006/main">
              <a:ext uri="{FF2B5EF4-FFF2-40B4-BE49-F238E27FC236}">
                <a16:creationId xmlns:a16="http://schemas.microsoft.com/office/drawing/2014/main" id="{192611E1-9E69-4CA9-8706-711A8D952136}"/>
              </a:ext>
            </a:extLst>
          </p:cNvPr>
          <p:cNvSpPr>
            <a:spLocks xmlns:a="http://schemas.openxmlformats.org/drawingml/2006/main" noGrp="1"/>
          </p:cNvSpPr>
          <p:nvPr/>
        </p:nvSpPr>
        <p:spPr>
          <a:xfrm xmlns:a="http://schemas.openxmlformats.org/drawingml/2006/main">
            <a:off x="6561677" y="688658"/>
            <a:ext cx="4986909" cy="1048417"/>
          </a:xfrm>
          <a:prstGeom xmlns:a="http://schemas.openxmlformats.org/drawingml/2006/main" prst="rect">
            <a:avLst/>
          </a:prstGeom>
        </p:spPr>
        <p:txBody>
          <a:bodyPr xmlns:a="http://schemas.openxmlformats.org/drawingml/2006/main" lIns="0" tIns="0" rIns="0" bIns="0">
            <a:normAutofit fontScale="100000"/>
          </a:bodyPr>
          <a:lstStyle xmlns:a="http://schemas.openxmlformats.org/drawingml/2006/main"/>
          <a:p xmlns:a="http://schemas.openxmlformats.org/drawingml/2006/main">
            <a:pPr algn="l">
              <a:lnSpc>
                <a:spcPct val="106000"/>
              </a:lnSpc>
              <a:spcAft>
                <a:spcPts val="320"/>
              </a:spcAft>
              <a:buNone/>
              <a:defRPr sz="2400">
                <a:solidFill>
                  <a:srgbClr val="000000"/>
                </a:solidFill>
                <a:latin typeface="Helvetica Neue"/>
                <a:ea typeface="Helvetica Neue"/>
                <a:cs typeface="Helvetica Neue"/>
              </a:defRPr>
            </a:pPr>
            <a:r>
              <a:rPr sz="2025" b="1">
                <a:solidFill>
                  <a:srgbClr val="000000"/>
                </a:solidFill>
                <a:latin typeface="Helvetica Neue"/>
                <a:ea typeface="Helvetica Neue"/>
                <a:cs typeface="Helvetica Neue"/>
              </a:rPr>
              <a:t>Same 60 inputs</a:t>
            </a:r>
          </a:p>
          <a:p xmlns:a="http://schemas.openxmlformats.org/drawingml/2006/main">
            <a:pPr algn="l">
              <a:lnSpc>
                <a:spcPct val="106000"/>
              </a:lnSpc>
              <a:spcAft>
                <a:spcPts val="320"/>
              </a:spcAft>
              <a:buNone/>
              <a:defRPr sz="2400">
                <a:solidFill>
                  <a:srgbClr val="000000"/>
                </a:solidFill>
                <a:latin typeface="Helvetica Neue"/>
                <a:ea typeface="Helvetica Neue"/>
                <a:cs typeface="Helvetica Neue"/>
              </a:defRPr>
            </a:pPr>
            <a:r>
              <a:rPr sz="1200" b="0">
                <a:solidFill>
                  <a:srgbClr val="000000"/>
                </a:solidFill>
                <a:latin typeface="Helvetica Neue"/>
                <a:ea typeface="Helvetica Neue"/>
                <a:cs typeface="Helvetica Neue"/>
              </a:rPr>
              <a:t>20 scenarios × clean/noise/brightness; same pixels, prompt, seed, and Judge.</a:t>
            </a:r>
          </a:p>
        </p:txBody>
      </p:sp>
      <p:sp>
        <p:nvSpPr>
          <p:cNvPr id="7" name="Rounded-Rectangle-1-8">
            <a:extLst xmlns:a="http://schemas.openxmlformats.org/drawingml/2006/main">
              <a:ext uri="{FF2B5EF4-FFF2-40B4-BE49-F238E27FC236}">
                <a16:creationId xmlns:a16="http://schemas.microsoft.com/office/drawing/2014/main" id="{528C8971-66DA-44AD-BDF8-02BB5174F9D3}"/>
              </a:ext>
            </a:extLst>
          </p:cNvPr>
          <p:cNvSpPr>
            <a:spLocks xmlns:a="http://schemas.openxmlformats.org/drawingml/2006/main" noGrp="1"/>
          </p:cNvSpPr>
          <p:nvPr/>
        </p:nvSpPr>
        <p:spPr>
          <a:xfrm xmlns:a="http://schemas.openxmlformats.org/drawingml/2006/main">
            <a:off x="6264402" y="4381500"/>
            <a:ext cx="5533930" cy="1638300"/>
          </a:xfrm>
          <a:prstGeom xmlns:a="http://schemas.openxmlformats.org/drawingml/2006/main" prst="roundRect">
            <a:avLst>
              <a:gd name="adj" fmla="val 4651"/>
            </a:avLst>
          </a:prstGeom>
          <a:solidFill xmlns:a="http://schemas.openxmlformats.org/drawingml/2006/main">
            <a:srgbClr val="F2F2F2"/>
          </a:solidFill>
        </p:spPr>
      </p:sp>
      <p:sp>
        <p:nvSpPr>
          <p:cNvPr id="8" name="Content-Placeholder-10-9">
            <a:extLst xmlns:a="http://schemas.openxmlformats.org/drawingml/2006/main">
              <a:ext uri="{FF2B5EF4-FFF2-40B4-BE49-F238E27FC236}">
                <a16:creationId xmlns:a16="http://schemas.microsoft.com/office/drawing/2014/main" id="{38CB545D-B7CB-41A9-A073-135CE8F872A4}"/>
              </a:ext>
            </a:extLst>
          </p:cNvPr>
          <p:cNvSpPr>
            <a:spLocks xmlns:a="http://schemas.openxmlformats.org/drawingml/2006/main" noGrp="1"/>
          </p:cNvSpPr>
          <p:nvPr/>
        </p:nvSpPr>
        <p:spPr>
          <a:xfrm xmlns:a="http://schemas.openxmlformats.org/drawingml/2006/main">
            <a:off x="6561677" y="4676489"/>
            <a:ext cx="4986909" cy="1048417"/>
          </a:xfrm>
          <a:prstGeom xmlns:a="http://schemas.openxmlformats.org/drawingml/2006/main" prst="rect">
            <a:avLst/>
          </a:prstGeom>
        </p:spPr>
        <p:txBody>
          <a:bodyPr xmlns:a="http://schemas.openxmlformats.org/drawingml/2006/main" lIns="0" tIns="0" rIns="0" bIns="0">
            <a:normAutofit fontScale="100000"/>
          </a:bodyPr>
          <a:lstStyle xmlns:a="http://schemas.openxmlformats.org/drawingml/2006/main"/>
          <a:p xmlns:a="http://schemas.openxmlformats.org/drawingml/2006/main">
            <a:pPr algn="l">
              <a:lnSpc>
                <a:spcPct val="106000"/>
              </a:lnSpc>
              <a:spcAft>
                <a:spcPts val="320"/>
              </a:spcAft>
              <a:buNone/>
              <a:defRPr sz="2400">
                <a:solidFill>
                  <a:srgbClr val="000000"/>
                </a:solidFill>
                <a:latin typeface="Helvetica Neue"/>
                <a:ea typeface="Helvetica Neue"/>
                <a:cs typeface="Helvetica Neue"/>
              </a:defRPr>
            </a:pPr>
            <a:r>
              <a:rPr sz="2025" b="1">
                <a:solidFill>
                  <a:srgbClr val="000000"/>
                </a:solidFill>
                <a:latin typeface="Helvetica Neue"/>
                <a:ea typeface="Helvetica Neue"/>
                <a:cs typeface="Helvetica Neue"/>
              </a:rPr>
              <a:t>0W / 19T / 1L</a:t>
            </a:r>
          </a:p>
          <a:p xmlns:a="http://schemas.openxmlformats.org/drawingml/2006/main">
            <a:pPr algn="l">
              <a:lnSpc>
                <a:spcPct val="106000"/>
              </a:lnSpc>
              <a:spcAft>
                <a:spcPts val="320"/>
              </a:spcAft>
              <a:buNone/>
              <a:defRPr sz="2400">
                <a:solidFill>
                  <a:srgbClr val="000000"/>
                </a:solidFill>
                <a:latin typeface="Helvetica Neue"/>
                <a:ea typeface="Helvetica Neue"/>
                <a:cs typeface="Helvetica Neue"/>
              </a:defRPr>
            </a:pPr>
            <a:r>
              <a:rPr sz="1200" b="0">
                <a:solidFill>
                  <a:srgbClr val="000000"/>
                </a:solidFill>
                <a:latin typeface="Helvetica Neue"/>
                <a:ea typeface="Helvetica Neue"/>
                <a:cs typeface="Helvetica Neue"/>
              </a:rPr>
              <a:t>LLaVA clean-case wins/ties/losses; mean delta -0.100 /5.</a:t>
            </a:r>
          </a:p>
        </p:txBody>
      </p:sp>
      <p:graphicFrame>
        <p:nvGraphicFramePr>
          <p:cNvPr id="18" name="Chart"/>
          <p:cNvGraphicFramePr/>
          <p:nvPr/>
        </p:nvGraphicFramePr>
        <p:xfrm>
          <a:off xmlns:a="http://schemas.openxmlformats.org/drawingml/2006/main" x="408718" y="1054132"/>
          <a:ext xmlns:a="http://schemas.openxmlformats.org/drawingml/2006/main" cx="5124164" cy="5452015"/>
        </p:xfrm>
        <a:graphic xmlns:a="http://schemas.openxmlformats.org/drawingml/2006/main">
          <a:graphicData uri="http://schemas.openxmlformats.org/drawingml/2006/chart">
            <c:chart xmlns:r="http://schemas.openxmlformats.org/officeDocument/2006/relationships" xmlns:c="http://schemas.openxmlformats.org/drawingml/2006/chart" r:id="R46087dc9a2054646"/>
          </a:graphicData>
        </a:graphic>
      </p:graphicFrame>
    </p:spTree>
    <p:extLst>
      <p:ext uri="{BB962C8B-B14F-4D97-AF65-F5344CB8AC3E}">
        <p14:creationId xmlns:p14="http://schemas.microsoft.com/office/powerpoint/2010/main" val="1887635862"/>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10" name="Google-Shape-532-p58-2">
            <a:extLst xmlns:a="http://schemas.openxmlformats.org/drawingml/2006/main">
              <a:ext uri="{FF2B5EF4-FFF2-40B4-BE49-F238E27FC236}">
                <a16:creationId xmlns:a16="http://schemas.microsoft.com/office/drawing/2014/main" id="{469182EC-E8C4-41A0-A73C-9BB32ADD3A8C}"/>
              </a:ext>
            </a:extLst>
          </p:cNvPr>
          <p:cNvSpPr>
            <a:spLocks xmlns:a="http://schemas.openxmlformats.org/drawingml/2006/main" noGrp="1"/>
          </p:cNvSpPr>
          <p:nvPr/>
        </p:nvSpPr>
        <p:spPr>
          <a:xfrm xmlns:a="http://schemas.openxmlformats.org/drawingml/2006/main">
            <a:off x="11279315" y="6279261"/>
            <a:ext cx="518922" cy="241268"/>
          </a:xfrm>
          <a:prstGeom xmlns:a="http://schemas.openxmlformats.org/drawingml/2006/main" prst="rect">
            <a:avLst/>
          </a:prstGeom>
        </p:spPr>
        <p:txBody>
          <a:bodyPr xmlns:a="http://schemas.openxmlformats.org/drawingml/2006/main" wrap="square" lIns="0" tIns="0" rIns="0" bIns="0" anchor="b">
            <a:noAutofit/>
          </a:bodyPr>
          <a:lstStyle xmlns:a="http://schemas.openxmlformats.org/drawingml/2006/main"/>
          <a:p xmlns:a="http://schemas.openxmlformats.org/drawingml/2006/main">
            <a:pPr algn="r">
              <a:defRPr sz="1000">
                <a:solidFill>
                  <a:srgbClr val="000000"/>
                </a:solidFill>
                <a:latin typeface="Helvetica Neue"/>
                <a:ea typeface="Helvetica Neue"/>
                <a:cs typeface="Helvetica Neue"/>
              </a:defRPr>
            </a:pPr>
            <a:r>
              <a:t>7</a:t>
            </a:r>
          </a:p>
        </p:txBody>
      </p:sp>
      <p:sp>
        <p:nvSpPr>
          <p:cNvPr id="2" name="Google-Shape-533-p58-3">
            <a:extLst xmlns:a="http://schemas.openxmlformats.org/drawingml/2006/main">
              <a:ext uri="{FF2B5EF4-FFF2-40B4-BE49-F238E27FC236}">
                <a16:creationId xmlns:a16="http://schemas.microsoft.com/office/drawing/2014/main" id="{6DE145F4-EB16-4FA0-964E-8A69097DB207}"/>
              </a:ext>
            </a:extLst>
          </p:cNvPr>
          <p:cNvSpPr>
            <a:spLocks xmlns:a="http://schemas.openxmlformats.org/drawingml/2006/main" noGrp="1"/>
          </p:cNvSpPr>
          <p:nvPr/>
        </p:nvSpPr>
        <p:spPr>
          <a:xfrm xmlns:a="http://schemas.openxmlformats.org/drawingml/2006/main">
            <a:off x="393668" y="344043"/>
            <a:ext cx="11404568" cy="1047464"/>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2900">
                <a:solidFill>
                  <a:srgbClr val="000000"/>
                </a:solidFill>
                <a:latin typeface="Helvetica Neue"/>
                <a:ea typeface="Helvetica Neue"/>
                <a:cs typeface="Helvetica Neue"/>
              </a:defRPr>
            </a:pPr>
            <a:r>
              <a:t>A quality–efficiency trade-off</a:t>
            </a:r>
          </a:p>
        </p:txBody>
      </p:sp>
      <p:sp>
        <p:nvSpPr>
          <p:cNvPr id="3" name="Rounded-Rectangle-6-4">
            <a:extLst xmlns:a="http://schemas.openxmlformats.org/drawingml/2006/main">
              <a:ext uri="{FF2B5EF4-FFF2-40B4-BE49-F238E27FC236}">
                <a16:creationId xmlns:a16="http://schemas.microsoft.com/office/drawing/2014/main" id="{70672FDE-0379-4243-8826-CCB5D4AC2149}"/>
              </a:ext>
            </a:extLst>
          </p:cNvPr>
          <p:cNvSpPr>
            <a:spLocks xmlns:a="http://schemas.openxmlformats.org/drawingml/2006/main" noGrp="1"/>
          </p:cNvSpPr>
          <p:nvPr/>
        </p:nvSpPr>
        <p:spPr>
          <a:xfrm xmlns:a="http://schemas.openxmlformats.org/drawingml/2006/main">
            <a:off x="6264402" y="2369820"/>
            <a:ext cx="5533930" cy="1638300"/>
          </a:xfrm>
          <a:prstGeom xmlns:a="http://schemas.openxmlformats.org/drawingml/2006/main" prst="roundRect">
            <a:avLst>
              <a:gd name="adj" fmla="val 4651"/>
            </a:avLst>
          </a:prstGeom>
          <a:solidFill xmlns:a="http://schemas.openxmlformats.org/drawingml/2006/main">
            <a:srgbClr val="F2F2F2"/>
          </a:solidFill>
        </p:spPr>
      </p:sp>
      <p:sp>
        <p:nvSpPr>
          <p:cNvPr id="4" name="Content-Placeholder-10-5">
            <a:extLst xmlns:a="http://schemas.openxmlformats.org/drawingml/2006/main">
              <a:ext uri="{FF2B5EF4-FFF2-40B4-BE49-F238E27FC236}">
                <a16:creationId xmlns:a16="http://schemas.microsoft.com/office/drawing/2014/main" id="{ABE3567F-405C-426D-8857-CA2E79B7274D}"/>
              </a:ext>
            </a:extLst>
          </p:cNvPr>
          <p:cNvSpPr>
            <a:spLocks xmlns:a="http://schemas.openxmlformats.org/drawingml/2006/main" noGrp="1"/>
          </p:cNvSpPr>
          <p:nvPr/>
        </p:nvSpPr>
        <p:spPr>
          <a:xfrm xmlns:a="http://schemas.openxmlformats.org/drawingml/2006/main">
            <a:off x="6561677" y="2664809"/>
            <a:ext cx="4986909" cy="1048417"/>
          </a:xfrm>
          <a:prstGeom xmlns:a="http://schemas.openxmlformats.org/drawingml/2006/main" prst="rect">
            <a:avLst/>
          </a:prstGeom>
        </p:spPr>
        <p:txBody>
          <a:bodyPr xmlns:a="http://schemas.openxmlformats.org/drawingml/2006/main" lIns="0" tIns="0" rIns="0" bIns="0">
            <a:normAutofit fontScale="100000"/>
          </a:bodyPr>
          <a:lstStyle xmlns:a="http://schemas.openxmlformats.org/drawingml/2006/main"/>
          <a:p xmlns:a="http://schemas.openxmlformats.org/drawingml/2006/main">
            <a:pPr algn="l">
              <a:lnSpc>
                <a:spcPct val="106000"/>
              </a:lnSpc>
              <a:spcAft>
                <a:spcPts val="320"/>
              </a:spcAft>
              <a:buNone/>
              <a:defRPr sz="2400">
                <a:solidFill>
                  <a:srgbClr val="000000"/>
                </a:solidFill>
                <a:latin typeface="Helvetica Neue"/>
                <a:ea typeface="Helvetica Neue"/>
                <a:cs typeface="Helvetica Neue"/>
              </a:defRPr>
            </a:pPr>
            <a:r>
              <a:rPr sz="2025" b="1">
                <a:solidFill>
                  <a:srgbClr val="000000"/>
                </a:solidFill>
                <a:latin typeface="Helvetica Neue"/>
                <a:ea typeface="Helvetica Neue"/>
                <a:cs typeface="Helvetica Neue"/>
              </a:rPr>
              <a:t>14.15 GiB</a:t>
            </a:r>
          </a:p>
          <a:p xmlns:a="http://schemas.openxmlformats.org/drawingml/2006/main">
            <a:pPr algn="l">
              <a:lnSpc>
                <a:spcPct val="106000"/>
              </a:lnSpc>
              <a:spcAft>
                <a:spcPts val="320"/>
              </a:spcAft>
              <a:buNone/>
              <a:defRPr sz="2400">
                <a:solidFill>
                  <a:srgbClr val="000000"/>
                </a:solidFill>
                <a:latin typeface="Helvetica Neue"/>
                <a:ea typeface="Helvetica Neue"/>
                <a:cs typeface="Helvetica Neue"/>
              </a:defRPr>
            </a:pPr>
            <a:r>
              <a:rPr sz="1200" b="0">
                <a:solidFill>
                  <a:srgbClr val="000000"/>
                </a:solidFill>
                <a:latin typeface="Helvetica Neue"/>
                <a:ea typeface="Helvetica Neue"/>
                <a:cs typeface="Helvetica Neue"/>
              </a:rPr>
              <a:t>LLaVA device peak • TTFT 415.615 ms.</a:t>
            </a:r>
          </a:p>
        </p:txBody>
      </p:sp>
      <p:sp>
        <p:nvSpPr>
          <p:cNvPr id="5" name="Rounded-Rectangle-8-6">
            <a:extLst xmlns:a="http://schemas.openxmlformats.org/drawingml/2006/main">
              <a:ext uri="{FF2B5EF4-FFF2-40B4-BE49-F238E27FC236}">
                <a16:creationId xmlns:a16="http://schemas.microsoft.com/office/drawing/2014/main" id="{380CC811-1503-4FC6-A3E4-97888EFFC0E0}"/>
              </a:ext>
            </a:extLst>
          </p:cNvPr>
          <p:cNvSpPr>
            <a:spLocks xmlns:a="http://schemas.openxmlformats.org/drawingml/2006/main" noGrp="1"/>
          </p:cNvSpPr>
          <p:nvPr/>
        </p:nvSpPr>
        <p:spPr>
          <a:xfrm xmlns:a="http://schemas.openxmlformats.org/drawingml/2006/main">
            <a:off x="6264402" y="393668"/>
            <a:ext cx="5533930" cy="1638300"/>
          </a:xfrm>
          <a:prstGeom xmlns:a="http://schemas.openxmlformats.org/drawingml/2006/main" prst="roundRect">
            <a:avLst>
              <a:gd name="adj" fmla="val 4651"/>
            </a:avLst>
          </a:prstGeom>
          <a:solidFill xmlns:a="http://schemas.openxmlformats.org/drawingml/2006/main">
            <a:srgbClr val="F2F2F2"/>
          </a:solidFill>
        </p:spPr>
      </p:sp>
      <p:sp>
        <p:nvSpPr>
          <p:cNvPr id="6" name="Content-Placeholder-10-7">
            <a:extLst xmlns:a="http://schemas.openxmlformats.org/drawingml/2006/main">
              <a:ext uri="{FF2B5EF4-FFF2-40B4-BE49-F238E27FC236}">
                <a16:creationId xmlns:a16="http://schemas.microsoft.com/office/drawing/2014/main" id="{AF984144-52B1-4174-8408-9008D1021FB2}"/>
              </a:ext>
            </a:extLst>
          </p:cNvPr>
          <p:cNvSpPr>
            <a:spLocks xmlns:a="http://schemas.openxmlformats.org/drawingml/2006/main" noGrp="1"/>
          </p:cNvSpPr>
          <p:nvPr/>
        </p:nvSpPr>
        <p:spPr>
          <a:xfrm xmlns:a="http://schemas.openxmlformats.org/drawingml/2006/main">
            <a:off x="6561677" y="688658"/>
            <a:ext cx="4986909" cy="1048417"/>
          </a:xfrm>
          <a:prstGeom xmlns:a="http://schemas.openxmlformats.org/drawingml/2006/main" prst="rect">
            <a:avLst/>
          </a:prstGeom>
        </p:spPr>
        <p:txBody>
          <a:bodyPr xmlns:a="http://schemas.openxmlformats.org/drawingml/2006/main" lIns="0" tIns="0" rIns="0" bIns="0">
            <a:normAutofit fontScale="100000"/>
          </a:bodyPr>
          <a:lstStyle xmlns:a="http://schemas.openxmlformats.org/drawingml/2006/main"/>
          <a:p xmlns:a="http://schemas.openxmlformats.org/drawingml/2006/main">
            <a:pPr algn="l">
              <a:lnSpc>
                <a:spcPct val="106000"/>
              </a:lnSpc>
              <a:spcAft>
                <a:spcPts val="320"/>
              </a:spcAft>
              <a:buNone/>
              <a:defRPr sz="2400">
                <a:solidFill>
                  <a:srgbClr val="000000"/>
                </a:solidFill>
                <a:latin typeface="Helvetica Neue"/>
                <a:ea typeface="Helvetica Neue"/>
                <a:cs typeface="Helvetica Neue"/>
              </a:defRPr>
            </a:pPr>
            <a:r>
              <a:rPr sz="2025" b="1">
                <a:solidFill>
                  <a:srgbClr val="000000"/>
                </a:solidFill>
                <a:latin typeface="Helvetica Neue"/>
                <a:ea typeface="Helvetica Neue"/>
                <a:cs typeface="Helvetica Neue"/>
              </a:rPr>
              <a:t>18.23 GiB</a:t>
            </a:r>
          </a:p>
          <a:p xmlns:a="http://schemas.openxmlformats.org/drawingml/2006/main">
            <a:pPr algn="l">
              <a:lnSpc>
                <a:spcPct val="106000"/>
              </a:lnSpc>
              <a:spcAft>
                <a:spcPts val="320"/>
              </a:spcAft>
              <a:buNone/>
              <a:defRPr sz="2400">
                <a:solidFill>
                  <a:srgbClr val="000000"/>
                </a:solidFill>
                <a:latin typeface="Helvetica Neue"/>
                <a:ea typeface="Helvetica Neue"/>
                <a:cs typeface="Helvetica Neue"/>
              </a:defRPr>
            </a:pPr>
            <a:r>
              <a:rPr sz="1200" b="0">
                <a:solidFill>
                  <a:srgbClr val="000000"/>
                </a:solidFill>
                <a:latin typeface="Helvetica Neue"/>
                <a:ea typeface="Helvetica Neue"/>
                <a:cs typeface="Helvetica Neue"/>
              </a:rPr>
              <a:t>Idefics2 device peak • TTFT 768.809 ms.</a:t>
            </a:r>
          </a:p>
        </p:txBody>
      </p:sp>
      <p:sp>
        <p:nvSpPr>
          <p:cNvPr id="7" name="Rounded-Rectangle-1-8">
            <a:extLst xmlns:a="http://schemas.openxmlformats.org/drawingml/2006/main">
              <a:ext uri="{FF2B5EF4-FFF2-40B4-BE49-F238E27FC236}">
                <a16:creationId xmlns:a16="http://schemas.microsoft.com/office/drawing/2014/main" id="{685B179C-7813-48D5-920D-116D3B5E9EE1}"/>
              </a:ext>
            </a:extLst>
          </p:cNvPr>
          <p:cNvSpPr>
            <a:spLocks xmlns:a="http://schemas.openxmlformats.org/drawingml/2006/main" noGrp="1"/>
          </p:cNvSpPr>
          <p:nvPr/>
        </p:nvSpPr>
        <p:spPr>
          <a:xfrm xmlns:a="http://schemas.openxmlformats.org/drawingml/2006/main">
            <a:off x="6264402" y="4381500"/>
            <a:ext cx="5533930" cy="1638300"/>
          </a:xfrm>
          <a:prstGeom xmlns:a="http://schemas.openxmlformats.org/drawingml/2006/main" prst="roundRect">
            <a:avLst>
              <a:gd name="adj" fmla="val 4651"/>
            </a:avLst>
          </a:prstGeom>
          <a:solidFill xmlns:a="http://schemas.openxmlformats.org/drawingml/2006/main">
            <a:srgbClr val="F2F2F2"/>
          </a:solidFill>
        </p:spPr>
      </p:sp>
      <p:sp>
        <p:nvSpPr>
          <p:cNvPr id="8" name="Content-Placeholder-10-9">
            <a:extLst xmlns:a="http://schemas.openxmlformats.org/drawingml/2006/main">
              <a:ext uri="{FF2B5EF4-FFF2-40B4-BE49-F238E27FC236}">
                <a16:creationId xmlns:a16="http://schemas.microsoft.com/office/drawing/2014/main" id="{8154F1EA-E12C-4A62-89D3-A608437E7042}"/>
              </a:ext>
            </a:extLst>
          </p:cNvPr>
          <p:cNvSpPr>
            <a:spLocks xmlns:a="http://schemas.openxmlformats.org/drawingml/2006/main" noGrp="1"/>
          </p:cNvSpPr>
          <p:nvPr/>
        </p:nvSpPr>
        <p:spPr>
          <a:xfrm xmlns:a="http://schemas.openxmlformats.org/drawingml/2006/main">
            <a:off x="6561677" y="4676489"/>
            <a:ext cx="4986909" cy="1048417"/>
          </a:xfrm>
          <a:prstGeom xmlns:a="http://schemas.openxmlformats.org/drawingml/2006/main" prst="rect">
            <a:avLst/>
          </a:prstGeom>
        </p:spPr>
        <p:txBody>
          <a:bodyPr xmlns:a="http://schemas.openxmlformats.org/drawingml/2006/main" lIns="0" tIns="0" rIns="0" bIns="0">
            <a:normAutofit fontScale="100000"/>
          </a:bodyPr>
          <a:lstStyle xmlns:a="http://schemas.openxmlformats.org/drawingml/2006/main"/>
          <a:p xmlns:a="http://schemas.openxmlformats.org/drawingml/2006/main">
            <a:pPr algn="l">
              <a:lnSpc>
                <a:spcPct val="106000"/>
              </a:lnSpc>
              <a:spcAft>
                <a:spcPts val="320"/>
              </a:spcAft>
              <a:buNone/>
              <a:defRPr sz="2400">
                <a:solidFill>
                  <a:srgbClr val="000000"/>
                </a:solidFill>
                <a:latin typeface="Helvetica Neue"/>
                <a:ea typeface="Helvetica Neue"/>
                <a:cs typeface="Helvetica Neue"/>
              </a:defRPr>
            </a:pPr>
            <a:r>
              <a:rPr sz="1875" b="1">
                <a:solidFill>
                  <a:srgbClr val="000000"/>
                </a:solidFill>
                <a:latin typeface="Helvetica Neue"/>
                <a:ea typeface="Helvetica Neue"/>
                <a:cs typeface="Helvetica Neue"/>
              </a:rPr>
              <a:t>Load ≠ request peak</a:t>
            </a:r>
          </a:p>
          <a:p xmlns:a="http://schemas.openxmlformats.org/drawingml/2006/main">
            <a:pPr algn="l">
              <a:lnSpc>
                <a:spcPct val="106000"/>
              </a:lnSpc>
              <a:spcAft>
                <a:spcPts val="320"/>
              </a:spcAft>
              <a:buNone/>
              <a:defRPr sz="2400">
                <a:solidFill>
                  <a:srgbClr val="000000"/>
                </a:solidFill>
                <a:latin typeface="Helvetica Neue"/>
                <a:ea typeface="Helvetica Neue"/>
                <a:cs typeface="Helvetica Neue"/>
              </a:defRPr>
            </a:pPr>
            <a:r>
              <a:rPr sz="1200" b="0">
                <a:solidFill>
                  <a:srgbClr val="000000"/>
                </a:solidFill>
                <a:latin typeface="Helvetica Neue"/>
                <a:ea typeface="Helvetica Neue"/>
                <a:cs typeface="Helvetica Neue"/>
              </a:rPr>
              <a:t>Cold model-load memory and warm request memory are retained as separate lifecycle measurements.</a:t>
            </a:r>
          </a:p>
        </p:txBody>
      </p:sp>
      <p:graphicFrame>
        <p:nvGraphicFramePr>
          <p:cNvPr id="18" name="Chart"/>
          <p:cNvGraphicFramePr/>
          <p:nvPr/>
        </p:nvGraphicFramePr>
        <p:xfrm>
          <a:off xmlns:a="http://schemas.openxmlformats.org/drawingml/2006/main" x="408718" y="1054132"/>
          <a:ext xmlns:a="http://schemas.openxmlformats.org/drawingml/2006/main" cx="5124164" cy="5452015"/>
        </p:xfrm>
        <a:graphic xmlns:a="http://schemas.openxmlformats.org/drawingml/2006/main">
          <a:graphicData uri="http://schemas.openxmlformats.org/drawingml/2006/chart">
            <c:chart xmlns:r="http://schemas.openxmlformats.org/officeDocument/2006/relationships" xmlns:c="http://schemas.openxmlformats.org/drawingml/2006/chart" r:id="R3f44a3d4744d48d9"/>
          </a:graphicData>
        </a:graphic>
      </p:graphicFrame>
    </p:spTree>
    <p:extLst>
      <p:ext uri="{BB962C8B-B14F-4D97-AF65-F5344CB8AC3E}">
        <p14:creationId xmlns:p14="http://schemas.microsoft.com/office/powerpoint/2010/main" val="300646925"/>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4" name="Title-3-1">
            <a:extLst xmlns:a="http://schemas.openxmlformats.org/drawingml/2006/main">
              <a:ext uri="{FF2B5EF4-FFF2-40B4-BE49-F238E27FC236}">
                <a16:creationId xmlns:a16="http://schemas.microsoft.com/office/drawing/2014/main" id="{27F8E14C-DD35-4CF3-9622-E4974D7F2CE5}"/>
              </a:ext>
            </a:extLst>
          </p:cNvPr>
          <p:cNvSpPr>
            <a:spLocks xmlns:a="http://schemas.openxmlformats.org/drawingml/2006/main" noGrp="1"/>
          </p:cNvSpPr>
          <p:nvPr/>
        </p:nvSpPr>
        <p:spPr>
          <a:xfrm xmlns:a="http://schemas.openxmlformats.org/drawingml/2006/main">
            <a:off x="393668" y="1738789"/>
            <a:ext cx="9448800" cy="2491454"/>
          </a:xfrm>
          <a:prstGeom xmlns:a="http://schemas.openxmlformats.org/drawingml/2006/main" prst="rect">
            <a:avLst/>
          </a:prstGeom>
        </p:spPr>
        <p:txBody>
          <a:bodyPr xmlns:a="http://schemas.openxmlformats.org/drawingml/2006/main" lIns="0" tIns="0" rIns="0" bIns="0" anchor="b">
            <a:noAutofit/>
          </a:bodyPr>
          <a:lstStyle xmlns:a="http://schemas.openxmlformats.org/drawingml/2006/main"/>
          <a:p xmlns:a="http://schemas.openxmlformats.org/drawingml/2006/main">
            <a:pPr algn="l">
              <a:defRPr sz="6000">
                <a:solidFill>
                  <a:srgbClr val="000000"/>
                </a:solidFill>
                <a:latin typeface="Helvetica Neue"/>
                <a:ea typeface="Helvetica Neue"/>
                <a:cs typeface="Helvetica Neue"/>
              </a:defRPr>
            </a:pPr>
            <a:r>
              <a:t>The harness is reusable;
evaluator validity is the main risk</a:t>
            </a:r>
          </a:p>
        </p:txBody>
      </p:sp>
      <p:sp>
        <p:nvSpPr>
          <p:cNvPr id="2" name="Subtitle-4-2">
            <a:extLst xmlns:a="http://schemas.openxmlformats.org/drawingml/2006/main">
              <a:ext uri="{FF2B5EF4-FFF2-40B4-BE49-F238E27FC236}">
                <a16:creationId xmlns:a16="http://schemas.microsoft.com/office/drawing/2014/main" id="{40A8116B-11DE-4F37-B2D9-25870DF61541}"/>
              </a:ext>
            </a:extLst>
          </p:cNvPr>
          <p:cNvSpPr>
            <a:spLocks xmlns:a="http://schemas.openxmlformats.org/drawingml/2006/main" noGrp="1"/>
          </p:cNvSpPr>
          <p:nvPr/>
        </p:nvSpPr>
        <p:spPr>
          <a:xfrm xmlns:a="http://schemas.openxmlformats.org/drawingml/2006/main">
            <a:off x="393668" y="4973288"/>
            <a:ext cx="3568732" cy="1080230"/>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lnSpc>
                <a:spcPct val="106000"/>
              </a:lnSpc>
              <a:spcAft>
                <a:spcPts val="320"/>
              </a:spcAft>
              <a:buNone/>
              <a:defRPr sz="2400">
                <a:solidFill>
                  <a:srgbClr val="000000"/>
                </a:solidFill>
                <a:latin typeface="Helvetica Neue"/>
                <a:ea typeface="Helvetica Neue"/>
                <a:cs typeface="Helvetica Neue"/>
              </a:defRPr>
            </a:pPr>
            <a:r>
              <a:rPr sz="1425" b="1">
                <a:solidFill>
                  <a:srgbClr val="000000"/>
                </a:solidFill>
                <a:latin typeface="Helvetica Neue"/>
                <a:ea typeface="Helvetica Neue"/>
                <a:cs typeface="Helvetica Neue"/>
              </a:rPr>
              <a:t>1 • Human-calibrate the highest-risk strata</a:t>
            </a:r>
          </a:p>
          <a:p xmlns:a="http://schemas.openxmlformats.org/drawingml/2006/main">
            <a:pPr algn="l">
              <a:lnSpc>
                <a:spcPct val="106000"/>
              </a:lnSpc>
              <a:spcAft>
                <a:spcPts val="320"/>
              </a:spcAft>
              <a:buNone/>
              <a:defRPr sz="2400">
                <a:solidFill>
                  <a:srgbClr val="000000"/>
                </a:solidFill>
                <a:latin typeface="Helvetica Neue"/>
                <a:ea typeface="Helvetica Neue"/>
                <a:cs typeface="Helvetica Neue"/>
              </a:defRPr>
            </a:pPr>
            <a:r>
              <a:rPr sz="1425" b="1">
                <a:solidFill>
                  <a:srgbClr val="000000"/>
                </a:solidFill>
                <a:latin typeface="Helvetica Neue"/>
                <a:ea typeface="Helvetica Neue"/>
                <a:cs typeface="Helvetica Neue"/>
              </a:rPr>
              <a:t>2 • Reuse the frozen pipeline in Phase C</a:t>
            </a:r>
          </a:p>
          <a:p xmlns:a="http://schemas.openxmlformats.org/drawingml/2006/main">
            <a:pPr algn="l">
              <a:lnSpc>
                <a:spcPct val="106000"/>
              </a:lnSpc>
              <a:spcAft>
                <a:spcPts val="320"/>
              </a:spcAft>
              <a:buNone/>
              <a:defRPr sz="2400">
                <a:solidFill>
                  <a:srgbClr val="000000"/>
                </a:solidFill>
                <a:latin typeface="Helvetica Neue"/>
                <a:ea typeface="Helvetica Neue"/>
                <a:cs typeface="Helvetica Neue"/>
              </a:defRPr>
            </a:pPr>
            <a:r>
              <a:rPr sz="1425" b="1">
                <a:solidFill>
                  <a:srgbClr val="000000"/>
                </a:solidFill>
                <a:latin typeface="Helvetica Neue"/>
                <a:ea typeface="Helvetica Neue"/>
                <a:cs typeface="Helvetica Neue"/>
              </a:rPr>
              <a:t>3 • Complete the supervisor + joint rubric</a:t>
            </a:r>
          </a:p>
        </p:txBody>
      </p:sp>
      <p:sp>
        <p:nvSpPr>
          <p:cNvPr id="3" name="Subtitle-4-3">
            <a:extLst xmlns:a="http://schemas.openxmlformats.org/drawingml/2006/main">
              <a:ext uri="{FF2B5EF4-FFF2-40B4-BE49-F238E27FC236}">
                <a16:creationId xmlns:a16="http://schemas.microsoft.com/office/drawing/2014/main" id="{56C1237D-6E8D-4E99-89F0-792E773286CA}"/>
              </a:ext>
            </a:extLst>
          </p:cNvPr>
          <p:cNvSpPr>
            <a:spLocks xmlns:a="http://schemas.openxmlformats.org/drawingml/2006/main" noGrp="1"/>
          </p:cNvSpPr>
          <p:nvPr/>
        </p:nvSpPr>
        <p:spPr>
          <a:xfrm xmlns:a="http://schemas.openxmlformats.org/drawingml/2006/main">
            <a:off x="393668" y="392240"/>
            <a:ext cx="1612868" cy="649129"/>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defRPr sz="2400">
                <a:solidFill>
                  <a:srgbClr val="000000"/>
                </a:solidFill>
                <a:latin typeface="Helvetica Neue"/>
                <a:ea typeface="Helvetica Neue"/>
                <a:cs typeface="Helvetica Neue"/>
              </a:defRPr>
            </a:pPr>
            <a:r>
              <a:t>MIDPOINT</a:t>
            </a:r>
          </a:p>
        </p:txBody>
      </p:sp>
    </p:spTree>
    <p:extLst>
      <p:ext uri="{BB962C8B-B14F-4D97-AF65-F5344CB8AC3E}">
        <p14:creationId xmlns:p14="http://schemas.microsoft.com/office/powerpoint/2010/main" val="79505525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2026-08-09T02:08:13.8740000Z</dcterms:created>
  <dcterms:modified xsi:type="dcterms:W3CDTF">2026-08-09T02:08:13.8740000Z</dcterms:modified>
</coreProperties>
</file>