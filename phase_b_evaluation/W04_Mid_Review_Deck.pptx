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4.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336be01af91435f" /><Relationship Type="http://schemas.openxmlformats.org/officeDocument/2006/relationships/extended-properties" Target="/docProps/app.xml" Id="Rf0d66ed02c2a4825" /><Relationship Type="http://schemas.openxmlformats.org/officeDocument/2006/relationships/officeDocument" Target="/ppt/presentation.xml" Id="Rd3d5286fc93c406b" /></Relationships>
</file>

<file path=ppt/presentation.xml><?xml version="1.0" encoding="utf-8"?>
<p:presentation xmlns:p="http://schemas.openxmlformats.org/presentationml/2006/main">
  <p:sldMasterIdLst>
    <p:sldMasterId xmlns:r="http://schemas.openxmlformats.org/officeDocument/2006/relationships" id="2147483648" r:id="Rd64d86ddc8a044cd"/>
  </p:sldMasterIdLst>
  <p:notesMasterIdLst>
    <p:notesMasterId xmlns:r="http://schemas.openxmlformats.org/officeDocument/2006/relationships" r:id="R83d0f4a3691a46b2"/>
  </p:notesMasterIdLst>
  <p:sldIdLst>
    <p:sldId xmlns:r="http://schemas.openxmlformats.org/officeDocument/2006/relationships" id="256" r:id="R090e470faa164f1d"/>
    <p:sldId xmlns:r="http://schemas.openxmlformats.org/officeDocument/2006/relationships" id="257" r:id="R8365e16a3e9d4da1"/>
    <p:sldId xmlns:r="http://schemas.openxmlformats.org/officeDocument/2006/relationships" id="258" r:id="R3f2418400282480c"/>
    <p:sldId xmlns:r="http://schemas.openxmlformats.org/officeDocument/2006/relationships" id="259" r:id="Rccdba083bee34637"/>
    <p:sldId xmlns:r="http://schemas.openxmlformats.org/officeDocument/2006/relationships" id="260" r:id="R1355186ff6b04137"/>
    <p:sldId xmlns:r="http://schemas.openxmlformats.org/officeDocument/2006/relationships" id="261" r:id="R922e68b766134c7a"/>
    <p:sldId xmlns:r="http://schemas.openxmlformats.org/officeDocument/2006/relationships" id="262" r:id="R2d0be4cc81ca435e"/>
    <p:sldId xmlns:r="http://schemas.openxmlformats.org/officeDocument/2006/relationships" id="263" r:id="Rb63841e3233b4d7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b45de40a68046fd" /><Relationship Type="http://schemas.openxmlformats.org/officeDocument/2006/relationships/slideMaster" Target="/ppt/slideMasters/slideMaster1.xml" Id="Rd64d86ddc8a044cd" /><Relationship Type="http://schemas.openxmlformats.org/officeDocument/2006/relationships/notesMaster" Target="/ppt/notesMasters/notesMaster1.xml" Id="R83d0f4a3691a46b2" /><Relationship Type="http://schemas.openxmlformats.org/officeDocument/2006/relationships/presProps" Target="/ppt/presProps.xml" Id="R41dbc26453374bb5" /><Relationship Type="http://schemas.openxmlformats.org/officeDocument/2006/relationships/tableStyles" Target="/ppt/tableStyles.xml" Id="R865a10825df34074" /><Relationship Type="http://schemas.openxmlformats.org/officeDocument/2006/relationships/slide" Target="/ppt/slides/slide1.xml" Id="R090e470faa164f1d" /><Relationship Type="http://schemas.openxmlformats.org/officeDocument/2006/relationships/slide" Target="/ppt/slides/slide2.xml" Id="R8365e16a3e9d4da1" /><Relationship Type="http://schemas.openxmlformats.org/officeDocument/2006/relationships/slide" Target="/ppt/slides/slide3.xml" Id="R3f2418400282480c" /><Relationship Type="http://schemas.openxmlformats.org/officeDocument/2006/relationships/slide" Target="/ppt/slides/slide4.xml" Id="Rccdba083bee34637" /><Relationship Type="http://schemas.openxmlformats.org/officeDocument/2006/relationships/slide" Target="/ppt/slides/slide5.xml" Id="R1355186ff6b04137" /><Relationship Type="http://schemas.openxmlformats.org/officeDocument/2006/relationships/slide" Target="/ppt/slides/slide6.xml" Id="R922e68b766134c7a" /><Relationship Type="http://schemas.openxmlformats.org/officeDocument/2006/relationships/slide" Target="/ppt/slides/slide7.xml" Id="R2d0be4cc81ca435e" /><Relationship Type="http://schemas.openxmlformats.org/officeDocument/2006/relationships/slide" Target="/ppt/slides/slide8.xml" Id="Rb63841e3233b4d7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25f87b61252416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6612f0f0fed4d8c" /><Relationship Type="http://schemas.openxmlformats.org/officeDocument/2006/relationships/notesMaster" Target="/ppt/notesMasters/notesMaster1.xml" Id="Red9ce94589c54cae" /></Relationships>
</file>

<file path=ppt/notesSlides/_rels/notesSlide2.xml.rels>&#65279;<?xml version="1.0" encoding="utf-8"?><Relationships xmlns="http://schemas.openxmlformats.org/package/2006/relationships"><Relationship Type="http://schemas.openxmlformats.org/officeDocument/2006/relationships/slide" Target="/ppt/slides/slide2.xml" Id="Ref0f1ddfd5514865" /><Relationship Type="http://schemas.openxmlformats.org/officeDocument/2006/relationships/notesMaster" Target="/ppt/notesMasters/notesMaster1.xml" Id="R9d1a594183fe46df" /></Relationships>
</file>

<file path=ppt/notesSlides/_rels/notesSlide3.xml.rels>&#65279;<?xml version="1.0" encoding="utf-8"?><Relationships xmlns="http://schemas.openxmlformats.org/package/2006/relationships"><Relationship Type="http://schemas.openxmlformats.org/officeDocument/2006/relationships/slide" Target="/ppt/slides/slide3.xml" Id="Rfc5d9b1eea554de7" /><Relationship Type="http://schemas.openxmlformats.org/officeDocument/2006/relationships/notesMaster" Target="/ppt/notesMasters/notesMaster1.xml" Id="R0f4fe67f76db4c93" /></Relationships>
</file>

<file path=ppt/notesSlides/_rels/notesSlide4.xml.rels>&#65279;<?xml version="1.0" encoding="utf-8"?><Relationships xmlns="http://schemas.openxmlformats.org/package/2006/relationships"><Relationship Type="http://schemas.openxmlformats.org/officeDocument/2006/relationships/slide" Target="/ppt/slides/slide4.xml" Id="Rb23f7b2dcd144ab8" /><Relationship Type="http://schemas.openxmlformats.org/officeDocument/2006/relationships/notesMaster" Target="/ppt/notesMasters/notesMaster1.xml" Id="Ra4cf019bab074731" /></Relationships>
</file>

<file path=ppt/notesSlides/_rels/notesSlide5.xml.rels>&#65279;<?xml version="1.0" encoding="utf-8"?><Relationships xmlns="http://schemas.openxmlformats.org/package/2006/relationships"><Relationship Type="http://schemas.openxmlformats.org/officeDocument/2006/relationships/slide" Target="/ppt/slides/slide5.xml" Id="R23224eef2d394648" /><Relationship Type="http://schemas.openxmlformats.org/officeDocument/2006/relationships/notesMaster" Target="/ppt/notesMasters/notesMaster1.xml" Id="R36545220e8834ae0" /></Relationships>
</file>

<file path=ppt/notesSlides/_rels/notesSlide6.xml.rels>&#65279;<?xml version="1.0" encoding="utf-8"?><Relationships xmlns="http://schemas.openxmlformats.org/package/2006/relationships"><Relationship Type="http://schemas.openxmlformats.org/officeDocument/2006/relationships/slide" Target="/ppt/slides/slide6.xml" Id="R1bbadc8285354c9e" /><Relationship Type="http://schemas.openxmlformats.org/officeDocument/2006/relationships/notesMaster" Target="/ppt/notesMasters/notesMaster1.xml" Id="Rc6f9d44596c24f82" /></Relationships>
</file>

<file path=ppt/notesSlides/_rels/notesSlide7.xml.rels>&#65279;<?xml version="1.0" encoding="utf-8"?><Relationships xmlns="http://schemas.openxmlformats.org/package/2006/relationships"><Relationship Type="http://schemas.openxmlformats.org/officeDocument/2006/relationships/slide" Target="/ppt/slides/slide7.xml" Id="R11b4f1c9187f468e" /><Relationship Type="http://schemas.openxmlformats.org/officeDocument/2006/relationships/notesMaster" Target="/ppt/notesMasters/notesMaster1.xml" Id="R3bbab544736242ff" /></Relationships>
</file>

<file path=ppt/notesSlides/_rels/notesSlide8.xml.rels>&#65279;<?xml version="1.0" encoding="utf-8"?><Relationships xmlns="http://schemas.openxmlformats.org/package/2006/relationships"><Relationship Type="http://schemas.openxmlformats.org/officeDocument/2006/relationships/slide" Target="/ppt/slides/slide8.xml" Id="R514408a181a54442" /><Relationship Type="http://schemas.openxmlformats.org/officeDocument/2006/relationships/notesMaster" Target="/ppt/notesMasters/notesMaster1.xml" Id="R68a83d4e9e7d493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4 turns the evaluation pipeline into a robustness and systems study. I tested three text models under meaning-preserving paraphrases and missing evidence, one open-source vision-language model under controlled image perturbations, and the expanded RAG path with stage-level latency and resource logging. The key boundary is that quality scores are diagnostic because the local Judge is not human-calibrated; the candidate runs and system measurements themselves are complete and reproducible.</a:t>
            </a:r>
          </a:p>
          <a:p xmlns:a="http://schemas.openxmlformats.org/drawingml/2006/main">
            <a:r>
              <a:t/>
            </a:r>
          </a:p>
          <a:p xmlns:a="http://schemas.openxmlformats.org/drawingml/2006/main">
            <a:r>
              <a:t>[Sources]</a:t>
            </a:r>
          </a:p>
          <a:p xmlns:a="http://schemas.openxmlformats.org/drawingml/2006/main">
            <a:r>
              <a:t>- phase_b_evaluation/W04_Evaluation_Report.md</a:t>
            </a:r>
          </a:p>
          <a:p xmlns:a="http://schemas.openxmlformats.org/drawingml/2006/main">
            <a:r>
              <a:t>- weekly/Wk-04-EvalLog.md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keeps three evidence paths separate. The text path creates semantic variants and nested missing-evidence inputs before sequential inference on FLAN, Mistral, and Llama. The vision path starts from twenty lossless standardized images and changes exactly one factor per condition before Idefics2 inference. The systems path instruments both candidate runners and a forty-question expanded RAG regression. All paths share immutable model revisions, seed 42, deterministic decoding, batch size one, frozen manifests, hashes, and private row-level traces.</a:t>
            </a:r>
          </a:p>
          <a:p xmlns:a="http://schemas.openxmlformats.org/drawingml/2006/main">
            <a:r>
              <a:t/>
            </a:r>
          </a:p>
          <a:p xmlns:a="http://schemas.openxmlformats.org/drawingml/2006/main">
            <a:r>
              <a:t>[Sources]</a:t>
            </a:r>
          </a:p>
          <a:p xmlns:a="http://schemas.openxmlformats.org/drawingml/2006/main">
            <a:r>
              <a:t>- phase_b_evaluation/W04_Robustness_Run_Config_v0.1.0.yaml</a:t>
            </a:r>
          </a:p>
          <a:p xmlns:a="http://schemas.openxmlformats.org/drawingml/2006/main">
            <a:r>
              <a:t>- phase_b_evaluation/W04_Multimodal_Run_Config_v0.1.0.yaml</a:t>
            </a:r>
          </a:p>
          <a:p xmlns:a="http://schemas.openxmlformats.org/drawingml/2006/main">
            <a:r>
              <a:t>- phase_b_evaluation/W04_System_Performance_Metrics_Spec.md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measured workload is 686 candidate requests. Semantic robustness uses the same four input forms per scenario and tests whether pass or fail changes even when meaning is held constant. Masking uses manually defined evidence groups and a fixed hash order, so twenty percent is a subset of forty percent and forty percent is a subset of sixty percent. Vision inputs are validated with exact processed-pixel hashes. Candidate latency and resources are captured before any Judge is loaded, and cold load remains separate from warm inference. This makes the failure mechanism and the cost boundary auditable.</a:t>
            </a:r>
          </a:p>
          <a:p xmlns:a="http://schemas.openxmlformats.org/drawingml/2006/main">
            <a:r>
              <a:t/>
            </a:r>
          </a:p>
          <a:p xmlns:a="http://schemas.openxmlformats.org/drawingml/2006/main">
            <a:r>
              <a:t>[Sources]</a:t>
            </a:r>
          </a:p>
          <a:p xmlns:a="http://schemas.openxmlformats.org/drawingml/2006/main">
            <a:r>
              <a:t>- phase_b_evaluation/W04_Robustness_Input_Manifest_v0.1.0.json</a:t>
            </a:r>
          </a:p>
          <a:p xmlns:a="http://schemas.openxmlformats.org/drawingml/2006/main">
            <a:r>
              <a:t>- phase_b_evaluation/W04_Multimodal_Input_Manifest_v0.1.0.json</a:t>
            </a:r>
          </a:p>
          <a:p xmlns:a="http://schemas.openxmlformats.org/drawingml/2006/main">
            <a:r>
              <a:t>- phase_b_evaluation/W04_Submission_Index.md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bar chart shows diagnostic semantic robustness: FLAN 0.914, Mistral 0.857, and Llama 0.857. This is not an accuracy percentage. It is the share of thirty-five scenarios where all four meaning-preserving forms receive the same pass or fail decision. The cards split stable passes from stable failures, because a model can be consistently wrong. Operationally, a paraphrase-triggered flip means the same alert narrative can change escalation behavior, while a stable failure indicates a policy or reasoning weakness rather than a wording sensitivity.</a:t>
            </a:r>
          </a:p>
          <a:p xmlns:a="http://schemas.openxmlformats.org/drawingml/2006/main">
            <a:r>
              <a:t/>
            </a:r>
          </a:p>
          <a:p xmlns:a="http://schemas.openxmlformats.org/drawingml/2006/main">
            <a:r>
              <a:t>[Sources]</a:t>
            </a:r>
          </a:p>
          <a:p xmlns:a="http://schemas.openxmlformats.org/drawingml/2006/main">
            <a:r>
              <a:t>- phase_b_evaluation/W04_Robustness_Summary_v0.1.0.json</a:t>
            </a:r>
          </a:p>
          <a:p xmlns:a="http://schemas.openxmlformats.org/drawingml/2006/main">
            <a:r>
              <a:t>- phase_b_evaluation/W04_Robustness_Results_v0.1.0.md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line chart follows average Task Accuracy as evidence is removed in nested steps. At sixty percent masking, Llama drops 0.286 points, Mistral drops 0.000, and FLAN drops 0.357 from their own complete-input baselines. Because every level removes a superset of the previous evidence groups, a systematic decline supports an evidence-dependence interpretation. Any non-monotonic improvement is kept as a review flag, not presented as evidence that less information helps.</a:t>
            </a:r>
          </a:p>
          <a:p xmlns:a="http://schemas.openxmlformats.org/drawingml/2006/main">
            <a:r>
              <a:t/>
            </a:r>
          </a:p>
          <a:p xmlns:a="http://schemas.openxmlformats.org/drawingml/2006/main">
            <a:r>
              <a:t>[Sources]</a:t>
            </a:r>
          </a:p>
          <a:p xmlns:a="http://schemas.openxmlformats.org/drawingml/2006/main">
            <a:r>
              <a:t>- phase_b_evaluation/W04_Robustness_Curves_v0.1.0.csv</a:t>
            </a:r>
          </a:p>
          <a:p xmlns:a="http://schemas.openxmlformats.org/drawingml/2006/main">
            <a:r>
              <a:t>- phase_b_evaluation/W04_Robustness_Eval.ipynb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Idefics2 averages 4.900 out of five on the clean public-image proxies. Deterministic Gaussian noise changes the mean by 0.100 points and preserves the acceptability decision in 0.950 of eligible scenarios. Brightness 0.60 changes the mean by 0.150 and preserves the decision in 0.950. The controlled claim is within-image: each condition starts from the same 768 by 768 lossless pixels and changes one factor. This does not measure deployed cameras, temporal fusion, or executed control.</a:t>
            </a:r>
          </a:p>
          <a:p xmlns:a="http://schemas.openxmlformats.org/drawingml/2006/main">
            <a:r>
              <a:t/>
            </a:r>
          </a:p>
          <a:p xmlns:a="http://schemas.openxmlformats.org/drawingml/2006/main">
            <a:r>
              <a:t>[Sources]</a:t>
            </a:r>
          </a:p>
          <a:p xmlns:a="http://schemas.openxmlformats.org/drawingml/2006/main">
            <a:r>
              <a:t>- phase_b_evaluation/W04_Multimodal_Summary_v0.1.0.json</a:t>
            </a:r>
          </a:p>
          <a:p xmlns:a="http://schemas.openxmlformats.org/drawingml/2006/main">
            <a:r>
              <a:t>- phase_b_evaluation/W04_Multimodal_Eval.ipynb</a:t>
            </a:r>
          </a:p>
          <a:p xmlns:a="http://schemas.openxmlformats.org/drawingml/2006/main">
            <a:r>
              <a:t>- phase_b_evaluation/W04_Multimodal_Attribution_v0.1.0.csv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chart compares warm question-to-response p50 and p95 across representative conditions. RAG retrieval itself has a p50 of 408.9 milliseconds, while the full RAG path has a p50 of 8.40 seconds. This decomposition prevents retrieval overhead from being attributed to model generation. The public summary also retains prompt and output tokens, TTFT, generation and decode time, process and system RAM, PyTorch and device-wide GPU memory, utilization, power, throughput, missing counts, and p50, p90, p95, and maximum. Cold model loads are a separate table because the migrated network volume made them environment-specific.</a:t>
            </a:r>
          </a:p>
          <a:p xmlns:a="http://schemas.openxmlformats.org/drawingml/2006/main">
            <a:r>
              <a:t/>
            </a:r>
          </a:p>
          <a:p xmlns:a="http://schemas.openxmlformats.org/drawingml/2006/main">
            <a:r>
              <a:t>[Sources]</a:t>
            </a:r>
          </a:p>
          <a:p xmlns:a="http://schemas.openxmlformats.org/drawingml/2006/main">
            <a:r>
              <a:t>- phase_b_evaluation/W04_System_Performance_Summary_v0.1.0.json</a:t>
            </a:r>
          </a:p>
          <a:p xmlns:a="http://schemas.openxmlformats.org/drawingml/2006/main">
            <a:r>
              <a:t>- phase_b_evaluation/W04_System_Performance_Summary_v0.1.0.md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Week 4 satisfies the required text robustness, masked-input, public-image VLM, presentation, weekly log, and midpoint evidence tasks, and it adds the requested system-cost instrumentation. The defensible conclusion is that the pipeline is operational and now reveals where wording, missing evidence, image conditions, and compute cost affect behavior. The remaining limitations are evidence maturity: AI-assisted scoring is not calibrated human ground truth, the image study covers one VLM, and the benchmark is still a controlled surrogate. The next work is to human-adjudicate the highest-risk strata, add harder and temporal inputs, and repeat representative conditions on another VLM and hardware configuration. The joint supervisor score and signature are completed in the review meeting, not by code.</a:t>
            </a:r>
          </a:p>
          <a:p xmlns:a="http://schemas.openxmlformats.org/drawingml/2006/main">
            <a:r>
              <a:t/>
            </a:r>
          </a:p>
          <a:p xmlns:a="http://schemas.openxmlformats.org/drawingml/2006/main">
            <a:r>
              <a:t>[Sources]</a:t>
            </a:r>
          </a:p>
          <a:p xmlns:a="http://schemas.openxmlformats.org/drawingml/2006/main">
            <a:r>
              <a:t>- phase_b_evaluation/W04_Midpoint_Evaluation_Rubric.md</a:t>
            </a:r>
          </a:p>
          <a:p xmlns:a="http://schemas.openxmlformats.org/drawingml/2006/main">
            <a:r>
              <a:t>- phase_b_evaluation/W04_Evaluation_Report.md</a:t>
            </a:r>
          </a:p>
          <a:p xmlns:a="http://schemas.openxmlformats.org/drawingml/2006/main">
            <a:r>
              <a:t>- phase_b_evaluation/W04_Submission_Index.md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cc4e64b59774a8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9d3a1515fff4c5a" /><Relationship Type="http://schemas.openxmlformats.org/officeDocument/2006/relationships/slideLayout" Target="/ppt/slideLayouts/slideLayout1.xml" Id="R6198f8a887de4f3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198f8a887de4f3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502f124160549a6" /><Relationship Type="http://schemas.openxmlformats.org/officeDocument/2006/relationships/notesSlide" Target="/ppt/notesSlides/notesSlide1.xml" Id="R1495490cdce3453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fb3029ee7664c69" /><Relationship Type="http://schemas.openxmlformats.org/officeDocument/2006/relationships/notesSlide" Target="/ppt/notesSlides/notesSlide2.xml" Id="R09161453b2b74cf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fce88168786450f" /><Relationship Type="http://schemas.openxmlformats.org/officeDocument/2006/relationships/notesSlide" Target="/ppt/notesSlides/notesSlide3.xml" Id="R5ff5a68a3f92486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4dfcb43058642e4" /><Relationship Type="http://schemas.openxmlformats.org/officeDocument/2006/relationships/chart" Target="/ppt/slides/charts/chart1.xml" Id="R40a21f41b3e54648" /><Relationship Type="http://schemas.openxmlformats.org/officeDocument/2006/relationships/notesSlide" Target="/ppt/notesSlides/notesSlide4.xml" Id="Rdef8e61241e242e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1a9f4117dfd4dac" /><Relationship Type="http://schemas.openxmlformats.org/officeDocument/2006/relationships/chart" Target="/ppt/slides/charts/chart2.xml" Id="Rea21f33419954c6b" /><Relationship Type="http://schemas.openxmlformats.org/officeDocument/2006/relationships/notesSlide" Target="/ppt/notesSlides/notesSlide5.xml" Id="Ra608abb2e9b94a3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d896cbbd1ca44ca" /><Relationship Type="http://schemas.openxmlformats.org/officeDocument/2006/relationships/chart" Target="/ppt/slides/charts/chart3.xml" Id="R9fcd211d3cad4eee" /><Relationship Type="http://schemas.openxmlformats.org/officeDocument/2006/relationships/notesSlide" Target="/ppt/notesSlides/notesSlide6.xml" Id="R7bf8dce648bd4b2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ed3125e42094b43" /><Relationship Type="http://schemas.openxmlformats.org/officeDocument/2006/relationships/chart" Target="/ppt/slides/charts/chart4.xml" Id="R4343e7bc65cb4002" /><Relationship Type="http://schemas.openxmlformats.org/officeDocument/2006/relationships/notesSlide" Target="/ppt/notesSlides/notesSlide7.xml" Id="Rd86629ee4d4f4ec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78b3682b5ce46cc" /><Relationship Type="http://schemas.openxmlformats.org/officeDocument/2006/relationships/notesSlide" Target="/ppt/notesSlides/notesSlide8.xml" Id="Rc6d8f61a86b34673" /></Relationships>
</file>

<file path=ppt/slides/charts/chart1.xml><?xml version="1.0" encoding="utf-8"?>
<c:chartSpace xmlns:c="http://schemas.openxmlformats.org/drawingml/2006/chart">
  <c:lang val="en-US"/>
  <c:chart>
    <c:plotArea>
      <c:barChart>
        <c:barDir val="col"/>
        <c:grouping val="clustered"/>
        <c:varyColors val="0"/>
        <c:ser>
          <c:idx val="0"/>
          <c:order val="0"/>
          <c:tx>
            <c:v>Semantic consistency (%)</c:v>
          </c:tx>
          <c:spPr>
            <a:solidFill xmlns:a="http://schemas.openxmlformats.org/drawingml/2006/main">
              <a:srgbClr val="3D8DFF"/>
            </a:solidFill>
          </c:spPr>
          <c:cat>
            <c:strLit>
              <c:ptCount val="3"/>
              <c:pt idx="0">
                <c:v>FLAN</c:v>
              </c:pt>
              <c:pt idx="1">
                <c:v>Mistral</c:v>
              </c:pt>
              <c:pt idx="2">
                <c:v>Llama</c:v>
              </c:pt>
            </c:strLit>
          </c:cat>
          <c:val>
            <c:numLit>
              <c:formatCode>General</c:formatCode>
              <c:ptCount val="3"/>
              <c:pt idx="0">
                <c:v>91.4</c:v>
              </c:pt>
              <c:pt idx="1">
                <c:v>85.7</c:v>
              </c:pt>
              <c:pt idx="2">
                <c:v>85.7</c:v>
              </c:pt>
            </c:numLit>
          </c:val>
        </c:ser>
        <c:dLbls>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825">
                <a:solidFill>
                  <a:srgbClr val="000000"/>
                </a:solidFill>
                <a:latin typeface="Helvetica Neue"/>
                <a:ea typeface="Helvetica Neue"/>
                <a:cs typeface="Helvetica Neue"/>
              </a:defRPr>
            </a:pPr>
          </a:p>
        </c:txPr>
        <c:crossAx val="48672768"/>
        <c:lblAlgn val="ctr"/>
        <c:lblOffset val="100"/>
        <c:noMultiLvlLbl val="0"/>
      </c:catAx>
      <c:valAx>
        <c:axId val="48672768"/>
        <c:scaling>
          <c:orientation val="minMax"/>
          <c:max val="100"/>
          <c:min val="0"/>
        </c:scaling>
        <c:delete val="0"/>
        <c:axPos val="l"/>
        <c:majorGridlines>
          <c:spPr>
            <a:ln xmlns:a="http://schemas.openxmlformats.org/drawingml/2006/main" w="9525">
              <a:solidFill>
                <a:srgbClr val="EDEDED"/>
              </a:solidFill>
              <a:prstDash val="solid"/>
            </a:ln>
          </c:spPr>
        </c:majorGridlines>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825">
                <a:solidFill>
                  <a:srgbClr val="000000"/>
                </a:solidFill>
                <a:latin typeface="Helvetica Neue"/>
                <a:ea typeface="Helvetica Neue"/>
                <a:cs typeface="Helvetica Neue"/>
              </a:defRPr>
            </a:pPr>
          </a:p>
        </c:txPr>
        <c:crossAx val="48650112"/>
        <c:crossBetween val="between"/>
        <c:majorUnit val="20"/>
      </c:valAx>
      <c:spPr>
        <a:noFill xmlns:a="http://schemas.openxmlformats.org/drawingml/2006/main"/>
        <a:ln xmlns:a="http://schemas.openxmlformats.org/drawingml/2006/main" w="0">
          <a:solidFill>
            <a:srgbClr val="FFFFFF"/>
          </a:solidFill>
          <a:prstDash val="solid"/>
        </a:ln>
      </c:spPr>
    </c:plotArea>
    <c:legend>
      <c:legendPos val="b"/>
      <c:overlay val="0"/>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2.xml><?xml version="1.0" encoding="utf-8"?>
<c:chartSpace xmlns:c="http://schemas.openxmlformats.org/drawingml/2006/chart">
  <c:lang val="en-US"/>
  <c:chart>
    <c:plotArea>
      <c:lineChart>
        <c:grouping val="standard"/>
        <c:varyColors val="0"/>
        <c:ser>
          <c:idx val="0"/>
          <c:order val="0"/>
          <c:tx>
            <c:v>FLAN</c:v>
          </c:tx>
          <c:spPr>
            <a:ln xmlns:a="http://schemas.openxmlformats.org/drawingml/2006/main" w="28575">
              <a:solidFill>
                <a:srgbClr val="8FD3F4"/>
              </a:solidFill>
              <a:prstDash val="solid"/>
            </a:ln>
          </c:spPr>
          <c:marker>
            <c:symbol val="circle"/>
            <c:size val="6"/>
          </c:marker>
          <c:cat>
            <c:strLit>
              <c:ptCount val="4"/>
              <c:pt idx="0">
                <c:v>0%</c:v>
              </c:pt>
              <c:pt idx="1">
                <c:v>20%</c:v>
              </c:pt>
              <c:pt idx="2">
                <c:v>40%</c:v>
              </c:pt>
              <c:pt idx="3">
                <c:v>60%</c:v>
              </c:pt>
            </c:strLit>
          </c:cat>
          <c:val>
            <c:numLit>
              <c:formatCode>General</c:formatCode>
              <c:ptCount val="4"/>
              <c:pt idx="0">
                <c:v>3.64</c:v>
              </c:pt>
              <c:pt idx="1">
                <c:v>3.5</c:v>
              </c:pt>
              <c:pt idx="2">
                <c:v>3.29</c:v>
              </c:pt>
              <c:pt idx="3">
                <c:v>3.29</c:v>
              </c:pt>
            </c:numLit>
          </c:val>
        </c:ser>
        <c:ser>
          <c:idx val="1"/>
          <c:order val="1"/>
          <c:tx>
            <c:v>Mistral</c:v>
          </c:tx>
          <c:spPr>
            <a:ln xmlns:a="http://schemas.openxmlformats.org/drawingml/2006/main" w="28575">
              <a:solidFill>
                <a:srgbClr val="3D8DFF"/>
              </a:solidFill>
              <a:prstDash val="solid"/>
            </a:ln>
          </c:spPr>
          <c:marker>
            <c:symbol val="circle"/>
            <c:size val="6"/>
          </c:marker>
          <c:cat>
            <c:strLit>
              <c:ptCount val="4"/>
              <c:pt idx="0">
                <c:v>0%</c:v>
              </c:pt>
              <c:pt idx="1">
                <c:v>20%</c:v>
              </c:pt>
              <c:pt idx="2">
                <c:v>40%</c:v>
              </c:pt>
              <c:pt idx="3">
                <c:v>60%</c:v>
              </c:pt>
            </c:strLit>
          </c:cat>
          <c:val>
            <c:numLit>
              <c:formatCode>General</c:formatCode>
              <c:ptCount val="4"/>
              <c:pt idx="0">
                <c:v>4.07</c:v>
              </c:pt>
              <c:pt idx="1">
                <c:v>4.07</c:v>
              </c:pt>
              <c:pt idx="2">
                <c:v>3.93</c:v>
              </c:pt>
              <c:pt idx="3">
                <c:v>4.07</c:v>
              </c:pt>
            </c:numLit>
          </c:val>
        </c:ser>
        <c:ser>
          <c:idx val="2"/>
          <c:order val="2"/>
          <c:tx>
            <c:v>Llama</c:v>
          </c:tx>
          <c:spPr>
            <a:ln xmlns:a="http://schemas.openxmlformats.org/drawingml/2006/main" w="28575">
              <a:solidFill>
                <a:srgbClr val="111827"/>
              </a:solidFill>
              <a:prstDash val="solid"/>
            </a:ln>
          </c:spPr>
          <c:marker>
            <c:symbol val="circle"/>
            <c:size val="6"/>
          </c:marker>
          <c:cat>
            <c:strLit>
              <c:ptCount val="4"/>
              <c:pt idx="0">
                <c:v>0%</c:v>
              </c:pt>
              <c:pt idx="1">
                <c:v>20%</c:v>
              </c:pt>
              <c:pt idx="2">
                <c:v>40%</c:v>
              </c:pt>
              <c:pt idx="3">
                <c:v>60%</c:v>
              </c:pt>
            </c:strLit>
          </c:cat>
          <c:val>
            <c:numLit>
              <c:formatCode>General</c:formatCode>
              <c:ptCount val="4"/>
              <c:pt idx="0">
                <c:v>4.64</c:v>
              </c:pt>
              <c:pt idx="1">
                <c:v>4.5</c:v>
              </c:pt>
              <c:pt idx="2">
                <c:v>4.57</c:v>
              </c:pt>
              <c:pt idx="3">
                <c:v>4.36</c:v>
              </c:pt>
            </c:numLit>
          </c:val>
        </c:ser>
        <c:dLbls>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825">
                <a:solidFill>
                  <a:srgbClr val="000000"/>
                </a:solidFill>
                <a:latin typeface="Helvetica Neue"/>
                <a:ea typeface="Helvetica Neue"/>
                <a:cs typeface="Helvetica Neue"/>
              </a:defRPr>
            </a:pPr>
          </a:p>
        </c:txPr>
        <c:crossAx val="48672768"/>
        <c:lblAlgn val="ctr"/>
        <c:lblOffset val="100"/>
        <c:noMultiLvlLbl val="0"/>
      </c:catAx>
      <c:valAx>
        <c:axId val="48672768"/>
        <c:scaling>
          <c:orientation val="minMax"/>
          <c:max val="5"/>
          <c:min val="0"/>
        </c:scaling>
        <c:delete val="0"/>
        <c:axPos val="l"/>
        <c:majorGridlines>
          <c:spPr>
            <a:ln xmlns:a="http://schemas.openxmlformats.org/drawingml/2006/main" w="9525">
              <a:solidFill>
                <a:srgbClr val="EDEDED"/>
              </a:solidFill>
              <a:prstDash val="solid"/>
            </a:ln>
          </c:spPr>
        </c:majorGridlines>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825">
                <a:solidFill>
                  <a:srgbClr val="000000"/>
                </a:solidFill>
                <a:latin typeface="Helvetica Neue"/>
                <a:ea typeface="Helvetica Neue"/>
                <a:cs typeface="Helvetica Neue"/>
              </a:defRPr>
            </a:pPr>
          </a:p>
        </c:txPr>
        <c:crossAx val="48650112"/>
        <c:crossBetween val="between"/>
        <c:majorUnit val="1"/>
      </c:valAx>
      <c:spPr>
        <a:noFill xmlns:a="http://schemas.openxmlformats.org/drawingml/2006/main"/>
        <a:ln xmlns:a="http://schemas.openxmlformats.org/drawingml/2006/main" w="0">
          <a:solidFill>
            <a:srgbClr val="FFFFFF"/>
          </a:solidFill>
          <a:prstDash val="solid"/>
        </a:ln>
      </c:spPr>
    </c:plotArea>
    <c:legend>
      <c:legendPos val="b"/>
      <c:overlay val="0"/>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3.xml><?xml version="1.0" encoding="utf-8"?>
<c:chartSpace xmlns:c="http://schemas.openxmlformats.org/drawingml/2006/chart">
  <c:lang val="en-US"/>
  <c:chart>
    <c:plotArea>
      <c:barChart>
        <c:barDir val="col"/>
        <c:grouping val="clustered"/>
        <c:varyColors val="0"/>
        <c:ser>
          <c:idx val="0"/>
          <c:order val="0"/>
          <c:tx>
            <c:v>Mean total / 5</c:v>
          </c:tx>
          <c:spPr>
            <a:solidFill xmlns:a="http://schemas.openxmlformats.org/drawingml/2006/main">
              <a:srgbClr val="3D8DFF"/>
            </a:solidFill>
          </c:spPr>
          <c:cat>
            <c:strLit>
              <c:ptCount val="3"/>
              <c:pt idx="0">
                <c:v>Clean</c:v>
              </c:pt>
              <c:pt idx="1">
                <c:v>Noise</c:v>
              </c:pt>
              <c:pt idx="2">
                <c:v>Brightness</c:v>
              </c:pt>
            </c:strLit>
          </c:cat>
          <c:val>
            <c:numLit>
              <c:formatCode>General</c:formatCode>
              <c:ptCount val="3"/>
              <c:pt idx="0">
                <c:v>4.9</c:v>
              </c:pt>
              <c:pt idx="1">
                <c:v>4.8</c:v>
              </c:pt>
              <c:pt idx="2">
                <c:v>4.75</c:v>
              </c:pt>
            </c:numLit>
          </c:val>
        </c:ser>
        <c:ser>
          <c:idx val="1"/>
          <c:order val="1"/>
          <c:tx>
            <c:v>Acceptable decision rate</c:v>
          </c:tx>
          <c:spPr>
            <a:solidFill xmlns:a="http://schemas.openxmlformats.org/drawingml/2006/main">
              <a:srgbClr val="BDE7F7"/>
            </a:solidFill>
          </c:spPr>
          <c:cat>
            <c:strLit>
              <c:ptCount val="3"/>
              <c:pt idx="0">
                <c:v>Clean</c:v>
              </c:pt>
              <c:pt idx="1">
                <c:v>Noise</c:v>
              </c:pt>
              <c:pt idx="2">
                <c:v>Brightness</c:v>
              </c:pt>
            </c:strLit>
          </c:cat>
          <c:val>
            <c:numLit>
              <c:formatCode>General</c:formatCode>
              <c:ptCount val="3"/>
              <c:pt idx="0">
                <c:v>4.75</c:v>
              </c:pt>
              <c:pt idx="1">
                <c:v>4.5</c:v>
              </c:pt>
              <c:pt idx="2">
                <c:v>4.5</c:v>
              </c:pt>
            </c:numLit>
          </c:val>
        </c:ser>
        <c:dLbls>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825">
                <a:solidFill>
                  <a:srgbClr val="000000"/>
                </a:solidFill>
                <a:latin typeface="Helvetica Neue"/>
                <a:ea typeface="Helvetica Neue"/>
                <a:cs typeface="Helvetica Neue"/>
              </a:defRPr>
            </a:pPr>
          </a:p>
        </c:txPr>
        <c:crossAx val="48672768"/>
        <c:lblAlgn val="ctr"/>
        <c:lblOffset val="100"/>
        <c:noMultiLvlLbl val="0"/>
      </c:catAx>
      <c:valAx>
        <c:axId val="48672768"/>
        <c:scaling>
          <c:orientation val="minMax"/>
          <c:max val="5"/>
          <c:min val="0"/>
        </c:scaling>
        <c:delete val="0"/>
        <c:axPos val="l"/>
        <c:majorGridlines>
          <c:spPr>
            <a:ln xmlns:a="http://schemas.openxmlformats.org/drawingml/2006/main" w="9525">
              <a:solidFill>
                <a:srgbClr val="EDEDED"/>
              </a:solidFill>
              <a:prstDash val="solid"/>
            </a:ln>
          </c:spPr>
        </c:majorGridlines>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825">
                <a:solidFill>
                  <a:srgbClr val="000000"/>
                </a:solidFill>
                <a:latin typeface="Helvetica Neue"/>
                <a:ea typeface="Helvetica Neue"/>
                <a:cs typeface="Helvetica Neue"/>
              </a:defRPr>
            </a:pPr>
          </a:p>
        </c:txPr>
        <c:crossAx val="48650112"/>
        <c:crossBetween val="between"/>
        <c:majorUnit val="1"/>
      </c:valAx>
      <c:spPr>
        <a:noFill xmlns:a="http://schemas.openxmlformats.org/drawingml/2006/main"/>
        <a:ln xmlns:a="http://schemas.openxmlformats.org/drawingml/2006/main" w="0">
          <a:solidFill>
            <a:srgbClr val="FFFFFF"/>
          </a:solidFill>
          <a:prstDash val="solid"/>
        </a:ln>
      </c:spPr>
    </c:plotArea>
    <c:legend>
      <c:legendPos val="b"/>
      <c:overlay val="0"/>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4.xml><?xml version="1.0" encoding="utf-8"?>
<c:chartSpace xmlns:c="http://schemas.openxmlformats.org/drawingml/2006/chart">
  <c:lang val="en-US"/>
  <c:chart>
    <c:plotArea>
      <c:barChart>
        <c:barDir val="col"/>
        <c:grouping val="clustered"/>
        <c:varyColors val="0"/>
        <c:ser>
          <c:idx val="0"/>
          <c:order val="0"/>
          <c:tx>
            <c:v>p50 ms</c:v>
          </c:tx>
          <c:spPr>
            <a:solidFill xmlns:a="http://schemas.openxmlformats.org/drawingml/2006/main">
              <a:srgbClr val="BDE7F7"/>
            </a:solidFill>
          </c:spPr>
          <c:cat>
            <c:strLit>
              <c:ptCount val="5"/>
              <c:pt idx="0">
                <c:v>FLAN</c:v>
              </c:pt>
              <c:pt idx="1">
                <c:v>Mistral</c:v>
              </c:pt>
              <c:pt idx="2">
                <c:v>Llama</c:v>
              </c:pt>
              <c:pt idx="3">
                <c:v>Idefics2</c:v>
              </c:pt>
              <c:pt idx="4">
                <c:v>RAG</c:v>
              </c:pt>
            </c:strLit>
          </c:cat>
          <c:val>
            <c:numLit>
              <c:formatCode>General</c:formatCode>
              <c:ptCount val="5"/>
              <c:pt idx="0">
                <c:v>647.1</c:v>
              </c:pt>
              <c:pt idx="1">
                <c:v>2135.8</c:v>
              </c:pt>
              <c:pt idx="2">
                <c:v>2023</c:v>
              </c:pt>
              <c:pt idx="3">
                <c:v>6717.2</c:v>
              </c:pt>
              <c:pt idx="4">
                <c:v>8402.7</c:v>
              </c:pt>
            </c:numLit>
          </c:val>
        </c:ser>
        <c:ser>
          <c:idx val="1"/>
          <c:order val="1"/>
          <c:tx>
            <c:v>p95 ms</c:v>
          </c:tx>
          <c:spPr>
            <a:solidFill xmlns:a="http://schemas.openxmlformats.org/drawingml/2006/main">
              <a:srgbClr val="3D8DFF"/>
            </a:solidFill>
          </c:spPr>
          <c:cat>
            <c:strLit>
              <c:ptCount val="5"/>
              <c:pt idx="0">
                <c:v>FLAN</c:v>
              </c:pt>
              <c:pt idx="1">
                <c:v>Mistral</c:v>
              </c:pt>
              <c:pt idx="2">
                <c:v>Llama</c:v>
              </c:pt>
              <c:pt idx="3">
                <c:v>Idefics2</c:v>
              </c:pt>
              <c:pt idx="4">
                <c:v>RAG</c:v>
              </c:pt>
            </c:strLit>
          </c:cat>
          <c:val>
            <c:numLit>
              <c:formatCode>General</c:formatCode>
              <c:ptCount val="5"/>
              <c:pt idx="0">
                <c:v>887.3</c:v>
              </c:pt>
              <c:pt idx="1">
                <c:v>4565.3</c:v>
              </c:pt>
              <c:pt idx="2">
                <c:v>2992.5</c:v>
              </c:pt>
              <c:pt idx="3">
                <c:v>6949.2</c:v>
              </c:pt>
              <c:pt idx="4">
                <c:v>14230.4</c:v>
              </c:pt>
            </c:numLit>
          </c:val>
        </c:ser>
        <c:dLbls>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825">
                <a:solidFill>
                  <a:srgbClr val="000000"/>
                </a:solidFill>
                <a:latin typeface="Helvetica Neue"/>
                <a:ea typeface="Helvetica Neue"/>
                <a:cs typeface="Helvetica Neue"/>
              </a:defRPr>
            </a:pPr>
          </a:p>
        </c:txPr>
        <c:crossAx val="48672768"/>
        <c:lblAlgn val="ctr"/>
        <c:lblOffset val="100"/>
        <c:noMultiLvlLbl val="0"/>
      </c:catAx>
      <c:valAx>
        <c:axId val="48672768"/>
        <c:scaling>
          <c:orientation val="minMax"/>
          <c:max val="15000"/>
          <c:min val="0"/>
        </c:scaling>
        <c:delete val="0"/>
        <c:axPos val="l"/>
        <c:majorGridlines>
          <c:spPr>
            <a:ln xmlns:a="http://schemas.openxmlformats.org/drawingml/2006/main" w="9525">
              <a:solidFill>
                <a:srgbClr val="EDEDED"/>
              </a:solidFill>
              <a:prstDash val="solid"/>
            </a:ln>
          </c:spPr>
        </c:majorGridlines>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825">
                <a:solidFill>
                  <a:srgbClr val="000000"/>
                </a:solidFill>
                <a:latin typeface="Helvetica Neue"/>
                <a:ea typeface="Helvetica Neue"/>
                <a:cs typeface="Helvetica Neue"/>
              </a:defRPr>
            </a:pPr>
          </a:p>
        </c:txPr>
        <c:crossAx val="48650112"/>
        <c:crossBetween val="between"/>
        <c:majorUnit val="3000"/>
      </c:valAx>
      <c:spPr>
        <a:noFill xmlns:a="http://schemas.openxmlformats.org/drawingml/2006/main"/>
        <a:ln xmlns:a="http://schemas.openxmlformats.org/drawingml/2006/main" w="0">
          <a:solidFill>
            <a:srgbClr val="FFFFFF"/>
          </a:solidFill>
          <a:prstDash val="solid"/>
        </a:ln>
      </c:spPr>
    </c:plotArea>
    <c:legend>
      <c:legendPos val="b"/>
      <c:overlay val="0"/>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BF8E06AF-BC3F-465A-912D-7B19A6974C70}"/>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defRPr sz="6000">
                <a:solidFill>
                  <a:srgbClr val="000000"/>
                </a:solidFill>
                <a:latin typeface="Helvetica Neue"/>
                <a:ea typeface="Helvetica Neue"/>
                <a:cs typeface="Helvetica Neue"/>
              </a:defRPr>
            </a:pPr>
            <a:r>
              <a:t>Robustness beyond
a single score</a:t>
            </a:r>
          </a:p>
        </p:txBody>
      </p:sp>
      <p:sp>
        <p:nvSpPr>
          <p:cNvPr id="2" name="Subtitle-4-2">
            <a:extLst xmlns:a="http://schemas.openxmlformats.org/drawingml/2006/main">
              <a:ext uri="{FF2B5EF4-FFF2-40B4-BE49-F238E27FC236}">
                <a16:creationId xmlns:a16="http://schemas.microsoft.com/office/drawing/2014/main" id="{86B9631C-D4C8-4C48-9D92-283F35365595}"/>
              </a:ext>
            </a:extLst>
          </p:cNvPr>
          <p:cNvSpPr>
            <a:spLocks xmlns:a="http://schemas.openxmlformats.org/drawingml/2006/main" noGrp="1"/>
          </p:cNvSpPr>
          <p:nvPr/>
        </p:nvSpPr>
        <p:spPr>
          <a:xfrm xmlns:a="http://schemas.openxmlformats.org/drawingml/2006/main">
            <a:off x="393668" y="4742212"/>
            <a:ext cx="57023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Text perturbations, controlled vision inputs, and measured system cost</a:t>
            </a:r>
          </a:p>
        </p:txBody>
      </p:sp>
      <p:sp>
        <p:nvSpPr>
          <p:cNvPr id="3" name="Subtitle-4-3">
            <a:extLst xmlns:a="http://schemas.openxmlformats.org/drawingml/2006/main">
              <a:ext uri="{FF2B5EF4-FFF2-40B4-BE49-F238E27FC236}">
                <a16:creationId xmlns:a16="http://schemas.microsoft.com/office/drawing/2014/main" id="{8FE576C8-60FE-4A52-8146-9C60EF80D999}"/>
              </a:ext>
            </a:extLst>
          </p:cNvPr>
          <p:cNvSpPr>
            <a:spLocks xmlns:a="http://schemas.openxmlformats.org/drawingml/2006/main" noGrp="1"/>
          </p:cNvSpPr>
          <p:nvPr/>
        </p:nvSpPr>
        <p:spPr>
          <a:xfrm xmlns:a="http://schemas.openxmlformats.org/drawingml/2006/main">
            <a:off x="393668" y="392240"/>
            <a:ext cx="5702332"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WEEK 4 • PHASE B</a:t>
            </a:r>
          </a:p>
        </p:txBody>
      </p:sp>
    </p:spTree>
    <p:extLst>
      <p:ext uri="{BB962C8B-B14F-4D97-AF65-F5344CB8AC3E}">
        <p14:creationId xmlns:p14="http://schemas.microsoft.com/office/powerpoint/2010/main" val="201255257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4DB24A1B-C086-4B2A-B4C1-B02651FA0B75}"/>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2</a:t>
            </a:r>
          </a:p>
        </p:txBody>
      </p:sp>
      <p:sp>
        <p:nvSpPr>
          <p:cNvPr id="2" name="Title-10-3">
            <a:extLst xmlns:a="http://schemas.openxmlformats.org/drawingml/2006/main">
              <a:ext uri="{FF2B5EF4-FFF2-40B4-BE49-F238E27FC236}">
                <a16:creationId xmlns:a16="http://schemas.microsoft.com/office/drawing/2014/main" id="{6B3EDFED-3BDE-461B-BF0E-A8F27A8C893D}"/>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One frozen pipeline, three evidence paths</a:t>
            </a:r>
          </a:p>
        </p:txBody>
      </p:sp>
      <p:cxnSp>
        <p:nvCxnSpPr>
          <p:cNvPr id="15" name="Google-Shape-2259-p159-4"/>
          <p:cNvCxnSpPr/>
          <p:nvPr/>
        </p:nvCxnSpPr>
        <p:spPr>
          <a:xfrm xmlns:a="http://schemas.openxmlformats.org/drawingml/2006/main">
            <a:off x="337757" y="3373755"/>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1FAA7653-D7DB-4E69-9C44-4A68C8AEA1D6}"/>
              </a:ext>
            </a:extLst>
          </p:cNvPr>
          <p:cNvSpPr>
            <a:spLocks xmlns:a="http://schemas.openxmlformats.org/drawingml/2006/main" noGrp="1"/>
          </p:cNvSpPr>
          <p:nvPr/>
        </p:nvSpPr>
        <p:spPr>
          <a:xfrm xmlns:a="http://schemas.openxmlformats.org/drawingml/2006/main">
            <a:off x="337757" y="3320225"/>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552F9F05-5D89-4D8E-8924-BF429937537B}"/>
              </a:ext>
            </a:extLst>
          </p:cNvPr>
          <p:cNvSpPr>
            <a:spLocks xmlns:a="http://schemas.openxmlformats.org/drawingml/2006/main" noGrp="1"/>
          </p:cNvSpPr>
          <p:nvPr/>
        </p:nvSpPr>
        <p:spPr>
          <a:xfrm xmlns:a="http://schemas.openxmlformats.org/drawingml/2006/main">
            <a:off x="4251770" y="3320225"/>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1557DAB0-8742-4C56-BA41-2E9EAD11D504}"/>
              </a:ext>
            </a:extLst>
          </p:cNvPr>
          <p:cNvSpPr>
            <a:spLocks xmlns:a="http://schemas.openxmlformats.org/drawingml/2006/main" noGrp="1"/>
          </p:cNvSpPr>
          <p:nvPr/>
        </p:nvSpPr>
        <p:spPr>
          <a:xfrm xmlns:a="http://schemas.openxmlformats.org/drawingml/2006/main">
            <a:off x="8176070" y="3320225"/>
            <a:ext cx="107061" cy="107061"/>
          </a:xfrm>
          <a:prstGeom xmlns:a="http://schemas.openxmlformats.org/drawingml/2006/main" prst="ellipse">
            <a:avLst/>
          </a:prstGeom>
          <a:solidFill xmlns:a="http://schemas.openxmlformats.org/drawingml/2006/main">
            <a:srgbClr val="000000"/>
          </a:solidFill>
        </p:spPr>
      </p:sp>
      <p:sp>
        <p:nvSpPr>
          <p:cNvPr id="7" name="Content-Placeholder-15-8">
            <a:extLst xmlns:a="http://schemas.openxmlformats.org/drawingml/2006/main">
              <a:ext uri="{FF2B5EF4-FFF2-40B4-BE49-F238E27FC236}">
                <a16:creationId xmlns:a16="http://schemas.microsoft.com/office/drawing/2014/main" id="{BC9B4FDC-4663-46A9-A797-224ED57B8B69}"/>
              </a:ext>
            </a:extLst>
          </p:cNvPr>
          <p:cNvSpPr>
            <a:spLocks xmlns:a="http://schemas.openxmlformats.org/drawingml/2006/main" noGrp="1"/>
          </p:cNvSpPr>
          <p:nvPr/>
        </p:nvSpPr>
        <p:spPr>
          <a:xfrm xmlns:a="http://schemas.openxmlformats.org/drawingml/2006/main">
            <a:off x="39366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6000"/>
              </a:lnSpc>
              <a:spcAft>
                <a:spcPts val="320"/>
              </a:spcAft>
              <a:buNone/>
              <a:defRPr sz="1600">
                <a:solidFill>
                  <a:srgbClr val="000000"/>
                </a:solidFill>
                <a:latin typeface="Helvetica Neue"/>
                <a:ea typeface="Helvetica Neue"/>
                <a:cs typeface="Helvetica Neue"/>
              </a:defRPr>
            </a:pPr>
            <a:r>
              <a:rPr sz="1425" b="1">
                <a:solidFill>
                  <a:srgbClr val="000000"/>
                </a:solidFill>
                <a:latin typeface="Helvetica Neue"/>
                <a:ea typeface="Helvetica Neue"/>
                <a:cs typeface="Helvetica Neue"/>
              </a:rPr>
              <a:t>1 • TEXT</a:t>
            </a:r>
          </a:p>
        </p:txBody>
      </p:sp>
      <p:sp>
        <p:nvSpPr>
          <p:cNvPr id="8" name="Content-Placeholder-15-9">
            <a:extLst xmlns:a="http://schemas.openxmlformats.org/drawingml/2006/main">
              <a:ext uri="{FF2B5EF4-FFF2-40B4-BE49-F238E27FC236}">
                <a16:creationId xmlns:a16="http://schemas.microsoft.com/office/drawing/2014/main" id="{B51E7357-3A86-4342-8E58-80010464D331}"/>
              </a:ext>
            </a:extLst>
          </p:cNvPr>
          <p:cNvSpPr>
            <a:spLocks xmlns:a="http://schemas.openxmlformats.org/drawingml/2006/main" noGrp="1"/>
          </p:cNvSpPr>
          <p:nvPr/>
        </p:nvSpPr>
        <p:spPr>
          <a:xfrm xmlns:a="http://schemas.openxmlformats.org/drawingml/2006/main">
            <a:off x="4294156"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6000"/>
              </a:lnSpc>
              <a:spcAft>
                <a:spcPts val="320"/>
              </a:spcAft>
              <a:buNone/>
              <a:defRPr sz="1600">
                <a:solidFill>
                  <a:srgbClr val="000000"/>
                </a:solidFill>
                <a:latin typeface="Helvetica Neue"/>
                <a:ea typeface="Helvetica Neue"/>
                <a:cs typeface="Helvetica Neue"/>
              </a:defRPr>
            </a:pPr>
            <a:r>
              <a:rPr sz="1425" b="1">
                <a:solidFill>
                  <a:srgbClr val="000000"/>
                </a:solidFill>
                <a:latin typeface="Helvetica Neue"/>
                <a:ea typeface="Helvetica Neue"/>
                <a:cs typeface="Helvetica Neue"/>
              </a:rPr>
              <a:t>2 • VISION</a:t>
            </a:r>
          </a:p>
        </p:txBody>
      </p:sp>
      <p:sp>
        <p:nvSpPr>
          <p:cNvPr id="9" name="Content-Placeholder-15-10">
            <a:extLst xmlns:a="http://schemas.openxmlformats.org/drawingml/2006/main">
              <a:ext uri="{FF2B5EF4-FFF2-40B4-BE49-F238E27FC236}">
                <a16:creationId xmlns:a16="http://schemas.microsoft.com/office/drawing/2014/main" id="{9BD4440D-D8A0-470F-97AB-D402A5FEE068}"/>
              </a:ext>
            </a:extLst>
          </p:cNvPr>
          <p:cNvSpPr>
            <a:spLocks xmlns:a="http://schemas.openxmlformats.org/drawingml/2006/main" noGrp="1"/>
          </p:cNvSpPr>
          <p:nvPr/>
        </p:nvSpPr>
        <p:spPr>
          <a:xfrm xmlns:a="http://schemas.openxmlformats.org/drawingml/2006/main">
            <a:off x="822321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6000"/>
              </a:lnSpc>
              <a:spcAft>
                <a:spcPts val="320"/>
              </a:spcAft>
              <a:buNone/>
              <a:defRPr sz="1600">
                <a:solidFill>
                  <a:srgbClr val="000000"/>
                </a:solidFill>
                <a:latin typeface="Helvetica Neue"/>
                <a:ea typeface="Helvetica Neue"/>
                <a:cs typeface="Helvetica Neue"/>
              </a:defRPr>
            </a:pPr>
            <a:r>
              <a:rPr sz="1425" b="1">
                <a:solidFill>
                  <a:srgbClr val="000000"/>
                </a:solidFill>
                <a:latin typeface="Helvetica Neue"/>
                <a:ea typeface="Helvetica Neue"/>
                <a:cs typeface="Helvetica Neue"/>
              </a:rPr>
              <a:t>3 • SYSTEM</a:t>
            </a:r>
          </a:p>
        </p:txBody>
      </p:sp>
      <p:sp>
        <p:nvSpPr>
          <p:cNvPr id="10" name="Text-Placeholder-16-11">
            <a:extLst xmlns:a="http://schemas.openxmlformats.org/drawingml/2006/main">
              <a:ext uri="{FF2B5EF4-FFF2-40B4-BE49-F238E27FC236}">
                <a16:creationId xmlns:a16="http://schemas.microsoft.com/office/drawing/2014/main" id="{E059EF5E-171C-49CA-8561-89A5C196AA8F}"/>
              </a:ext>
            </a:extLst>
          </p:cNvPr>
          <p:cNvSpPr>
            <a:spLocks xmlns:a="http://schemas.openxmlformats.org/drawingml/2006/main" noGrp="1"/>
          </p:cNvSpPr>
          <p:nvPr/>
        </p:nvSpPr>
        <p:spPr>
          <a:xfrm xmlns:a="http://schemas.openxmlformats.org/drawingml/2006/main">
            <a:off x="4317111"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60 VLM generations</a:t>
            </a:r>
          </a:p>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20 public-image proxies × clean, Gaussian noise, and brightness 0.60.</a:t>
            </a:r>
          </a:p>
        </p:txBody>
      </p:sp>
      <p:sp>
        <p:nvSpPr>
          <p:cNvPr id="11" name="Text-Placeholder-16-12">
            <a:extLst xmlns:a="http://schemas.openxmlformats.org/drawingml/2006/main">
              <a:ext uri="{FF2B5EF4-FFF2-40B4-BE49-F238E27FC236}">
                <a16:creationId xmlns:a16="http://schemas.microsoft.com/office/drawing/2014/main" id="{468BCB6C-2997-4A96-997A-E44215E93913}"/>
              </a:ext>
            </a:extLst>
          </p:cNvPr>
          <p:cNvSpPr>
            <a:spLocks xmlns:a="http://schemas.openxmlformats.org/drawingml/2006/main" noGrp="1"/>
          </p:cNvSpPr>
          <p:nvPr/>
        </p:nvSpPr>
        <p:spPr>
          <a:xfrm xmlns:a="http://schemas.openxmlformats.org/drawingml/2006/main">
            <a:off x="39985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546 generations</a:t>
            </a:r>
          </a:p>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35 scenarios × 4 semantic forms × 3 models, plus nested 20/40/60% masking.</a:t>
            </a:r>
          </a:p>
        </p:txBody>
      </p:sp>
      <p:sp>
        <p:nvSpPr>
          <p:cNvPr id="12" name="Text-Placeholder-16-13">
            <a:extLst xmlns:a="http://schemas.openxmlformats.org/drawingml/2006/main">
              <a:ext uri="{FF2B5EF4-FFF2-40B4-BE49-F238E27FC236}">
                <a16:creationId xmlns:a16="http://schemas.microsoft.com/office/drawing/2014/main" id="{4D4DD001-AAE8-47D9-BD1E-38D56F70CB72}"/>
              </a:ext>
            </a:extLst>
          </p:cNvPr>
          <p:cNvSpPr>
            <a:spLocks xmlns:a="http://schemas.openxmlformats.org/drawingml/2006/main" noGrp="1"/>
          </p:cNvSpPr>
          <p:nvPr/>
        </p:nvSpPr>
        <p:spPr>
          <a:xfrm xmlns:a="http://schemas.openxmlformats.org/drawingml/2006/main">
            <a:off x="817787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950" b="1">
                <a:solidFill>
                  <a:srgbClr val="000000"/>
                </a:solidFill>
                <a:latin typeface="Helvetica Neue"/>
                <a:ea typeface="Helvetica Neue"/>
                <a:cs typeface="Helvetica Neue"/>
              </a:rPr>
              <a:t>80 RAG requests</a:t>
            </a:r>
          </a:p>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350" b="0">
                <a:solidFill>
                  <a:srgbClr val="000000"/>
                </a:solidFill>
                <a:latin typeface="Helvetica Neue"/>
                <a:ea typeface="Helvetica Neue"/>
                <a:cs typeface="Helvetica Neue"/>
              </a:rPr>
              <a:t>40 public questions × Base/RAG, with retrieval, TTFT, generation, and resources.</a:t>
            </a:r>
          </a:p>
        </p:txBody>
      </p:sp>
    </p:spTree>
    <p:extLst>
      <p:ext uri="{BB962C8B-B14F-4D97-AF65-F5344CB8AC3E}">
        <p14:creationId xmlns:p14="http://schemas.microsoft.com/office/powerpoint/2010/main" val="168861880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5" name="Google-Shape-532-p58-2">
            <a:extLst xmlns:a="http://schemas.openxmlformats.org/drawingml/2006/main">
              <a:ext uri="{FF2B5EF4-FFF2-40B4-BE49-F238E27FC236}">
                <a16:creationId xmlns:a16="http://schemas.microsoft.com/office/drawing/2014/main" id="{244E6067-B4AF-4C4E-878D-8F6188BBD78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3</a:t>
            </a:r>
          </a:p>
        </p:txBody>
      </p:sp>
      <p:sp>
        <p:nvSpPr>
          <p:cNvPr id="2" name="Google-Shape-533-p58-3">
            <a:extLst xmlns:a="http://schemas.openxmlformats.org/drawingml/2006/main">
              <a:ext uri="{FF2B5EF4-FFF2-40B4-BE49-F238E27FC236}">
                <a16:creationId xmlns:a16="http://schemas.microsoft.com/office/drawing/2014/main" id="{9BC7C60A-B3E1-4F51-9C35-750A3B193B65}"/>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The experiment freezes both meaning and measurement</a:t>
            </a:r>
          </a:p>
        </p:txBody>
      </p:sp>
      <p:sp>
        <p:nvSpPr>
          <p:cNvPr id="3" name="Google-Shape-534-p58-4">
            <a:extLst xmlns:a="http://schemas.openxmlformats.org/drawingml/2006/main">
              <a:ext uri="{FF2B5EF4-FFF2-40B4-BE49-F238E27FC236}">
                <a16:creationId xmlns:a16="http://schemas.microsoft.com/office/drawing/2014/main" id="{22128362-CD41-48D0-A147-1BAAB3D7C0B1}"/>
              </a:ext>
            </a:extLst>
          </p:cNvPr>
          <p:cNvSpPr>
            <a:spLocks xmlns:a="http://schemas.openxmlformats.org/drawingml/2006/main" noGrp="1"/>
          </p:cNvSpPr>
          <p:nvPr/>
        </p:nvSpPr>
        <p:spPr>
          <a:xfrm xmlns:a="http://schemas.openxmlformats.org/drawingml/2006/main">
            <a:off x="393668" y="1722406"/>
            <a:ext cx="5537168" cy="865156"/>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2100" b="1">
                <a:solidFill>
                  <a:srgbClr val="000000"/>
                </a:solidFill>
                <a:latin typeface="Helvetica Neue"/>
                <a:ea typeface="Helvetica Neue"/>
                <a:cs typeface="Helvetica Neue"/>
              </a:rPr>
              <a:t>686 measured candidate requests
One A40 • seed 42 • batch 1</a:t>
            </a:r>
          </a:p>
        </p:txBody>
      </p:sp>
      <p:sp>
        <p:nvSpPr>
          <p:cNvPr id="4" name="Content-Placeholder-10-5">
            <a:extLst xmlns:a="http://schemas.openxmlformats.org/drawingml/2006/main">
              <a:ext uri="{FF2B5EF4-FFF2-40B4-BE49-F238E27FC236}">
                <a16:creationId xmlns:a16="http://schemas.microsoft.com/office/drawing/2014/main" id="{52E91E0C-E748-4012-9DE4-1735EA22A5A1}"/>
              </a:ext>
            </a:extLst>
          </p:cNvPr>
          <p:cNvSpPr>
            <a:spLocks xmlns:a="http://schemas.openxmlformats.org/drawingml/2006/main" noGrp="1"/>
          </p:cNvSpPr>
          <p:nvPr/>
        </p:nvSpPr>
        <p:spPr>
          <a:xfrm xmlns:a="http://schemas.openxmlformats.org/drawingml/2006/main">
            <a:off x="7886700" y="2990279"/>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420 semantic generations</a:t>
            </a:r>
          </a:p>
        </p:txBody>
      </p:sp>
      <p:sp>
        <p:nvSpPr>
          <p:cNvPr id="5" name="Google-Shape-340-p61-6">
            <a:extLst xmlns:a="http://schemas.openxmlformats.org/drawingml/2006/main">
              <a:ext uri="{FF2B5EF4-FFF2-40B4-BE49-F238E27FC236}">
                <a16:creationId xmlns:a16="http://schemas.microsoft.com/office/drawing/2014/main" id="{E8EA45C7-E745-426F-95B4-65F424A64EA6}"/>
              </a:ext>
            </a:extLst>
          </p:cNvPr>
          <p:cNvSpPr>
            <a:spLocks xmlns:a="http://schemas.openxmlformats.org/drawingml/2006/main" noGrp="1"/>
          </p:cNvSpPr>
          <p:nvPr/>
        </p:nvSpPr>
        <p:spPr>
          <a:xfrm xmlns:a="http://schemas.openxmlformats.org/drawingml/2006/main">
            <a:off x="7507700" y="3015139"/>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6" name="TextBox-11-7">
            <a:extLst xmlns:a="http://schemas.openxmlformats.org/drawingml/2006/main">
              <a:ext uri="{FF2B5EF4-FFF2-40B4-BE49-F238E27FC236}">
                <a16:creationId xmlns:a16="http://schemas.microsoft.com/office/drawing/2014/main" id="{89303F15-F0BA-4ED5-9513-85BED5299D29}"/>
              </a:ext>
            </a:extLst>
          </p:cNvPr>
          <p:cNvSpPr>
            <a:spLocks xmlns:a="http://schemas.openxmlformats.org/drawingml/2006/main" noGrp="1"/>
          </p:cNvSpPr>
          <p:nvPr/>
        </p:nvSpPr>
        <p:spPr>
          <a:xfrm xmlns:a="http://schemas.openxmlformats.org/drawingml/2006/main">
            <a:off x="393668" y="2990279"/>
            <a:ext cx="5537168" cy="2884646"/>
          </a:xfrm>
          <a:prstGeom xmlns:a="http://schemas.openxmlformats.org/drawingml/2006/main" prst="rect">
            <a:avLst/>
          </a:prstGeom>
        </p:spPr>
        <p:txBody>
          <a:bodyPr xmlns:a="http://schemas.openxmlformats.org/drawingml/2006/main" wrap="square" lIns="0" tIns="0" rIns="0" bIns="0">
            <a:spAutoFit/>
          </a:bodyPr>
          <a:lstStyle xmlns:a="http://schemas.openxmlformats.org/drawingml/2006/main"/>
          <a:p xmlns:a="http://schemas.openxmlformats.org/drawingml/2006/main">
            <a:pPr algn="l">
              <a:lnSpc>
                <a:spcPct val="106000"/>
              </a:lnSpc>
              <a:spcAft>
                <a:spcPts val="320"/>
              </a:spcAft>
              <a:buNone/>
              <a:defRPr sz="1800">
                <a:solidFill>
                  <a:srgbClr val="000000"/>
                </a:solidFill>
                <a:latin typeface="Helvetica Neue"/>
                <a:ea typeface="Helvetica Neue"/>
                <a:cs typeface="Helvetica Neue"/>
              </a:defRPr>
            </a:pPr>
            <a:r>
              <a:rPr sz="1425" b="0">
                <a:solidFill>
                  <a:srgbClr val="000000"/>
                </a:solidFill>
                <a:latin typeface="Helvetica Neue"/>
                <a:ea typeface="Helvetica Neue"/>
                <a:cs typeface="Helvetica Neue"/>
              </a:rPr>
              <a:t>Quality and performance are collected separately. Candidate latency excludes Judge scoring and model download.</a:t>
            </a:r>
          </a:p>
          <a:p xmlns:a="http://schemas.openxmlformats.org/drawingml/2006/main">
            <a:pPr algn="l">
              <a:lnSpc>
                <a:spcPct val="106000"/>
              </a:lnSpc>
              <a:spcAft>
                <a:spcPts val="320"/>
              </a:spcAft>
              <a:buNone/>
              <a:defRPr sz="1800">
                <a:solidFill>
                  <a:srgbClr val="000000"/>
                </a:solidFill>
                <a:latin typeface="Helvetica Neue"/>
                <a:ea typeface="Helvetica Neue"/>
                <a:cs typeface="Helvetica Neue"/>
              </a:defRPr>
            </a:pPr>
            <a:r>
              <a:rPr sz="1425" b="0">
                <a:solidFill>
                  <a:srgbClr val="000000"/>
                </a:solidFill>
                <a:latin typeface="Helvetica Neue"/>
                <a:ea typeface="Helvetica Neue"/>
                <a:cs typeface="Helvetica Neue"/>
              </a:rPr>
              <a:t>Cold model load is reported separately from warm steady-state requests.</a:t>
            </a:r>
          </a:p>
        </p:txBody>
      </p:sp>
      <p:sp>
        <p:nvSpPr>
          <p:cNvPr id="7" name="Content-Placeholder-10-8">
            <a:extLst xmlns:a="http://schemas.openxmlformats.org/drawingml/2006/main">
              <a:ext uri="{FF2B5EF4-FFF2-40B4-BE49-F238E27FC236}">
                <a16:creationId xmlns:a16="http://schemas.microsoft.com/office/drawing/2014/main" id="{75B3B772-908D-4870-BA73-575CA4EFFD73}"/>
              </a:ext>
            </a:extLst>
          </p:cNvPr>
          <p:cNvSpPr>
            <a:spLocks xmlns:a="http://schemas.openxmlformats.org/drawingml/2006/main" noGrp="1"/>
          </p:cNvSpPr>
          <p:nvPr/>
        </p:nvSpPr>
        <p:spPr>
          <a:xfrm xmlns:a="http://schemas.openxmlformats.org/drawingml/2006/main">
            <a:off x="7886700" y="3599879"/>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126 masked generations</a:t>
            </a:r>
          </a:p>
        </p:txBody>
      </p:sp>
      <p:sp>
        <p:nvSpPr>
          <p:cNvPr id="8" name="Google-Shape-340-p61-9">
            <a:extLst xmlns:a="http://schemas.openxmlformats.org/drawingml/2006/main">
              <a:ext uri="{FF2B5EF4-FFF2-40B4-BE49-F238E27FC236}">
                <a16:creationId xmlns:a16="http://schemas.microsoft.com/office/drawing/2014/main" id="{D47C5E75-5A26-4720-A489-AF596D8DA11A}"/>
              </a:ext>
            </a:extLst>
          </p:cNvPr>
          <p:cNvSpPr>
            <a:spLocks xmlns:a="http://schemas.openxmlformats.org/drawingml/2006/main" noGrp="1"/>
          </p:cNvSpPr>
          <p:nvPr/>
        </p:nvSpPr>
        <p:spPr>
          <a:xfrm xmlns:a="http://schemas.openxmlformats.org/drawingml/2006/main">
            <a:off x="7507700" y="3624739"/>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9" name="Content-Placeholder-10-10">
            <a:extLst xmlns:a="http://schemas.openxmlformats.org/drawingml/2006/main">
              <a:ext uri="{FF2B5EF4-FFF2-40B4-BE49-F238E27FC236}">
                <a16:creationId xmlns:a16="http://schemas.microsoft.com/office/drawing/2014/main" id="{3341889E-97AF-4450-B670-8A3C6C33EB2A}"/>
              </a:ext>
            </a:extLst>
          </p:cNvPr>
          <p:cNvSpPr>
            <a:spLocks xmlns:a="http://schemas.openxmlformats.org/drawingml/2006/main" noGrp="1"/>
          </p:cNvSpPr>
          <p:nvPr/>
        </p:nvSpPr>
        <p:spPr>
          <a:xfrm xmlns:a="http://schemas.openxmlformats.org/drawingml/2006/main">
            <a:off x="7886700" y="4214813"/>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60 controlled VLM generations</a:t>
            </a:r>
          </a:p>
        </p:txBody>
      </p:sp>
      <p:sp>
        <p:nvSpPr>
          <p:cNvPr id="10" name="Google-Shape-340-p61-11">
            <a:extLst xmlns:a="http://schemas.openxmlformats.org/drawingml/2006/main">
              <a:ext uri="{FF2B5EF4-FFF2-40B4-BE49-F238E27FC236}">
                <a16:creationId xmlns:a16="http://schemas.microsoft.com/office/drawing/2014/main" id="{08D3B4A8-3787-45C6-AFCE-06830A8DB070}"/>
              </a:ext>
            </a:extLst>
          </p:cNvPr>
          <p:cNvSpPr>
            <a:spLocks xmlns:a="http://schemas.openxmlformats.org/drawingml/2006/main" noGrp="1"/>
          </p:cNvSpPr>
          <p:nvPr/>
        </p:nvSpPr>
        <p:spPr>
          <a:xfrm xmlns:a="http://schemas.openxmlformats.org/drawingml/2006/main">
            <a:off x="7507700" y="4239578"/>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11" name="Content-Placeholder-10-12">
            <a:extLst xmlns:a="http://schemas.openxmlformats.org/drawingml/2006/main">
              <a:ext uri="{FF2B5EF4-FFF2-40B4-BE49-F238E27FC236}">
                <a16:creationId xmlns:a16="http://schemas.microsoft.com/office/drawing/2014/main" id="{FEEC9975-AF09-493D-8329-326D1F47B35D}"/>
              </a:ext>
            </a:extLst>
          </p:cNvPr>
          <p:cNvSpPr>
            <a:spLocks xmlns:a="http://schemas.openxmlformats.org/drawingml/2006/main" noGrp="1"/>
          </p:cNvSpPr>
          <p:nvPr/>
        </p:nvSpPr>
        <p:spPr>
          <a:xfrm xmlns:a="http://schemas.openxmlformats.org/drawingml/2006/main">
            <a:off x="7886700" y="4824317"/>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80 expanded public RAG requests</a:t>
            </a:r>
          </a:p>
        </p:txBody>
      </p:sp>
      <p:sp>
        <p:nvSpPr>
          <p:cNvPr id="12" name="Google-Shape-340-p61-13">
            <a:extLst xmlns:a="http://schemas.openxmlformats.org/drawingml/2006/main">
              <a:ext uri="{FF2B5EF4-FFF2-40B4-BE49-F238E27FC236}">
                <a16:creationId xmlns:a16="http://schemas.microsoft.com/office/drawing/2014/main" id="{4BFC779C-A3F6-43F6-91B8-AA26CE1B138F}"/>
              </a:ext>
            </a:extLst>
          </p:cNvPr>
          <p:cNvSpPr>
            <a:spLocks xmlns:a="http://schemas.openxmlformats.org/drawingml/2006/main" noGrp="1"/>
          </p:cNvSpPr>
          <p:nvPr/>
        </p:nvSpPr>
        <p:spPr>
          <a:xfrm xmlns:a="http://schemas.openxmlformats.org/drawingml/2006/main">
            <a:off x="7507700" y="4849178"/>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13" name="Content-Placeholder-10-14">
            <a:extLst xmlns:a="http://schemas.openxmlformats.org/drawingml/2006/main">
              <a:ext uri="{FF2B5EF4-FFF2-40B4-BE49-F238E27FC236}">
                <a16:creationId xmlns:a16="http://schemas.microsoft.com/office/drawing/2014/main" id="{1F1E6610-553E-40F7-A4D8-62F35BB95172}"/>
              </a:ext>
            </a:extLst>
          </p:cNvPr>
          <p:cNvSpPr>
            <a:spLocks xmlns:a="http://schemas.openxmlformats.org/drawingml/2006/main" noGrp="1"/>
          </p:cNvSpPr>
          <p:nvPr/>
        </p:nvSpPr>
        <p:spPr>
          <a:xfrm xmlns:a="http://schemas.openxmlformats.org/drawingml/2006/main">
            <a:off x="7886700" y="5446681"/>
            <a:ext cx="3911632" cy="548735"/>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Diagnostic cross-model scoring</a:t>
            </a:r>
          </a:p>
        </p:txBody>
      </p:sp>
      <p:sp>
        <p:nvSpPr>
          <p:cNvPr id="14" name="Google-Shape-340-p61-15">
            <a:extLst xmlns:a="http://schemas.openxmlformats.org/drawingml/2006/main">
              <a:ext uri="{FF2B5EF4-FFF2-40B4-BE49-F238E27FC236}">
                <a16:creationId xmlns:a16="http://schemas.microsoft.com/office/drawing/2014/main" id="{89162403-A1D9-4D0D-BB68-49263D998847}"/>
              </a:ext>
            </a:extLst>
          </p:cNvPr>
          <p:cNvSpPr>
            <a:spLocks xmlns:a="http://schemas.openxmlformats.org/drawingml/2006/main" noGrp="1"/>
          </p:cNvSpPr>
          <p:nvPr/>
        </p:nvSpPr>
        <p:spPr>
          <a:xfrm xmlns:a="http://schemas.openxmlformats.org/drawingml/2006/main">
            <a:off x="7507700" y="5471541"/>
            <a:ext cx="212598" cy="212503"/>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Tree>
    <p:extLst>
      <p:ext uri="{BB962C8B-B14F-4D97-AF65-F5344CB8AC3E}">
        <p14:creationId xmlns:p14="http://schemas.microsoft.com/office/powerpoint/2010/main" val="867902529"/>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0" name="Google-Shape-532-p58-2">
            <a:extLst xmlns:a="http://schemas.openxmlformats.org/drawingml/2006/main">
              <a:ext uri="{FF2B5EF4-FFF2-40B4-BE49-F238E27FC236}">
                <a16:creationId xmlns:a16="http://schemas.microsoft.com/office/drawing/2014/main" id="{8F7A9AE5-A7D9-4A70-AFE0-DDCB8363FF14}"/>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4</a:t>
            </a:r>
          </a:p>
        </p:txBody>
      </p:sp>
      <p:sp>
        <p:nvSpPr>
          <p:cNvPr id="2" name="Google-Shape-533-p58-3">
            <a:extLst xmlns:a="http://schemas.openxmlformats.org/drawingml/2006/main">
              <a:ext uri="{FF2B5EF4-FFF2-40B4-BE49-F238E27FC236}">
                <a16:creationId xmlns:a16="http://schemas.microsoft.com/office/drawing/2014/main" id="{AE0BF829-7BB8-499D-8AED-42586177CF09}"/>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Consistency is not correctness</a:t>
            </a:r>
          </a:p>
        </p:txBody>
      </p:sp>
      <p:sp>
        <p:nvSpPr>
          <p:cNvPr id="3" name="Rounded-Rectangle-6-4">
            <a:extLst xmlns:a="http://schemas.openxmlformats.org/drawingml/2006/main">
              <a:ext uri="{FF2B5EF4-FFF2-40B4-BE49-F238E27FC236}">
                <a16:creationId xmlns:a16="http://schemas.microsoft.com/office/drawing/2014/main" id="{BEEF2998-04D0-46AD-A167-0C49265C94BC}"/>
              </a:ext>
            </a:extLst>
          </p:cNvPr>
          <p:cNvSpPr>
            <a:spLocks xmlns:a="http://schemas.openxmlformats.org/drawingml/2006/main" noGrp="1"/>
          </p:cNvSpPr>
          <p:nvPr/>
        </p:nvSpPr>
        <p:spPr>
          <a:xfrm xmlns:a="http://schemas.openxmlformats.org/drawingml/2006/main">
            <a:off x="6264402" y="2369820"/>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4" name="Content-Placeholder-10-5">
            <a:extLst xmlns:a="http://schemas.openxmlformats.org/drawingml/2006/main">
              <a:ext uri="{FF2B5EF4-FFF2-40B4-BE49-F238E27FC236}">
                <a16:creationId xmlns:a16="http://schemas.microsoft.com/office/drawing/2014/main" id="{C4F8021E-A38A-47E6-856A-B19B4EFA934F}"/>
              </a:ext>
            </a:extLst>
          </p:cNvPr>
          <p:cNvSpPr>
            <a:spLocks xmlns:a="http://schemas.openxmlformats.org/drawingml/2006/main" noGrp="1"/>
          </p:cNvSpPr>
          <p:nvPr/>
        </p:nvSpPr>
        <p:spPr>
          <a:xfrm xmlns:a="http://schemas.openxmlformats.org/drawingml/2006/main">
            <a:off x="6561677" y="2664809"/>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30 pass / 0 fail</a:t>
            </a:r>
          </a:p>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275" b="0">
                <a:solidFill>
                  <a:srgbClr val="000000"/>
                </a:solidFill>
                <a:latin typeface="Helvetica Neue"/>
                <a:ea typeface="Helvetica Neue"/>
                <a:cs typeface="Helvetica Neue"/>
              </a:rPr>
              <a:t>Mistral • 0.857 consistent • 9 flags</a:t>
            </a:r>
          </a:p>
        </p:txBody>
      </p:sp>
      <p:sp>
        <p:nvSpPr>
          <p:cNvPr id="5" name="Rounded-Rectangle-8-6">
            <a:extLst xmlns:a="http://schemas.openxmlformats.org/drawingml/2006/main">
              <a:ext uri="{FF2B5EF4-FFF2-40B4-BE49-F238E27FC236}">
                <a16:creationId xmlns:a16="http://schemas.microsoft.com/office/drawing/2014/main" id="{D550138F-4FB9-4BAE-BE2F-9418FD744D31}"/>
              </a:ext>
            </a:extLst>
          </p:cNvPr>
          <p:cNvSpPr>
            <a:spLocks xmlns:a="http://schemas.openxmlformats.org/drawingml/2006/main" noGrp="1"/>
          </p:cNvSpPr>
          <p:nvPr/>
        </p:nvSpPr>
        <p:spPr>
          <a:xfrm xmlns:a="http://schemas.openxmlformats.org/drawingml/2006/main">
            <a:off x="6264402" y="393668"/>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6" name="Content-Placeholder-10-7">
            <a:extLst xmlns:a="http://schemas.openxmlformats.org/drawingml/2006/main">
              <a:ext uri="{FF2B5EF4-FFF2-40B4-BE49-F238E27FC236}">
                <a16:creationId xmlns:a16="http://schemas.microsoft.com/office/drawing/2014/main" id="{742BC74D-E98A-49EB-B1D5-E462B3683C47}"/>
              </a:ext>
            </a:extLst>
          </p:cNvPr>
          <p:cNvSpPr>
            <a:spLocks xmlns:a="http://schemas.openxmlformats.org/drawingml/2006/main" noGrp="1"/>
          </p:cNvSpPr>
          <p:nvPr/>
        </p:nvSpPr>
        <p:spPr>
          <a:xfrm xmlns:a="http://schemas.openxmlformats.org/drawingml/2006/main">
            <a:off x="6561677" y="688658"/>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7 pass / 25 fail</a:t>
            </a:r>
          </a:p>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275" b="0">
                <a:solidFill>
                  <a:srgbClr val="000000"/>
                </a:solidFill>
                <a:latin typeface="Helvetica Neue"/>
                <a:ea typeface="Helvetica Neue"/>
                <a:cs typeface="Helvetica Neue"/>
              </a:rPr>
              <a:t>FLAN • 0.914 consistent • 5 flags</a:t>
            </a:r>
          </a:p>
        </p:txBody>
      </p:sp>
      <p:sp>
        <p:nvSpPr>
          <p:cNvPr id="7" name="Rounded-Rectangle-1-8">
            <a:extLst xmlns:a="http://schemas.openxmlformats.org/drawingml/2006/main">
              <a:ext uri="{FF2B5EF4-FFF2-40B4-BE49-F238E27FC236}">
                <a16:creationId xmlns:a16="http://schemas.microsoft.com/office/drawing/2014/main" id="{C8D1B517-9CE3-466F-BC25-B07F361D4371}"/>
              </a:ext>
            </a:extLst>
          </p:cNvPr>
          <p:cNvSpPr>
            <a:spLocks xmlns:a="http://schemas.openxmlformats.org/drawingml/2006/main" noGrp="1"/>
          </p:cNvSpPr>
          <p:nvPr/>
        </p:nvSpPr>
        <p:spPr>
          <a:xfrm xmlns:a="http://schemas.openxmlformats.org/drawingml/2006/main">
            <a:off x="6264402" y="4381500"/>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8" name="Content-Placeholder-10-9">
            <a:extLst xmlns:a="http://schemas.openxmlformats.org/drawingml/2006/main">
              <a:ext uri="{FF2B5EF4-FFF2-40B4-BE49-F238E27FC236}">
                <a16:creationId xmlns:a16="http://schemas.microsoft.com/office/drawing/2014/main" id="{F648D7A9-9035-4162-A71C-7243AF28CFCB}"/>
              </a:ext>
            </a:extLst>
          </p:cNvPr>
          <p:cNvSpPr>
            <a:spLocks xmlns:a="http://schemas.openxmlformats.org/drawingml/2006/main" noGrp="1"/>
          </p:cNvSpPr>
          <p:nvPr/>
        </p:nvSpPr>
        <p:spPr>
          <a:xfrm xmlns:a="http://schemas.openxmlformats.org/drawingml/2006/main">
            <a:off x="6561677" y="4676489"/>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875" b="1">
                <a:solidFill>
                  <a:srgbClr val="000000"/>
                </a:solidFill>
                <a:latin typeface="Helvetica Neue"/>
                <a:ea typeface="Helvetica Neue"/>
                <a:cs typeface="Helvetica Neue"/>
              </a:rPr>
              <a:t>26 pass / 4 fail</a:t>
            </a:r>
          </a:p>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275" b="0">
                <a:solidFill>
                  <a:srgbClr val="000000"/>
                </a:solidFill>
                <a:latin typeface="Helvetica Neue"/>
                <a:ea typeface="Helvetica Neue"/>
                <a:cs typeface="Helvetica Neue"/>
              </a:rPr>
              <a:t>Llama • 0.857 consistent • 12 flags</a:t>
            </a:r>
          </a:p>
        </p:txBody>
      </p:sp>
      <p:graphicFrame>
        <p:nvGraphicFramePr>
          <p:cNvPr id="18" name="Chart"/>
          <p:cNvGraphicFramePr/>
          <p:nvPr/>
        </p:nvGraphicFramePr>
        <p:xfrm>
          <a:off xmlns:a="http://schemas.openxmlformats.org/drawingml/2006/main" x="408718" y="1054132"/>
          <a:ext xmlns:a="http://schemas.openxmlformats.org/drawingml/2006/main" cx="5124164" cy="5452015"/>
        </p:xfrm>
        <a:graphic xmlns:a="http://schemas.openxmlformats.org/drawingml/2006/main">
          <a:graphicData uri="http://schemas.openxmlformats.org/drawingml/2006/chart">
            <c:chart xmlns:r="http://schemas.openxmlformats.org/officeDocument/2006/relationships" xmlns:c="http://schemas.openxmlformats.org/drawingml/2006/chart" r:id="R40a21f41b3e54648"/>
          </a:graphicData>
        </a:graphic>
      </p:graphicFrame>
    </p:spTree>
    <p:extLst>
      <p:ext uri="{BB962C8B-B14F-4D97-AF65-F5344CB8AC3E}">
        <p14:creationId xmlns:p14="http://schemas.microsoft.com/office/powerpoint/2010/main" val="25235140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1" name="Slide-Number-Placeholder-3-2">
            <a:extLst xmlns:a="http://schemas.openxmlformats.org/drawingml/2006/main">
              <a:ext uri="{FF2B5EF4-FFF2-40B4-BE49-F238E27FC236}">
                <a16:creationId xmlns:a16="http://schemas.microsoft.com/office/drawing/2014/main" id="{34686C28-06ED-4AA7-9E8F-6089FBF8433F}"/>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5</a:t>
            </a:r>
          </a:p>
        </p:txBody>
      </p:sp>
      <p:sp>
        <p:nvSpPr>
          <p:cNvPr id="2" name="Title-10-3">
            <a:extLst xmlns:a="http://schemas.openxmlformats.org/drawingml/2006/main">
              <a:ext uri="{FF2B5EF4-FFF2-40B4-BE49-F238E27FC236}">
                <a16:creationId xmlns:a16="http://schemas.microsoft.com/office/drawing/2014/main" id="{4EEA4D71-B968-428B-8518-ACFD9AD70BD8}"/>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Missing evidence produces model-specific degradation curves</a:t>
            </a:r>
          </a:p>
        </p:txBody>
      </p:sp>
      <p:sp>
        <p:nvSpPr>
          <p:cNvPr id="3" name="Rounded-Rectangle-36-4">
            <a:extLst xmlns:a="http://schemas.openxmlformats.org/drawingml/2006/main">
              <a:ext uri="{FF2B5EF4-FFF2-40B4-BE49-F238E27FC236}">
                <a16:creationId xmlns:a16="http://schemas.microsoft.com/office/drawing/2014/main" id="{B3D0E200-130B-441F-92EC-3C817A9F7DAB}"/>
              </a:ext>
            </a:extLst>
          </p:cNvPr>
          <p:cNvSpPr>
            <a:spLocks xmlns:a="http://schemas.openxmlformats.org/drawingml/2006/main" noGrp="1"/>
          </p:cNvSpPr>
          <p:nvPr/>
        </p:nvSpPr>
        <p:spPr>
          <a:xfrm xmlns:a="http://schemas.openxmlformats.org/drawingml/2006/main">
            <a:off x="6272022" y="3360039"/>
            <a:ext cx="2581942" cy="2656523"/>
          </a:xfrm>
          <a:prstGeom xmlns:a="http://schemas.openxmlformats.org/drawingml/2006/main" prst="roundRect">
            <a:avLst>
              <a:gd name="adj" fmla="val 2951"/>
            </a:avLst>
          </a:prstGeom>
          <a:solidFill xmlns:a="http://schemas.openxmlformats.org/drawingml/2006/main">
            <a:srgbClr val="F2F2F2"/>
          </a:solidFill>
        </p:spPr>
      </p:sp>
      <p:sp>
        <p:nvSpPr>
          <p:cNvPr id="4" name="Content-Placeholder-9-5">
            <a:extLst xmlns:a="http://schemas.openxmlformats.org/drawingml/2006/main">
              <a:ext uri="{FF2B5EF4-FFF2-40B4-BE49-F238E27FC236}">
                <a16:creationId xmlns:a16="http://schemas.microsoft.com/office/drawing/2014/main" id="{75E4EB99-66A1-4B19-B14F-E65723BE12EE}"/>
              </a:ext>
            </a:extLst>
          </p:cNvPr>
          <p:cNvSpPr>
            <a:spLocks xmlns:a="http://schemas.openxmlformats.org/drawingml/2006/main" noGrp="1"/>
          </p:cNvSpPr>
          <p:nvPr/>
        </p:nvSpPr>
        <p:spPr>
          <a:xfrm xmlns:a="http://schemas.openxmlformats.org/drawingml/2006/main">
            <a:off x="6509385" y="3579971"/>
            <a:ext cx="2133314" cy="1155859"/>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2000"/>
              </a:lnSpc>
              <a:buNone/>
              <a:defRPr sz="2400">
                <a:solidFill>
                  <a:srgbClr val="000000"/>
                </a:solidFill>
                <a:latin typeface="Helvetica Neue"/>
                <a:ea typeface="Helvetica Neue"/>
                <a:cs typeface="Helvetica Neue"/>
              </a:defRPr>
            </a:pPr>
            <a:r>
              <a:rPr sz="2400" b="1">
                <a:solidFill>
                  <a:srgbClr val="000000"/>
                </a:solidFill>
                <a:latin typeface="Helvetica Neue"/>
                <a:ea typeface="Helvetica Neue"/>
                <a:cs typeface="Helvetica Neue"/>
              </a:rPr>
              <a:t>0.286</a:t>
            </a:r>
            <a:r>
              <a:rPr sz="1200">
                <a:solidFill>
                  <a:srgbClr val="000000"/>
                </a:solidFill>
                <a:latin typeface="Helvetica Neue"/>
                <a:ea typeface="Helvetica Neue"/>
                <a:cs typeface="Helvetica Neue"/>
              </a:rPr>
              <a:t>
Llama drop at 60% mask</a:t>
            </a:r>
          </a:p>
        </p:txBody>
      </p:sp>
      <p:sp>
        <p:nvSpPr>
          <p:cNvPr id="5" name="Content-Placeholder-15-6">
            <a:extLst xmlns:a="http://schemas.openxmlformats.org/drawingml/2006/main">
              <a:ext uri="{FF2B5EF4-FFF2-40B4-BE49-F238E27FC236}">
                <a16:creationId xmlns:a16="http://schemas.microsoft.com/office/drawing/2014/main" id="{F7A00934-F226-4903-A894-7E54683DD17C}"/>
              </a:ext>
            </a:extLst>
          </p:cNvPr>
          <p:cNvSpPr>
            <a:spLocks xmlns:a="http://schemas.openxmlformats.org/drawingml/2006/main" noGrp="1"/>
          </p:cNvSpPr>
          <p:nvPr/>
        </p:nvSpPr>
        <p:spPr>
          <a:xfrm xmlns:a="http://schemas.openxmlformats.org/drawingml/2006/main">
            <a:off x="6575965" y="5068253"/>
            <a:ext cx="2066735" cy="61598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275" b="1">
                <a:solidFill>
                  <a:srgbClr val="000000"/>
                </a:solidFill>
                <a:latin typeface="Helvetica Neue"/>
                <a:ea typeface="Helvetica Neue"/>
                <a:cs typeface="Helvetica Neue"/>
              </a:rPr>
              <a:t>0 severity-5 failures</a:t>
            </a:r>
          </a:p>
        </p:txBody>
      </p:sp>
      <p:sp>
        <p:nvSpPr>
          <p:cNvPr id="6" name="Rounded-Rectangle-39-7">
            <a:extLst xmlns:a="http://schemas.openxmlformats.org/drawingml/2006/main">
              <a:ext uri="{FF2B5EF4-FFF2-40B4-BE49-F238E27FC236}">
                <a16:creationId xmlns:a16="http://schemas.microsoft.com/office/drawing/2014/main" id="{18EF7EE5-5C7B-417A-939C-3D16ECE0B903}"/>
              </a:ext>
            </a:extLst>
          </p:cNvPr>
          <p:cNvSpPr>
            <a:spLocks xmlns:a="http://schemas.openxmlformats.org/drawingml/2006/main" noGrp="1"/>
          </p:cNvSpPr>
          <p:nvPr/>
        </p:nvSpPr>
        <p:spPr>
          <a:xfrm xmlns:a="http://schemas.openxmlformats.org/drawingml/2006/main">
            <a:off x="9224201" y="3360039"/>
            <a:ext cx="2581942" cy="2656523"/>
          </a:xfrm>
          <a:prstGeom xmlns:a="http://schemas.openxmlformats.org/drawingml/2006/main" prst="roundRect">
            <a:avLst>
              <a:gd name="adj" fmla="val 2951"/>
            </a:avLst>
          </a:prstGeom>
          <a:solidFill xmlns:a="http://schemas.openxmlformats.org/drawingml/2006/main">
            <a:srgbClr val="F2F2F2"/>
          </a:solidFill>
        </p:spPr>
      </p:sp>
      <p:sp>
        <p:nvSpPr>
          <p:cNvPr id="7" name="Content-Placeholder-9-8">
            <a:extLst xmlns:a="http://schemas.openxmlformats.org/drawingml/2006/main">
              <a:ext uri="{FF2B5EF4-FFF2-40B4-BE49-F238E27FC236}">
                <a16:creationId xmlns:a16="http://schemas.microsoft.com/office/drawing/2014/main" id="{131BA016-6F1C-4405-B665-0C87A024FCC3}"/>
              </a:ext>
            </a:extLst>
          </p:cNvPr>
          <p:cNvSpPr>
            <a:spLocks xmlns:a="http://schemas.openxmlformats.org/drawingml/2006/main" noGrp="1"/>
          </p:cNvSpPr>
          <p:nvPr/>
        </p:nvSpPr>
        <p:spPr>
          <a:xfrm xmlns:a="http://schemas.openxmlformats.org/drawingml/2006/main">
            <a:off x="9461564" y="3579971"/>
            <a:ext cx="2133314" cy="1155859"/>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lnSpc>
                <a:spcPct val="102000"/>
              </a:lnSpc>
              <a:buNone/>
              <a:defRPr sz="2400">
                <a:solidFill>
                  <a:srgbClr val="000000"/>
                </a:solidFill>
                <a:latin typeface="Helvetica Neue"/>
                <a:ea typeface="Helvetica Neue"/>
                <a:cs typeface="Helvetica Neue"/>
              </a:defRPr>
            </a:pPr>
            <a:r>
              <a:rPr sz="2400" b="1">
                <a:solidFill>
                  <a:srgbClr val="000000"/>
                </a:solidFill>
                <a:latin typeface="Helvetica Neue"/>
                <a:ea typeface="Helvetica Neue"/>
                <a:cs typeface="Helvetica Neue"/>
              </a:rPr>
              <a:t>0.000</a:t>
            </a:r>
            <a:r>
              <a:rPr sz="1200">
                <a:solidFill>
                  <a:srgbClr val="000000"/>
                </a:solidFill>
                <a:latin typeface="Helvetica Neue"/>
                <a:ea typeface="Helvetica Neue"/>
                <a:cs typeface="Helvetica Neue"/>
              </a:rPr>
              <a:t>
Mistral drop at 60% mask</a:t>
            </a:r>
          </a:p>
        </p:txBody>
      </p:sp>
      <p:sp>
        <p:nvSpPr>
          <p:cNvPr id="8" name="Content-Placeholder-15-9">
            <a:extLst xmlns:a="http://schemas.openxmlformats.org/drawingml/2006/main">
              <a:ext uri="{FF2B5EF4-FFF2-40B4-BE49-F238E27FC236}">
                <a16:creationId xmlns:a16="http://schemas.microsoft.com/office/drawing/2014/main" id="{E2385A0E-C5F2-4F1A-89C6-90C193E85F12}"/>
              </a:ext>
            </a:extLst>
          </p:cNvPr>
          <p:cNvSpPr>
            <a:spLocks xmlns:a="http://schemas.openxmlformats.org/drawingml/2006/main" noGrp="1"/>
          </p:cNvSpPr>
          <p:nvPr/>
        </p:nvSpPr>
        <p:spPr>
          <a:xfrm xmlns:a="http://schemas.openxmlformats.org/drawingml/2006/main">
            <a:off x="9528143" y="5068253"/>
            <a:ext cx="2066735" cy="61598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275" b="1">
                <a:solidFill>
                  <a:srgbClr val="000000"/>
                </a:solidFill>
                <a:latin typeface="Helvetica Neue"/>
                <a:ea typeface="Helvetica Neue"/>
                <a:cs typeface="Helvetica Neue"/>
              </a:rPr>
              <a:t>0 severity-5 failures</a:t>
            </a:r>
          </a:p>
        </p:txBody>
      </p:sp>
      <p:sp>
        <p:nvSpPr>
          <p:cNvPr id="9" name="Content-Placeholder-2-10">
            <a:extLst xmlns:a="http://schemas.openxmlformats.org/drawingml/2006/main">
              <a:ext uri="{FF2B5EF4-FFF2-40B4-BE49-F238E27FC236}">
                <a16:creationId xmlns:a16="http://schemas.microsoft.com/office/drawing/2014/main" id="{924EA5C1-F09B-405A-8B8F-49F7E49D0C94}"/>
              </a:ext>
            </a:extLst>
          </p:cNvPr>
          <p:cNvSpPr>
            <a:spLocks xmlns:a="http://schemas.openxmlformats.org/drawingml/2006/main" noGrp="1"/>
          </p:cNvSpPr>
          <p:nvPr/>
        </p:nvSpPr>
        <p:spPr>
          <a:xfrm xmlns:a="http://schemas.openxmlformats.org/drawingml/2006/main">
            <a:off x="6261068" y="1955578"/>
            <a:ext cx="5539835" cy="99060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Task Accuracy / 5
Nested evidence masks</a:t>
            </a:r>
          </a:p>
        </p:txBody>
      </p:sp>
      <p:graphicFrame>
        <p:nvGraphicFramePr>
          <p:cNvPr id="20" name="Chart"/>
          <p:cNvGraphicFramePr/>
          <p:nvPr/>
        </p:nvGraphicFramePr>
        <p:xfrm>
          <a:off xmlns:a="http://schemas.openxmlformats.org/drawingml/2006/main" x="385858" y="1254728"/>
          <a:ext xmlns:a="http://schemas.openxmlformats.org/drawingml/2006/main" cx="5534216" cy="5024533"/>
        </p:xfrm>
        <a:graphic xmlns:a="http://schemas.openxmlformats.org/drawingml/2006/main">
          <a:graphicData uri="http://schemas.openxmlformats.org/drawingml/2006/chart">
            <c:chart xmlns:r="http://schemas.openxmlformats.org/officeDocument/2006/relationships" xmlns:c="http://schemas.openxmlformats.org/drawingml/2006/chart" r:id="Rea21f33419954c6b"/>
          </a:graphicData>
        </a:graphic>
      </p:graphicFrame>
    </p:spTree>
    <p:extLst>
      <p:ext uri="{BB962C8B-B14F-4D97-AF65-F5344CB8AC3E}">
        <p14:creationId xmlns:p14="http://schemas.microsoft.com/office/powerpoint/2010/main" val="190237839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0" name="Google-Shape-532-p58-2">
            <a:extLst xmlns:a="http://schemas.openxmlformats.org/drawingml/2006/main">
              <a:ext uri="{FF2B5EF4-FFF2-40B4-BE49-F238E27FC236}">
                <a16:creationId xmlns:a16="http://schemas.microsoft.com/office/drawing/2014/main" id="{4F77A039-667A-44B6-A510-126F9DB7D266}"/>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6</a:t>
            </a:r>
          </a:p>
        </p:txBody>
      </p:sp>
      <p:sp>
        <p:nvSpPr>
          <p:cNvPr id="2" name="Google-Shape-533-p58-3">
            <a:extLst xmlns:a="http://schemas.openxmlformats.org/drawingml/2006/main">
              <a:ext uri="{FF2B5EF4-FFF2-40B4-BE49-F238E27FC236}">
                <a16:creationId xmlns:a16="http://schemas.microsoft.com/office/drawing/2014/main" id="{00A6A9D2-9C9B-411F-AD77-137CD72A23C5}"/>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Controlled VLM sensitivity</a:t>
            </a:r>
          </a:p>
        </p:txBody>
      </p:sp>
      <p:sp>
        <p:nvSpPr>
          <p:cNvPr id="3" name="Rounded-Rectangle-6-4">
            <a:extLst xmlns:a="http://schemas.openxmlformats.org/drawingml/2006/main">
              <a:ext uri="{FF2B5EF4-FFF2-40B4-BE49-F238E27FC236}">
                <a16:creationId xmlns:a16="http://schemas.microsoft.com/office/drawing/2014/main" id="{E8782288-11EF-4A44-8773-24FB9E8965C9}"/>
              </a:ext>
            </a:extLst>
          </p:cNvPr>
          <p:cNvSpPr>
            <a:spLocks xmlns:a="http://schemas.openxmlformats.org/drawingml/2006/main" noGrp="1"/>
          </p:cNvSpPr>
          <p:nvPr/>
        </p:nvSpPr>
        <p:spPr>
          <a:xfrm xmlns:a="http://schemas.openxmlformats.org/drawingml/2006/main">
            <a:off x="6264402" y="2369820"/>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4" name="Content-Placeholder-10-5">
            <a:extLst xmlns:a="http://schemas.openxmlformats.org/drawingml/2006/main">
              <a:ext uri="{FF2B5EF4-FFF2-40B4-BE49-F238E27FC236}">
                <a16:creationId xmlns:a16="http://schemas.microsoft.com/office/drawing/2014/main" id="{DA200DB4-BD4A-4383-AF7F-8B7276D4A58C}"/>
              </a:ext>
            </a:extLst>
          </p:cNvPr>
          <p:cNvSpPr>
            <a:spLocks xmlns:a="http://schemas.openxmlformats.org/drawingml/2006/main" noGrp="1"/>
          </p:cNvSpPr>
          <p:nvPr/>
        </p:nvSpPr>
        <p:spPr>
          <a:xfrm xmlns:a="http://schemas.openxmlformats.org/drawingml/2006/main">
            <a:off x="6561677" y="2664809"/>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0.100 drop</a:t>
            </a:r>
          </a:p>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275" b="0">
                <a:solidFill>
                  <a:srgbClr val="000000"/>
                </a:solidFill>
                <a:latin typeface="Helvetica Neue"/>
                <a:ea typeface="Helvetica Neue"/>
                <a:cs typeface="Helvetica Neue"/>
              </a:rPr>
              <a:t>Noise • 0.950 decision consistency</a:t>
            </a:r>
          </a:p>
        </p:txBody>
      </p:sp>
      <p:sp>
        <p:nvSpPr>
          <p:cNvPr id="5" name="Rounded-Rectangle-8-6">
            <a:extLst xmlns:a="http://schemas.openxmlformats.org/drawingml/2006/main">
              <a:ext uri="{FF2B5EF4-FFF2-40B4-BE49-F238E27FC236}">
                <a16:creationId xmlns:a16="http://schemas.microsoft.com/office/drawing/2014/main" id="{A31C1F55-5946-4899-BA75-D9C022EB222E}"/>
              </a:ext>
            </a:extLst>
          </p:cNvPr>
          <p:cNvSpPr>
            <a:spLocks xmlns:a="http://schemas.openxmlformats.org/drawingml/2006/main" noGrp="1"/>
          </p:cNvSpPr>
          <p:nvPr/>
        </p:nvSpPr>
        <p:spPr>
          <a:xfrm xmlns:a="http://schemas.openxmlformats.org/drawingml/2006/main">
            <a:off x="6264402" y="393668"/>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6" name="Content-Placeholder-10-7">
            <a:extLst xmlns:a="http://schemas.openxmlformats.org/drawingml/2006/main">
              <a:ext uri="{FF2B5EF4-FFF2-40B4-BE49-F238E27FC236}">
                <a16:creationId xmlns:a16="http://schemas.microsoft.com/office/drawing/2014/main" id="{5D0EAA42-B8FD-4B9E-8656-603D12601FF7}"/>
              </a:ext>
            </a:extLst>
          </p:cNvPr>
          <p:cNvSpPr>
            <a:spLocks xmlns:a="http://schemas.openxmlformats.org/drawingml/2006/main" noGrp="1"/>
          </p:cNvSpPr>
          <p:nvPr/>
        </p:nvSpPr>
        <p:spPr>
          <a:xfrm xmlns:a="http://schemas.openxmlformats.org/drawingml/2006/main">
            <a:off x="6561677" y="688658"/>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4.900 / 5</a:t>
            </a:r>
          </a:p>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275" b="0">
                <a:solidFill>
                  <a:srgbClr val="000000"/>
                </a:solidFill>
                <a:latin typeface="Helvetica Neue"/>
                <a:ea typeface="Helvetica Neue"/>
                <a:cs typeface="Helvetica Neue"/>
              </a:rPr>
              <a:t>Clean • 0.950 acceptable • 0.000 forbidden</a:t>
            </a:r>
          </a:p>
        </p:txBody>
      </p:sp>
      <p:sp>
        <p:nvSpPr>
          <p:cNvPr id="7" name="Rounded-Rectangle-1-8">
            <a:extLst xmlns:a="http://schemas.openxmlformats.org/drawingml/2006/main">
              <a:ext uri="{FF2B5EF4-FFF2-40B4-BE49-F238E27FC236}">
                <a16:creationId xmlns:a16="http://schemas.microsoft.com/office/drawing/2014/main" id="{0C28F12C-2CF0-4AEB-B282-8ED3B35DF750}"/>
              </a:ext>
            </a:extLst>
          </p:cNvPr>
          <p:cNvSpPr>
            <a:spLocks xmlns:a="http://schemas.openxmlformats.org/drawingml/2006/main" noGrp="1"/>
          </p:cNvSpPr>
          <p:nvPr/>
        </p:nvSpPr>
        <p:spPr>
          <a:xfrm xmlns:a="http://schemas.openxmlformats.org/drawingml/2006/main">
            <a:off x="6264402" y="4381500"/>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8" name="Content-Placeholder-10-9">
            <a:extLst xmlns:a="http://schemas.openxmlformats.org/drawingml/2006/main">
              <a:ext uri="{FF2B5EF4-FFF2-40B4-BE49-F238E27FC236}">
                <a16:creationId xmlns:a16="http://schemas.microsoft.com/office/drawing/2014/main" id="{D700D3DE-EC3B-4192-B40A-37C48EE0E0F4}"/>
              </a:ext>
            </a:extLst>
          </p:cNvPr>
          <p:cNvSpPr>
            <a:spLocks xmlns:a="http://schemas.openxmlformats.org/drawingml/2006/main" noGrp="1"/>
          </p:cNvSpPr>
          <p:nvPr/>
        </p:nvSpPr>
        <p:spPr>
          <a:xfrm xmlns:a="http://schemas.openxmlformats.org/drawingml/2006/main">
            <a:off x="6561677" y="4676489"/>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0.150 drop</a:t>
            </a:r>
          </a:p>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275" b="0">
                <a:solidFill>
                  <a:srgbClr val="000000"/>
                </a:solidFill>
                <a:latin typeface="Helvetica Neue"/>
                <a:ea typeface="Helvetica Neue"/>
                <a:cs typeface="Helvetica Neue"/>
              </a:rPr>
              <a:t>Brightness • 0.950 decision consistency</a:t>
            </a:r>
          </a:p>
        </p:txBody>
      </p:sp>
      <p:graphicFrame>
        <p:nvGraphicFramePr>
          <p:cNvPr id="18" name="Chart"/>
          <p:cNvGraphicFramePr/>
          <p:nvPr/>
        </p:nvGraphicFramePr>
        <p:xfrm>
          <a:off xmlns:a="http://schemas.openxmlformats.org/drawingml/2006/main" x="408718" y="1054132"/>
          <a:ext xmlns:a="http://schemas.openxmlformats.org/drawingml/2006/main" cx="5124164" cy="5452015"/>
        </p:xfrm>
        <a:graphic xmlns:a="http://schemas.openxmlformats.org/drawingml/2006/main">
          <a:graphicData uri="http://schemas.openxmlformats.org/drawingml/2006/chart">
            <c:chart xmlns:r="http://schemas.openxmlformats.org/officeDocument/2006/relationships" xmlns:c="http://schemas.openxmlformats.org/drawingml/2006/chart" r:id="R9fcd211d3cad4eee"/>
          </a:graphicData>
        </a:graphic>
      </p:graphicFrame>
    </p:spTree>
    <p:extLst>
      <p:ext uri="{BB962C8B-B14F-4D97-AF65-F5344CB8AC3E}">
        <p14:creationId xmlns:p14="http://schemas.microsoft.com/office/powerpoint/2010/main" val="190651625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0" name="Google-Shape-532-p58-2">
            <a:extLst xmlns:a="http://schemas.openxmlformats.org/drawingml/2006/main">
              <a:ext uri="{FF2B5EF4-FFF2-40B4-BE49-F238E27FC236}">
                <a16:creationId xmlns:a16="http://schemas.microsoft.com/office/drawing/2014/main" id="{85C034B7-AC6E-43DC-B657-CCEBE9F85E4B}"/>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7</a:t>
            </a:r>
          </a:p>
        </p:txBody>
      </p:sp>
      <p:sp>
        <p:nvSpPr>
          <p:cNvPr id="2" name="Google-Shape-533-p58-3">
            <a:extLst xmlns:a="http://schemas.openxmlformats.org/drawingml/2006/main">
              <a:ext uri="{FF2B5EF4-FFF2-40B4-BE49-F238E27FC236}">
                <a16:creationId xmlns:a16="http://schemas.microsoft.com/office/drawing/2014/main" id="{5CDA2FE8-3C20-45DA-BE5C-864A89FA8EAA}"/>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Latency and GPU cost</a:t>
            </a:r>
          </a:p>
        </p:txBody>
      </p:sp>
      <p:sp>
        <p:nvSpPr>
          <p:cNvPr id="3" name="Rounded-Rectangle-6-4">
            <a:extLst xmlns:a="http://schemas.openxmlformats.org/drawingml/2006/main">
              <a:ext uri="{FF2B5EF4-FFF2-40B4-BE49-F238E27FC236}">
                <a16:creationId xmlns:a16="http://schemas.microsoft.com/office/drawing/2014/main" id="{9081143B-4486-4CF1-B9D2-CBD7A62453C1}"/>
              </a:ext>
            </a:extLst>
          </p:cNvPr>
          <p:cNvSpPr>
            <a:spLocks xmlns:a="http://schemas.openxmlformats.org/drawingml/2006/main" noGrp="1"/>
          </p:cNvSpPr>
          <p:nvPr/>
        </p:nvSpPr>
        <p:spPr>
          <a:xfrm xmlns:a="http://schemas.openxmlformats.org/drawingml/2006/main">
            <a:off x="6264402" y="2369820"/>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4" name="Content-Placeholder-10-5">
            <a:extLst xmlns:a="http://schemas.openxmlformats.org/drawingml/2006/main">
              <a:ext uri="{FF2B5EF4-FFF2-40B4-BE49-F238E27FC236}">
                <a16:creationId xmlns:a16="http://schemas.microsoft.com/office/drawing/2014/main" id="{2D1E2B91-2D63-489A-AC76-A2A5B6003527}"/>
              </a:ext>
            </a:extLst>
          </p:cNvPr>
          <p:cNvSpPr>
            <a:spLocks xmlns:a="http://schemas.openxmlformats.org/drawingml/2006/main" noGrp="1"/>
          </p:cNvSpPr>
          <p:nvPr/>
        </p:nvSpPr>
        <p:spPr>
          <a:xfrm xmlns:a="http://schemas.openxmlformats.org/drawingml/2006/main">
            <a:off x="6561677" y="2664809"/>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8.40 s</a:t>
            </a:r>
          </a:p>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275" b="0">
                <a:solidFill>
                  <a:srgbClr val="000000"/>
                </a:solidFill>
                <a:latin typeface="Helvetica Neue"/>
                <a:ea typeface="Helvetica Neue"/>
                <a:cs typeface="Helvetica Neue"/>
              </a:rPr>
              <a:t>RAG end-to-end p50 across 40 warm requests</a:t>
            </a:r>
          </a:p>
        </p:txBody>
      </p:sp>
      <p:sp>
        <p:nvSpPr>
          <p:cNvPr id="5" name="Rounded-Rectangle-8-6">
            <a:extLst xmlns:a="http://schemas.openxmlformats.org/drawingml/2006/main">
              <a:ext uri="{FF2B5EF4-FFF2-40B4-BE49-F238E27FC236}">
                <a16:creationId xmlns:a16="http://schemas.microsoft.com/office/drawing/2014/main" id="{76B29249-4A84-4B48-860E-11F93C3A6908}"/>
              </a:ext>
            </a:extLst>
          </p:cNvPr>
          <p:cNvSpPr>
            <a:spLocks xmlns:a="http://schemas.openxmlformats.org/drawingml/2006/main" noGrp="1"/>
          </p:cNvSpPr>
          <p:nvPr/>
        </p:nvSpPr>
        <p:spPr>
          <a:xfrm xmlns:a="http://schemas.openxmlformats.org/drawingml/2006/main">
            <a:off x="6264402" y="393668"/>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6" name="Content-Placeholder-10-7">
            <a:extLst xmlns:a="http://schemas.openxmlformats.org/drawingml/2006/main">
              <a:ext uri="{FF2B5EF4-FFF2-40B4-BE49-F238E27FC236}">
                <a16:creationId xmlns:a16="http://schemas.microsoft.com/office/drawing/2014/main" id="{F0F8347D-D645-4D73-A532-F6265C5BC201}"/>
              </a:ext>
            </a:extLst>
          </p:cNvPr>
          <p:cNvSpPr>
            <a:spLocks xmlns:a="http://schemas.openxmlformats.org/drawingml/2006/main" noGrp="1"/>
          </p:cNvSpPr>
          <p:nvPr/>
        </p:nvSpPr>
        <p:spPr>
          <a:xfrm xmlns:a="http://schemas.openxmlformats.org/drawingml/2006/main">
            <a:off x="6561677" y="688658"/>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408.9 ms</a:t>
            </a:r>
          </a:p>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275" b="0">
                <a:solidFill>
                  <a:srgbClr val="000000"/>
                </a:solidFill>
                <a:latin typeface="Helvetica Neue"/>
                <a:ea typeface="Helvetica Neue"/>
                <a:cs typeface="Helvetica Neue"/>
              </a:rPr>
              <a:t>RAG retrieval p50, reported separately from Llama generation</a:t>
            </a:r>
          </a:p>
        </p:txBody>
      </p:sp>
      <p:sp>
        <p:nvSpPr>
          <p:cNvPr id="7" name="Rounded-Rectangle-1-8">
            <a:extLst xmlns:a="http://schemas.openxmlformats.org/drawingml/2006/main">
              <a:ext uri="{FF2B5EF4-FFF2-40B4-BE49-F238E27FC236}">
                <a16:creationId xmlns:a16="http://schemas.microsoft.com/office/drawing/2014/main" id="{6D67A227-6A1C-4208-8375-A4D4CF42C230}"/>
              </a:ext>
            </a:extLst>
          </p:cNvPr>
          <p:cNvSpPr>
            <a:spLocks xmlns:a="http://schemas.openxmlformats.org/drawingml/2006/main" noGrp="1"/>
          </p:cNvSpPr>
          <p:nvPr/>
        </p:nvSpPr>
        <p:spPr>
          <a:xfrm xmlns:a="http://schemas.openxmlformats.org/drawingml/2006/main">
            <a:off x="6264402" y="4381500"/>
            <a:ext cx="5533930" cy="1638300"/>
          </a:xfrm>
          <a:prstGeom xmlns:a="http://schemas.openxmlformats.org/drawingml/2006/main" prst="roundRect">
            <a:avLst>
              <a:gd name="adj" fmla="val 4651"/>
            </a:avLst>
          </a:prstGeom>
          <a:solidFill xmlns:a="http://schemas.openxmlformats.org/drawingml/2006/main">
            <a:srgbClr val="F2F2F2"/>
          </a:solidFill>
        </p:spPr>
      </p:sp>
      <p:sp>
        <p:nvSpPr>
          <p:cNvPr id="8" name="Content-Placeholder-10-9">
            <a:extLst xmlns:a="http://schemas.openxmlformats.org/drawingml/2006/main">
              <a:ext uri="{FF2B5EF4-FFF2-40B4-BE49-F238E27FC236}">
                <a16:creationId xmlns:a16="http://schemas.microsoft.com/office/drawing/2014/main" id="{F7685109-8E06-4670-8124-8305D95436E1}"/>
              </a:ext>
            </a:extLst>
          </p:cNvPr>
          <p:cNvSpPr>
            <a:spLocks xmlns:a="http://schemas.openxmlformats.org/drawingml/2006/main" noGrp="1"/>
          </p:cNvSpPr>
          <p:nvPr/>
        </p:nvSpPr>
        <p:spPr>
          <a:xfrm xmlns:a="http://schemas.openxmlformats.org/drawingml/2006/main">
            <a:off x="6561677" y="4676489"/>
            <a:ext cx="4986909" cy="1048417"/>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2025" b="1">
                <a:solidFill>
                  <a:srgbClr val="000000"/>
                </a:solidFill>
                <a:latin typeface="Helvetica Neue"/>
                <a:ea typeface="Helvetica Neue"/>
                <a:cs typeface="Helvetica Neue"/>
              </a:rPr>
              <a:t>18.2 GiB</a:t>
            </a:r>
          </a:p>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275" b="0">
                <a:solidFill>
                  <a:srgbClr val="000000"/>
                </a:solidFill>
                <a:latin typeface="Helvetica Neue"/>
                <a:ea typeface="Helvetica Neue"/>
                <a:cs typeface="Helvetica Neue"/>
              </a:rPr>
              <a:t>Maximum device-wide GPU memory in the clean VLM group</a:t>
            </a:r>
          </a:p>
        </p:txBody>
      </p:sp>
      <p:graphicFrame>
        <p:nvGraphicFramePr>
          <p:cNvPr id="18" name="Chart"/>
          <p:cNvGraphicFramePr/>
          <p:nvPr/>
        </p:nvGraphicFramePr>
        <p:xfrm>
          <a:off xmlns:a="http://schemas.openxmlformats.org/drawingml/2006/main" x="408718" y="1054132"/>
          <a:ext xmlns:a="http://schemas.openxmlformats.org/drawingml/2006/main" cx="5124164" cy="5452015"/>
        </p:xfrm>
        <a:graphic xmlns:a="http://schemas.openxmlformats.org/drawingml/2006/main">
          <a:graphicData uri="http://schemas.openxmlformats.org/drawingml/2006/chart">
            <c:chart xmlns:r="http://schemas.openxmlformats.org/officeDocument/2006/relationships" xmlns:c="http://schemas.openxmlformats.org/drawingml/2006/chart" r:id="R4343e7bc65cb4002"/>
          </a:graphicData>
        </a:graphic>
      </p:graphicFrame>
    </p:spTree>
    <p:extLst>
      <p:ext uri="{BB962C8B-B14F-4D97-AF65-F5344CB8AC3E}">
        <p14:creationId xmlns:p14="http://schemas.microsoft.com/office/powerpoint/2010/main" val="210006092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7F87DCCD-FFB1-4BA6-8DD7-C5566C20CE66}"/>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defRPr sz="6000">
                <a:solidFill>
                  <a:srgbClr val="000000"/>
                </a:solidFill>
                <a:latin typeface="Helvetica Neue"/>
                <a:ea typeface="Helvetica Neue"/>
                <a:cs typeface="Helvetica Neue"/>
              </a:defRPr>
            </a:pPr>
            <a:r>
              <a:t>Use the pipeline;
strengthen the evidence</a:t>
            </a:r>
          </a:p>
        </p:txBody>
      </p:sp>
      <p:sp>
        <p:nvSpPr>
          <p:cNvPr id="2" name="Subtitle-4-2">
            <a:extLst xmlns:a="http://schemas.openxmlformats.org/drawingml/2006/main">
              <a:ext uri="{FF2B5EF4-FFF2-40B4-BE49-F238E27FC236}">
                <a16:creationId xmlns:a16="http://schemas.microsoft.com/office/drawing/2014/main" id="{23E470DF-4ECF-419C-96C5-9B943CBE4594}"/>
              </a:ext>
            </a:extLst>
          </p:cNvPr>
          <p:cNvSpPr>
            <a:spLocks xmlns:a="http://schemas.openxmlformats.org/drawingml/2006/main" noGrp="1"/>
          </p:cNvSpPr>
          <p:nvPr/>
        </p:nvSpPr>
        <p:spPr>
          <a:xfrm xmlns:a="http://schemas.openxmlformats.org/drawingml/2006/main">
            <a:off x="393668" y="4973288"/>
            <a:ext cx="35687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1 • Human-adjudicate failure strata</a:t>
            </a:r>
          </a:p>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2 • Add harder text + temporal sensor cases</a:t>
            </a:r>
          </a:p>
          <a:p xmlns:a="http://schemas.openxmlformats.org/drawingml/2006/main">
            <a:pPr algn="l">
              <a:lnSpc>
                <a:spcPct val="106000"/>
              </a:lnSpc>
              <a:spcAft>
                <a:spcPts val="320"/>
              </a:spcAft>
              <a:buNone/>
              <a:defRPr sz="2400">
                <a:solidFill>
                  <a:srgbClr val="000000"/>
                </a:solidFill>
                <a:latin typeface="Helvetica Neue"/>
                <a:ea typeface="Helvetica Neue"/>
                <a:cs typeface="Helvetica Neue"/>
              </a:defRPr>
            </a:pPr>
            <a:r>
              <a:rPr sz="1500" b="1">
                <a:solidFill>
                  <a:srgbClr val="000000"/>
                </a:solidFill>
                <a:latin typeface="Helvetica Neue"/>
                <a:ea typeface="Helvetica Neue"/>
                <a:cs typeface="Helvetica Neue"/>
              </a:rPr>
              <a:t>3 • Repeat on another VLM and hardware profile</a:t>
            </a:r>
          </a:p>
        </p:txBody>
      </p:sp>
      <p:sp>
        <p:nvSpPr>
          <p:cNvPr id="3" name="Subtitle-4-3">
            <a:extLst xmlns:a="http://schemas.openxmlformats.org/drawingml/2006/main">
              <a:ext uri="{FF2B5EF4-FFF2-40B4-BE49-F238E27FC236}">
                <a16:creationId xmlns:a16="http://schemas.microsoft.com/office/drawing/2014/main" id="{BE94CAC3-EA6D-4073-98A8-660DA5CF774E}"/>
              </a:ext>
            </a:extLst>
          </p:cNvPr>
          <p:cNvSpPr>
            <a:spLocks xmlns:a="http://schemas.openxmlformats.org/drawingml/2006/main" noGrp="1"/>
          </p:cNvSpPr>
          <p:nvPr/>
        </p:nvSpPr>
        <p:spPr>
          <a:xfrm xmlns:a="http://schemas.openxmlformats.org/drawingml/2006/main">
            <a:off x="393668" y="392240"/>
            <a:ext cx="1612868"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NEXT</a:t>
            </a:r>
          </a:p>
        </p:txBody>
      </p:sp>
    </p:spTree>
    <p:extLst>
      <p:ext uri="{BB962C8B-B14F-4D97-AF65-F5344CB8AC3E}">
        <p14:creationId xmlns:p14="http://schemas.microsoft.com/office/powerpoint/2010/main" val="17183316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2026-08-05T01:53:14.5850000Z</dcterms:created>
  <dcterms:modified xsi:type="dcterms:W3CDTF">2026-08-05T01:53:14.5850000Z</dcterms:modified>
</coreProperties>
</file>