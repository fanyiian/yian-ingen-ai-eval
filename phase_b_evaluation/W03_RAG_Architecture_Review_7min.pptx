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1b0f22ff64e4b49" /><Relationship Type="http://schemas.openxmlformats.org/officeDocument/2006/relationships/extended-properties" Target="/docProps/app.xml" Id="R6b02d0138b3c49fe" /><Relationship Type="http://schemas.openxmlformats.org/officeDocument/2006/relationships/officeDocument" Target="/ppt/presentation.xml" Id="R43b8b13f6bfc46f9" /></Relationships>
</file>

<file path=ppt/presentation.xml><?xml version="1.0" encoding="utf-8"?>
<p:presentation xmlns:p="http://schemas.openxmlformats.org/presentationml/2006/main">
  <p:sldMasterIdLst>
    <p:sldMasterId xmlns:r="http://schemas.openxmlformats.org/officeDocument/2006/relationships" id="2147483648" r:id="R3f80769511ac4655"/>
  </p:sldMasterIdLst>
  <p:notesMasterIdLst>
    <p:notesMasterId xmlns:r="http://schemas.openxmlformats.org/officeDocument/2006/relationships" r:id="R7d649eb21df64dec"/>
  </p:notesMasterIdLst>
  <p:sldIdLst>
    <p:sldId xmlns:r="http://schemas.openxmlformats.org/officeDocument/2006/relationships" id="256" r:id="Rff8d4312a86e41c7"/>
    <p:sldId xmlns:r="http://schemas.openxmlformats.org/officeDocument/2006/relationships" id="257" r:id="R40600f21a88f43e5"/>
    <p:sldId xmlns:r="http://schemas.openxmlformats.org/officeDocument/2006/relationships" id="258" r:id="Rc2b9d82f37bd450e"/>
    <p:sldId xmlns:r="http://schemas.openxmlformats.org/officeDocument/2006/relationships" id="259" r:id="Re2fa0236af494ade"/>
    <p:sldId xmlns:r="http://schemas.openxmlformats.org/officeDocument/2006/relationships" id="260" r:id="R7b537d8098db4708"/>
    <p:sldId xmlns:r="http://schemas.openxmlformats.org/officeDocument/2006/relationships" id="261" r:id="R97a5cee9205a4551"/>
    <p:sldId xmlns:r="http://schemas.openxmlformats.org/officeDocument/2006/relationships" id="262" r:id="R82d713a24f034db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26db2820a3a4ee2" /><Relationship Type="http://schemas.openxmlformats.org/officeDocument/2006/relationships/slideMaster" Target="/ppt/slideMasters/slideMaster1.xml" Id="R3f80769511ac4655" /><Relationship Type="http://schemas.openxmlformats.org/officeDocument/2006/relationships/notesMaster" Target="/ppt/notesMasters/notesMaster1.xml" Id="R7d649eb21df64dec" /><Relationship Type="http://schemas.openxmlformats.org/officeDocument/2006/relationships/presProps" Target="/ppt/presProps.xml" Id="R693e64e403e5456a" /><Relationship Type="http://schemas.openxmlformats.org/officeDocument/2006/relationships/tableStyles" Target="/ppt/tableStyles.xml" Id="R369ba7014f684570" /><Relationship Type="http://schemas.openxmlformats.org/officeDocument/2006/relationships/slide" Target="/ppt/slides/slide1.xml" Id="Rff8d4312a86e41c7" /><Relationship Type="http://schemas.openxmlformats.org/officeDocument/2006/relationships/slide" Target="/ppt/slides/slide2.xml" Id="R40600f21a88f43e5" /><Relationship Type="http://schemas.openxmlformats.org/officeDocument/2006/relationships/slide" Target="/ppt/slides/slide3.xml" Id="Rc2b9d82f37bd450e" /><Relationship Type="http://schemas.openxmlformats.org/officeDocument/2006/relationships/slide" Target="/ppt/slides/slide4.xml" Id="Re2fa0236af494ade" /><Relationship Type="http://schemas.openxmlformats.org/officeDocument/2006/relationships/slide" Target="/ppt/slides/slide5.xml" Id="R7b537d8098db4708" /><Relationship Type="http://schemas.openxmlformats.org/officeDocument/2006/relationships/slide" Target="/ppt/slides/slide6.xml" Id="R97a5cee9205a4551" /><Relationship Type="http://schemas.openxmlformats.org/officeDocument/2006/relationships/slide" Target="/ppt/slides/slide7.xml" Id="R82d713a24f034db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4cba2482e17444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11f5dca23464eb0" /><Relationship Type="http://schemas.openxmlformats.org/officeDocument/2006/relationships/notesMaster" Target="/ppt/notesMasters/notesMaster1.xml" Id="R386d0dbd7dc94932" /></Relationships>
</file>

<file path=ppt/notesSlides/_rels/notesSlide2.xml.rels>&#65279;<?xml version="1.0" encoding="utf-8"?><Relationships xmlns="http://schemas.openxmlformats.org/package/2006/relationships"><Relationship Type="http://schemas.openxmlformats.org/officeDocument/2006/relationships/slide" Target="/ppt/slides/slide2.xml" Id="R7d0a3cf3f0d644e6" /><Relationship Type="http://schemas.openxmlformats.org/officeDocument/2006/relationships/notesMaster" Target="/ppt/notesMasters/notesMaster1.xml" Id="R5d6fd28001ac4d6e" /></Relationships>
</file>

<file path=ppt/notesSlides/_rels/notesSlide3.xml.rels>&#65279;<?xml version="1.0" encoding="utf-8"?><Relationships xmlns="http://schemas.openxmlformats.org/package/2006/relationships"><Relationship Type="http://schemas.openxmlformats.org/officeDocument/2006/relationships/slide" Target="/ppt/slides/slide3.xml" Id="R9579975a6270426e" /><Relationship Type="http://schemas.openxmlformats.org/officeDocument/2006/relationships/notesMaster" Target="/ppt/notesMasters/notesMaster1.xml" Id="Re7bb84a9e5b8461e" /></Relationships>
</file>

<file path=ppt/notesSlides/_rels/notesSlide4.xml.rels>&#65279;<?xml version="1.0" encoding="utf-8"?><Relationships xmlns="http://schemas.openxmlformats.org/package/2006/relationships"><Relationship Type="http://schemas.openxmlformats.org/officeDocument/2006/relationships/slide" Target="/ppt/slides/slide4.xml" Id="Rf3a9ffedcbd240af" /><Relationship Type="http://schemas.openxmlformats.org/officeDocument/2006/relationships/notesMaster" Target="/ppt/notesMasters/notesMaster1.xml" Id="R85618dcd306148b0" /></Relationships>
</file>

<file path=ppt/notesSlides/_rels/notesSlide5.xml.rels>&#65279;<?xml version="1.0" encoding="utf-8"?><Relationships xmlns="http://schemas.openxmlformats.org/package/2006/relationships"><Relationship Type="http://schemas.openxmlformats.org/officeDocument/2006/relationships/slide" Target="/ppt/slides/slide5.xml" Id="R708425bcb4ca4495" /><Relationship Type="http://schemas.openxmlformats.org/officeDocument/2006/relationships/notesMaster" Target="/ppt/notesMasters/notesMaster1.xml" Id="R868f59a696c642a3" /></Relationships>
</file>

<file path=ppt/notesSlides/_rels/notesSlide6.xml.rels>&#65279;<?xml version="1.0" encoding="utf-8"?><Relationships xmlns="http://schemas.openxmlformats.org/package/2006/relationships"><Relationship Type="http://schemas.openxmlformats.org/officeDocument/2006/relationships/slide" Target="/ppt/slides/slide6.xml" Id="Rd5df892369a94ef1" /><Relationship Type="http://schemas.openxmlformats.org/officeDocument/2006/relationships/notesMaster" Target="/ppt/notesMasters/notesMaster1.xml" Id="R50286d32ba66427c" /></Relationships>
</file>

<file path=ppt/notesSlides/_rels/notesSlide7.xml.rels>&#65279;<?xml version="1.0" encoding="utf-8"?><Relationships xmlns="http://schemas.openxmlformats.org/package/2006/relationships"><Relationship Type="http://schemas.openxmlformats.org/officeDocument/2006/relationships/slide" Target="/ppt/slides/slide7.xml" Id="Rf05affc65b8d42b1" /><Relationship Type="http://schemas.openxmlformats.org/officeDocument/2006/relationships/notesMaster" Target="/ppt/notesMasters/notesMaster1.xml" Id="R91a1dd1d9db4482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week I completed an end-to-end local RAG evaluation pipeline rather than only a demo chatbot. The key outcome is that RAG helped the models answer product-specific questions more directly and with better grounding on the registered public smoke benchmark. At the same time, the current evidence is deliberately bounded: it proves that the evaluation pipeline works and that RAG was helpful on this small corpus, but it does not prove production readiness.</a:t>
            </a:r>
          </a:p>
          <a:p xmlns:a="http://schemas.openxmlformats.org/drawingml/2006/main">
            <a:r>
              <a:t/>
            </a:r>
          </a:p>
          <a:p xmlns:a="http://schemas.openxmlformats.org/drawingml/2006/main">
            <a:r>
              <a:t>[Sources]</a:t>
            </a:r>
          </a:p>
          <a:p xmlns:a="http://schemas.openxmlformats.org/drawingml/2006/main">
            <a:r>
              <a:t>- Public project artifact: phase_b_evaluation/W03_Submission_Index.md</a:t>
            </a:r>
          </a:p>
          <a:p xmlns:a="http://schemas.openxmlformats.org/drawingml/2006/main">
            <a:r>
              <a:t>- Public project artifact: phase_b_evaluation/W03_Evaluation_Memo.md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has four controlled layers. First, source governance stores URL, date, scope, authority, platform, chunk index, and content hash. Second, BGE-M3 creates embeddings and Chroma persists the vectors. Third, retrieval applies a hard metadata gate before semantic ranking, then returns small child chunks with their parent section for context. Llama receives a detailed grounded prompt with citation and uncertainty rules. Finally, Base and RAG answers are evaluated separately with retrieval metrics, RAGAS, failure codes, and complete run traces. This decomposition matters because perfect retrieval does not guarantee a complete answer, and an evaluator failure should not be blamed on the candidate model.</a:t>
            </a:r>
          </a:p>
          <a:p xmlns:a="http://schemas.openxmlformats.org/drawingml/2006/main">
            <a:r>
              <a:t/>
            </a:r>
          </a:p>
          <a:p xmlns:a="http://schemas.openxmlformats.org/drawingml/2006/main">
            <a:r>
              <a:t>[Sources]</a:t>
            </a:r>
          </a:p>
          <a:p xmlns:a="http://schemas.openxmlformats.org/drawingml/2006/main">
            <a:r>
              <a:t>- LangChain retrieval documentation: https://docs.langchain.com/oss/python/langchain/retrieval</a:t>
            </a:r>
          </a:p>
          <a:p xmlns:a="http://schemas.openxmlformats.org/drawingml/2006/main">
            <a:r>
              <a:t>- Public project artifact: phase_b_evaluation/W03_RAG_Official_Benchmark_Report.md</a:t>
            </a:r>
          </a:p>
          <a:p xmlns:a="http://schemas.openxmlformats.org/drawingml/2006/main">
            <a:r>
              <a:t>- Public project artifact: phase_b_evaluation/W03_RAG_Failure_Taxonomy.md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public confirmation used eight frozen questions, three models, and two conditions, giving 48 generations and 48 RAGAS rows. The candidate-visible inputs were audited to confirm identical questions and retrieval contexts across models. One item was inspected during adapter qualification, so the main aggregate uses the other seven pairs per model. I also ran all 18 chunk-size, top-k, and reranker combinations. The June internship material was not mixed into this result: it stayed in a separate private collection, where retrieval passed six of six and Llama completed twelve Base and RAG generations.</a:t>
            </a:r>
          </a:p>
          <a:p xmlns:a="http://schemas.openxmlformats.org/drawingml/2006/main">
            <a:r>
              <a:t/>
            </a:r>
          </a:p>
          <a:p xmlns:a="http://schemas.openxmlformats.org/drawingml/2006/main">
            <a:r>
              <a:t>[Sources]</a:t>
            </a:r>
          </a:p>
          <a:p xmlns:a="http://schemas.openxmlformats.org/drawingml/2006/main">
            <a:r>
              <a:t>- Public project artifact: phase_b_evaluation/W03_RAG_Three_Model_Blind_Report.md</a:t>
            </a:r>
          </a:p>
          <a:p xmlns:a="http://schemas.openxmlformats.org/drawingml/2006/main">
            <a:r>
              <a:t>- Public project artifact: phase_b_evaluation/W03_RAG_Retrieval_Ablation_Report.md</a:t>
            </a:r>
          </a:p>
          <a:p xmlns:a="http://schemas.openxmlformats.org/drawingml/2006/main">
            <a:r>
              <a:t>- Public project artifact: weekly/Wk-03-EvalLog.md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chart compares the same RAGAS AnswerRelevancy metric without and with retrieved context on the seven uninspected pairs. All three models improved. Llama increased from 0.290 to 0.538, the largest change and the strongest evaluator-independent evidence that RAG helped. Mistral increased from 0.347 to 0.466, but that score is a self-judge diagnostic because Mistral also served as the local evaluator. FLAN increased from 0.223 to 0.410, but it often produced short fragments or question echoes and did not satisfy the citation contract. Therefore I do not report an automatic winner; the defensible conclusion is that retrieval helped, while instruction following still mattered.</a:t>
            </a:r>
          </a:p>
          <a:p xmlns:a="http://schemas.openxmlformats.org/drawingml/2006/main">
            <a:r>
              <a:t/>
            </a:r>
          </a:p>
          <a:p xmlns:a="http://schemas.openxmlformats.org/drawingml/2006/main">
            <a:r>
              <a:t>[Sources]</a:t>
            </a:r>
          </a:p>
          <a:p xmlns:a="http://schemas.openxmlformats.org/drawingml/2006/main">
            <a:r>
              <a:t>- Public project artifact: phase_b_evaluation/W03_RAG_Three_Model_Blind_Summary.json</a:t>
            </a:r>
          </a:p>
          <a:p xmlns:a="http://schemas.openxmlformats.org/drawingml/2006/main">
            <a:r>
              <a:t>- Public project artifact: phase_b_evaluation/W03_RAG_Three_Model_Blind_Report.md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automatic relevance score looks low because it is not a correctness percentage. RAGAS asks the local Judge to infer questions from an answer and then compares those questions with the original using embeddings. Long answers with multiple sub-points, qualifications, and citations can be useful but score lower under a single similarity measure. Base also has no product knowledge, FLAN often emits fragments, the Judge is uncalibrated, and seven observations have high variance. The separate AI qualitative review examined all eight Llama RAG answers directly. It found 30 of 31 factual claims supported, 0.873 weighted required-point coverage, no forbidden claims, and 4.375 out of 5 answer relevance. These results support usefulness, while still exposing omissions.</a:t>
            </a:r>
          </a:p>
          <a:p xmlns:a="http://schemas.openxmlformats.org/drawingml/2006/main">
            <a:r>
              <a:t/>
            </a:r>
          </a:p>
          <a:p xmlns:a="http://schemas.openxmlformats.org/drawingml/2006/main">
            <a:r>
              <a:t>[Sources]</a:t>
            </a:r>
          </a:p>
          <a:p xmlns:a="http://schemas.openxmlformats.org/drawingml/2006/main">
            <a:r>
              <a:t>- Public project artifact: phase_b_evaluation/W03_RAG_AI_Calibration_Report.md</a:t>
            </a:r>
          </a:p>
          <a:p xmlns:a="http://schemas.openxmlformats.org/drawingml/2006/main">
            <a:r>
              <a:t>- Public project artifact: phase_b_evaluation/W03_RAG_Three_Model_Blind_Report.md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limitation is scale. The public knowledge base has only sixteen chunks, and top-k four returns all Senpai evidence and nearly all Fari evidence. That makes perfect retrieval easier than it would be in a realistic corpus. Evaluation is also uncertain because the local Judge is uncalibrated, the primary aggregate has only seven uninspected pairs, and the AI review is useful triangulation rather than an independent external certification. Finally, strict citation formatting remains weak: only one of seven Llama rows and one of seven Mistral rows used the exact bracketed chunk-ID format, while FLAN used none. This is primarily a generation-format failure, not a retrieval failure.</a:t>
            </a:r>
          </a:p>
          <a:p xmlns:a="http://schemas.openxmlformats.org/drawingml/2006/main">
            <a:r>
              <a:t/>
            </a:r>
          </a:p>
          <a:p xmlns:a="http://schemas.openxmlformats.org/drawingml/2006/main">
            <a:r>
              <a:t>[Sources]</a:t>
            </a:r>
          </a:p>
          <a:p xmlns:a="http://schemas.openxmlformats.org/drawingml/2006/main">
            <a:r>
              <a:t>- Public project artifact: phase_b_evaluation/W03_RAG_Benchmark_Representativeness_Audit.md</a:t>
            </a:r>
          </a:p>
          <a:p xmlns:a="http://schemas.openxmlformats.org/drawingml/2006/main">
            <a:r>
              <a:t>- Public project artifact: phase_b_evaluation/W03_RAG_Three_Model_Blind_Report.md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next step is not to replace the architecture. It is to increase the difficulty and representativeness of the evidence. I would first expand to more than one hundred chunks with distractors and stale or conflicting sources. Then I would freeze a new set of twenty-four to thirty-two questions covering noisy inputs, no-evidence cases, multi-turn dialogue, multilingual prompts, and prompt injection. Finally, I would rerun the same three-model Base and RAG comparison, retrieval metrics, RAGAS, and qualitative review. So the Week 3 takeaway is: the pipeline is operational and RAG is helpful on the current benchmark; the next milestone is stronger evidence for generalization.</a:t>
            </a:r>
          </a:p>
          <a:p xmlns:a="http://schemas.openxmlformats.org/drawingml/2006/main">
            <a:r>
              <a:t/>
            </a:r>
          </a:p>
          <a:p xmlns:a="http://schemas.openxmlformats.org/drawingml/2006/main">
            <a:r>
              <a:t>[Sources]</a:t>
            </a:r>
          </a:p>
          <a:p xmlns:a="http://schemas.openxmlformats.org/drawingml/2006/main">
            <a:r>
              <a:t>- Public project artifact: phase_b_evaluation/W03_RAG_Benchmark_Representativeness_Audit.md</a:t>
            </a:r>
          </a:p>
          <a:p xmlns:a="http://schemas.openxmlformats.org/drawingml/2006/main">
            <a:r>
              <a:t>- Public project artifact: phase_b_evaluation/W03_Submission_Index.md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d6e801bec374ff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1fbdad23a64474a" /><Relationship Type="http://schemas.openxmlformats.org/officeDocument/2006/relationships/slideLayout" Target="/ppt/slideLayouts/slideLayout1.xml" Id="Rc3d4cabe2ac9476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3d4cabe2ac9476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ff82ca06f154ad1" /><Relationship Type="http://schemas.openxmlformats.org/officeDocument/2006/relationships/notesSlide" Target="/ppt/notesSlides/notesSlide1.xml" Id="R9354e367c3b94fc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d280617ead74471" /><Relationship Type="http://schemas.openxmlformats.org/officeDocument/2006/relationships/notesSlide" Target="/ppt/notesSlides/notesSlide2.xml" Id="R1871569b155f401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746e6a2866d444e" /><Relationship Type="http://schemas.openxmlformats.org/officeDocument/2006/relationships/notesSlide" Target="/ppt/notesSlides/notesSlide3.xml" Id="Raa7f52f2952e46a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9a780549c4d440c" /><Relationship Type="http://schemas.openxmlformats.org/officeDocument/2006/relationships/chart" Target="/ppt/slides/charts/chart1.xml" Id="Rfd7f6d2b235f41b5" /><Relationship Type="http://schemas.openxmlformats.org/officeDocument/2006/relationships/notesSlide" Target="/ppt/notesSlides/notesSlide4.xml" Id="Rffc9c17632f04ef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d664722bfd44f95" /><Relationship Type="http://schemas.openxmlformats.org/officeDocument/2006/relationships/notesSlide" Target="/ppt/notesSlides/notesSlide5.xml" Id="Rc06e4c28b3f4404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714469b084842d8" /><Relationship Type="http://schemas.openxmlformats.org/officeDocument/2006/relationships/notesSlide" Target="/ppt/notesSlides/notesSlide6.xml" Id="Reb62539456124c3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607a0be900a40f3" /><Relationship Type="http://schemas.openxmlformats.org/officeDocument/2006/relationships/notesSlide" Target="/ppt/notesSlides/notesSlide7.xml" Id="R751d8e41131d49e1" /></Relationships>
</file>

<file path=ppt/slides/charts/chart1.xml><?xml version="1.0" encoding="utf-8"?>
<c:chartSpace xmlns:c="http://schemas.openxmlformats.org/drawingml/2006/chart">
  <c:lang val="en-US"/>
  <c:chart>
    <c:plotArea>
      <c:barChart>
        <c:barDir val="col"/>
        <c:grouping val="clustered"/>
        <c:varyColors val="0"/>
        <c:ser>
          <c:idx val="0"/>
          <c:order val="0"/>
          <c:tx>
            <c:v>Base</c:v>
          </c:tx>
          <c:spPr>
            <a:solidFill xmlns:a="http://schemas.openxmlformats.org/drawingml/2006/main">
              <a:srgbClr val="D0EDFA"/>
            </a:solidFill>
          </c:spPr>
          <c:cat>
            <c:strLit>
              <c:ptCount val="3"/>
              <c:pt idx="0">
                <c:v>FLAN</c:v>
              </c:pt>
              <c:pt idx="1">
                <c:v>Mistral</c:v>
              </c:pt>
              <c:pt idx="2">
                <c:v>Llama</c:v>
              </c:pt>
            </c:strLit>
          </c:cat>
          <c:val>
            <c:numLit>
              <c:formatCode>0.0</c:formatCode>
              <c:ptCount val="3"/>
              <c:pt idx="0">
                <c:v>0.223139</c:v>
              </c:pt>
              <c:pt idx="1">
                <c:v>0.34679</c:v>
              </c:pt>
              <c:pt idx="2">
                <c:v>0.290288</c:v>
              </c:pt>
            </c:numLit>
          </c:val>
        </c:ser>
        <c:ser>
          <c:idx val="1"/>
          <c:order val="1"/>
          <c:tx>
            <c:v>RAG</c:v>
          </c:tx>
          <c:spPr>
            <a:solidFill xmlns:a="http://schemas.openxmlformats.org/drawingml/2006/main">
              <a:srgbClr val="3D8DFF"/>
            </a:solidFill>
          </c:spPr>
          <c:cat>
            <c:strLit>
              <c:ptCount val="3"/>
              <c:pt idx="0">
                <c:v>FLAN</c:v>
              </c:pt>
              <c:pt idx="1">
                <c:v>Mistral</c:v>
              </c:pt>
              <c:pt idx="2">
                <c:v>Llama</c:v>
              </c:pt>
            </c:strLit>
          </c:cat>
          <c:val>
            <c:numLit>
              <c:formatCode>0.0</c:formatCode>
              <c:ptCount val="3"/>
              <c:pt idx="0">
                <c:v>0.410193</c:v>
              </c:pt>
              <c:pt idx="1">
                <c:v>0.465645</c:v>
              </c:pt>
              <c:pt idx="2">
                <c:v>0.538142</c:v>
              </c:pt>
            </c:numLit>
          </c:val>
        </c:ser>
        <c:dLbls>
          <c:txPr>
            <a:bodyPr xmlns:a="http://schemas.openxmlformats.org/drawingml/2006/main" anchorCtr="1"/>
            <a:lstStyle xmlns:a="http://schemas.openxmlformats.org/drawingml/2006/main"/>
            <a:p xmlns:a="http://schemas.openxmlformats.org/drawingml/2006/main">
              <a:pPr>
                <a:defRPr sz="900">
                  <a:solidFill>
                    <a:srgbClr val="000000"/>
                  </a:solidFill>
                </a:defRPr>
              </a:pPr>
            </a:p>
          </c:txPr>
          <c:dLblPos val="outEnd"/>
          <c:showLegendKey val="0"/>
          <c:showVal val="0"/>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825">
                <a:solidFill>
                  <a:srgbClr val="000000"/>
                </a:solidFill>
                <a:latin typeface="Helvetica Neue"/>
                <a:ea typeface="Helvetica Neue"/>
                <a:cs typeface="Helvetica Neue"/>
              </a:defRPr>
            </a:pPr>
          </a:p>
        </c:txPr>
        <c:crossAx val="48672768"/>
        <c:lblAlgn val="ctr"/>
        <c:lblOffset val="100"/>
        <c:noMultiLvlLbl val="0"/>
      </c:catAx>
      <c:valAx>
        <c:axId val="48672768"/>
        <c:scaling>
          <c:orientation val="minMax"/>
          <c:max val="0.6"/>
          <c:min val="0"/>
        </c:scaling>
        <c:delete val="0"/>
        <c:axPos val="l"/>
        <c:majorGridlines>
          <c:spPr>
            <a:ln xmlns:a="http://schemas.openxmlformats.org/drawingml/2006/main" w="9525">
              <a:solidFill>
                <a:srgbClr val="EDEDED"/>
              </a:solidFill>
              <a:prstDash val="solid"/>
            </a:ln>
          </c:spPr>
        </c:majorGridlines>
        <c:numFmt formatCode="0.0"/>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825">
                <a:solidFill>
                  <a:srgbClr val="000000"/>
                </a:solidFill>
                <a:latin typeface="Helvetica Neue"/>
                <a:ea typeface="Helvetica Neue"/>
                <a:cs typeface="Helvetica Neue"/>
              </a:defRPr>
            </a:pPr>
          </a:p>
        </c:txPr>
        <c:crossAx val="48650112"/>
        <c:crossBetween val="between"/>
        <c:majorUnit val="0.1"/>
      </c:valAx>
      <c:spPr>
        <a:noFill xmlns:a="http://schemas.openxmlformats.org/drawingml/2006/main"/>
        <a:ln xmlns:a="http://schemas.openxmlformats.org/drawingml/2006/main" w="0">
          <a:solidFill>
            <a:srgbClr val="FFFFFF"/>
          </a:solidFill>
          <a:prstDash val="solid"/>
        </a:ln>
      </c:spPr>
    </c:plotArea>
    <c:legend>
      <c:legendPos val="b"/>
      <c:overlay val="0"/>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84FF0911-6CC7-400D-884C-99D4B3D17A60}"/>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defRPr sz="6000">
                <a:solidFill>
                  <a:srgbClr val="000000"/>
                </a:solidFill>
                <a:latin typeface="Helvetica Neue"/>
                <a:ea typeface="Helvetica Neue"/>
                <a:cs typeface="Helvetica Neue"/>
              </a:defRPr>
            </a:pPr>
            <a:r>
              <a:t>RAG evaluation
that can be audited</a:t>
            </a:r>
          </a:p>
        </p:txBody>
      </p:sp>
      <p:sp>
        <p:nvSpPr>
          <p:cNvPr id="2" name="Subtitle-4-2">
            <a:extLst xmlns:a="http://schemas.openxmlformats.org/drawingml/2006/main">
              <a:ext uri="{FF2B5EF4-FFF2-40B4-BE49-F238E27FC236}">
                <a16:creationId xmlns:a16="http://schemas.microsoft.com/office/drawing/2014/main" id="{3E3F6F20-EF5D-4E15-8057-2762EEF0D407}"/>
              </a:ext>
            </a:extLst>
          </p:cNvPr>
          <p:cNvSpPr>
            <a:spLocks xmlns:a="http://schemas.openxmlformats.org/drawingml/2006/main" noGrp="1"/>
          </p:cNvSpPr>
          <p:nvPr/>
        </p:nvSpPr>
        <p:spPr>
          <a:xfrm xmlns:a="http://schemas.openxmlformats.org/drawingml/2006/main">
            <a:off x="393668" y="4742212"/>
            <a:ext cx="57023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Architecture, three-model evidence, limitations, and the next benchmark</a:t>
            </a:r>
          </a:p>
        </p:txBody>
      </p:sp>
      <p:sp>
        <p:nvSpPr>
          <p:cNvPr id="3" name="Subtitle-4-3">
            <a:extLst xmlns:a="http://schemas.openxmlformats.org/drawingml/2006/main">
              <a:ext uri="{FF2B5EF4-FFF2-40B4-BE49-F238E27FC236}">
                <a16:creationId xmlns:a16="http://schemas.microsoft.com/office/drawing/2014/main" id="{D6DDA815-D2AB-4CE7-B477-A676EA160CB0}"/>
              </a:ext>
            </a:extLst>
          </p:cNvPr>
          <p:cNvSpPr>
            <a:spLocks xmlns:a="http://schemas.openxmlformats.org/drawingml/2006/main" noGrp="1"/>
          </p:cNvSpPr>
          <p:nvPr/>
        </p:nvSpPr>
        <p:spPr>
          <a:xfrm xmlns:a="http://schemas.openxmlformats.org/drawingml/2006/main">
            <a:off x="393668" y="392240"/>
            <a:ext cx="5702332"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WEEK 3 · PHASE B</a:t>
            </a:r>
          </a:p>
        </p:txBody>
      </p:sp>
    </p:spTree>
    <p:extLst>
      <p:ext uri="{BB962C8B-B14F-4D97-AF65-F5344CB8AC3E}">
        <p14:creationId xmlns:p14="http://schemas.microsoft.com/office/powerpoint/2010/main" val="103245799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2" name="Google-Shape-532-p58-2">
            <a:extLst xmlns:a="http://schemas.openxmlformats.org/drawingml/2006/main">
              <a:ext uri="{FF2B5EF4-FFF2-40B4-BE49-F238E27FC236}">
                <a16:creationId xmlns:a16="http://schemas.microsoft.com/office/drawing/2014/main" id="{2FEF3085-546E-4D4E-B8D4-B7DD35D2655C}"/>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2</a:t>
            </a:r>
          </a:p>
        </p:txBody>
      </p:sp>
      <p:sp>
        <p:nvSpPr>
          <p:cNvPr id="2" name="Google-Shape-533-p58-3">
            <a:extLst xmlns:a="http://schemas.openxmlformats.org/drawingml/2006/main">
              <a:ext uri="{FF2B5EF4-FFF2-40B4-BE49-F238E27FC236}">
                <a16:creationId xmlns:a16="http://schemas.microsoft.com/office/drawing/2014/main" id="{6F39E7CA-BEFF-403C-89C4-3A49C5C9D583}"/>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The pipeline separates four sources of failure</a:t>
            </a:r>
          </a:p>
        </p:txBody>
      </p:sp>
      <p:sp>
        <p:nvSpPr>
          <p:cNvPr id="3" name="Content-Placeholder-10-4">
            <a:extLst xmlns:a="http://schemas.openxmlformats.org/drawingml/2006/main">
              <a:ext uri="{FF2B5EF4-FFF2-40B4-BE49-F238E27FC236}">
                <a16:creationId xmlns:a16="http://schemas.microsoft.com/office/drawing/2014/main" id="{9508F1B2-005E-4BBD-A30C-6630BFA1AAD6}"/>
              </a:ext>
            </a:extLst>
          </p:cNvPr>
          <p:cNvSpPr>
            <a:spLocks xmlns:a="http://schemas.openxmlformats.org/drawingml/2006/main" noGrp="1"/>
          </p:cNvSpPr>
          <p:nvPr/>
        </p:nvSpPr>
        <p:spPr>
          <a:xfrm xmlns:a="http://schemas.openxmlformats.org/drawingml/2006/main">
            <a:off x="6972300" y="2374868"/>
            <a:ext cx="4826032" cy="6477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Aft>
                <a:spcPts val="400"/>
              </a:spcAft>
              <a:buNone/>
              <a:defRPr sz="24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Official pages + source, date, scope, platform, authority, and chunk metadata</a:t>
            </a:r>
          </a:p>
        </p:txBody>
      </p:sp>
      <p:sp>
        <p:nvSpPr>
          <p:cNvPr id="4" name="Content-Placeholder-10-5">
            <a:extLst xmlns:a="http://schemas.openxmlformats.org/drawingml/2006/main">
              <a:ext uri="{FF2B5EF4-FFF2-40B4-BE49-F238E27FC236}">
                <a16:creationId xmlns:a16="http://schemas.microsoft.com/office/drawing/2014/main" id="{5452EB12-AC86-4F47-9DB0-CA83DCE5DAD8}"/>
              </a:ext>
            </a:extLst>
          </p:cNvPr>
          <p:cNvSpPr>
            <a:spLocks xmlns:a="http://schemas.openxmlformats.org/drawingml/2006/main" noGrp="1"/>
          </p:cNvSpPr>
          <p:nvPr/>
        </p:nvSpPr>
        <p:spPr>
          <a:xfrm xmlns:a="http://schemas.openxmlformats.org/drawingml/2006/main">
            <a:off x="4851368" y="2374868"/>
            <a:ext cx="1866900" cy="6477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Aft>
                <a:spcPts val="400"/>
              </a:spcAft>
              <a:buNone/>
              <a:defRPr sz="2400">
                <a:solidFill>
                  <a:srgbClr val="000000"/>
                </a:solidFill>
                <a:latin typeface="Helvetica Neue"/>
                <a:ea typeface="Helvetica Neue"/>
                <a:cs typeface="Helvetica Neue"/>
              </a:defRPr>
            </a:pPr>
            <a:r>
              <a:rPr sz="1575" b="1">
                <a:solidFill>
                  <a:srgbClr val="000000"/>
                </a:solidFill>
                <a:latin typeface="Helvetica Neue"/>
                <a:ea typeface="Helvetica Neue"/>
                <a:cs typeface="Helvetica Neue"/>
              </a:rPr>
              <a:t>1 · Govern</a:t>
            </a:r>
          </a:p>
        </p:txBody>
      </p:sp>
      <p:sp>
        <p:nvSpPr>
          <p:cNvPr id="5" name="Content-Placeholder-10-6">
            <a:extLst xmlns:a="http://schemas.openxmlformats.org/drawingml/2006/main">
              <a:ext uri="{FF2B5EF4-FFF2-40B4-BE49-F238E27FC236}">
                <a16:creationId xmlns:a16="http://schemas.microsoft.com/office/drawing/2014/main" id="{EBF6CB3B-D3E9-4455-BC7C-4C834D1F1BB5}"/>
              </a:ext>
            </a:extLst>
          </p:cNvPr>
          <p:cNvSpPr>
            <a:spLocks xmlns:a="http://schemas.openxmlformats.org/drawingml/2006/main" noGrp="1"/>
          </p:cNvSpPr>
          <p:nvPr/>
        </p:nvSpPr>
        <p:spPr>
          <a:xfrm xmlns:a="http://schemas.openxmlformats.org/drawingml/2006/main">
            <a:off x="6972300" y="3365468"/>
            <a:ext cx="4826032" cy="6477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Aft>
                <a:spcPts val="400"/>
              </a:spcAft>
              <a:buNone/>
              <a:defRPr sz="24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Section-aware chunks → BGE-M3 embeddings → persistent Chroma</a:t>
            </a:r>
          </a:p>
        </p:txBody>
      </p:sp>
      <p:sp>
        <p:nvSpPr>
          <p:cNvPr id="6" name="Content-Placeholder-10-7">
            <a:extLst xmlns:a="http://schemas.openxmlformats.org/drawingml/2006/main">
              <a:ext uri="{FF2B5EF4-FFF2-40B4-BE49-F238E27FC236}">
                <a16:creationId xmlns:a16="http://schemas.microsoft.com/office/drawing/2014/main" id="{A16C6A1C-4E94-4FB7-9781-6B59B7EB34EF}"/>
              </a:ext>
            </a:extLst>
          </p:cNvPr>
          <p:cNvSpPr>
            <a:spLocks xmlns:a="http://schemas.openxmlformats.org/drawingml/2006/main" noGrp="1"/>
          </p:cNvSpPr>
          <p:nvPr/>
        </p:nvSpPr>
        <p:spPr>
          <a:xfrm xmlns:a="http://schemas.openxmlformats.org/drawingml/2006/main">
            <a:off x="4851368" y="3365468"/>
            <a:ext cx="1866900" cy="6477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Aft>
                <a:spcPts val="400"/>
              </a:spcAft>
              <a:buNone/>
              <a:defRPr sz="2400">
                <a:solidFill>
                  <a:srgbClr val="000000"/>
                </a:solidFill>
                <a:latin typeface="Helvetica Neue"/>
                <a:ea typeface="Helvetica Neue"/>
                <a:cs typeface="Helvetica Neue"/>
              </a:defRPr>
            </a:pPr>
            <a:r>
              <a:rPr sz="1575" b="1">
                <a:solidFill>
                  <a:srgbClr val="000000"/>
                </a:solidFill>
                <a:latin typeface="Helvetica Neue"/>
                <a:ea typeface="Helvetica Neue"/>
                <a:cs typeface="Helvetica Neue"/>
              </a:rPr>
              <a:t>2 · Embed</a:t>
            </a:r>
          </a:p>
        </p:txBody>
      </p:sp>
      <p:sp>
        <p:nvSpPr>
          <p:cNvPr id="7" name="Content-Placeholder-10-8">
            <a:extLst xmlns:a="http://schemas.openxmlformats.org/drawingml/2006/main">
              <a:ext uri="{FF2B5EF4-FFF2-40B4-BE49-F238E27FC236}">
                <a16:creationId xmlns:a16="http://schemas.microsoft.com/office/drawing/2014/main" id="{A5F4D5DE-BD87-4894-B640-0EF182116F40}"/>
              </a:ext>
            </a:extLst>
          </p:cNvPr>
          <p:cNvSpPr>
            <a:spLocks xmlns:a="http://schemas.openxmlformats.org/drawingml/2006/main" noGrp="1"/>
          </p:cNvSpPr>
          <p:nvPr/>
        </p:nvSpPr>
        <p:spPr>
          <a:xfrm xmlns:a="http://schemas.openxmlformats.org/drawingml/2006/main">
            <a:off x="6972300" y="4356068"/>
            <a:ext cx="4826032" cy="6477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Aft>
                <a:spcPts val="400"/>
              </a:spcAft>
              <a:buNone/>
              <a:defRPr sz="24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Metadata gate → child/parent retrieval → Llama grounded prompt</a:t>
            </a:r>
          </a:p>
        </p:txBody>
      </p:sp>
      <p:sp>
        <p:nvSpPr>
          <p:cNvPr id="8" name="Content-Placeholder-10-9">
            <a:extLst xmlns:a="http://schemas.openxmlformats.org/drawingml/2006/main">
              <a:ext uri="{FF2B5EF4-FFF2-40B4-BE49-F238E27FC236}">
                <a16:creationId xmlns:a16="http://schemas.microsoft.com/office/drawing/2014/main" id="{FCD179AD-8600-45D0-A8CD-A454E496C742}"/>
              </a:ext>
            </a:extLst>
          </p:cNvPr>
          <p:cNvSpPr>
            <a:spLocks xmlns:a="http://schemas.openxmlformats.org/drawingml/2006/main" noGrp="1"/>
          </p:cNvSpPr>
          <p:nvPr/>
        </p:nvSpPr>
        <p:spPr>
          <a:xfrm xmlns:a="http://schemas.openxmlformats.org/drawingml/2006/main">
            <a:off x="4851368" y="4356068"/>
            <a:ext cx="1866900" cy="6477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Aft>
                <a:spcPts val="400"/>
              </a:spcAft>
              <a:buNone/>
              <a:defRPr sz="2400">
                <a:solidFill>
                  <a:srgbClr val="000000"/>
                </a:solidFill>
                <a:latin typeface="Helvetica Neue"/>
                <a:ea typeface="Helvetica Neue"/>
                <a:cs typeface="Helvetica Neue"/>
              </a:defRPr>
            </a:pPr>
            <a:r>
              <a:rPr sz="1575" b="1">
                <a:solidFill>
                  <a:srgbClr val="000000"/>
                </a:solidFill>
                <a:latin typeface="Helvetica Neue"/>
                <a:ea typeface="Helvetica Neue"/>
                <a:cs typeface="Helvetica Neue"/>
              </a:rPr>
              <a:t>3 · Answer</a:t>
            </a:r>
          </a:p>
        </p:txBody>
      </p:sp>
      <p:sp>
        <p:nvSpPr>
          <p:cNvPr id="9" name="Content-Placeholder-10-10">
            <a:extLst xmlns:a="http://schemas.openxmlformats.org/drawingml/2006/main">
              <a:ext uri="{FF2B5EF4-FFF2-40B4-BE49-F238E27FC236}">
                <a16:creationId xmlns:a16="http://schemas.microsoft.com/office/drawing/2014/main" id="{610B94AD-2374-41CA-A07D-CDEA9317932B}"/>
              </a:ext>
            </a:extLst>
          </p:cNvPr>
          <p:cNvSpPr>
            <a:spLocks xmlns:a="http://schemas.openxmlformats.org/drawingml/2006/main" noGrp="1"/>
          </p:cNvSpPr>
          <p:nvPr/>
        </p:nvSpPr>
        <p:spPr>
          <a:xfrm xmlns:a="http://schemas.openxmlformats.org/drawingml/2006/main">
            <a:off x="6972300" y="5359432"/>
            <a:ext cx="4826032" cy="6477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Aft>
                <a:spcPts val="400"/>
              </a:spcAft>
              <a:buNone/>
              <a:defRPr sz="24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Base vs RAG + RAGAS + failure codes + seeds, hashes, traces, and logs</a:t>
            </a:r>
          </a:p>
        </p:txBody>
      </p:sp>
      <p:sp>
        <p:nvSpPr>
          <p:cNvPr id="10" name="Content-Placeholder-10-11">
            <a:extLst xmlns:a="http://schemas.openxmlformats.org/drawingml/2006/main">
              <a:ext uri="{FF2B5EF4-FFF2-40B4-BE49-F238E27FC236}">
                <a16:creationId xmlns:a16="http://schemas.microsoft.com/office/drawing/2014/main" id="{7E5ADC5C-EAB7-40C0-ABA0-0C967E27F1FD}"/>
              </a:ext>
            </a:extLst>
          </p:cNvPr>
          <p:cNvSpPr>
            <a:spLocks xmlns:a="http://schemas.openxmlformats.org/drawingml/2006/main" noGrp="1"/>
          </p:cNvSpPr>
          <p:nvPr/>
        </p:nvSpPr>
        <p:spPr>
          <a:xfrm xmlns:a="http://schemas.openxmlformats.org/drawingml/2006/main">
            <a:off x="4851368" y="5359432"/>
            <a:ext cx="1866900" cy="6477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Aft>
                <a:spcPts val="400"/>
              </a:spcAft>
              <a:buNone/>
              <a:defRPr sz="2400">
                <a:solidFill>
                  <a:srgbClr val="000000"/>
                </a:solidFill>
                <a:latin typeface="Helvetica Neue"/>
                <a:ea typeface="Helvetica Neue"/>
                <a:cs typeface="Helvetica Neue"/>
              </a:defRPr>
            </a:pPr>
            <a:r>
              <a:rPr sz="1575" b="1">
                <a:solidFill>
                  <a:srgbClr val="000000"/>
                </a:solidFill>
                <a:latin typeface="Helvetica Neue"/>
                <a:ea typeface="Helvetica Neue"/>
                <a:cs typeface="Helvetica Neue"/>
              </a:rPr>
              <a:t>4 · Evaluate</a:t>
            </a:r>
          </a:p>
        </p:txBody>
      </p:sp>
      <p:sp>
        <p:nvSpPr>
          <p:cNvPr id="11" name="Google-Shape-534-p58-12">
            <a:extLst xmlns:a="http://schemas.openxmlformats.org/drawingml/2006/main">
              <a:ext uri="{FF2B5EF4-FFF2-40B4-BE49-F238E27FC236}">
                <a16:creationId xmlns:a16="http://schemas.microsoft.com/office/drawing/2014/main" id="{A2CE9F7D-7440-4D91-9A4C-F1BEE4BFC74B}"/>
              </a:ext>
            </a:extLst>
          </p:cNvPr>
          <p:cNvSpPr>
            <a:spLocks xmlns:a="http://schemas.openxmlformats.org/drawingml/2006/main" noGrp="1"/>
          </p:cNvSpPr>
          <p:nvPr/>
        </p:nvSpPr>
        <p:spPr>
          <a:xfrm xmlns:a="http://schemas.openxmlformats.org/drawingml/2006/main">
            <a:off x="393668" y="2374868"/>
            <a:ext cx="3568732" cy="36195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spcAft>
                <a:spcPts val="400"/>
              </a:spcAft>
              <a:buNone/>
              <a:defRPr sz="2400">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A governed two-step RAG design</a:t>
            </a:r>
          </a:p>
          <a:p xmlns:a="http://schemas.openxmlformats.org/drawingml/2006/main">
            <a:pPr algn="l">
              <a:lnSpc>
                <a:spcPct val="108000"/>
              </a:lnSpc>
              <a:spcAft>
                <a:spcPts val="400"/>
              </a:spcAft>
              <a:buNone/>
              <a:defRPr sz="240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Public product pages become metadata-rich evidence rather than unqualified free-form context.</a:t>
            </a:r>
          </a:p>
          <a:p xmlns:a="http://schemas.openxmlformats.org/drawingml/2006/main">
            <a:pPr algn="l">
              <a:lnSpc>
                <a:spcPct val="108000"/>
              </a:lnSpc>
              <a:spcAft>
                <a:spcPts val="400"/>
              </a:spcAft>
              <a:buNone/>
              <a:defRPr sz="24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That separation lets us tell whether a failure came from data, retrieval, generation, or evaluation.</a:t>
            </a:r>
          </a:p>
        </p:txBody>
      </p:sp>
    </p:spTree>
    <p:extLst>
      <p:ext uri="{BB962C8B-B14F-4D97-AF65-F5344CB8AC3E}">
        <p14:creationId xmlns:p14="http://schemas.microsoft.com/office/powerpoint/2010/main" val="201071046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5" name="Google-Shape-532-p58-2">
            <a:extLst xmlns:a="http://schemas.openxmlformats.org/drawingml/2006/main">
              <a:ext uri="{FF2B5EF4-FFF2-40B4-BE49-F238E27FC236}">
                <a16:creationId xmlns:a16="http://schemas.microsoft.com/office/drawing/2014/main" id="{1EF5EAF9-547A-4AA6-93E8-AE5C52A94AAD}"/>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3</a:t>
            </a:r>
          </a:p>
        </p:txBody>
      </p:sp>
      <p:sp>
        <p:nvSpPr>
          <p:cNvPr id="2" name="Google-Shape-533-p58-3">
            <a:extLst xmlns:a="http://schemas.openxmlformats.org/drawingml/2006/main">
              <a:ext uri="{FF2B5EF4-FFF2-40B4-BE49-F238E27FC236}">
                <a16:creationId xmlns:a16="http://schemas.microsoft.com/office/drawing/2014/main" id="{DECA796E-9EC8-4105-9FEC-F25EBB900F4E}"/>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The test isolates retrieval, generation, and model effects</a:t>
            </a:r>
          </a:p>
        </p:txBody>
      </p:sp>
      <p:sp>
        <p:nvSpPr>
          <p:cNvPr id="3" name="Google-Shape-534-p58-4">
            <a:extLst xmlns:a="http://schemas.openxmlformats.org/drawingml/2006/main">
              <a:ext uri="{FF2B5EF4-FFF2-40B4-BE49-F238E27FC236}">
                <a16:creationId xmlns:a16="http://schemas.microsoft.com/office/drawing/2014/main" id="{2E4896C0-D49F-476E-A2C2-8A35C6A8928F}"/>
              </a:ext>
            </a:extLst>
          </p:cNvPr>
          <p:cNvSpPr>
            <a:spLocks xmlns:a="http://schemas.openxmlformats.org/drawingml/2006/main" noGrp="1"/>
          </p:cNvSpPr>
          <p:nvPr/>
        </p:nvSpPr>
        <p:spPr>
          <a:xfrm xmlns:a="http://schemas.openxmlformats.org/drawingml/2006/main">
            <a:off x="393668" y="1722406"/>
            <a:ext cx="5537168" cy="865156"/>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spcAft>
                <a:spcPts val="400"/>
              </a:spcAft>
              <a:buNone/>
              <a:defRPr sz="2400">
                <a:solidFill>
                  <a:srgbClr val="000000"/>
                </a:solidFill>
                <a:latin typeface="Helvetica Neue"/>
                <a:ea typeface="Helvetica Neue"/>
                <a:cs typeface="Helvetica Neue"/>
              </a:defRPr>
            </a:pPr>
            <a:r>
              <a:rPr sz="2250" b="1">
                <a:solidFill>
                  <a:srgbClr val="000000"/>
                </a:solidFill>
                <a:latin typeface="Helvetica Neue"/>
                <a:ea typeface="Helvetica Neue"/>
                <a:cs typeface="Helvetica Neue"/>
              </a:rPr>
              <a:t>8 questions × 3 models
× Base/RAG = 48 outputs</a:t>
            </a:r>
          </a:p>
        </p:txBody>
      </p:sp>
      <p:sp>
        <p:nvSpPr>
          <p:cNvPr id="4" name="Content-Placeholder-10-5">
            <a:extLst xmlns:a="http://schemas.openxmlformats.org/drawingml/2006/main">
              <a:ext uri="{FF2B5EF4-FFF2-40B4-BE49-F238E27FC236}">
                <a16:creationId xmlns:a16="http://schemas.microsoft.com/office/drawing/2014/main" id="{04199A86-7EBA-4351-9053-BD908A83C051}"/>
              </a:ext>
            </a:extLst>
          </p:cNvPr>
          <p:cNvSpPr>
            <a:spLocks xmlns:a="http://schemas.openxmlformats.org/drawingml/2006/main" noGrp="1"/>
          </p:cNvSpPr>
          <p:nvPr/>
        </p:nvSpPr>
        <p:spPr>
          <a:xfrm xmlns:a="http://schemas.openxmlformats.org/drawingml/2006/main">
            <a:off x="7886700" y="2990279"/>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Aft>
                <a:spcPts val="400"/>
              </a:spcAft>
              <a:buNone/>
              <a:defRPr sz="2400">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Public collection only</a:t>
            </a:r>
          </a:p>
        </p:txBody>
      </p:sp>
      <p:sp>
        <p:nvSpPr>
          <p:cNvPr id="5" name="Google-Shape-340-p61-6">
            <a:extLst xmlns:a="http://schemas.openxmlformats.org/drawingml/2006/main">
              <a:ext uri="{FF2B5EF4-FFF2-40B4-BE49-F238E27FC236}">
                <a16:creationId xmlns:a16="http://schemas.microsoft.com/office/drawing/2014/main" id="{3D0F3F00-18BB-4E3C-B935-AE3B49254DD4}"/>
              </a:ext>
            </a:extLst>
          </p:cNvPr>
          <p:cNvSpPr>
            <a:spLocks xmlns:a="http://schemas.openxmlformats.org/drawingml/2006/main" noGrp="1"/>
          </p:cNvSpPr>
          <p:nvPr/>
        </p:nvSpPr>
        <p:spPr>
          <a:xfrm xmlns:a="http://schemas.openxmlformats.org/drawingml/2006/main">
            <a:off x="7507700" y="3015139"/>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6" name="TextBox-11-7">
            <a:extLst xmlns:a="http://schemas.openxmlformats.org/drawingml/2006/main">
              <a:ext uri="{FF2B5EF4-FFF2-40B4-BE49-F238E27FC236}">
                <a16:creationId xmlns:a16="http://schemas.microsoft.com/office/drawing/2014/main" id="{1071D210-BE7B-418D-935A-597F099C9997}"/>
              </a:ext>
            </a:extLst>
          </p:cNvPr>
          <p:cNvSpPr>
            <a:spLocks xmlns:a="http://schemas.openxmlformats.org/drawingml/2006/main" noGrp="1"/>
          </p:cNvSpPr>
          <p:nvPr/>
        </p:nvSpPr>
        <p:spPr>
          <a:xfrm xmlns:a="http://schemas.openxmlformats.org/drawingml/2006/main">
            <a:off x="393668" y="2990279"/>
            <a:ext cx="5537168" cy="2884646"/>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p xmlns:a="http://schemas.openxmlformats.org/drawingml/2006/main">
            <a:pPr algn="l">
              <a:lnSpc>
                <a:spcPct val="108000"/>
              </a:lnSpc>
              <a:spcAft>
                <a:spcPts val="400"/>
              </a:spcAft>
              <a:buNone/>
              <a:defRPr sz="1800">
                <a:solidFill>
                  <a:srgbClr val="000000"/>
                </a:solidFill>
                <a:latin typeface="Helvetica Neue"/>
                <a:ea typeface="Helvetica Neue"/>
                <a:cs typeface="Helvetica Neue"/>
              </a:defRPr>
            </a:pPr>
            <a:r>
              <a:rPr sz="1425" b="0">
                <a:solidFill>
                  <a:srgbClr val="000000"/>
                </a:solidFill>
                <a:latin typeface="Helvetica Neue"/>
                <a:ea typeface="Helvetica Neue"/>
                <a:cs typeface="Helvetica Neue"/>
              </a:rPr>
              <a:t>Every model received the same questions, retrieved contexts, context order, seed 42, and deterministic decoding.</a:t>
            </a:r>
          </a:p>
          <a:p xmlns:a="http://schemas.openxmlformats.org/drawingml/2006/main">
            <a:pPr algn="l">
              <a:lnSpc>
                <a:spcPct val="108000"/>
              </a:lnSpc>
              <a:spcAft>
                <a:spcPts val="400"/>
              </a:spcAft>
              <a:buNone/>
              <a:defRPr sz="1800">
                <a:solidFill>
                  <a:srgbClr val="000000"/>
                </a:solidFill>
                <a:latin typeface="Helvetica Neue"/>
                <a:ea typeface="Helvetica Neue"/>
                <a:cs typeface="Helvetica Neue"/>
              </a:defRPr>
            </a:pPr>
            <a:r>
              <a:rPr sz="1425" b="0">
                <a:solidFill>
                  <a:srgbClr val="000000"/>
                </a:solidFill>
                <a:latin typeface="Helvetica Neue"/>
                <a:ea typeface="Helvetica Neue"/>
                <a:cs typeface="Helvetica Neue"/>
              </a:rPr>
              <a:t>The first adapter-preflight item stayed in the raw data but was excluded from the seven-pair primary aggregate.</a:t>
            </a:r>
          </a:p>
        </p:txBody>
      </p:sp>
      <p:sp>
        <p:nvSpPr>
          <p:cNvPr id="7" name="Content-Placeholder-10-8">
            <a:extLst xmlns:a="http://schemas.openxmlformats.org/drawingml/2006/main">
              <a:ext uri="{FF2B5EF4-FFF2-40B4-BE49-F238E27FC236}">
                <a16:creationId xmlns:a16="http://schemas.microsoft.com/office/drawing/2014/main" id="{E3089B58-3F46-4D63-944F-A7E97E7A6B78}"/>
              </a:ext>
            </a:extLst>
          </p:cNvPr>
          <p:cNvSpPr>
            <a:spLocks xmlns:a="http://schemas.openxmlformats.org/drawingml/2006/main" noGrp="1"/>
          </p:cNvSpPr>
          <p:nvPr/>
        </p:nvSpPr>
        <p:spPr>
          <a:xfrm xmlns:a="http://schemas.openxmlformats.org/drawingml/2006/main">
            <a:off x="7886700" y="3599879"/>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Aft>
                <a:spcPts val="400"/>
              </a:spcAft>
              <a:buNone/>
              <a:defRPr sz="2400">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FLAN, Mistral, and Llama</a:t>
            </a:r>
          </a:p>
        </p:txBody>
      </p:sp>
      <p:sp>
        <p:nvSpPr>
          <p:cNvPr id="8" name="Google-Shape-340-p61-9">
            <a:extLst xmlns:a="http://schemas.openxmlformats.org/drawingml/2006/main">
              <a:ext uri="{FF2B5EF4-FFF2-40B4-BE49-F238E27FC236}">
                <a16:creationId xmlns:a16="http://schemas.microsoft.com/office/drawing/2014/main" id="{C80B8DF1-5B9F-40C7-A01E-671793E8152E}"/>
              </a:ext>
            </a:extLst>
          </p:cNvPr>
          <p:cNvSpPr>
            <a:spLocks xmlns:a="http://schemas.openxmlformats.org/drawingml/2006/main" noGrp="1"/>
          </p:cNvSpPr>
          <p:nvPr/>
        </p:nvSpPr>
        <p:spPr>
          <a:xfrm xmlns:a="http://schemas.openxmlformats.org/drawingml/2006/main">
            <a:off x="7507700" y="3624739"/>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9" name="Content-Placeholder-10-10">
            <a:extLst xmlns:a="http://schemas.openxmlformats.org/drawingml/2006/main">
              <a:ext uri="{FF2B5EF4-FFF2-40B4-BE49-F238E27FC236}">
                <a16:creationId xmlns:a16="http://schemas.microsoft.com/office/drawing/2014/main" id="{B3A1F663-725D-47DC-8588-EA1C8765EEFA}"/>
              </a:ext>
            </a:extLst>
          </p:cNvPr>
          <p:cNvSpPr>
            <a:spLocks xmlns:a="http://schemas.openxmlformats.org/drawingml/2006/main" noGrp="1"/>
          </p:cNvSpPr>
          <p:nvPr/>
        </p:nvSpPr>
        <p:spPr>
          <a:xfrm xmlns:a="http://schemas.openxmlformats.org/drawingml/2006/main">
            <a:off x="7886700" y="4214813"/>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Aft>
                <a:spcPts val="400"/>
              </a:spcAft>
              <a:buNone/>
              <a:defRPr sz="2400">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48/48 generations + RAGAS</a:t>
            </a:r>
          </a:p>
        </p:txBody>
      </p:sp>
      <p:sp>
        <p:nvSpPr>
          <p:cNvPr id="10" name="Google-Shape-340-p61-11">
            <a:extLst xmlns:a="http://schemas.openxmlformats.org/drawingml/2006/main">
              <a:ext uri="{FF2B5EF4-FFF2-40B4-BE49-F238E27FC236}">
                <a16:creationId xmlns:a16="http://schemas.microsoft.com/office/drawing/2014/main" id="{A6AA1161-E021-4E79-AA07-63575D8704C2}"/>
              </a:ext>
            </a:extLst>
          </p:cNvPr>
          <p:cNvSpPr>
            <a:spLocks xmlns:a="http://schemas.openxmlformats.org/drawingml/2006/main" noGrp="1"/>
          </p:cNvSpPr>
          <p:nvPr/>
        </p:nvSpPr>
        <p:spPr>
          <a:xfrm xmlns:a="http://schemas.openxmlformats.org/drawingml/2006/main">
            <a:off x="7507700" y="4239578"/>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11" name="Content-Placeholder-10-12">
            <a:extLst xmlns:a="http://schemas.openxmlformats.org/drawingml/2006/main">
              <a:ext uri="{FF2B5EF4-FFF2-40B4-BE49-F238E27FC236}">
                <a16:creationId xmlns:a16="http://schemas.microsoft.com/office/drawing/2014/main" id="{5A2B6626-8B4C-4C85-BB66-0313D51632D1}"/>
              </a:ext>
            </a:extLst>
          </p:cNvPr>
          <p:cNvSpPr>
            <a:spLocks xmlns:a="http://schemas.openxmlformats.org/drawingml/2006/main" noGrp="1"/>
          </p:cNvSpPr>
          <p:nvPr/>
        </p:nvSpPr>
        <p:spPr>
          <a:xfrm xmlns:a="http://schemas.openxmlformats.org/drawingml/2006/main">
            <a:off x="7886700" y="4824317"/>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Aft>
                <a:spcPts val="400"/>
              </a:spcAft>
              <a:buNone/>
              <a:defRPr sz="2400">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18 retrieval ablations</a:t>
            </a:r>
          </a:p>
        </p:txBody>
      </p:sp>
      <p:sp>
        <p:nvSpPr>
          <p:cNvPr id="12" name="Google-Shape-340-p61-13">
            <a:extLst xmlns:a="http://schemas.openxmlformats.org/drawingml/2006/main">
              <a:ext uri="{FF2B5EF4-FFF2-40B4-BE49-F238E27FC236}">
                <a16:creationId xmlns:a16="http://schemas.microsoft.com/office/drawing/2014/main" id="{97523634-0349-4ECD-A6AD-DDB296F2CAC4}"/>
              </a:ext>
            </a:extLst>
          </p:cNvPr>
          <p:cNvSpPr>
            <a:spLocks xmlns:a="http://schemas.openxmlformats.org/drawingml/2006/main" noGrp="1"/>
          </p:cNvSpPr>
          <p:nvPr/>
        </p:nvSpPr>
        <p:spPr>
          <a:xfrm xmlns:a="http://schemas.openxmlformats.org/drawingml/2006/main">
            <a:off x="7507700" y="4849178"/>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13" name="Content-Placeholder-10-14">
            <a:extLst xmlns:a="http://schemas.openxmlformats.org/drawingml/2006/main">
              <a:ext uri="{FF2B5EF4-FFF2-40B4-BE49-F238E27FC236}">
                <a16:creationId xmlns:a16="http://schemas.microsoft.com/office/drawing/2014/main" id="{C30AD6DE-4EC9-447E-9732-010AFCBE99E8}"/>
              </a:ext>
            </a:extLst>
          </p:cNvPr>
          <p:cNvSpPr>
            <a:spLocks xmlns:a="http://schemas.openxmlformats.org/drawingml/2006/main" noGrp="1"/>
          </p:cNvSpPr>
          <p:nvPr/>
        </p:nvSpPr>
        <p:spPr>
          <a:xfrm xmlns:a="http://schemas.openxmlformats.org/drawingml/2006/main">
            <a:off x="7886700" y="5446681"/>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Aft>
                <a:spcPts val="400"/>
              </a:spcAft>
              <a:buNone/>
              <a:defRPr sz="2400">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June private tested separately</a:t>
            </a:r>
          </a:p>
        </p:txBody>
      </p:sp>
      <p:sp>
        <p:nvSpPr>
          <p:cNvPr id="14" name="Google-Shape-340-p61-15">
            <a:extLst xmlns:a="http://schemas.openxmlformats.org/drawingml/2006/main">
              <a:ext uri="{FF2B5EF4-FFF2-40B4-BE49-F238E27FC236}">
                <a16:creationId xmlns:a16="http://schemas.microsoft.com/office/drawing/2014/main" id="{45618E4F-E80C-4072-B82C-B7F131096165}"/>
              </a:ext>
            </a:extLst>
          </p:cNvPr>
          <p:cNvSpPr>
            <a:spLocks xmlns:a="http://schemas.openxmlformats.org/drawingml/2006/main" noGrp="1"/>
          </p:cNvSpPr>
          <p:nvPr/>
        </p:nvSpPr>
        <p:spPr>
          <a:xfrm xmlns:a="http://schemas.openxmlformats.org/drawingml/2006/main">
            <a:off x="7507700" y="5471541"/>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Tree>
    <p:extLst>
      <p:ext uri="{BB962C8B-B14F-4D97-AF65-F5344CB8AC3E}">
        <p14:creationId xmlns:p14="http://schemas.microsoft.com/office/powerpoint/2010/main" val="8967107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0" name="Google-Shape-532-p58-2">
            <a:extLst xmlns:a="http://schemas.openxmlformats.org/drawingml/2006/main">
              <a:ext uri="{FF2B5EF4-FFF2-40B4-BE49-F238E27FC236}">
                <a16:creationId xmlns:a16="http://schemas.microsoft.com/office/drawing/2014/main" id="{2D6F89DC-9518-43E2-AEDC-30E9FB5088B0}"/>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4</a:t>
            </a:r>
          </a:p>
        </p:txBody>
      </p:sp>
      <p:sp>
        <p:nvSpPr>
          <p:cNvPr id="2" name="Google-Shape-533-p58-3">
            <a:extLst xmlns:a="http://schemas.openxmlformats.org/drawingml/2006/main">
              <a:ext uri="{FF2B5EF4-FFF2-40B4-BE49-F238E27FC236}">
                <a16:creationId xmlns:a16="http://schemas.microsoft.com/office/drawing/2014/main" id="{6F3665BD-6E21-49DA-B1E4-1046FF3C0131}"/>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RAG improved all three models</a:t>
            </a:r>
          </a:p>
        </p:txBody>
      </p:sp>
      <p:sp>
        <p:nvSpPr>
          <p:cNvPr id="3" name="Rounded-Rectangle-6-4">
            <a:extLst xmlns:a="http://schemas.openxmlformats.org/drawingml/2006/main">
              <a:ext uri="{FF2B5EF4-FFF2-40B4-BE49-F238E27FC236}">
                <a16:creationId xmlns:a16="http://schemas.microsoft.com/office/drawing/2014/main" id="{2B29EF15-81E4-4A94-9AC7-7F1200BE9C46}"/>
              </a:ext>
            </a:extLst>
          </p:cNvPr>
          <p:cNvSpPr>
            <a:spLocks xmlns:a="http://schemas.openxmlformats.org/drawingml/2006/main" noGrp="1"/>
          </p:cNvSpPr>
          <p:nvPr/>
        </p:nvSpPr>
        <p:spPr>
          <a:xfrm xmlns:a="http://schemas.openxmlformats.org/drawingml/2006/main">
            <a:off x="6264402" y="2369820"/>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4" name="Content-Placeholder-10-5">
            <a:extLst xmlns:a="http://schemas.openxmlformats.org/drawingml/2006/main">
              <a:ext uri="{FF2B5EF4-FFF2-40B4-BE49-F238E27FC236}">
                <a16:creationId xmlns:a16="http://schemas.microsoft.com/office/drawing/2014/main" id="{C21FCDAB-44F2-400E-AF23-FD0545FA3C29}"/>
              </a:ext>
            </a:extLst>
          </p:cNvPr>
          <p:cNvSpPr>
            <a:spLocks xmlns:a="http://schemas.openxmlformats.org/drawingml/2006/main" noGrp="1"/>
          </p:cNvSpPr>
          <p:nvPr/>
        </p:nvSpPr>
        <p:spPr>
          <a:xfrm xmlns:a="http://schemas.openxmlformats.org/drawingml/2006/main">
            <a:off x="6561677" y="2664809"/>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Aft>
                <a:spcPts val="400"/>
              </a:spcAft>
              <a:buNone/>
              <a:defRPr sz="2400">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Mistral  0.347 → 0.466</a:t>
            </a:r>
          </a:p>
          <a:p xmlns:a="http://schemas.openxmlformats.org/drawingml/2006/main">
            <a:pPr algn="l">
              <a:lnSpc>
                <a:spcPct val="108000"/>
              </a:lnSpc>
              <a:spcAft>
                <a:spcPts val="400"/>
              </a:spcAft>
              <a:buNone/>
              <a:defRPr sz="2400">
                <a:solidFill>
                  <a:srgbClr val="000000"/>
                </a:solidFill>
                <a:latin typeface="Helvetica Neue"/>
                <a:ea typeface="Helvetica Neue"/>
                <a:cs typeface="Helvetica Neue"/>
              </a:defRPr>
            </a:pPr>
            <a:r>
              <a:rPr sz="1275" b="0">
                <a:solidFill>
                  <a:srgbClr val="000000"/>
                </a:solidFill>
                <a:latin typeface="Helvetica Neue"/>
                <a:ea typeface="Helvetica Neue"/>
                <a:cs typeface="Helvetica Neue"/>
              </a:rPr>
              <a:t>+0.119 · useful signal, but the Judge is the same model family</a:t>
            </a:r>
          </a:p>
        </p:txBody>
      </p:sp>
      <p:sp>
        <p:nvSpPr>
          <p:cNvPr id="5" name="Rounded-Rectangle-8-6">
            <a:extLst xmlns:a="http://schemas.openxmlformats.org/drawingml/2006/main">
              <a:ext uri="{FF2B5EF4-FFF2-40B4-BE49-F238E27FC236}">
                <a16:creationId xmlns:a16="http://schemas.microsoft.com/office/drawing/2014/main" id="{93CB74F5-B3F6-465D-8B97-D10EDA95BD1B}"/>
              </a:ext>
            </a:extLst>
          </p:cNvPr>
          <p:cNvSpPr>
            <a:spLocks xmlns:a="http://schemas.openxmlformats.org/drawingml/2006/main" noGrp="1"/>
          </p:cNvSpPr>
          <p:nvPr/>
        </p:nvSpPr>
        <p:spPr>
          <a:xfrm xmlns:a="http://schemas.openxmlformats.org/drawingml/2006/main">
            <a:off x="6264402" y="393668"/>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6" name="Content-Placeholder-10-7">
            <a:extLst xmlns:a="http://schemas.openxmlformats.org/drawingml/2006/main">
              <a:ext uri="{FF2B5EF4-FFF2-40B4-BE49-F238E27FC236}">
                <a16:creationId xmlns:a16="http://schemas.microsoft.com/office/drawing/2014/main" id="{92187325-F5EF-44A8-A946-AD476F6E636F}"/>
              </a:ext>
            </a:extLst>
          </p:cNvPr>
          <p:cNvSpPr>
            <a:spLocks xmlns:a="http://schemas.openxmlformats.org/drawingml/2006/main" noGrp="1"/>
          </p:cNvSpPr>
          <p:nvPr/>
        </p:nvSpPr>
        <p:spPr>
          <a:xfrm xmlns:a="http://schemas.openxmlformats.org/drawingml/2006/main">
            <a:off x="6561677" y="688658"/>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Aft>
                <a:spcPts val="400"/>
              </a:spcAft>
              <a:buNone/>
              <a:defRPr sz="2400">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Llama  0.290 → 0.538</a:t>
            </a:r>
          </a:p>
          <a:p xmlns:a="http://schemas.openxmlformats.org/drawingml/2006/main">
            <a:pPr algn="l">
              <a:lnSpc>
                <a:spcPct val="108000"/>
              </a:lnSpc>
              <a:spcAft>
                <a:spcPts val="400"/>
              </a:spcAft>
              <a:buNone/>
              <a:defRPr sz="2400">
                <a:solidFill>
                  <a:srgbClr val="000000"/>
                </a:solidFill>
                <a:latin typeface="Helvetica Neue"/>
                <a:ea typeface="Helvetica Neue"/>
                <a:cs typeface="Helvetica Neue"/>
              </a:defRPr>
            </a:pPr>
            <a:r>
              <a:rPr sz="1275" b="0">
                <a:solidFill>
                  <a:srgbClr val="000000"/>
                </a:solidFill>
                <a:latin typeface="Helvetica Neue"/>
                <a:ea typeface="Helvetica Neue"/>
                <a:cs typeface="Helvetica Neue"/>
              </a:rPr>
              <a:t>+0.248 · strongest evaluator-independent relevance gain</a:t>
            </a:r>
          </a:p>
        </p:txBody>
      </p:sp>
      <p:sp>
        <p:nvSpPr>
          <p:cNvPr id="7" name="Rounded-Rectangle-1-8">
            <a:extLst xmlns:a="http://schemas.openxmlformats.org/drawingml/2006/main">
              <a:ext uri="{FF2B5EF4-FFF2-40B4-BE49-F238E27FC236}">
                <a16:creationId xmlns:a16="http://schemas.microsoft.com/office/drawing/2014/main" id="{D1FD781C-2073-44FD-85AE-8CE0A6180D3C}"/>
              </a:ext>
            </a:extLst>
          </p:cNvPr>
          <p:cNvSpPr>
            <a:spLocks xmlns:a="http://schemas.openxmlformats.org/drawingml/2006/main" noGrp="1"/>
          </p:cNvSpPr>
          <p:nvPr/>
        </p:nvSpPr>
        <p:spPr>
          <a:xfrm xmlns:a="http://schemas.openxmlformats.org/drawingml/2006/main">
            <a:off x="6264402" y="4381500"/>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8" name="Content-Placeholder-10-9">
            <a:extLst xmlns:a="http://schemas.openxmlformats.org/drawingml/2006/main">
              <a:ext uri="{FF2B5EF4-FFF2-40B4-BE49-F238E27FC236}">
                <a16:creationId xmlns:a16="http://schemas.microsoft.com/office/drawing/2014/main" id="{FD163BDB-48CF-4D4C-9D2A-0651D47DCEC6}"/>
              </a:ext>
            </a:extLst>
          </p:cNvPr>
          <p:cNvSpPr>
            <a:spLocks xmlns:a="http://schemas.openxmlformats.org/drawingml/2006/main" noGrp="1"/>
          </p:cNvSpPr>
          <p:nvPr/>
        </p:nvSpPr>
        <p:spPr>
          <a:xfrm xmlns:a="http://schemas.openxmlformats.org/drawingml/2006/main">
            <a:off x="6561677" y="4676489"/>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Aft>
                <a:spcPts val="400"/>
              </a:spcAft>
              <a:buNone/>
              <a:defRPr sz="2400">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FLAN  0.223 → 0.410</a:t>
            </a:r>
          </a:p>
          <a:p xmlns:a="http://schemas.openxmlformats.org/drawingml/2006/main">
            <a:pPr algn="l">
              <a:lnSpc>
                <a:spcPct val="108000"/>
              </a:lnSpc>
              <a:spcAft>
                <a:spcPts val="400"/>
              </a:spcAft>
              <a:buNone/>
              <a:defRPr sz="2400">
                <a:solidFill>
                  <a:srgbClr val="000000"/>
                </a:solidFill>
                <a:latin typeface="Helvetica Neue"/>
                <a:ea typeface="Helvetica Neue"/>
                <a:cs typeface="Helvetica Neue"/>
              </a:defRPr>
            </a:pPr>
            <a:r>
              <a:rPr sz="1275" b="0">
                <a:solidFill>
                  <a:srgbClr val="000000"/>
                </a:solidFill>
                <a:latin typeface="Helvetica Neue"/>
                <a:ea typeface="Helvetica Neue"/>
                <a:cs typeface="Helvetica Neue"/>
              </a:rPr>
              <a:t>+0.187 · metric rose, but output and citation contracts failed</a:t>
            </a:r>
          </a:p>
        </p:txBody>
      </p:sp>
      <p:graphicFrame>
        <p:nvGraphicFramePr>
          <p:cNvPr id="18" name="Chart"/>
          <p:cNvGraphicFramePr/>
          <p:nvPr/>
        </p:nvGraphicFramePr>
        <p:xfrm>
          <a:off xmlns:a="http://schemas.openxmlformats.org/drawingml/2006/main" x="408718" y="1054132"/>
          <a:ext xmlns:a="http://schemas.openxmlformats.org/drawingml/2006/main" cx="5124164" cy="5452015"/>
        </p:xfrm>
        <a:graphic xmlns:a="http://schemas.openxmlformats.org/drawingml/2006/main">
          <a:graphicData uri="http://schemas.openxmlformats.org/drawingml/2006/chart">
            <c:chart xmlns:r="http://schemas.openxmlformats.org/officeDocument/2006/relationships" xmlns:c="http://schemas.openxmlformats.org/drawingml/2006/chart" r:id="Rfd7f6d2b235f41b5"/>
          </a:graphicData>
        </a:graphic>
      </p:graphicFrame>
    </p:spTree>
    <p:extLst>
      <p:ext uri="{BB962C8B-B14F-4D97-AF65-F5344CB8AC3E}">
        <p14:creationId xmlns:p14="http://schemas.microsoft.com/office/powerpoint/2010/main" val="86558553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0" name="Google-Shape-532-p58-2">
            <a:extLst xmlns:a="http://schemas.openxmlformats.org/drawingml/2006/main">
              <a:ext uri="{FF2B5EF4-FFF2-40B4-BE49-F238E27FC236}">
                <a16:creationId xmlns:a16="http://schemas.microsoft.com/office/drawing/2014/main" id="{5562F5CD-E0BD-45E8-8C08-52DEE2F33462}"/>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5</a:t>
            </a:r>
          </a:p>
        </p:txBody>
      </p:sp>
      <p:sp>
        <p:nvSpPr>
          <p:cNvPr id="2" name="Google-Shape-533-p58-3">
            <a:extLst xmlns:a="http://schemas.openxmlformats.org/drawingml/2006/main">
              <a:ext uri="{FF2B5EF4-FFF2-40B4-BE49-F238E27FC236}">
                <a16:creationId xmlns:a16="http://schemas.microsoft.com/office/drawing/2014/main" id="{115B127E-D103-4A74-B526-F9026F8DDF8C}"/>
              </a:ext>
            </a:extLst>
          </p:cNvPr>
          <p:cNvSpPr>
            <a:spLocks xmlns:a="http://schemas.openxmlformats.org/drawingml/2006/main" noGrp="1"/>
          </p:cNvSpPr>
          <p:nvPr/>
        </p:nvSpPr>
        <p:spPr>
          <a:xfrm xmlns:a="http://schemas.openxmlformats.org/drawingml/2006/main">
            <a:off x="393668" y="344519"/>
            <a:ext cx="11404568" cy="644271"/>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Automatic relevance is lower than direct content review</a:t>
            </a:r>
          </a:p>
        </p:txBody>
      </p:sp>
      <p:sp>
        <p:nvSpPr>
          <p:cNvPr id="3" name="Rounded-Rectangle-1-4">
            <a:extLst xmlns:a="http://schemas.openxmlformats.org/drawingml/2006/main">
              <a:ext uri="{FF2B5EF4-FFF2-40B4-BE49-F238E27FC236}">
                <a16:creationId xmlns:a16="http://schemas.microsoft.com/office/drawing/2014/main" id="{58285D96-80BA-4A36-B7D3-19567FED4748}"/>
              </a:ext>
            </a:extLst>
          </p:cNvPr>
          <p:cNvSpPr>
            <a:spLocks xmlns:a="http://schemas.openxmlformats.org/drawingml/2006/main" noGrp="1"/>
          </p:cNvSpPr>
          <p:nvPr/>
        </p:nvSpPr>
        <p:spPr>
          <a:xfrm xmlns:a="http://schemas.openxmlformats.org/drawingml/2006/main">
            <a:off x="397002" y="3339084"/>
            <a:ext cx="5533930" cy="1320832"/>
          </a:xfrm>
          <a:prstGeom xmlns:a="http://schemas.openxmlformats.org/drawingml/2006/main" prst="roundRect">
            <a:avLst>
              <a:gd name="adj" fmla="val 5769"/>
            </a:avLst>
          </a:prstGeom>
          <a:solidFill xmlns:a="http://schemas.openxmlformats.org/drawingml/2006/main">
            <a:srgbClr val="F2F2F2"/>
          </a:solidFill>
        </p:spPr>
      </p:sp>
      <p:sp>
        <p:nvSpPr>
          <p:cNvPr id="4" name="Content-Placeholder-10-5">
            <a:extLst xmlns:a="http://schemas.openxmlformats.org/drawingml/2006/main">
              <a:ext uri="{FF2B5EF4-FFF2-40B4-BE49-F238E27FC236}">
                <a16:creationId xmlns:a16="http://schemas.microsoft.com/office/drawing/2014/main" id="{ECEEBFEA-A890-4FC5-A05A-7D4A7FA65E5A}"/>
              </a:ext>
            </a:extLst>
          </p:cNvPr>
          <p:cNvSpPr>
            <a:spLocks xmlns:a="http://schemas.openxmlformats.org/drawingml/2006/main" noGrp="1"/>
          </p:cNvSpPr>
          <p:nvPr/>
        </p:nvSpPr>
        <p:spPr>
          <a:xfrm xmlns:a="http://schemas.openxmlformats.org/drawingml/2006/main">
            <a:off x="694277" y="3587972"/>
            <a:ext cx="4986909" cy="87782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2000"/>
              </a:lnSpc>
              <a:buNone/>
              <a:defRPr sz="2400">
                <a:solidFill>
                  <a:srgbClr val="000000"/>
                </a:solidFill>
                <a:latin typeface="Helvetica Neue"/>
                <a:ea typeface="Helvetica Neue"/>
                <a:cs typeface="Helvetica Neue"/>
              </a:defRPr>
            </a:pPr>
            <a:r>
              <a:rPr sz="2550" b="1">
                <a:solidFill>
                  <a:srgbClr val="000000"/>
                </a:solidFill>
                <a:latin typeface="Helvetica Neue"/>
                <a:ea typeface="Helvetica Neue"/>
                <a:cs typeface="Helvetica Neue"/>
              </a:rPr>
              <a:t>0.538</a:t>
            </a:r>
            <a:r>
              <a:rPr sz="1275">
                <a:solidFill>
                  <a:srgbClr val="000000"/>
                </a:solidFill>
                <a:latin typeface="Helvetica Neue"/>
                <a:ea typeface="Helvetica Neue"/>
                <a:cs typeface="Helvetica Neue"/>
              </a:rPr>
              <a:t>
RAGAS · Llama RAG</a:t>
            </a:r>
          </a:p>
        </p:txBody>
      </p:sp>
      <p:sp>
        <p:nvSpPr>
          <p:cNvPr id="5" name="Content-Placeholder-15-6">
            <a:extLst xmlns:a="http://schemas.openxmlformats.org/drawingml/2006/main">
              <a:ext uri="{FF2B5EF4-FFF2-40B4-BE49-F238E27FC236}">
                <a16:creationId xmlns:a16="http://schemas.microsoft.com/office/drawing/2014/main" id="{45E04670-FF5A-49C4-ACD3-49E60A08436F}"/>
              </a:ext>
            </a:extLst>
          </p:cNvPr>
          <p:cNvSpPr>
            <a:spLocks xmlns:a="http://schemas.openxmlformats.org/drawingml/2006/main" noGrp="1"/>
          </p:cNvSpPr>
          <p:nvPr/>
        </p:nvSpPr>
        <p:spPr>
          <a:xfrm xmlns:a="http://schemas.openxmlformats.org/drawingml/2006/main">
            <a:off x="694277" y="4828604"/>
            <a:ext cx="5236655" cy="97793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00"/>
              </a:spcAft>
              <a:buNone/>
              <a:defRPr sz="1600">
                <a:solidFill>
                  <a:srgbClr val="000000"/>
                </a:solidFill>
                <a:latin typeface="Helvetica Neue"/>
                <a:ea typeface="Helvetica Neue"/>
                <a:cs typeface="Helvetica Neue"/>
              </a:defRPr>
            </a:pPr>
            <a:r>
              <a:rPr sz="1350" b="1">
                <a:solidFill>
                  <a:srgbClr val="000000"/>
                </a:solidFill>
                <a:latin typeface="Helvetica Neue"/>
                <a:ea typeface="Helvetica Neue"/>
                <a:cs typeface="Helvetica Neue"/>
              </a:rPr>
              <a:t>7 uninspected pairs</a:t>
            </a:r>
          </a:p>
          <a:p xmlns:a="http://schemas.openxmlformats.org/drawingml/2006/main">
            <a:pPr algn="l">
              <a:lnSpc>
                <a:spcPct val="108000"/>
              </a:lnSpc>
              <a:spcAft>
                <a:spcPts val="400"/>
              </a:spcAft>
              <a:buNone/>
              <a:defRPr sz="16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Local Mistral Judge is uncalibrated</a:t>
            </a:r>
          </a:p>
          <a:p xmlns:a="http://schemas.openxmlformats.org/drawingml/2006/main">
            <a:pPr algn="l">
              <a:lnSpc>
                <a:spcPct val="108000"/>
              </a:lnSpc>
              <a:spcAft>
                <a:spcPts val="400"/>
              </a:spcAft>
              <a:buNone/>
              <a:defRPr sz="16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Diagnostic signal, not 53.8% usable</a:t>
            </a:r>
          </a:p>
        </p:txBody>
      </p:sp>
      <p:sp>
        <p:nvSpPr>
          <p:cNvPr id="6" name="Rounded-Rectangle-7-7">
            <a:extLst xmlns:a="http://schemas.openxmlformats.org/drawingml/2006/main">
              <a:ext uri="{FF2B5EF4-FFF2-40B4-BE49-F238E27FC236}">
                <a16:creationId xmlns:a16="http://schemas.microsoft.com/office/drawing/2014/main" id="{A5847F2E-977C-4ADF-A4F1-F4E1FFE17BB0}"/>
              </a:ext>
            </a:extLst>
          </p:cNvPr>
          <p:cNvSpPr>
            <a:spLocks xmlns:a="http://schemas.openxmlformats.org/drawingml/2006/main" noGrp="1"/>
          </p:cNvSpPr>
          <p:nvPr/>
        </p:nvSpPr>
        <p:spPr>
          <a:xfrm xmlns:a="http://schemas.openxmlformats.org/drawingml/2006/main">
            <a:off x="6260783" y="3339084"/>
            <a:ext cx="5533930" cy="1320832"/>
          </a:xfrm>
          <a:prstGeom xmlns:a="http://schemas.openxmlformats.org/drawingml/2006/main" prst="roundRect">
            <a:avLst>
              <a:gd name="adj" fmla="val 5769"/>
            </a:avLst>
          </a:prstGeom>
          <a:solidFill xmlns:a="http://schemas.openxmlformats.org/drawingml/2006/main">
            <a:srgbClr val="F2F2F2"/>
          </a:solidFill>
        </p:spPr>
      </p:sp>
      <p:sp>
        <p:nvSpPr>
          <p:cNvPr id="7" name="Content-Placeholder-10-8">
            <a:extLst xmlns:a="http://schemas.openxmlformats.org/drawingml/2006/main">
              <a:ext uri="{FF2B5EF4-FFF2-40B4-BE49-F238E27FC236}">
                <a16:creationId xmlns:a16="http://schemas.microsoft.com/office/drawing/2014/main" id="{4E06C037-D04C-47CD-B187-F53D7E9CF8CA}"/>
              </a:ext>
            </a:extLst>
          </p:cNvPr>
          <p:cNvSpPr>
            <a:spLocks xmlns:a="http://schemas.openxmlformats.org/drawingml/2006/main" noGrp="1"/>
          </p:cNvSpPr>
          <p:nvPr/>
        </p:nvSpPr>
        <p:spPr>
          <a:xfrm xmlns:a="http://schemas.openxmlformats.org/drawingml/2006/main">
            <a:off x="6558058" y="3587972"/>
            <a:ext cx="4986909" cy="87782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2000"/>
              </a:lnSpc>
              <a:buNone/>
              <a:defRPr sz="2400">
                <a:solidFill>
                  <a:srgbClr val="000000"/>
                </a:solidFill>
                <a:latin typeface="Helvetica Neue"/>
                <a:ea typeface="Helvetica Neue"/>
                <a:cs typeface="Helvetica Neue"/>
              </a:defRPr>
            </a:pPr>
            <a:r>
              <a:rPr sz="2550" b="1">
                <a:solidFill>
                  <a:srgbClr val="000000"/>
                </a:solidFill>
                <a:latin typeface="Helvetica Neue"/>
                <a:ea typeface="Helvetica Neue"/>
                <a:cs typeface="Helvetica Neue"/>
              </a:rPr>
              <a:t>4.375 / 5</a:t>
            </a:r>
            <a:r>
              <a:rPr sz="1275">
                <a:solidFill>
                  <a:srgbClr val="000000"/>
                </a:solidFill>
                <a:latin typeface="Helvetica Neue"/>
                <a:ea typeface="Helvetica Neue"/>
                <a:cs typeface="Helvetica Neue"/>
              </a:rPr>
              <a:t>
AI qualitative relevance</a:t>
            </a:r>
          </a:p>
        </p:txBody>
      </p:sp>
      <p:sp>
        <p:nvSpPr>
          <p:cNvPr id="8" name="Content-Placeholder-15-9">
            <a:extLst xmlns:a="http://schemas.openxmlformats.org/drawingml/2006/main">
              <a:ext uri="{FF2B5EF4-FFF2-40B4-BE49-F238E27FC236}">
                <a16:creationId xmlns:a16="http://schemas.microsoft.com/office/drawing/2014/main" id="{E420E9B7-A01C-46F8-B9CC-5005FBE3B471}"/>
              </a:ext>
            </a:extLst>
          </p:cNvPr>
          <p:cNvSpPr>
            <a:spLocks xmlns:a="http://schemas.openxmlformats.org/drawingml/2006/main" noGrp="1"/>
          </p:cNvSpPr>
          <p:nvPr/>
        </p:nvSpPr>
        <p:spPr>
          <a:xfrm xmlns:a="http://schemas.openxmlformats.org/drawingml/2006/main">
            <a:off x="6558058" y="4828604"/>
            <a:ext cx="5236655" cy="97793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00"/>
              </a:spcAft>
              <a:buNone/>
              <a:defRPr sz="1600">
                <a:solidFill>
                  <a:srgbClr val="000000"/>
                </a:solidFill>
                <a:latin typeface="Helvetica Neue"/>
                <a:ea typeface="Helvetica Neue"/>
                <a:cs typeface="Helvetica Neue"/>
              </a:defRPr>
            </a:pPr>
            <a:r>
              <a:rPr sz="1350" b="1">
                <a:solidFill>
                  <a:srgbClr val="000000"/>
                </a:solidFill>
                <a:latin typeface="Helvetica Neue"/>
                <a:ea typeface="Helvetica Neue"/>
                <a:cs typeface="Helvetica Neue"/>
              </a:rPr>
              <a:t>8 Llama RAG answers</a:t>
            </a:r>
          </a:p>
          <a:p xmlns:a="http://schemas.openxmlformats.org/drawingml/2006/main">
            <a:pPr algn="l">
              <a:lnSpc>
                <a:spcPct val="108000"/>
              </a:lnSpc>
              <a:spcAft>
                <a:spcPts val="400"/>
              </a:spcAft>
              <a:buNone/>
              <a:defRPr sz="16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30/31 claims supported</a:t>
            </a:r>
          </a:p>
          <a:p xmlns:a="http://schemas.openxmlformats.org/drawingml/2006/main">
            <a:pPr algn="l">
              <a:lnSpc>
                <a:spcPct val="108000"/>
              </a:lnSpc>
              <a:spcAft>
                <a:spcPts val="400"/>
              </a:spcAft>
              <a:buNone/>
              <a:defRPr sz="16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0.873 coverage · 0 forbidden claims</a:t>
            </a:r>
          </a:p>
        </p:txBody>
      </p:sp>
      <p:sp>
        <p:nvSpPr>
          <p:cNvPr id="9" name="Content-Placeholder-15-10">
            <a:extLst xmlns:a="http://schemas.openxmlformats.org/drawingml/2006/main">
              <a:ext uri="{FF2B5EF4-FFF2-40B4-BE49-F238E27FC236}">
                <a16:creationId xmlns:a16="http://schemas.microsoft.com/office/drawing/2014/main" id="{9BDDB7A7-622F-4024-B67F-8F7F8599EA61}"/>
              </a:ext>
            </a:extLst>
          </p:cNvPr>
          <p:cNvSpPr>
            <a:spLocks xmlns:a="http://schemas.openxmlformats.org/drawingml/2006/main" noGrp="1"/>
          </p:cNvSpPr>
          <p:nvPr/>
        </p:nvSpPr>
        <p:spPr>
          <a:xfrm xmlns:a="http://schemas.openxmlformats.org/drawingml/2006/main">
            <a:off x="400907" y="1157478"/>
            <a:ext cx="11404568" cy="1629251"/>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00"/>
              </a:spcAft>
              <a:buNone/>
              <a:defRPr sz="1600">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Different questions, different scales</a:t>
            </a:r>
          </a:p>
          <a:p xmlns:a="http://schemas.openxmlformats.org/drawingml/2006/main">
            <a:pPr algn="l">
              <a:lnSpc>
                <a:spcPct val="108000"/>
              </a:lnSpc>
              <a:spcAft>
                <a:spcPts val="400"/>
              </a:spcAft>
              <a:buNone/>
              <a:defRPr sz="160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RAGAS measures embedding-based semantic alignment. The AI review checks the actual answer against retrieved evidence and frozen scoring points.</a:t>
            </a:r>
          </a:p>
          <a:p xmlns:a="http://schemas.openxmlformats.org/drawingml/2006/main">
            <a:pPr algn="l">
              <a:lnSpc>
                <a:spcPct val="108000"/>
              </a:lnSpc>
              <a:spcAft>
                <a:spcPts val="400"/>
              </a:spcAft>
              <a:buNone/>
              <a:defRPr sz="160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The two results triangulate the system; neither is a production-usability percentage.</a:t>
            </a:r>
          </a:p>
        </p:txBody>
      </p:sp>
    </p:spTree>
    <p:extLst>
      <p:ext uri="{BB962C8B-B14F-4D97-AF65-F5344CB8AC3E}">
        <p14:creationId xmlns:p14="http://schemas.microsoft.com/office/powerpoint/2010/main" val="16743052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3" name="Google-Shape-532-p58-2">
            <a:extLst xmlns:a="http://schemas.openxmlformats.org/drawingml/2006/main">
              <a:ext uri="{FF2B5EF4-FFF2-40B4-BE49-F238E27FC236}">
                <a16:creationId xmlns:a16="http://schemas.microsoft.com/office/drawing/2014/main" id="{9C65613F-2053-4521-BCE5-002C745CDA58}"/>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6</a:t>
            </a:r>
          </a:p>
        </p:txBody>
      </p:sp>
      <p:sp>
        <p:nvSpPr>
          <p:cNvPr id="2" name="Google-Shape-533-p58-3">
            <a:extLst xmlns:a="http://schemas.openxmlformats.org/drawingml/2006/main">
              <a:ext uri="{FF2B5EF4-FFF2-40B4-BE49-F238E27FC236}">
                <a16:creationId xmlns:a16="http://schemas.microsoft.com/office/drawing/2014/main" id="{D37652F2-776D-4519-ACC6-219B02D4C0FA}"/>
              </a:ext>
            </a:extLst>
          </p:cNvPr>
          <p:cNvSpPr>
            <a:spLocks xmlns:a="http://schemas.openxmlformats.org/drawingml/2006/main" noGrp="1"/>
          </p:cNvSpPr>
          <p:nvPr/>
        </p:nvSpPr>
        <p:spPr>
          <a:xfrm xmlns:a="http://schemas.openxmlformats.org/drawingml/2006/main">
            <a:off x="393668" y="344519"/>
            <a:ext cx="11404568" cy="1283018"/>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The pipeline works; the benchmark is not production-grade</a:t>
            </a:r>
          </a:p>
        </p:txBody>
      </p:sp>
      <p:sp>
        <p:nvSpPr>
          <p:cNvPr id="3" name="Rounded-Rectangle-9-4">
            <a:extLst xmlns:a="http://schemas.openxmlformats.org/drawingml/2006/main">
              <a:ext uri="{FF2B5EF4-FFF2-40B4-BE49-F238E27FC236}">
                <a16:creationId xmlns:a16="http://schemas.microsoft.com/office/drawing/2014/main" id="{EFC663E2-E3D5-469C-B777-31DF5E1366E5}"/>
              </a:ext>
            </a:extLst>
          </p:cNvPr>
          <p:cNvSpPr>
            <a:spLocks xmlns:a="http://schemas.openxmlformats.org/drawingml/2006/main" noGrp="1"/>
          </p:cNvSpPr>
          <p:nvPr/>
        </p:nvSpPr>
        <p:spPr>
          <a:xfrm xmlns:a="http://schemas.openxmlformats.org/drawingml/2006/main">
            <a:off x="4308920" y="3365468"/>
            <a:ext cx="3568732" cy="2628900"/>
          </a:xfrm>
          <a:prstGeom xmlns:a="http://schemas.openxmlformats.org/drawingml/2006/main" prst="roundRect">
            <a:avLst>
              <a:gd name="adj" fmla="val 2899"/>
            </a:avLst>
          </a:prstGeom>
          <a:solidFill xmlns:a="http://schemas.openxmlformats.org/drawingml/2006/main">
            <a:srgbClr val="F2F2F2"/>
          </a:solidFill>
        </p:spPr>
      </p:sp>
      <p:sp>
        <p:nvSpPr>
          <p:cNvPr id="4" name="Rounded-Rectangle-10-5">
            <a:extLst xmlns:a="http://schemas.openxmlformats.org/drawingml/2006/main">
              <a:ext uri="{FF2B5EF4-FFF2-40B4-BE49-F238E27FC236}">
                <a16:creationId xmlns:a16="http://schemas.microsoft.com/office/drawing/2014/main" id="{803F97D9-6780-4AF7-8BFF-9C2659023890}"/>
              </a:ext>
            </a:extLst>
          </p:cNvPr>
          <p:cNvSpPr>
            <a:spLocks xmlns:a="http://schemas.openxmlformats.org/drawingml/2006/main" noGrp="1"/>
          </p:cNvSpPr>
          <p:nvPr/>
        </p:nvSpPr>
        <p:spPr>
          <a:xfrm xmlns:a="http://schemas.openxmlformats.org/drawingml/2006/main">
            <a:off x="8229600" y="3365468"/>
            <a:ext cx="3568732" cy="2628900"/>
          </a:xfrm>
          <a:prstGeom xmlns:a="http://schemas.openxmlformats.org/drawingml/2006/main" prst="roundRect">
            <a:avLst>
              <a:gd name="adj" fmla="val 2899"/>
            </a:avLst>
          </a:prstGeom>
          <a:solidFill xmlns:a="http://schemas.openxmlformats.org/drawingml/2006/main">
            <a:srgbClr val="F2F2F2"/>
          </a:solidFill>
        </p:spPr>
      </p:sp>
      <p:sp>
        <p:nvSpPr>
          <p:cNvPr id="5" name="Content-Placeholder-9-6">
            <a:extLst xmlns:a="http://schemas.openxmlformats.org/drawingml/2006/main">
              <a:ext uri="{FF2B5EF4-FFF2-40B4-BE49-F238E27FC236}">
                <a16:creationId xmlns:a16="http://schemas.microsoft.com/office/drawing/2014/main" id="{BC840D7A-FE83-48B8-9729-D1C7D30E8F81}"/>
              </a:ext>
            </a:extLst>
          </p:cNvPr>
          <p:cNvSpPr>
            <a:spLocks xmlns:a="http://schemas.openxmlformats.org/drawingml/2006/main" noGrp="1"/>
          </p:cNvSpPr>
          <p:nvPr/>
        </p:nvSpPr>
        <p:spPr>
          <a:xfrm xmlns:a="http://schemas.openxmlformats.org/drawingml/2006/main">
            <a:off x="4621816" y="4146137"/>
            <a:ext cx="2949321" cy="143284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00"/>
              </a:spcAft>
              <a:buNone/>
              <a:defRPr sz="2400">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Evaluation uncertainty</a:t>
            </a:r>
          </a:p>
          <a:p xmlns:a="http://schemas.openxmlformats.org/drawingml/2006/main">
            <a:pPr algn="l">
              <a:lnSpc>
                <a:spcPct val="108000"/>
              </a:lnSpc>
              <a:spcAft>
                <a:spcPts val="400"/>
              </a:spcAft>
              <a:buNone/>
              <a:defRPr sz="2400">
                <a:solidFill>
                  <a:srgbClr val="000000"/>
                </a:solidFill>
                <a:latin typeface="Helvetica Neue"/>
                <a:ea typeface="Helvetica Neue"/>
                <a:cs typeface="Helvetica Neue"/>
              </a:defRPr>
            </a:pPr>
            <a:r>
              <a:rPr sz="1275" b="0">
                <a:solidFill>
                  <a:srgbClr val="000000"/>
                </a:solidFill>
                <a:latin typeface="Helvetica Neue"/>
                <a:ea typeface="Helvetica Neue"/>
                <a:cs typeface="Helvetica Neue"/>
              </a:rPr>
              <a:t>Uncalibrated Judge, seven-pair aggregate, and AI review is not independent.</a:t>
            </a:r>
          </a:p>
        </p:txBody>
      </p:sp>
      <p:sp>
        <p:nvSpPr>
          <p:cNvPr id="6" name="Content-Placeholder-10-7">
            <a:extLst xmlns:a="http://schemas.openxmlformats.org/drawingml/2006/main">
              <a:ext uri="{FF2B5EF4-FFF2-40B4-BE49-F238E27FC236}">
                <a16:creationId xmlns:a16="http://schemas.microsoft.com/office/drawing/2014/main" id="{84294627-49F5-4896-AC96-56EC656545D5}"/>
              </a:ext>
            </a:extLst>
          </p:cNvPr>
          <p:cNvSpPr>
            <a:spLocks xmlns:a="http://schemas.openxmlformats.org/drawingml/2006/main" noGrp="1"/>
          </p:cNvSpPr>
          <p:nvPr/>
        </p:nvSpPr>
        <p:spPr>
          <a:xfrm xmlns:a="http://schemas.openxmlformats.org/drawingml/2006/main">
            <a:off x="8536115" y="4146137"/>
            <a:ext cx="2949321" cy="143284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00"/>
              </a:spcAft>
              <a:buNone/>
              <a:defRPr sz="2400">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Output discipline</a:t>
            </a:r>
          </a:p>
          <a:p xmlns:a="http://schemas.openxmlformats.org/drawingml/2006/main">
            <a:pPr algn="l">
              <a:lnSpc>
                <a:spcPct val="108000"/>
              </a:lnSpc>
              <a:spcAft>
                <a:spcPts val="400"/>
              </a:spcAft>
              <a:buNone/>
              <a:defRPr sz="2400">
                <a:solidFill>
                  <a:srgbClr val="000000"/>
                </a:solidFill>
                <a:latin typeface="Helvetica Neue"/>
                <a:ea typeface="Helvetica Neue"/>
                <a:cs typeface="Helvetica Neue"/>
              </a:defRPr>
            </a:pPr>
            <a:r>
              <a:rPr sz="1275" b="0">
                <a:solidFill>
                  <a:srgbClr val="000000"/>
                </a:solidFill>
                <a:latin typeface="Helvetica Neue"/>
                <a:ea typeface="Helvetica Neue"/>
                <a:cs typeface="Helvetica Neue"/>
              </a:rPr>
              <a:t>Strict citations: Llama 1/7, Mistral 1/7, FLAN 0/7.</a:t>
            </a:r>
          </a:p>
        </p:txBody>
      </p:sp>
      <p:sp>
        <p:nvSpPr>
          <p:cNvPr id="7" name="Google-Shape-340-p61-8">
            <a:extLst xmlns:a="http://schemas.openxmlformats.org/drawingml/2006/main">
              <a:ext uri="{FF2B5EF4-FFF2-40B4-BE49-F238E27FC236}">
                <a16:creationId xmlns:a16="http://schemas.microsoft.com/office/drawing/2014/main" id="{91E7F35C-7E81-4A4D-B846-C8F84CDE5617}"/>
              </a:ext>
            </a:extLst>
          </p:cNvPr>
          <p:cNvSpPr>
            <a:spLocks xmlns:a="http://schemas.openxmlformats.org/drawingml/2006/main" noGrp="1"/>
          </p:cNvSpPr>
          <p:nvPr/>
        </p:nvSpPr>
        <p:spPr>
          <a:xfrm xmlns:a="http://schemas.openxmlformats.org/drawingml/2006/main">
            <a:off x="4627626" y="3694081"/>
            <a:ext cx="233839" cy="233744"/>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8" name="Google-Shape-340-p61-9">
            <a:extLst xmlns:a="http://schemas.openxmlformats.org/drawingml/2006/main">
              <a:ext uri="{FF2B5EF4-FFF2-40B4-BE49-F238E27FC236}">
                <a16:creationId xmlns:a16="http://schemas.microsoft.com/office/drawing/2014/main" id="{24EE5F60-1ED3-4A0D-AAAF-ADF3FDBAAD05}"/>
              </a:ext>
            </a:extLst>
          </p:cNvPr>
          <p:cNvSpPr>
            <a:spLocks xmlns:a="http://schemas.openxmlformats.org/drawingml/2006/main" noGrp="1"/>
          </p:cNvSpPr>
          <p:nvPr/>
        </p:nvSpPr>
        <p:spPr>
          <a:xfrm xmlns:a="http://schemas.openxmlformats.org/drawingml/2006/main">
            <a:off x="8533257" y="3694081"/>
            <a:ext cx="233839" cy="233744"/>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9" name="Rounded-Rectangle-5-10">
            <a:extLst xmlns:a="http://schemas.openxmlformats.org/drawingml/2006/main">
              <a:ext uri="{FF2B5EF4-FFF2-40B4-BE49-F238E27FC236}">
                <a16:creationId xmlns:a16="http://schemas.microsoft.com/office/drawing/2014/main" id="{7F6CEAD5-B869-4CF2-92E5-C95E88480784}"/>
              </a:ext>
            </a:extLst>
          </p:cNvPr>
          <p:cNvSpPr>
            <a:spLocks xmlns:a="http://schemas.openxmlformats.org/drawingml/2006/main" noGrp="1"/>
          </p:cNvSpPr>
          <p:nvPr/>
        </p:nvSpPr>
        <p:spPr>
          <a:xfrm xmlns:a="http://schemas.openxmlformats.org/drawingml/2006/main">
            <a:off x="388334" y="3365468"/>
            <a:ext cx="3568732" cy="2628900"/>
          </a:xfrm>
          <a:prstGeom xmlns:a="http://schemas.openxmlformats.org/drawingml/2006/main" prst="roundRect">
            <a:avLst>
              <a:gd name="adj" fmla="val 2899"/>
            </a:avLst>
          </a:prstGeom>
          <a:solidFill xmlns:a="http://schemas.openxmlformats.org/drawingml/2006/main">
            <a:srgbClr val="F2F2F2"/>
          </a:solidFill>
        </p:spPr>
      </p:sp>
      <p:sp>
        <p:nvSpPr>
          <p:cNvPr id="10" name="Content-Placeholder-9-11">
            <a:extLst xmlns:a="http://schemas.openxmlformats.org/drawingml/2006/main">
              <a:ext uri="{FF2B5EF4-FFF2-40B4-BE49-F238E27FC236}">
                <a16:creationId xmlns:a16="http://schemas.microsoft.com/office/drawing/2014/main" id="{6A677083-597C-4522-9118-57FAE0EBF6CC}"/>
              </a:ext>
            </a:extLst>
          </p:cNvPr>
          <p:cNvSpPr>
            <a:spLocks xmlns:a="http://schemas.openxmlformats.org/drawingml/2006/main" noGrp="1"/>
          </p:cNvSpPr>
          <p:nvPr/>
        </p:nvSpPr>
        <p:spPr>
          <a:xfrm xmlns:a="http://schemas.openxmlformats.org/drawingml/2006/main">
            <a:off x="701135" y="4146137"/>
            <a:ext cx="2949321" cy="143284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00"/>
              </a:spcAft>
              <a:buNone/>
              <a:defRPr sz="2400">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Small and easy</a:t>
            </a:r>
          </a:p>
          <a:p xmlns:a="http://schemas.openxmlformats.org/drawingml/2006/main">
            <a:pPr algn="l">
              <a:lnSpc>
                <a:spcPct val="108000"/>
              </a:lnSpc>
              <a:spcAft>
                <a:spcPts val="400"/>
              </a:spcAft>
              <a:buNone/>
              <a:defRPr sz="2400">
                <a:solidFill>
                  <a:srgbClr val="000000"/>
                </a:solidFill>
                <a:latin typeface="Helvetica Neue"/>
                <a:ea typeface="Helvetica Neue"/>
                <a:cs typeface="Helvetica Neue"/>
              </a:defRPr>
            </a:pPr>
            <a:r>
              <a:rPr sz="1275" b="0">
                <a:solidFill>
                  <a:srgbClr val="000000"/>
                </a:solidFill>
                <a:latin typeface="Helvetica Neue"/>
                <a:ea typeface="Helvetica Neue"/>
                <a:cs typeface="Helvetica Neue"/>
              </a:rPr>
              <a:t>16 public chunks; top-k 4 returns all or nearly all eligible context.</a:t>
            </a:r>
          </a:p>
        </p:txBody>
      </p:sp>
      <p:sp>
        <p:nvSpPr>
          <p:cNvPr id="11" name="Google-Shape-340-p61-12">
            <a:extLst xmlns:a="http://schemas.openxmlformats.org/drawingml/2006/main">
              <a:ext uri="{FF2B5EF4-FFF2-40B4-BE49-F238E27FC236}">
                <a16:creationId xmlns:a16="http://schemas.microsoft.com/office/drawing/2014/main" id="{333B68B0-6940-4C32-A043-1F911C724CC2}"/>
              </a:ext>
            </a:extLst>
          </p:cNvPr>
          <p:cNvSpPr>
            <a:spLocks xmlns:a="http://schemas.openxmlformats.org/drawingml/2006/main" noGrp="1"/>
          </p:cNvSpPr>
          <p:nvPr/>
        </p:nvSpPr>
        <p:spPr>
          <a:xfrm xmlns:a="http://schemas.openxmlformats.org/drawingml/2006/main">
            <a:off x="707041" y="3694081"/>
            <a:ext cx="233839" cy="233744"/>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12" name="Content-Placeholder-15-13">
            <a:extLst xmlns:a="http://schemas.openxmlformats.org/drawingml/2006/main">
              <a:ext uri="{FF2B5EF4-FFF2-40B4-BE49-F238E27FC236}">
                <a16:creationId xmlns:a16="http://schemas.microsoft.com/office/drawing/2014/main" id="{3B08B78A-E3CB-46B8-942D-6D6B313968BD}"/>
              </a:ext>
            </a:extLst>
          </p:cNvPr>
          <p:cNvSpPr>
            <a:spLocks xmlns:a="http://schemas.openxmlformats.org/drawingml/2006/main" noGrp="1"/>
          </p:cNvSpPr>
          <p:nvPr/>
        </p:nvSpPr>
        <p:spPr>
          <a:xfrm xmlns:a="http://schemas.openxmlformats.org/drawingml/2006/main">
            <a:off x="393668" y="1450562"/>
            <a:ext cx="11404568" cy="1629251"/>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00"/>
              </a:spcAft>
              <a:buNone/>
              <a:defRPr sz="1600">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Three limits define the next iteration</a:t>
            </a:r>
          </a:p>
          <a:p xmlns:a="http://schemas.openxmlformats.org/drawingml/2006/main">
            <a:pPr algn="l">
              <a:lnSpc>
                <a:spcPct val="108000"/>
              </a:lnSpc>
              <a:spcAft>
                <a:spcPts val="400"/>
              </a:spcAft>
              <a:buNone/>
              <a:defRPr sz="160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These are validity and scale limitations, not missing Week 3 deliverables.</a:t>
            </a:r>
          </a:p>
          <a:p xmlns:a="http://schemas.openxmlformats.org/drawingml/2006/main">
            <a:pPr algn="l">
              <a:lnSpc>
                <a:spcPct val="108000"/>
              </a:lnSpc>
              <a:spcAft>
                <a:spcPts val="400"/>
              </a:spcAft>
              <a:buNone/>
              <a:defRPr sz="160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The current conclusion remains a small-corpus RAG-helpfulness claim.</a:t>
            </a:r>
          </a:p>
        </p:txBody>
      </p:sp>
    </p:spTree>
    <p:extLst>
      <p:ext uri="{BB962C8B-B14F-4D97-AF65-F5344CB8AC3E}">
        <p14:creationId xmlns:p14="http://schemas.microsoft.com/office/powerpoint/2010/main" val="33596937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603CB064-15F5-4AA9-A0E5-D3D87F2CB95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7</a:t>
            </a:r>
          </a:p>
        </p:txBody>
      </p:sp>
      <p:sp>
        <p:nvSpPr>
          <p:cNvPr id="2" name="Title-10-3">
            <a:extLst xmlns:a="http://schemas.openxmlformats.org/drawingml/2006/main">
              <a:ext uri="{FF2B5EF4-FFF2-40B4-BE49-F238E27FC236}">
                <a16:creationId xmlns:a16="http://schemas.microsoft.com/office/drawing/2014/main" id="{E667128B-421D-44AC-8178-14912764DD24}"/>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Next: scale the benchmark, not the pipeline</a:t>
            </a:r>
          </a:p>
        </p:txBody>
      </p:sp>
      <p:cxnSp>
        <p:nvCxnSpPr>
          <p:cNvPr id="15" name="Google-Shape-2259-p159-4"/>
          <p:cNvCxnSpPr/>
          <p:nvPr/>
        </p:nvCxnSpPr>
        <p:spPr>
          <a:xfrm xmlns:a="http://schemas.openxmlformats.org/drawingml/2006/main">
            <a:off x="337757" y="3373755"/>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8BE99AED-9AB7-4431-83D5-828F1C152EB7}"/>
              </a:ext>
            </a:extLst>
          </p:cNvPr>
          <p:cNvSpPr>
            <a:spLocks xmlns:a="http://schemas.openxmlformats.org/drawingml/2006/main" noGrp="1"/>
          </p:cNvSpPr>
          <p:nvPr/>
        </p:nvSpPr>
        <p:spPr>
          <a:xfrm xmlns:a="http://schemas.openxmlformats.org/drawingml/2006/main">
            <a:off x="337757" y="3320225"/>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7183DEB3-DB94-4936-A88B-5201E4852452}"/>
              </a:ext>
            </a:extLst>
          </p:cNvPr>
          <p:cNvSpPr>
            <a:spLocks xmlns:a="http://schemas.openxmlformats.org/drawingml/2006/main" noGrp="1"/>
          </p:cNvSpPr>
          <p:nvPr/>
        </p:nvSpPr>
        <p:spPr>
          <a:xfrm xmlns:a="http://schemas.openxmlformats.org/drawingml/2006/main">
            <a:off x="4251770" y="3320225"/>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06EEE948-23BF-4ADF-844D-EE5439569FD2}"/>
              </a:ext>
            </a:extLst>
          </p:cNvPr>
          <p:cNvSpPr>
            <a:spLocks xmlns:a="http://schemas.openxmlformats.org/drawingml/2006/main" noGrp="1"/>
          </p:cNvSpPr>
          <p:nvPr/>
        </p:nvSpPr>
        <p:spPr>
          <a:xfrm xmlns:a="http://schemas.openxmlformats.org/drawingml/2006/main">
            <a:off x="8176070" y="3320225"/>
            <a:ext cx="107061" cy="107061"/>
          </a:xfrm>
          <a:prstGeom xmlns:a="http://schemas.openxmlformats.org/drawingml/2006/main" prst="ellipse">
            <a:avLst/>
          </a:prstGeom>
          <a:solidFill xmlns:a="http://schemas.openxmlformats.org/drawingml/2006/main">
            <a:srgbClr val="000000"/>
          </a:solidFill>
        </p:spPr>
      </p:sp>
      <p:sp>
        <p:nvSpPr>
          <p:cNvPr id="7" name="Content-Placeholder-15-8">
            <a:extLst xmlns:a="http://schemas.openxmlformats.org/drawingml/2006/main">
              <a:ext uri="{FF2B5EF4-FFF2-40B4-BE49-F238E27FC236}">
                <a16:creationId xmlns:a16="http://schemas.microsoft.com/office/drawing/2014/main" id="{1A137DD0-FB41-4987-8AFB-6BD336EFE726}"/>
              </a:ext>
            </a:extLst>
          </p:cNvPr>
          <p:cNvSpPr>
            <a:spLocks xmlns:a="http://schemas.openxmlformats.org/drawingml/2006/main" noGrp="1"/>
          </p:cNvSpPr>
          <p:nvPr/>
        </p:nvSpPr>
        <p:spPr>
          <a:xfrm xmlns:a="http://schemas.openxmlformats.org/drawingml/2006/main">
            <a:off x="39366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00"/>
              </a:spcAft>
              <a:buNone/>
              <a:defRPr sz="1600">
                <a:solidFill>
                  <a:srgbClr val="000000"/>
                </a:solidFill>
                <a:latin typeface="Helvetica Neue"/>
                <a:ea typeface="Helvetica Neue"/>
                <a:cs typeface="Helvetica Neue"/>
              </a:defRPr>
            </a:pPr>
            <a:r>
              <a:rPr sz="1425" b="1">
                <a:solidFill>
                  <a:srgbClr val="000000"/>
                </a:solidFill>
                <a:latin typeface="Helvetica Neue"/>
                <a:ea typeface="Helvetica Neue"/>
                <a:cs typeface="Helvetica Neue"/>
              </a:rPr>
              <a:t>1 · EXPAND</a:t>
            </a:r>
          </a:p>
        </p:txBody>
      </p:sp>
      <p:sp>
        <p:nvSpPr>
          <p:cNvPr id="8" name="Content-Placeholder-15-9">
            <a:extLst xmlns:a="http://schemas.openxmlformats.org/drawingml/2006/main">
              <a:ext uri="{FF2B5EF4-FFF2-40B4-BE49-F238E27FC236}">
                <a16:creationId xmlns:a16="http://schemas.microsoft.com/office/drawing/2014/main" id="{CBB15B28-98E7-4DD3-8FA5-37BA7570E7C4}"/>
              </a:ext>
            </a:extLst>
          </p:cNvPr>
          <p:cNvSpPr>
            <a:spLocks xmlns:a="http://schemas.openxmlformats.org/drawingml/2006/main" noGrp="1"/>
          </p:cNvSpPr>
          <p:nvPr/>
        </p:nvSpPr>
        <p:spPr>
          <a:xfrm xmlns:a="http://schemas.openxmlformats.org/drawingml/2006/main">
            <a:off x="4294156"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00"/>
              </a:spcAft>
              <a:buNone/>
              <a:defRPr sz="1600">
                <a:solidFill>
                  <a:srgbClr val="000000"/>
                </a:solidFill>
                <a:latin typeface="Helvetica Neue"/>
                <a:ea typeface="Helvetica Neue"/>
                <a:cs typeface="Helvetica Neue"/>
              </a:defRPr>
            </a:pPr>
            <a:r>
              <a:rPr sz="1425" b="1">
                <a:solidFill>
                  <a:srgbClr val="000000"/>
                </a:solidFill>
                <a:latin typeface="Helvetica Neue"/>
                <a:ea typeface="Helvetica Neue"/>
                <a:cs typeface="Helvetica Neue"/>
              </a:rPr>
              <a:t>2 · FREEZE</a:t>
            </a:r>
          </a:p>
        </p:txBody>
      </p:sp>
      <p:sp>
        <p:nvSpPr>
          <p:cNvPr id="9" name="Content-Placeholder-15-10">
            <a:extLst xmlns:a="http://schemas.openxmlformats.org/drawingml/2006/main">
              <a:ext uri="{FF2B5EF4-FFF2-40B4-BE49-F238E27FC236}">
                <a16:creationId xmlns:a16="http://schemas.microsoft.com/office/drawing/2014/main" id="{66617950-8DC0-4892-98E1-0A6B0D8AC746}"/>
              </a:ext>
            </a:extLst>
          </p:cNvPr>
          <p:cNvSpPr>
            <a:spLocks xmlns:a="http://schemas.openxmlformats.org/drawingml/2006/main" noGrp="1"/>
          </p:cNvSpPr>
          <p:nvPr/>
        </p:nvSpPr>
        <p:spPr>
          <a:xfrm xmlns:a="http://schemas.openxmlformats.org/drawingml/2006/main">
            <a:off x="822321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00"/>
              </a:spcAft>
              <a:buNone/>
              <a:defRPr sz="1600">
                <a:solidFill>
                  <a:srgbClr val="000000"/>
                </a:solidFill>
                <a:latin typeface="Helvetica Neue"/>
                <a:ea typeface="Helvetica Neue"/>
                <a:cs typeface="Helvetica Neue"/>
              </a:defRPr>
            </a:pPr>
            <a:r>
              <a:rPr sz="1425" b="1">
                <a:solidFill>
                  <a:srgbClr val="000000"/>
                </a:solidFill>
                <a:latin typeface="Helvetica Neue"/>
                <a:ea typeface="Helvetica Neue"/>
                <a:cs typeface="Helvetica Neue"/>
              </a:rPr>
              <a:t>3 · RERUN</a:t>
            </a:r>
          </a:p>
        </p:txBody>
      </p:sp>
      <p:sp>
        <p:nvSpPr>
          <p:cNvPr id="10" name="Text-Placeholder-16-11">
            <a:extLst xmlns:a="http://schemas.openxmlformats.org/drawingml/2006/main">
              <a:ext uri="{FF2B5EF4-FFF2-40B4-BE49-F238E27FC236}">
                <a16:creationId xmlns:a16="http://schemas.microsoft.com/office/drawing/2014/main" id="{DAB58E17-5BFC-44F8-BC86-1413C2C9F8BC}"/>
              </a:ext>
            </a:extLst>
          </p:cNvPr>
          <p:cNvSpPr>
            <a:spLocks xmlns:a="http://schemas.openxmlformats.org/drawingml/2006/main" noGrp="1"/>
          </p:cNvSpPr>
          <p:nvPr/>
        </p:nvSpPr>
        <p:spPr>
          <a:xfrm xmlns:a="http://schemas.openxmlformats.org/drawingml/2006/main">
            <a:off x="4317111"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00"/>
              </a:spcAft>
              <a:buNone/>
              <a:defRPr sz="2400">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24–32 questions</a:t>
            </a:r>
          </a:p>
          <a:p xmlns:a="http://schemas.openxmlformats.org/drawingml/2006/main">
            <a:pPr algn="l">
              <a:lnSpc>
                <a:spcPct val="108000"/>
              </a:lnSpc>
              <a:spcAft>
                <a:spcPts val="400"/>
              </a:spcAft>
              <a:buNone/>
              <a:defRPr sz="24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Include noisy, multi-turn, no-evidence, multilingual, and injection cases.</a:t>
            </a:r>
          </a:p>
        </p:txBody>
      </p:sp>
      <p:sp>
        <p:nvSpPr>
          <p:cNvPr id="11" name="Text-Placeholder-16-12">
            <a:extLst xmlns:a="http://schemas.openxmlformats.org/drawingml/2006/main">
              <a:ext uri="{FF2B5EF4-FFF2-40B4-BE49-F238E27FC236}">
                <a16:creationId xmlns:a16="http://schemas.microsoft.com/office/drawing/2014/main" id="{7A30A96B-7BAC-40C7-BACD-867A61953A9F}"/>
              </a:ext>
            </a:extLst>
          </p:cNvPr>
          <p:cNvSpPr>
            <a:spLocks xmlns:a="http://schemas.openxmlformats.org/drawingml/2006/main" noGrp="1"/>
          </p:cNvSpPr>
          <p:nvPr/>
        </p:nvSpPr>
        <p:spPr>
          <a:xfrm xmlns:a="http://schemas.openxmlformats.org/drawingml/2006/main">
            <a:off x="39985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00"/>
              </a:spcAft>
              <a:buNone/>
              <a:defRPr sz="2400">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100+ chunks</a:t>
            </a:r>
          </a:p>
          <a:p xmlns:a="http://schemas.openxmlformats.org/drawingml/2006/main">
            <a:pPr algn="l">
              <a:lnSpc>
                <a:spcPct val="108000"/>
              </a:lnSpc>
              <a:spcAft>
                <a:spcPts val="400"/>
              </a:spcAft>
              <a:buNone/>
              <a:defRPr sz="24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Add distractors, stale or conflicting sources, and stronger metadata tests.</a:t>
            </a:r>
          </a:p>
        </p:txBody>
      </p:sp>
      <p:sp>
        <p:nvSpPr>
          <p:cNvPr id="12" name="Text-Placeholder-16-13">
            <a:extLst xmlns:a="http://schemas.openxmlformats.org/drawingml/2006/main">
              <a:ext uri="{FF2B5EF4-FFF2-40B4-BE49-F238E27FC236}">
                <a16:creationId xmlns:a16="http://schemas.microsoft.com/office/drawing/2014/main" id="{89FE6D9F-CA10-44E5-A363-3F21E1862260}"/>
              </a:ext>
            </a:extLst>
          </p:cNvPr>
          <p:cNvSpPr>
            <a:spLocks xmlns:a="http://schemas.openxmlformats.org/drawingml/2006/main" noGrp="1"/>
          </p:cNvSpPr>
          <p:nvPr/>
        </p:nvSpPr>
        <p:spPr>
          <a:xfrm xmlns:a="http://schemas.openxmlformats.org/drawingml/2006/main">
            <a:off x="817787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00"/>
              </a:spcAft>
              <a:buNone/>
              <a:defRPr sz="2400">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Same evaluation stack</a:t>
            </a:r>
          </a:p>
          <a:p xmlns:a="http://schemas.openxmlformats.org/drawingml/2006/main">
            <a:pPr algn="l">
              <a:lnSpc>
                <a:spcPct val="108000"/>
              </a:lnSpc>
              <a:spcAft>
                <a:spcPts val="400"/>
              </a:spcAft>
              <a:buNone/>
              <a:defRPr sz="24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Repeat three-model Base/RAG, RAGAS, retrieval metrics, and qualitative review.</a:t>
            </a:r>
          </a:p>
        </p:txBody>
      </p:sp>
    </p:spTree>
    <p:extLst>
      <p:ext uri="{BB962C8B-B14F-4D97-AF65-F5344CB8AC3E}">
        <p14:creationId xmlns:p14="http://schemas.microsoft.com/office/powerpoint/2010/main" val="11796064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2026-07-29T07:06:35.1840000Z</dcterms:created>
  <dcterms:modified xsi:type="dcterms:W3CDTF">2026-07-29T07:06:35.1840000Z</dcterms:modified>
</coreProperties>
</file>