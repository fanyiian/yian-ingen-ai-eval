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e03e34af0247fd" /><Relationship Type="http://schemas.openxmlformats.org/officeDocument/2006/relationships/extended-properties" Target="/docProps/app.xml" Id="R9d402c00a0c44cd9" /><Relationship Type="http://schemas.openxmlformats.org/officeDocument/2006/relationships/officeDocument" Target="/ppt/presentation.xml" Id="R2e6ff9ffc0784ad0" /></Relationships>
</file>

<file path=ppt/presentation.xml><?xml version="1.0" encoding="utf-8"?>
<p:presentation xmlns:p="http://schemas.openxmlformats.org/presentationml/2006/main">
  <p:sldMasterIdLst>
    <p:sldMasterId xmlns:r="http://schemas.openxmlformats.org/officeDocument/2006/relationships" id="2147483648" r:id="Raa866b4235584e39"/>
  </p:sldMasterIdLst>
  <p:notesMasterIdLst>
    <p:notesMasterId xmlns:r="http://schemas.openxmlformats.org/officeDocument/2006/relationships" r:id="Ra82ddccd334e4f8c"/>
  </p:notesMasterIdLst>
  <p:sldIdLst>
    <p:sldId xmlns:r="http://schemas.openxmlformats.org/officeDocument/2006/relationships" id="256" r:id="R70714c5e9e2840a9"/>
    <p:sldId xmlns:r="http://schemas.openxmlformats.org/officeDocument/2006/relationships" id="257" r:id="Rd89eabc9baf6489a"/>
    <p:sldId xmlns:r="http://schemas.openxmlformats.org/officeDocument/2006/relationships" id="258" r:id="R070e3e3f1b0f47a4"/>
    <p:sldId xmlns:r="http://schemas.openxmlformats.org/officeDocument/2006/relationships" id="259" r:id="R656f823323f04921"/>
    <p:sldId xmlns:r="http://schemas.openxmlformats.org/officeDocument/2006/relationships" id="260" r:id="Raa6149becbd244f9"/>
    <p:sldId xmlns:r="http://schemas.openxmlformats.org/officeDocument/2006/relationships" id="261" r:id="R7dad0136a4bd4c9e"/>
    <p:sldId xmlns:r="http://schemas.openxmlformats.org/officeDocument/2006/relationships" id="262" r:id="R266a929ca5c34466"/>
    <p:sldId xmlns:r="http://schemas.openxmlformats.org/officeDocument/2006/relationships" id="263" r:id="R04394a04153247ce"/>
    <p:sldId xmlns:r="http://schemas.openxmlformats.org/officeDocument/2006/relationships" id="264" r:id="R363df28d27a04d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0e8971766c429d" /><Relationship Type="http://schemas.openxmlformats.org/officeDocument/2006/relationships/slideMaster" Target="/ppt/slideMasters/slideMaster1.xml" Id="Raa866b4235584e39" /><Relationship Type="http://schemas.openxmlformats.org/officeDocument/2006/relationships/notesMaster" Target="/ppt/notesMasters/notesMaster1.xml" Id="Ra82ddccd334e4f8c" /><Relationship Type="http://schemas.openxmlformats.org/officeDocument/2006/relationships/presProps" Target="/ppt/presProps.xml" Id="Rc8616c5474bb4f4f" /><Relationship Type="http://schemas.openxmlformats.org/officeDocument/2006/relationships/tableStyles" Target="/ppt/tableStyles.xml" Id="Rf7cfe64af4e84247" /><Relationship Type="http://schemas.openxmlformats.org/officeDocument/2006/relationships/slide" Target="/ppt/slides/slide1.xml" Id="R70714c5e9e2840a9" /><Relationship Type="http://schemas.openxmlformats.org/officeDocument/2006/relationships/slide" Target="/ppt/slides/slide2.xml" Id="Rd89eabc9baf6489a" /><Relationship Type="http://schemas.openxmlformats.org/officeDocument/2006/relationships/slide" Target="/ppt/slides/slide3.xml" Id="R070e3e3f1b0f47a4" /><Relationship Type="http://schemas.openxmlformats.org/officeDocument/2006/relationships/slide" Target="/ppt/slides/slide4.xml" Id="R656f823323f04921" /><Relationship Type="http://schemas.openxmlformats.org/officeDocument/2006/relationships/slide" Target="/ppt/slides/slide5.xml" Id="Raa6149becbd244f9" /><Relationship Type="http://schemas.openxmlformats.org/officeDocument/2006/relationships/slide" Target="/ppt/slides/slide6.xml" Id="R7dad0136a4bd4c9e" /><Relationship Type="http://schemas.openxmlformats.org/officeDocument/2006/relationships/slide" Target="/ppt/slides/slide7.xml" Id="R266a929ca5c34466" /><Relationship Type="http://schemas.openxmlformats.org/officeDocument/2006/relationships/slide" Target="/ppt/slides/slide8.xml" Id="R04394a04153247ce" /><Relationship Type="http://schemas.openxmlformats.org/officeDocument/2006/relationships/slide" Target="/ppt/slides/slide9.xml" Id="R363df28d27a04d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048390edad49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37609133b44584" /><Relationship Type="http://schemas.openxmlformats.org/officeDocument/2006/relationships/notesMaster" Target="/ppt/notesMasters/notesMaster1.xml" Id="R0063c9fef44f44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28d46b1cb44c7a" /><Relationship Type="http://schemas.openxmlformats.org/officeDocument/2006/relationships/notesMaster" Target="/ppt/notesMasters/notesMaster1.xml" Id="R70e37c40e01c47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4a6415857943df" /><Relationship Type="http://schemas.openxmlformats.org/officeDocument/2006/relationships/notesMaster" Target="/ppt/notesMasters/notesMaster1.xml" Id="Rcf4dbb26fd3948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bd1561c66a436c" /><Relationship Type="http://schemas.openxmlformats.org/officeDocument/2006/relationships/notesMaster" Target="/ppt/notesMasters/notesMaster1.xml" Id="Redf5f8ab4cea4e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97dc2f5c614e71" /><Relationship Type="http://schemas.openxmlformats.org/officeDocument/2006/relationships/notesMaster" Target="/ppt/notesMasters/notesMaster1.xml" Id="R8a40eb0e856041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c11884873f4e3d" /><Relationship Type="http://schemas.openxmlformats.org/officeDocument/2006/relationships/notesMaster" Target="/ppt/notesMasters/notesMaster1.xml" Id="R676334a6718a4d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e31efa1e2040f8" /><Relationship Type="http://schemas.openxmlformats.org/officeDocument/2006/relationships/notesMaster" Target="/ppt/notesMasters/notesMaster1.xml" Id="R52301295e3b143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48904b57ab4d9a" /><Relationship Type="http://schemas.openxmlformats.org/officeDocument/2006/relationships/notesMaster" Target="/ppt/notesMasters/notesMaster1.xml" Id="R924d16a07e5544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b5ca80aa374721" /><Relationship Type="http://schemas.openxmlformats.org/officeDocument/2006/relationships/notesMaster" Target="/ppt/notesMasters/notesMaster1.xml" Id="R5a3ee7337b9c4f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review covers the work completed in Weeks 5 and 6. Week 5 is the main experimental contribution: I rebuilt the RAG study around complete long documents, ran a controlled full factorial, and connected the results to six PIC 2.0 capability tracks. Week 6 then turned those results into a defensible evaluation methodology. The central message is that the project now has a reproducible way to make conditional decisions, while keeping a clear boundary between diagnostic proxy evidence and real product readiness.</a:t>
            </a:r>
          </a:p>
          <a:p xmlns:a="http://schemas.openxmlformats.org/drawingml/2006/main">
            <a:r>
              <a:t/>
            </a:r>
          </a:p>
          <a:p xmlns:a="http://schemas.openxmlformats.org/drawingml/2006/main">
            <a:r>
              <a:t>[Sources]</a:t>
            </a:r>
          </a:p>
          <a:p xmlns:a="http://schemas.openxmlformats.org/drawingml/2006/main">
            <a:r>
              <a:t>- D:/newIntern/yian-ingen-ai-eval/phase_c_synthesis/W05_RAG_Long_Source_Optimisation_Report_v1.1.0.md</a:t>
            </a:r>
          </a:p>
          <a:p xmlns:a="http://schemas.openxmlformats.org/drawingml/2006/main">
            <a:r>
              <a:t>- D:/newIntern/yian-ingen-ai-eval/phase_c_synthesis/W06_Eval_Methodology_Report.md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scope had three connected workstreams. First, the controlled Senpai RAG experiment tested eighteen configurations, with twenty frozen questions in each cell. Second, I translated accumulated Phase B evidence into six PIC-specific analyses, each with a deployment failure and a readiness metric. Third, Week 6 synthesized the evidence without pooling incompatible metric families. The consistent boundary across all three streams is important: these are public or synthetic component diagnostics. They are useful for choosing the next experiment, but they do not measure an InGen product or a proprietary PIC runtime.</a:t>
            </a:r>
          </a:p>
          <a:p xmlns:a="http://schemas.openxmlformats.org/drawingml/2006/main">
            <a:r>
              <a:t/>
            </a:r>
          </a:p>
          <a:p xmlns:a="http://schemas.openxmlformats.org/drawingml/2006/main">
            <a:r>
              <a:t>[Sources]</a:t>
            </a:r>
          </a:p>
          <a:p xmlns:a="http://schemas.openxmlformats.org/drawingml/2006/main">
            <a:r>
              <a:t>- D:/newIntern/yian-ingen-ai-eval/weekly/Wk-05-EvalLog.md</a:t>
            </a:r>
          </a:p>
          <a:p xmlns:a="http://schemas.openxmlformats.org/drawingml/2006/main">
            <a:r>
              <a:t>- D:/newIntern/yian-ingen-ai-eval/weekly/Wk-06-EvalLog.md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RAG experiment used a full factorial design. The three factors were chunk size, top-k, and reranking, so every combination produced eighteen cells. Each cell used the same twenty frozen questions. This matters because a matched contrast can compare two cells that differ in exactly one factor, for example reranking off versus on at fixed chunk size and top-k. I also randomized the variant-block order with seed forty-two to reduce order effects. One warm-up request was excluded, cold loading was recorded separately, and the Pareto analysis used warm-path request latency. These controls make the observed within-study deltas interpretable, although they do not prove a universal causal mechanism.</a:t>
            </a:r>
          </a:p>
          <a:p xmlns:a="http://schemas.openxmlformats.org/drawingml/2006/main">
            <a:r>
              <a:t/>
            </a:r>
          </a:p>
          <a:p xmlns:a="http://schemas.openxmlformats.org/drawingml/2006/main">
            <a:r>
              <a:t>[Sources]</a:t>
            </a:r>
          </a:p>
          <a:p xmlns:a="http://schemas.openxmlformats.org/drawingml/2006/main">
            <a:r>
              <a:t>- D:/newIntern/yian-ingen-ai-eval/phase_c_synthesis/W05_RAG_Long_Source_Optimisation_Report_v1.1.0.md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starts with complete long sources, not pre-cut atomic sections. That change made chunk size an operational variable. Documents were chunked, embedded with BGE-M3, optionally reranked with a cross-encoder, and passed to a pinned Llama 3.1 8B generator. A frozen local Mistral checkpoint supplied diagnostic RAGAS-style and coverage scores. Every row retained source hashes, model revisions, prompts, retrieved document identities, timing, and scorer status. During execution, an eight-thousand-token Judge service hit a context-capacity overflow before producing output. The failed batch wrote no rows, and the same checkpoint and metric definitions resumed on a loopback-only sixteen-thousand-token service. This preserved comparability and the audit trail.</a:t>
            </a:r>
          </a:p>
          <a:p xmlns:a="http://schemas.openxmlformats.org/drawingml/2006/main">
            <a:r>
              <a:t/>
            </a:r>
          </a:p>
          <a:p xmlns:a="http://schemas.openxmlformats.org/drawingml/2006/main">
            <a:r>
              <a:t>[Sources]</a:t>
            </a:r>
          </a:p>
          <a:p xmlns:a="http://schemas.openxmlformats.org/drawingml/2006/main">
            <a:r>
              <a:t>- D:/newIntern/yian-ingen-ai-eval/phase_c_synthesis/W05_RAG_Long_Source_Optimisation_Report_v1.1.0.md</a:t>
            </a:r>
          </a:p>
          <a:p xmlns:a="http://schemas.openxmlformats.org/drawingml/2006/main">
            <a:r>
              <a:t>- D:/newIntern/yian-ingen-ai-eval/phase_c_synthesis/W05_RAG_Long_Optimisation_Run_Config_v1.1.0.json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Pareto analysis asks whether any tested configuration is better on all three registered objectives: higher Faithfulness, higher required-point Coverage, and lower warm-path latency. Three cells were non-dominated. The fastest frontier point was five-hundred-and-twelve tokens, top-k five, with reranking. The transparent balanced choice was one-thousand-and-twenty-four tokens, top-k five, with reranking: Faithfulness was zero point nine-one-zero, coverage zero point nine-seven-five, and warm p50 latency about ten point nine seconds. I call it balanced because it reaches the highest observed Faithfulness while preserving the top coverage level, but it is a conditional diagnostic recommendation, not a production optimum.</a:t>
            </a:r>
          </a:p>
          <a:p xmlns:a="http://schemas.openxmlformats.org/drawingml/2006/main">
            <a:r>
              <a:t/>
            </a:r>
          </a:p>
          <a:p xmlns:a="http://schemas.openxmlformats.org/drawingml/2006/main">
            <a:r>
              <a:t>[Sources]</a:t>
            </a:r>
          </a:p>
          <a:p xmlns:a="http://schemas.openxmlformats.org/drawingml/2006/main">
            <a:r>
              <a:t>- D:/newIntern/yian-ingen-ai-eval/phase_c_synthesis/W05_RAG_Long_Source_Optimisation_Report_v1.1.0.md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forty-five one-factor matched contrasts, increasing top-k improved all three quality metrics on average: about plus zero point zero-six-two Faithfulness, plus zero point one-zero-six answer relevance, and plus zero point zero-eight-three coverage, at roughly six hundred milliseconds of added latency. Cross-encoder reranking also improved the averages, but cost around seven hundred and seventy-three milliseconds. The important qualification is interaction. At fixed top-k three, reranking slightly reduced Faithfulness on average. So the result is not simply that reranking is always better. Its effect depends on how much context is retrieved and on the chunking condition.</a:t>
            </a:r>
          </a:p>
          <a:p xmlns:a="http://schemas.openxmlformats.org/drawingml/2006/main">
            <a:r>
              <a:t/>
            </a:r>
          </a:p>
          <a:p xmlns:a="http://schemas.openxmlformats.org/drawingml/2006/main">
            <a:r>
              <a:t>[Sources]</a:t>
            </a:r>
          </a:p>
          <a:p xmlns:a="http://schemas.openxmlformats.org/drawingml/2006/main">
            <a:r>
              <a:t>- D:/newIntern/yian-ingen-ai-eval/phase_c_synthesis/W05_RAG_Long_Source_Optimisation_Report_v1.1.0.md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PIC analysis changes the question from ‘which model has the highest overall score?’ to ‘what evidence is required for each capability class?’ AMDC has the broadest direct proxy evidence from the controlled VLM rows, but still lacks synchronized multimodal sensor tests. GRPO and HTD-IRL have useful text-plan diagnostics, not executed policies or task graphs. STUM lacks a temporal-horizon benchmark, and SEOM is limited by static-image ceiling effects rather than navigation. CRL-MRS has the largest gap: only one cooperative text scenario and no controlled communication-loss, agent-dropout, or continual-learning experiment. Therefore the next readiness gate should use class-specific failure denominators and executed state transitions.</a:t>
            </a:r>
          </a:p>
          <a:p xmlns:a="http://schemas.openxmlformats.org/drawingml/2006/main">
            <a:r>
              <a:t/>
            </a:r>
          </a:p>
          <a:p xmlns:a="http://schemas.openxmlformats.org/drawingml/2006/main">
            <a:r>
              <a:t>[Sources]</a:t>
            </a:r>
          </a:p>
          <a:p xmlns:a="http://schemas.openxmlformats.org/drawingml/2006/main">
            <a:r>
              <a:t>- D:/newIntern/yian-ingen-ai-eval/phase_c_synthesis/W05_PIC20_Model_Analysis.md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6 focused on evaluation validity. Three Judge prompt formulations showed strong pooled agreement on Task Accuracy, with alpha zero point eight-seven-seven, but Failure Mode agreement was only zero point five-six-seven. More importantly, calibration against the separate frozen labels reached only zero point seven-five-five, below the preregistered zero point eight threshold. This demonstrates that agreement is not validity: several Judge prompts can agree while sharing the same mistake. I therefore froze twelve evidence inputs by hash, created a seven-claim evidence matrix, and labeled every claim as deterministic, failed-calibration diagnostic, or uncalibrated diagnostic. No claim is labeled validated. The corrected matched RAG comparison still shows a useful trade-off: higher relevance and coverage, but about eight seconds of added mean generation latency.</a:t>
            </a:r>
          </a:p>
          <a:p xmlns:a="http://schemas.openxmlformats.org/drawingml/2006/main">
            <a:r>
              <a:t/>
            </a:r>
          </a:p>
          <a:p xmlns:a="http://schemas.openxmlformats.org/drawingml/2006/main">
            <a:r>
              <a:t>[Sources]</a:t>
            </a:r>
          </a:p>
          <a:p xmlns:a="http://schemas.openxmlformats.org/drawingml/2006/main">
            <a:r>
              <a:t>- D:/newIntern/yian-ingen-ai-eval/phase_c_synthesis/W06_Eval_Methodology_Report.md</a:t>
            </a:r>
          </a:p>
          <a:p xmlns:a="http://schemas.openxmlformats.org/drawingml/2006/main">
            <a:r>
              <a:t>- D:/newIntern/yian-ingen-ai-eval/phase_c_synthesis/W06_Evidence_Registry_v1.0.0.json</a:t>
            </a:r>
          </a:p>
          <a:p xmlns:a="http://schemas.openxmlformats.org/drawingml/2006/main">
            <a:r>
              <a:t>- D:/newIntern/yian-ingen-ai-eval/phase_c_synthesis/W06_Claim_Evidence_Matrix_v1.0.0.csv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Weeks 5 and 6 establish three things. We now have a reproducible experimental contract, a conditional RAG decision supported by a complete factorial, and a PIC-specific map from current proxies to future readiness metrics. The limitations are equally important: the Judges and RAG quality metrics are not independently calibrated; the data are public proxies rather than product traces; latency is hardware-specific; and closed-loop sensor, action, and multi-agent behavior remain untested. The next priorities are model-blind domain-expert calibration, a simulator or hardware slice with time-aligned dropout and recovery, and product-realistic RAG tests with source permissions, drift, adversarial content, and multi-turn use. The final takeaway is that the work is ready to guide the next evaluation, but not to certify deployment readiness.</a:t>
            </a:r>
          </a:p>
          <a:p xmlns:a="http://schemas.openxmlformats.org/drawingml/2006/main">
            <a:r>
              <a:t/>
            </a:r>
          </a:p>
          <a:p xmlns:a="http://schemas.openxmlformats.org/drawingml/2006/main">
            <a:r>
              <a:t>[Sources]</a:t>
            </a:r>
          </a:p>
          <a:p xmlns:a="http://schemas.openxmlformats.org/drawingml/2006/main">
            <a:r>
              <a:t>- D:/newIntern/yian-ingen-ai-eval/phase_c_synthesis/W06_Eval_Methodology_Report.md</a:t>
            </a:r>
          </a:p>
          <a:p xmlns:a="http://schemas.openxmlformats.org/drawingml/2006/main">
            <a:r>
              <a:t>- D:/newIntern/yian-ingen-ai-eval/phase_c_synthesis/W05_PIC20_Model_Analysis.md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e9f2cc4dbd45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060f5e1c7c4c2a" /><Relationship Type="http://schemas.openxmlformats.org/officeDocument/2006/relationships/slideLayout" Target="/ppt/slideLayouts/slideLayout1.xml" Id="R28360d0405b940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360d0405b940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07310d25a648e9" /><Relationship Type="http://schemas.openxmlformats.org/officeDocument/2006/relationships/notesSlide" Target="/ppt/notesSlides/notesSlide1.xml" Id="R9bef1bfce6e149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3c6ae2e05e4422" /><Relationship Type="http://schemas.openxmlformats.org/officeDocument/2006/relationships/notesSlide" Target="/ppt/notesSlides/notesSlide2.xml" Id="R44a6f8baf83e46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f748b36e474182" /><Relationship Type="http://schemas.openxmlformats.org/officeDocument/2006/relationships/notesSlide" Target="/ppt/notesSlides/notesSlide3.xml" Id="R83c530c7194045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2b6697bebb4374" /><Relationship Type="http://schemas.openxmlformats.org/officeDocument/2006/relationships/notesSlide" Target="/ppt/notesSlides/notesSlide4.xml" Id="R8e504828139a46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2be87910f24626" /><Relationship Type="http://schemas.openxmlformats.org/officeDocument/2006/relationships/notesSlide" Target="/ppt/notesSlides/notesSlide5.xml" Id="Rad156b1f1cf241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b4f4fde0614ec6" /><Relationship Type="http://schemas.openxmlformats.org/officeDocument/2006/relationships/notesSlide" Target="/ppt/notesSlides/notesSlide6.xml" Id="Rb0f6400d49d045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aae4e098b54b1a" /><Relationship Type="http://schemas.openxmlformats.org/officeDocument/2006/relationships/notesSlide" Target="/ppt/notesSlides/notesSlide7.xml" Id="Rbd5bed9c13644c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28fa9ceddd4440" /><Relationship Type="http://schemas.openxmlformats.org/officeDocument/2006/relationships/notesSlide" Target="/ppt/notesSlides/notesSlide8.xml" Id="Re9b2854b084544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fe78bcef6348e6" /><Relationship Type="http://schemas.openxmlformats.org/officeDocument/2006/relationships/notesSlide" Target="/ppt/notesSlides/notesSlide9.xml" Id="R62418b7cd4314b4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550A6E68-9D6F-46AA-B43D-6322E79FF6AD}"/>
              </a:ext>
            </a:extLst>
          </p:cNvPr>
          <p:cNvSpPr>
            <a:spLocks xmlns:a="http://schemas.openxmlformats.org/drawingml/2006/main" noGrp="1"/>
          </p:cNvSpPr>
          <p:nvPr/>
        </p:nvSpPr>
        <p:spPr>
          <a:xfrm xmlns:a="http://schemas.openxmlformats.org/drawingml/2006/main">
            <a:off x="400050" y="323850"/>
            <a:ext cx="4762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Aptos"/>
                <a:ea typeface="Aptos"/>
                <a:cs typeface="Aptos"/>
              </a:defRPr>
            </a:pPr>
            <a:r>
              <a:t>EVALUATION REVIEW</a:t>
            </a:r>
          </a:p>
        </p:txBody>
      </p:sp>
      <p:sp>
        <p:nvSpPr>
          <p:cNvPr id="2" name="">
            <a:extLst xmlns:a="http://schemas.openxmlformats.org/drawingml/2006/main">
              <a:ext uri="{FF2B5EF4-FFF2-40B4-BE49-F238E27FC236}">
                <a16:creationId xmlns:a16="http://schemas.microsoft.com/office/drawing/2014/main" id="{CD94720E-6DD1-4C54-8B3F-96B98959B308}"/>
              </a:ext>
            </a:extLst>
          </p:cNvPr>
          <p:cNvSpPr>
            <a:spLocks xmlns:a="http://schemas.openxmlformats.org/drawingml/2006/main" noGrp="1"/>
          </p:cNvSpPr>
          <p:nvPr/>
        </p:nvSpPr>
        <p:spPr>
          <a:xfrm xmlns:a="http://schemas.openxmlformats.org/drawingml/2006/main">
            <a:off x="400050" y="828675"/>
            <a:ext cx="5619750" cy="1428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11827"/>
                </a:solidFill>
                <a:latin typeface="Aptos"/>
                <a:ea typeface="Aptos"/>
                <a:cs typeface="Aptos"/>
              </a:defRPr>
            </a:pPr>
            <a:r>
              <a:t>Week 5–6
Evaluation Review</a:t>
            </a:r>
          </a:p>
        </p:txBody>
      </p:sp>
      <p:sp>
        <p:nvSpPr>
          <p:cNvPr id="3" name="">
            <a:extLst xmlns:a="http://schemas.openxmlformats.org/drawingml/2006/main">
              <a:ext uri="{FF2B5EF4-FFF2-40B4-BE49-F238E27FC236}">
                <a16:creationId xmlns:a16="http://schemas.microsoft.com/office/drawing/2014/main" id="{17BA086D-4AC1-4B0D-B054-D3D2220733C2}"/>
              </a:ext>
            </a:extLst>
          </p:cNvPr>
          <p:cNvSpPr>
            <a:spLocks xmlns:a="http://schemas.openxmlformats.org/drawingml/2006/main" noGrp="1"/>
          </p:cNvSpPr>
          <p:nvPr/>
        </p:nvSpPr>
        <p:spPr>
          <a:xfrm xmlns:a="http://schemas.openxmlformats.org/drawingml/2006/main">
            <a:off x="400050" y="2571750"/>
            <a:ext cx="5334000" cy="990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5B6472"/>
                </a:solidFill>
                <a:latin typeface="Aptos"/>
                <a:ea typeface="Aptos"/>
                <a:cs typeface="Aptos"/>
              </a:defRPr>
            </a:pPr>
            <a:r>
              <a:t>Controlled RAG optimisation, PIC 2.0 readiness analysis, and evidence synthesis</a:t>
            </a:r>
          </a:p>
        </p:txBody>
      </p:sp>
      <p:sp>
        <p:nvSpPr>
          <p:cNvPr id="4" name="">
            <a:extLst xmlns:a="http://schemas.openxmlformats.org/drawingml/2006/main">
              <a:ext uri="{FF2B5EF4-FFF2-40B4-BE49-F238E27FC236}">
                <a16:creationId xmlns:a16="http://schemas.microsoft.com/office/drawing/2014/main" id="{E0930A6A-00A2-40D1-AAC1-3029B18FFFA6}"/>
              </a:ext>
            </a:extLst>
          </p:cNvPr>
          <p:cNvSpPr>
            <a:spLocks xmlns:a="http://schemas.openxmlformats.org/drawingml/2006/main" noGrp="1"/>
          </p:cNvSpPr>
          <p:nvPr/>
        </p:nvSpPr>
        <p:spPr>
          <a:xfrm xmlns:a="http://schemas.openxmlformats.org/drawingml/2006/main">
            <a:off x="400050" y="3943350"/>
            <a:ext cx="5143500" cy="1066800"/>
          </a:xfrm>
          <a:prstGeom xmlns:a="http://schemas.openxmlformats.org/drawingml/2006/main" prst="roundRect">
            <a:avLst>
              <a:gd name="adj" fmla="val 7143"/>
            </a:avLst>
          </a:prstGeom>
          <a:solidFill xmlns:a="http://schemas.openxmlformats.org/drawingml/2006/main">
            <a:srgbClr val="EAF2FF"/>
          </a:solidFill>
          <a:ln xmlns:a="http://schemas.openxmlformats.org/drawingml/2006/main" w="0">
            <a:solidFill>
              <a:srgbClr val="EAF2FF"/>
            </a:solidFill>
            <a:prstDash val="solid"/>
          </a:ln>
        </p:spPr>
      </p:sp>
      <p:sp>
        <p:nvSpPr>
          <p:cNvPr id="5" name="">
            <a:extLst xmlns:a="http://schemas.openxmlformats.org/drawingml/2006/main">
              <a:ext uri="{FF2B5EF4-FFF2-40B4-BE49-F238E27FC236}">
                <a16:creationId xmlns:a16="http://schemas.microsoft.com/office/drawing/2014/main" id="{98CBD59A-6789-4A8D-AE39-40883F1935C2}"/>
              </a:ext>
            </a:extLst>
          </p:cNvPr>
          <p:cNvSpPr>
            <a:spLocks xmlns:a="http://schemas.openxmlformats.org/drawingml/2006/main" noGrp="1"/>
          </p:cNvSpPr>
          <p:nvPr/>
        </p:nvSpPr>
        <p:spPr>
          <a:xfrm xmlns:a="http://schemas.openxmlformats.org/drawingml/2006/main">
            <a:off x="628650" y="4171950"/>
            <a:ext cx="1619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563EB"/>
                </a:solidFill>
                <a:latin typeface="Aptos"/>
                <a:ea typeface="Aptos"/>
                <a:cs typeface="Aptos"/>
              </a:defRPr>
            </a:pPr>
            <a:r>
              <a:t>Core outcome</a:t>
            </a:r>
          </a:p>
        </p:txBody>
      </p:sp>
      <p:sp>
        <p:nvSpPr>
          <p:cNvPr id="6" name="">
            <a:extLst xmlns:a="http://schemas.openxmlformats.org/drawingml/2006/main">
              <a:ext uri="{FF2B5EF4-FFF2-40B4-BE49-F238E27FC236}">
                <a16:creationId xmlns:a16="http://schemas.microsoft.com/office/drawing/2014/main" id="{02A85842-DD87-42C5-BCFD-D721483B003E}"/>
              </a:ext>
            </a:extLst>
          </p:cNvPr>
          <p:cNvSpPr>
            <a:spLocks xmlns:a="http://schemas.openxmlformats.org/drawingml/2006/main" noGrp="1"/>
          </p:cNvSpPr>
          <p:nvPr/>
        </p:nvSpPr>
        <p:spPr>
          <a:xfrm xmlns:a="http://schemas.openxmlformats.org/drawingml/2006/main">
            <a:off x="628650" y="4495800"/>
            <a:ext cx="4572000" cy="400050"/>
          </a:xfrm>
          <a:prstGeom xmlns:a="http://schemas.openxmlformats.org/drawingml/2006/main" prst="rect">
            <a:avLst/>
          </a:prstGeom>
        </p:spPr>
        <p:txBody>
          <a:bodyPr xmlns:a="http://schemas.openxmlformats.org/drawingml/2006/main" wrap="square" lIns="0" tIns="0" rIns="0" bIns="0" anchor="t">
            <a:normAutofit fontScale="76087"/>
          </a:bodyPr>
          <a:lstStyle xmlns:a="http://schemas.openxmlformats.org/drawingml/2006/main"/>
          <a:p xmlns:a="http://schemas.openxmlformats.org/drawingml/2006/main">
            <a:pPr algn="l">
              <a:defRPr sz="1725" b="1">
                <a:solidFill>
                  <a:srgbClr val="111827"/>
                </a:solidFill>
                <a:latin typeface="Aptos"/>
                <a:ea typeface="Aptos"/>
                <a:cs typeface="Aptos"/>
              </a:defRPr>
            </a:pPr>
            <a:r>
              <a:t>A reproducible decision process — not a production-readiness claim.</a:t>
            </a:r>
          </a:p>
        </p:txBody>
      </p:sp>
      <p:sp>
        <p:nvSpPr>
          <p:cNvPr id="7" name="">
            <a:extLst xmlns:a="http://schemas.openxmlformats.org/drawingml/2006/main">
              <a:ext uri="{FF2B5EF4-FFF2-40B4-BE49-F238E27FC236}">
                <a16:creationId xmlns:a16="http://schemas.microsoft.com/office/drawing/2014/main" id="{CB179C79-69B9-459C-BCE0-310E5FB6F1DF}"/>
              </a:ext>
            </a:extLst>
          </p:cNvPr>
          <p:cNvSpPr>
            <a:spLocks xmlns:a="http://schemas.openxmlformats.org/drawingml/2006/main" noGrp="1"/>
          </p:cNvSpPr>
          <p:nvPr/>
        </p:nvSpPr>
        <p:spPr>
          <a:xfrm xmlns:a="http://schemas.openxmlformats.org/drawingml/2006/main">
            <a:off x="400050" y="6153150"/>
            <a:ext cx="3810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Phase C · 8-minute review</a:t>
            </a:r>
          </a:p>
        </p:txBody>
      </p:sp>
      <p:sp>
        <p:nvSpPr>
          <p:cNvPr id="8" name="">
            <a:extLst xmlns:a="http://schemas.openxmlformats.org/drawingml/2006/main">
              <a:ext uri="{FF2B5EF4-FFF2-40B4-BE49-F238E27FC236}">
                <a16:creationId xmlns:a16="http://schemas.microsoft.com/office/drawing/2014/main" id="{168E784C-D9BC-4B4E-BE50-CF13B68EA095}"/>
              </a:ext>
            </a:extLst>
          </p:cNvPr>
          <p:cNvSpPr>
            <a:spLocks xmlns:a="http://schemas.openxmlformats.org/drawingml/2006/main" noGrp="1"/>
          </p:cNvSpPr>
          <p:nvPr/>
        </p:nvSpPr>
        <p:spPr>
          <a:xfrm xmlns:a="http://schemas.openxmlformats.org/drawingml/2006/main">
            <a:off x="6248400" y="400050"/>
            <a:ext cx="5543550" cy="5600700"/>
          </a:xfrm>
          <a:prstGeom xmlns:a="http://schemas.openxmlformats.org/drawingml/2006/main" prst="roundRect">
            <a:avLst>
              <a:gd name="adj" fmla="val 1375"/>
            </a:avLst>
          </a:prstGeom>
          <a:solidFill xmlns:a="http://schemas.openxmlformats.org/drawingml/2006/main">
            <a:srgbClr val="F3F5F7"/>
          </a:solidFill>
          <a:ln xmlns:a="http://schemas.openxmlformats.org/drawingml/2006/main" w="0">
            <a:solidFill>
              <a:srgbClr val="F3F5F7"/>
            </a:solidFill>
            <a:prstDash val="solid"/>
          </a:ln>
        </p:spPr>
      </p:sp>
      <p:sp>
        <p:nvSpPr>
          <p:cNvPr id="9" name="">
            <a:extLst xmlns:a="http://schemas.openxmlformats.org/drawingml/2006/main">
              <a:ext uri="{FF2B5EF4-FFF2-40B4-BE49-F238E27FC236}">
                <a16:creationId xmlns:a16="http://schemas.microsoft.com/office/drawing/2014/main" id="{C85154C2-9C62-45C5-966C-BA2FA6064FFD}"/>
              </a:ext>
            </a:extLst>
          </p:cNvPr>
          <p:cNvSpPr>
            <a:spLocks xmlns:a="http://schemas.openxmlformats.org/drawingml/2006/main" noGrp="1"/>
          </p:cNvSpPr>
          <p:nvPr/>
        </p:nvSpPr>
        <p:spPr>
          <a:xfrm xmlns:a="http://schemas.openxmlformats.org/drawingml/2006/main">
            <a:off x="6477000" y="781050"/>
            <a:ext cx="5086350" cy="4533900"/>
          </a:xfrm>
          <a:prstGeom xmlns:a="http://schemas.openxmlformats.org/drawingml/2006/main" prst="roundRect">
            <a:avLst>
              <a:gd name="adj" fmla="val 1681"/>
            </a:avLst>
          </a:prstGeom>
          <a:solidFill xmlns:a="http://schemas.openxmlformats.org/drawingml/2006/main">
            <a:srgbClr val="FFFFFF"/>
          </a:solidFill>
          <a:ln xmlns:a="http://schemas.openxmlformats.org/drawingml/2006/main" w="9525">
            <a:solidFill>
              <a:srgbClr val="D7DCE3"/>
            </a:solidFill>
            <a:prstDash val="solid"/>
          </a:ln>
        </p:spPr>
      </p:sp>
      <p:cxnSp>
        <p:nvCxnSpPr>
          <p:cNvPr id="62" name=""/>
          <p:cNvCxnSpPr/>
          <p:nvPr/>
        </p:nvCxnSpPr>
        <p:spPr>
          <a:xfrm xmlns:a="http://schemas.openxmlformats.org/drawingml/2006/main">
            <a:off x="7105650" y="4762500"/>
            <a:ext cx="4133850" cy="95"/>
          </a:xfrm>
          <a:prstGeom xmlns:a="http://schemas.openxmlformats.org/drawingml/2006/main" prst="straightConnector1">
            <a:avLst/>
          </a:prstGeom>
          <a:ln xmlns:a="http://schemas.openxmlformats.org/drawingml/2006/main" w="14288">
            <a:solidFill>
              <a:srgbClr val="8A93A2"/>
            </a:solidFill>
            <a:prstDash val="solid"/>
          </a:ln>
        </p:spPr>
      </p:cxnSp>
      <p:cxnSp>
        <p:nvCxnSpPr>
          <p:cNvPr id="63" name=""/>
          <p:cNvCxnSpPr/>
          <p:nvPr/>
        </p:nvCxnSpPr>
        <p:spPr>
          <a:xfrm xmlns:a="http://schemas.openxmlformats.org/drawingml/2006/main">
            <a:off x="7105650" y="1123950"/>
            <a:ext cx="95" cy="3638550"/>
          </a:xfrm>
          <a:prstGeom xmlns:a="http://schemas.openxmlformats.org/drawingml/2006/main" prst="straightConnector1">
            <a:avLst/>
          </a:prstGeom>
          <a:ln xmlns:a="http://schemas.openxmlformats.org/drawingml/2006/main" w="14288">
            <a:solidFill>
              <a:srgbClr val="8A93A2"/>
            </a:solidFill>
            <a:prstDash val="solid"/>
          </a:ln>
        </p:spPr>
      </p:cxnSp>
      <p:cxnSp>
        <p:nvCxnSpPr>
          <p:cNvPr id="64" name=""/>
          <p:cNvCxnSpPr/>
          <p:nvPr/>
        </p:nvCxnSpPr>
        <p:spPr>
          <a:xfrm xmlns:a="http://schemas.openxmlformats.org/drawingml/2006/main">
            <a:off x="7353681" y="1123950"/>
            <a:ext cx="95" cy="3638550"/>
          </a:xfrm>
          <a:prstGeom xmlns:a="http://schemas.openxmlformats.org/drawingml/2006/main" prst="straightConnector1">
            <a:avLst/>
          </a:prstGeom>
          <a:ln xmlns:a="http://schemas.openxmlformats.org/drawingml/2006/main" w="9525">
            <a:solidFill>
              <a:srgbClr val="D7DCE3"/>
            </a:solidFill>
            <a:prstDash val="solid"/>
          </a:ln>
        </p:spPr>
      </p:cxnSp>
      <p:sp>
        <p:nvSpPr>
          <p:cNvPr id="13" name="">
            <a:extLst xmlns:a="http://schemas.openxmlformats.org/drawingml/2006/main">
              <a:ext uri="{FF2B5EF4-FFF2-40B4-BE49-F238E27FC236}">
                <a16:creationId xmlns:a16="http://schemas.microsoft.com/office/drawing/2014/main" id="{D0980482-7B18-4144-B92B-5A3B0C71C32F}"/>
              </a:ext>
            </a:extLst>
          </p:cNvPr>
          <p:cNvSpPr>
            <a:spLocks xmlns:a="http://schemas.openxmlformats.org/drawingml/2006/main" noGrp="1"/>
          </p:cNvSpPr>
          <p:nvPr/>
        </p:nvSpPr>
        <p:spPr>
          <a:xfrm xmlns:a="http://schemas.openxmlformats.org/drawingml/2006/main">
            <a:off x="7125081" y="48577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6.5s</a:t>
            </a:r>
          </a:p>
        </p:txBody>
      </p:sp>
      <p:cxnSp>
        <p:nvCxnSpPr>
          <p:cNvPr id="66" name=""/>
          <p:cNvCxnSpPr/>
          <p:nvPr/>
        </p:nvCxnSpPr>
        <p:spPr>
          <a:xfrm xmlns:a="http://schemas.openxmlformats.org/drawingml/2006/main">
            <a:off x="8593836" y="1123950"/>
            <a:ext cx="95" cy="3638550"/>
          </a:xfrm>
          <a:prstGeom xmlns:a="http://schemas.openxmlformats.org/drawingml/2006/main" prst="straightConnector1">
            <a:avLst/>
          </a:prstGeom>
          <a:ln xmlns:a="http://schemas.openxmlformats.org/drawingml/2006/main" w="9525">
            <a:solidFill>
              <a:srgbClr val="D7DCE3"/>
            </a:solidFill>
            <a:prstDash val="solid"/>
          </a:ln>
        </p:spPr>
      </p:cxnSp>
      <p:sp>
        <p:nvSpPr>
          <p:cNvPr id="15" name="">
            <a:extLst xmlns:a="http://schemas.openxmlformats.org/drawingml/2006/main">
              <a:ext uri="{FF2B5EF4-FFF2-40B4-BE49-F238E27FC236}">
                <a16:creationId xmlns:a16="http://schemas.microsoft.com/office/drawing/2014/main" id="{6C9D4170-A752-4202-A593-DCB51AFACB44}"/>
              </a:ext>
            </a:extLst>
          </p:cNvPr>
          <p:cNvSpPr>
            <a:spLocks xmlns:a="http://schemas.openxmlformats.org/drawingml/2006/main" noGrp="1"/>
          </p:cNvSpPr>
          <p:nvPr/>
        </p:nvSpPr>
        <p:spPr>
          <a:xfrm xmlns:a="http://schemas.openxmlformats.org/drawingml/2006/main">
            <a:off x="8365236" y="48577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8.0s</a:t>
            </a:r>
          </a:p>
        </p:txBody>
      </p:sp>
      <p:cxnSp>
        <p:nvCxnSpPr>
          <p:cNvPr id="68" name=""/>
          <p:cNvCxnSpPr/>
          <p:nvPr/>
        </p:nvCxnSpPr>
        <p:spPr>
          <a:xfrm xmlns:a="http://schemas.openxmlformats.org/drawingml/2006/main">
            <a:off x="9833991" y="1123950"/>
            <a:ext cx="95" cy="3638550"/>
          </a:xfrm>
          <a:prstGeom xmlns:a="http://schemas.openxmlformats.org/drawingml/2006/main" prst="straightConnector1">
            <a:avLst/>
          </a:prstGeom>
          <a:ln xmlns:a="http://schemas.openxmlformats.org/drawingml/2006/main" w="9525">
            <a:solidFill>
              <a:srgbClr val="D7DCE3"/>
            </a:solidFill>
            <a:prstDash val="solid"/>
          </a:ln>
        </p:spPr>
      </p:cxnSp>
      <p:sp>
        <p:nvSpPr>
          <p:cNvPr id="17" name="">
            <a:extLst xmlns:a="http://schemas.openxmlformats.org/drawingml/2006/main">
              <a:ext uri="{FF2B5EF4-FFF2-40B4-BE49-F238E27FC236}">
                <a16:creationId xmlns:a16="http://schemas.microsoft.com/office/drawing/2014/main" id="{D73B8F1A-228F-468B-9243-A06E9FE9D496}"/>
              </a:ext>
            </a:extLst>
          </p:cNvPr>
          <p:cNvSpPr>
            <a:spLocks xmlns:a="http://schemas.openxmlformats.org/drawingml/2006/main" noGrp="1"/>
          </p:cNvSpPr>
          <p:nvPr/>
        </p:nvSpPr>
        <p:spPr>
          <a:xfrm xmlns:a="http://schemas.openxmlformats.org/drawingml/2006/main">
            <a:off x="9605391" y="48577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9.5s</a:t>
            </a:r>
          </a:p>
        </p:txBody>
      </p:sp>
      <p:cxnSp>
        <p:nvCxnSpPr>
          <p:cNvPr id="70" name=""/>
          <p:cNvCxnSpPr/>
          <p:nvPr/>
        </p:nvCxnSpPr>
        <p:spPr>
          <a:xfrm xmlns:a="http://schemas.openxmlformats.org/drawingml/2006/main">
            <a:off x="11074146" y="1123950"/>
            <a:ext cx="95" cy="3638550"/>
          </a:xfrm>
          <a:prstGeom xmlns:a="http://schemas.openxmlformats.org/drawingml/2006/main" prst="straightConnector1">
            <a:avLst/>
          </a:prstGeom>
          <a:ln xmlns:a="http://schemas.openxmlformats.org/drawingml/2006/main" w="9525">
            <a:solidFill>
              <a:srgbClr val="D7DCE3"/>
            </a:solidFill>
            <a:prstDash val="solid"/>
          </a:ln>
        </p:spPr>
      </p:cxnSp>
      <p:sp>
        <p:nvSpPr>
          <p:cNvPr id="19" name="">
            <a:extLst xmlns:a="http://schemas.openxmlformats.org/drawingml/2006/main">
              <a:ext uri="{FF2B5EF4-FFF2-40B4-BE49-F238E27FC236}">
                <a16:creationId xmlns:a16="http://schemas.microsoft.com/office/drawing/2014/main" id="{3088885B-9C2A-4CD4-8197-1086B9AE79DA}"/>
              </a:ext>
            </a:extLst>
          </p:cNvPr>
          <p:cNvSpPr>
            <a:spLocks xmlns:a="http://schemas.openxmlformats.org/drawingml/2006/main" noGrp="1"/>
          </p:cNvSpPr>
          <p:nvPr/>
        </p:nvSpPr>
        <p:spPr>
          <a:xfrm xmlns:a="http://schemas.openxmlformats.org/drawingml/2006/main">
            <a:off x="10845546" y="48577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11.0s</a:t>
            </a:r>
          </a:p>
        </p:txBody>
      </p:sp>
      <p:cxnSp>
        <p:nvCxnSpPr>
          <p:cNvPr id="72" name=""/>
          <p:cNvCxnSpPr/>
          <p:nvPr/>
        </p:nvCxnSpPr>
        <p:spPr>
          <a:xfrm xmlns:a="http://schemas.openxmlformats.org/drawingml/2006/main">
            <a:off x="7105650" y="4307681"/>
            <a:ext cx="4133850" cy="95"/>
          </a:xfrm>
          <a:prstGeom xmlns:a="http://schemas.openxmlformats.org/drawingml/2006/main" prst="straightConnector1">
            <a:avLst/>
          </a:prstGeom>
          <a:ln xmlns:a="http://schemas.openxmlformats.org/drawingml/2006/main" w="9525">
            <a:solidFill>
              <a:srgbClr val="D7DCE3"/>
            </a:solidFill>
            <a:prstDash val="solid"/>
          </a:ln>
        </p:spPr>
      </p:cxnSp>
      <p:sp>
        <p:nvSpPr>
          <p:cNvPr id="21" name="">
            <a:extLst xmlns:a="http://schemas.openxmlformats.org/drawingml/2006/main">
              <a:ext uri="{FF2B5EF4-FFF2-40B4-BE49-F238E27FC236}">
                <a16:creationId xmlns:a16="http://schemas.microsoft.com/office/drawing/2014/main" id="{860F3516-684A-410C-B8F4-BA1932065CB2}"/>
              </a:ext>
            </a:extLst>
          </p:cNvPr>
          <p:cNvSpPr>
            <a:spLocks xmlns:a="http://schemas.openxmlformats.org/drawingml/2006/main" noGrp="1"/>
          </p:cNvSpPr>
          <p:nvPr/>
        </p:nvSpPr>
        <p:spPr>
          <a:xfrm xmlns:a="http://schemas.openxmlformats.org/drawingml/2006/main">
            <a:off x="6591300" y="4231481"/>
            <a:ext cx="4191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8A93A2"/>
                </a:solidFill>
                <a:latin typeface="Aptos"/>
                <a:ea typeface="Aptos"/>
                <a:cs typeface="Aptos"/>
              </a:defRPr>
            </a:pPr>
            <a:r>
              <a:t>0.75</a:t>
            </a:r>
          </a:p>
        </p:txBody>
      </p:sp>
      <p:cxnSp>
        <p:nvCxnSpPr>
          <p:cNvPr id="74" name=""/>
          <p:cNvCxnSpPr/>
          <p:nvPr/>
        </p:nvCxnSpPr>
        <p:spPr>
          <a:xfrm xmlns:a="http://schemas.openxmlformats.org/drawingml/2006/main">
            <a:off x="7105650" y="2791619"/>
            <a:ext cx="4133850" cy="95"/>
          </a:xfrm>
          <a:prstGeom xmlns:a="http://schemas.openxmlformats.org/drawingml/2006/main" prst="straightConnector1">
            <a:avLst/>
          </a:prstGeom>
          <a:ln xmlns:a="http://schemas.openxmlformats.org/drawingml/2006/main" w="9525">
            <a:solidFill>
              <a:srgbClr val="D7DCE3"/>
            </a:solidFill>
            <a:prstDash val="solid"/>
          </a:ln>
        </p:spPr>
      </p:cxnSp>
      <p:sp>
        <p:nvSpPr>
          <p:cNvPr id="23" name="">
            <a:extLst xmlns:a="http://schemas.openxmlformats.org/drawingml/2006/main">
              <a:ext uri="{FF2B5EF4-FFF2-40B4-BE49-F238E27FC236}">
                <a16:creationId xmlns:a16="http://schemas.microsoft.com/office/drawing/2014/main" id="{3F67F200-CC82-47B0-98B0-83A36DE5E909}"/>
              </a:ext>
            </a:extLst>
          </p:cNvPr>
          <p:cNvSpPr>
            <a:spLocks xmlns:a="http://schemas.openxmlformats.org/drawingml/2006/main" noGrp="1"/>
          </p:cNvSpPr>
          <p:nvPr/>
        </p:nvSpPr>
        <p:spPr>
          <a:xfrm xmlns:a="http://schemas.openxmlformats.org/drawingml/2006/main">
            <a:off x="6591300" y="2715419"/>
            <a:ext cx="4191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8A93A2"/>
                </a:solidFill>
                <a:latin typeface="Aptos"/>
                <a:ea typeface="Aptos"/>
                <a:cs typeface="Aptos"/>
              </a:defRPr>
            </a:pPr>
            <a:r>
              <a:t>0.85</a:t>
            </a:r>
          </a:p>
        </p:txBody>
      </p:sp>
      <p:cxnSp>
        <p:nvCxnSpPr>
          <p:cNvPr id="76" name=""/>
          <p:cNvCxnSpPr/>
          <p:nvPr/>
        </p:nvCxnSpPr>
        <p:spPr>
          <a:xfrm xmlns:a="http://schemas.openxmlformats.org/drawingml/2006/main">
            <a:off x="7105650" y="1275556"/>
            <a:ext cx="4133850" cy="95"/>
          </a:xfrm>
          <a:prstGeom xmlns:a="http://schemas.openxmlformats.org/drawingml/2006/main" prst="straightConnector1">
            <a:avLst/>
          </a:prstGeom>
          <a:ln xmlns:a="http://schemas.openxmlformats.org/drawingml/2006/main" w="9525">
            <a:solidFill>
              <a:srgbClr val="D7DCE3"/>
            </a:solidFill>
            <a:prstDash val="solid"/>
          </a:ln>
        </p:spPr>
      </p:cxnSp>
      <p:sp>
        <p:nvSpPr>
          <p:cNvPr id="25" name="">
            <a:extLst xmlns:a="http://schemas.openxmlformats.org/drawingml/2006/main">
              <a:ext uri="{FF2B5EF4-FFF2-40B4-BE49-F238E27FC236}">
                <a16:creationId xmlns:a16="http://schemas.microsoft.com/office/drawing/2014/main" id="{0E751CB0-33EE-4ED9-A360-6A2B6CEADCB8}"/>
              </a:ext>
            </a:extLst>
          </p:cNvPr>
          <p:cNvSpPr>
            <a:spLocks xmlns:a="http://schemas.openxmlformats.org/drawingml/2006/main" noGrp="1"/>
          </p:cNvSpPr>
          <p:nvPr/>
        </p:nvSpPr>
        <p:spPr>
          <a:xfrm xmlns:a="http://schemas.openxmlformats.org/drawingml/2006/main">
            <a:off x="6591300" y="1199356"/>
            <a:ext cx="4191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8A93A2"/>
                </a:solidFill>
                <a:latin typeface="Aptos"/>
                <a:ea typeface="Aptos"/>
                <a:cs typeface="Aptos"/>
              </a:defRPr>
            </a:pPr>
            <a:r>
              <a:t>0.95</a:t>
            </a:r>
          </a:p>
        </p:txBody>
      </p:sp>
      <p:sp>
        <p:nvSpPr>
          <p:cNvPr id="26" name="">
            <a:extLst xmlns:a="http://schemas.openxmlformats.org/drawingml/2006/main">
              <a:ext uri="{FF2B5EF4-FFF2-40B4-BE49-F238E27FC236}">
                <a16:creationId xmlns:a16="http://schemas.microsoft.com/office/drawing/2014/main" id="{EE105350-89A3-49A4-9ED8-3D504A46DC5E}"/>
              </a:ext>
            </a:extLst>
          </p:cNvPr>
          <p:cNvSpPr>
            <a:spLocks xmlns:a="http://schemas.openxmlformats.org/drawingml/2006/main" noGrp="1"/>
          </p:cNvSpPr>
          <p:nvPr/>
        </p:nvSpPr>
        <p:spPr>
          <a:xfrm xmlns:a="http://schemas.openxmlformats.org/drawingml/2006/main">
            <a:off x="8153400" y="5048250"/>
            <a:ext cx="22860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5B6472"/>
                </a:solidFill>
                <a:latin typeface="Aptos"/>
                <a:ea typeface="Aptos"/>
                <a:cs typeface="Aptos"/>
              </a:defRPr>
            </a:pPr>
            <a:r>
              <a:t>Warm-path p50 latency</a:t>
            </a:r>
          </a:p>
        </p:txBody>
      </p:sp>
      <p:sp>
        <p:nvSpPr>
          <p:cNvPr id="27" name="">
            <a:extLst xmlns:a="http://schemas.openxmlformats.org/drawingml/2006/main">
              <a:ext uri="{FF2B5EF4-FFF2-40B4-BE49-F238E27FC236}">
                <a16:creationId xmlns:a16="http://schemas.microsoft.com/office/drawing/2014/main" id="{41085BA6-712A-43BC-9BB0-61074ED15950}"/>
              </a:ext>
            </a:extLst>
          </p:cNvPr>
          <p:cNvSpPr>
            <a:spLocks xmlns:a="http://schemas.openxmlformats.org/drawingml/2006/main" noGrp="1"/>
          </p:cNvSpPr>
          <p:nvPr/>
        </p:nvSpPr>
        <p:spPr>
          <a:xfrm xmlns:a="http://schemas.openxmlformats.org/drawingml/2006/main">
            <a:off x="6648450" y="876300"/>
            <a:ext cx="47434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B6472"/>
                </a:solidFill>
                <a:latin typeface="Aptos"/>
                <a:ea typeface="Aptos"/>
                <a:cs typeface="Aptos"/>
              </a:defRPr>
            </a:pPr>
            <a:r>
              <a:t>Mean quality = (Faithfulness + Coverage) / 2</a:t>
            </a:r>
          </a:p>
        </p:txBody>
      </p:sp>
      <p:sp>
        <p:nvSpPr>
          <p:cNvPr id="28" name="">
            <a:extLst xmlns:a="http://schemas.openxmlformats.org/drawingml/2006/main">
              <a:ext uri="{FF2B5EF4-FFF2-40B4-BE49-F238E27FC236}">
                <a16:creationId xmlns:a16="http://schemas.microsoft.com/office/drawing/2014/main" id="{E887A377-20D9-4916-8511-A10E05311AD1}"/>
              </a:ext>
            </a:extLst>
          </p:cNvPr>
          <p:cNvSpPr>
            <a:spLocks xmlns:a="http://schemas.openxmlformats.org/drawingml/2006/main" noGrp="1"/>
          </p:cNvSpPr>
          <p:nvPr/>
        </p:nvSpPr>
        <p:spPr>
          <a:xfrm xmlns:a="http://schemas.openxmlformats.org/drawingml/2006/main">
            <a:off x="9156781" y="2808426"/>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29" name="">
            <a:extLst xmlns:a="http://schemas.openxmlformats.org/drawingml/2006/main">
              <a:ext uri="{FF2B5EF4-FFF2-40B4-BE49-F238E27FC236}">
                <a16:creationId xmlns:a16="http://schemas.microsoft.com/office/drawing/2014/main" id="{8FBE6717-C284-4E19-982E-3FE624C25120}"/>
              </a:ext>
            </a:extLst>
          </p:cNvPr>
          <p:cNvSpPr>
            <a:spLocks xmlns:a="http://schemas.openxmlformats.org/drawingml/2006/main" noGrp="1"/>
          </p:cNvSpPr>
          <p:nvPr/>
        </p:nvSpPr>
        <p:spPr>
          <a:xfrm xmlns:a="http://schemas.openxmlformats.org/drawingml/2006/main">
            <a:off x="8273790" y="4921060"/>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0" name="">
            <a:extLst xmlns:a="http://schemas.openxmlformats.org/drawingml/2006/main">
              <a:ext uri="{FF2B5EF4-FFF2-40B4-BE49-F238E27FC236}">
                <a16:creationId xmlns:a16="http://schemas.microsoft.com/office/drawing/2014/main" id="{FA846FB0-4F27-4006-B987-693A3ADC0987}"/>
              </a:ext>
            </a:extLst>
          </p:cNvPr>
          <p:cNvSpPr>
            <a:spLocks xmlns:a="http://schemas.openxmlformats.org/drawingml/2006/main" noGrp="1"/>
          </p:cNvSpPr>
          <p:nvPr/>
        </p:nvSpPr>
        <p:spPr>
          <a:xfrm xmlns:a="http://schemas.openxmlformats.org/drawingml/2006/main">
            <a:off x="9084189" y="1878009"/>
            <a:ext cx="142875" cy="142875"/>
          </a:xfrm>
          <a:prstGeom xmlns:a="http://schemas.openxmlformats.org/drawingml/2006/main" prst="ellipse">
            <a:avLst/>
          </a:prstGeom>
          <a:solidFill xmlns:a="http://schemas.openxmlformats.org/drawingml/2006/main">
            <a:srgbClr val="2563EB"/>
          </a:solidFill>
          <a:ln xmlns:a="http://schemas.openxmlformats.org/drawingml/2006/main" w="19050">
            <a:solidFill>
              <a:srgbClr val="FFFFFF"/>
            </a:solidFill>
            <a:prstDash val="solid"/>
          </a:ln>
        </p:spPr>
      </p:sp>
      <p:sp>
        <p:nvSpPr>
          <p:cNvPr id="31" name="">
            <a:extLst xmlns:a="http://schemas.openxmlformats.org/drawingml/2006/main">
              <a:ext uri="{FF2B5EF4-FFF2-40B4-BE49-F238E27FC236}">
                <a16:creationId xmlns:a16="http://schemas.microsoft.com/office/drawing/2014/main" id="{E5659B6F-EB52-4A31-B7B1-ACC92BEE3832}"/>
              </a:ext>
            </a:extLst>
          </p:cNvPr>
          <p:cNvSpPr>
            <a:spLocks xmlns:a="http://schemas.openxmlformats.org/drawingml/2006/main" noGrp="1"/>
          </p:cNvSpPr>
          <p:nvPr/>
        </p:nvSpPr>
        <p:spPr>
          <a:xfrm xmlns:a="http://schemas.openxmlformats.org/drawingml/2006/main">
            <a:off x="9225816" y="2758396"/>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2" name="">
            <a:extLst xmlns:a="http://schemas.openxmlformats.org/drawingml/2006/main">
              <a:ext uri="{FF2B5EF4-FFF2-40B4-BE49-F238E27FC236}">
                <a16:creationId xmlns:a16="http://schemas.microsoft.com/office/drawing/2014/main" id="{8A23B729-5DFC-491F-8BB4-8AE26CB463D5}"/>
              </a:ext>
            </a:extLst>
          </p:cNvPr>
          <p:cNvSpPr>
            <a:spLocks xmlns:a="http://schemas.openxmlformats.org/drawingml/2006/main" noGrp="1"/>
          </p:cNvSpPr>
          <p:nvPr/>
        </p:nvSpPr>
        <p:spPr>
          <a:xfrm xmlns:a="http://schemas.openxmlformats.org/drawingml/2006/main">
            <a:off x="10875071" y="1307326"/>
            <a:ext cx="171450" cy="171450"/>
          </a:xfrm>
          <a:prstGeom xmlns:a="http://schemas.openxmlformats.org/drawingml/2006/main" prst="ellipse">
            <a:avLst/>
          </a:prstGeom>
          <a:solidFill xmlns:a="http://schemas.openxmlformats.org/drawingml/2006/main">
            <a:srgbClr val="0B1220"/>
          </a:solidFill>
          <a:ln xmlns:a="http://schemas.openxmlformats.org/drawingml/2006/main" w="19050">
            <a:solidFill>
              <a:srgbClr val="FFFFFF"/>
            </a:solidFill>
            <a:prstDash val="solid"/>
          </a:ln>
        </p:spPr>
      </p:sp>
      <p:sp>
        <p:nvSpPr>
          <p:cNvPr id="33" name="">
            <a:extLst xmlns:a="http://schemas.openxmlformats.org/drawingml/2006/main">
              <a:ext uri="{FF2B5EF4-FFF2-40B4-BE49-F238E27FC236}">
                <a16:creationId xmlns:a16="http://schemas.microsoft.com/office/drawing/2014/main" id="{A8C38532-A8A0-4A74-AAE9-14C98231CFD4}"/>
              </a:ext>
            </a:extLst>
          </p:cNvPr>
          <p:cNvSpPr>
            <a:spLocks xmlns:a="http://schemas.openxmlformats.org/drawingml/2006/main" noGrp="1"/>
          </p:cNvSpPr>
          <p:nvPr/>
        </p:nvSpPr>
        <p:spPr>
          <a:xfrm xmlns:a="http://schemas.openxmlformats.org/drawingml/2006/main">
            <a:off x="8154653" y="2296755"/>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4" name="">
            <a:extLst xmlns:a="http://schemas.openxmlformats.org/drawingml/2006/main">
              <a:ext uri="{FF2B5EF4-FFF2-40B4-BE49-F238E27FC236}">
                <a16:creationId xmlns:a16="http://schemas.microsoft.com/office/drawing/2014/main" id="{9751A7E2-1B3A-42E0-B8BD-3AEC04F81C04}"/>
              </a:ext>
            </a:extLst>
          </p:cNvPr>
          <p:cNvSpPr>
            <a:spLocks xmlns:a="http://schemas.openxmlformats.org/drawingml/2006/main" noGrp="1"/>
          </p:cNvSpPr>
          <p:nvPr/>
        </p:nvSpPr>
        <p:spPr>
          <a:xfrm xmlns:a="http://schemas.openxmlformats.org/drawingml/2006/main">
            <a:off x="7707039" y="2504456"/>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5" name="">
            <a:extLst xmlns:a="http://schemas.openxmlformats.org/drawingml/2006/main">
              <a:ext uri="{FF2B5EF4-FFF2-40B4-BE49-F238E27FC236}">
                <a16:creationId xmlns:a16="http://schemas.microsoft.com/office/drawing/2014/main" id="{B7F8C3AB-EEB4-4025-8675-E405EDDB2E3D}"/>
              </a:ext>
            </a:extLst>
          </p:cNvPr>
          <p:cNvSpPr>
            <a:spLocks xmlns:a="http://schemas.openxmlformats.org/drawingml/2006/main" noGrp="1"/>
          </p:cNvSpPr>
          <p:nvPr/>
        </p:nvSpPr>
        <p:spPr>
          <a:xfrm xmlns:a="http://schemas.openxmlformats.org/drawingml/2006/main">
            <a:off x="8506113" y="3881041"/>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6" name="">
            <a:extLst xmlns:a="http://schemas.openxmlformats.org/drawingml/2006/main">
              <a:ext uri="{FF2B5EF4-FFF2-40B4-BE49-F238E27FC236}">
                <a16:creationId xmlns:a16="http://schemas.microsoft.com/office/drawing/2014/main" id="{70E9C65A-DD56-4EA0-975D-2646674AC4AA}"/>
              </a:ext>
            </a:extLst>
          </p:cNvPr>
          <p:cNvSpPr>
            <a:spLocks xmlns:a="http://schemas.openxmlformats.org/drawingml/2006/main" noGrp="1"/>
          </p:cNvSpPr>
          <p:nvPr/>
        </p:nvSpPr>
        <p:spPr>
          <a:xfrm xmlns:a="http://schemas.openxmlformats.org/drawingml/2006/main">
            <a:off x="8229641" y="1866194"/>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7" name="">
            <a:extLst xmlns:a="http://schemas.openxmlformats.org/drawingml/2006/main">
              <a:ext uri="{FF2B5EF4-FFF2-40B4-BE49-F238E27FC236}">
                <a16:creationId xmlns:a16="http://schemas.microsoft.com/office/drawing/2014/main" id="{F11DA9C2-D34B-40EA-8762-55ED2E72F0EB}"/>
              </a:ext>
            </a:extLst>
          </p:cNvPr>
          <p:cNvSpPr>
            <a:spLocks xmlns:a="http://schemas.openxmlformats.org/drawingml/2006/main" noGrp="1"/>
          </p:cNvSpPr>
          <p:nvPr/>
        </p:nvSpPr>
        <p:spPr>
          <a:xfrm xmlns:a="http://schemas.openxmlformats.org/drawingml/2006/main">
            <a:off x="8058830" y="1919256"/>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8" name="">
            <a:extLst xmlns:a="http://schemas.openxmlformats.org/drawingml/2006/main">
              <a:ext uri="{FF2B5EF4-FFF2-40B4-BE49-F238E27FC236}">
                <a16:creationId xmlns:a16="http://schemas.microsoft.com/office/drawing/2014/main" id="{0E0B66ED-233A-4E03-AF6D-C6B15A9FD419}"/>
              </a:ext>
            </a:extLst>
          </p:cNvPr>
          <p:cNvSpPr>
            <a:spLocks xmlns:a="http://schemas.openxmlformats.org/drawingml/2006/main" noGrp="1"/>
          </p:cNvSpPr>
          <p:nvPr/>
        </p:nvSpPr>
        <p:spPr>
          <a:xfrm xmlns:a="http://schemas.openxmlformats.org/drawingml/2006/main">
            <a:off x="8142582" y="2304336"/>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9" name="">
            <a:extLst xmlns:a="http://schemas.openxmlformats.org/drawingml/2006/main">
              <a:ext uri="{FF2B5EF4-FFF2-40B4-BE49-F238E27FC236}">
                <a16:creationId xmlns:a16="http://schemas.microsoft.com/office/drawing/2014/main" id="{B299F7FD-88A3-4AE2-9DA6-233D311233E7}"/>
              </a:ext>
            </a:extLst>
          </p:cNvPr>
          <p:cNvSpPr>
            <a:spLocks xmlns:a="http://schemas.openxmlformats.org/drawingml/2006/main" noGrp="1"/>
          </p:cNvSpPr>
          <p:nvPr/>
        </p:nvSpPr>
        <p:spPr>
          <a:xfrm xmlns:a="http://schemas.openxmlformats.org/drawingml/2006/main">
            <a:off x="7988141" y="1819954"/>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40" name="">
            <a:extLst xmlns:a="http://schemas.openxmlformats.org/drawingml/2006/main">
              <a:ext uri="{FF2B5EF4-FFF2-40B4-BE49-F238E27FC236}">
                <a16:creationId xmlns:a16="http://schemas.microsoft.com/office/drawing/2014/main" id="{B733FE3D-B390-43C3-AB1E-37265A9C9B45}"/>
              </a:ext>
            </a:extLst>
          </p:cNvPr>
          <p:cNvSpPr>
            <a:spLocks xmlns:a="http://schemas.openxmlformats.org/drawingml/2006/main" noGrp="1"/>
          </p:cNvSpPr>
          <p:nvPr/>
        </p:nvSpPr>
        <p:spPr>
          <a:xfrm xmlns:a="http://schemas.openxmlformats.org/drawingml/2006/main">
            <a:off x="7786492" y="2801604"/>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41" name="">
            <a:extLst xmlns:a="http://schemas.openxmlformats.org/drawingml/2006/main">
              <a:ext uri="{FF2B5EF4-FFF2-40B4-BE49-F238E27FC236}">
                <a16:creationId xmlns:a16="http://schemas.microsoft.com/office/drawing/2014/main" id="{381B5B9B-AA90-402E-98EC-6C6C295EB4C0}"/>
              </a:ext>
            </a:extLst>
          </p:cNvPr>
          <p:cNvSpPr>
            <a:spLocks xmlns:a="http://schemas.openxmlformats.org/drawingml/2006/main" noGrp="1"/>
          </p:cNvSpPr>
          <p:nvPr/>
        </p:nvSpPr>
        <p:spPr>
          <a:xfrm xmlns:a="http://schemas.openxmlformats.org/drawingml/2006/main">
            <a:off x="7119041" y="3680920"/>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42" name="">
            <a:extLst xmlns:a="http://schemas.openxmlformats.org/drawingml/2006/main">
              <a:ext uri="{FF2B5EF4-FFF2-40B4-BE49-F238E27FC236}">
                <a16:creationId xmlns:a16="http://schemas.microsoft.com/office/drawing/2014/main" id="{97F49AC7-4541-49B8-9A3D-C6587800D948}"/>
              </a:ext>
            </a:extLst>
          </p:cNvPr>
          <p:cNvSpPr>
            <a:spLocks xmlns:a="http://schemas.openxmlformats.org/drawingml/2006/main" noGrp="1"/>
          </p:cNvSpPr>
          <p:nvPr/>
        </p:nvSpPr>
        <p:spPr>
          <a:xfrm xmlns:a="http://schemas.openxmlformats.org/drawingml/2006/main">
            <a:off x="8280239" y="2359672"/>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43" name="">
            <a:extLst xmlns:a="http://schemas.openxmlformats.org/drawingml/2006/main">
              <a:ext uri="{FF2B5EF4-FFF2-40B4-BE49-F238E27FC236}">
                <a16:creationId xmlns:a16="http://schemas.microsoft.com/office/drawing/2014/main" id="{58D7C8E2-81B4-4FE5-8D31-AFF885697F3E}"/>
              </a:ext>
            </a:extLst>
          </p:cNvPr>
          <p:cNvSpPr>
            <a:spLocks xmlns:a="http://schemas.openxmlformats.org/drawingml/2006/main" noGrp="1"/>
          </p:cNvSpPr>
          <p:nvPr/>
        </p:nvSpPr>
        <p:spPr>
          <a:xfrm xmlns:a="http://schemas.openxmlformats.org/drawingml/2006/main">
            <a:off x="7887193" y="2270224"/>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44" name="">
            <a:extLst xmlns:a="http://schemas.openxmlformats.org/drawingml/2006/main">
              <a:ext uri="{FF2B5EF4-FFF2-40B4-BE49-F238E27FC236}">
                <a16:creationId xmlns:a16="http://schemas.microsoft.com/office/drawing/2014/main" id="{6448BF69-C085-477B-AC11-2AFD92FC9C81}"/>
              </a:ext>
            </a:extLst>
          </p:cNvPr>
          <p:cNvSpPr>
            <a:spLocks xmlns:a="http://schemas.openxmlformats.org/drawingml/2006/main" noGrp="1"/>
          </p:cNvSpPr>
          <p:nvPr/>
        </p:nvSpPr>
        <p:spPr>
          <a:xfrm xmlns:a="http://schemas.openxmlformats.org/drawingml/2006/main">
            <a:off x="7345243" y="1441383"/>
            <a:ext cx="142875" cy="142875"/>
          </a:xfrm>
          <a:prstGeom xmlns:a="http://schemas.openxmlformats.org/drawingml/2006/main" prst="ellipse">
            <a:avLst/>
          </a:prstGeom>
          <a:solidFill xmlns:a="http://schemas.openxmlformats.org/drawingml/2006/main">
            <a:srgbClr val="2563EB"/>
          </a:solidFill>
          <a:ln xmlns:a="http://schemas.openxmlformats.org/drawingml/2006/main" w="19050">
            <a:solidFill>
              <a:srgbClr val="FFFFFF"/>
            </a:solidFill>
            <a:prstDash val="solid"/>
          </a:ln>
        </p:spPr>
      </p:sp>
      <p:sp>
        <p:nvSpPr>
          <p:cNvPr id="45" name="">
            <a:extLst xmlns:a="http://schemas.openxmlformats.org/drawingml/2006/main">
              <a:ext uri="{FF2B5EF4-FFF2-40B4-BE49-F238E27FC236}">
                <a16:creationId xmlns:a16="http://schemas.microsoft.com/office/drawing/2014/main" id="{90B39407-8B8A-488A-9DC5-19BFC6F73D35}"/>
              </a:ext>
            </a:extLst>
          </p:cNvPr>
          <p:cNvSpPr>
            <a:spLocks xmlns:a="http://schemas.openxmlformats.org/drawingml/2006/main" noGrp="1"/>
          </p:cNvSpPr>
          <p:nvPr/>
        </p:nvSpPr>
        <p:spPr>
          <a:xfrm xmlns:a="http://schemas.openxmlformats.org/drawingml/2006/main">
            <a:off x="7563595" y="2491569"/>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8F048807-BC1D-469C-B93D-D1A280DEC815}"/>
              </a:ext>
            </a:extLst>
          </p:cNvPr>
          <p:cNvSpPr>
            <a:spLocks xmlns:a="http://schemas.openxmlformats.org/drawingml/2006/main" noGrp="1"/>
          </p:cNvSpPr>
          <p:nvPr/>
        </p:nvSpPr>
        <p:spPr>
          <a:xfrm xmlns:a="http://schemas.openxmlformats.org/drawingml/2006/main">
            <a:off x="6781800" y="5514975"/>
            <a:ext cx="104775" cy="104775"/>
          </a:xfrm>
          <a:prstGeom xmlns:a="http://schemas.openxmlformats.org/drawingml/2006/main" prst="ellipse">
            <a:avLst/>
          </a:prstGeom>
          <a:solidFill xmlns:a="http://schemas.openxmlformats.org/drawingml/2006/main">
            <a:srgbClr val="BEC5CE"/>
          </a:solidFill>
          <a:ln xmlns:a="http://schemas.openxmlformats.org/drawingml/2006/main" w="0">
            <a:solidFill>
              <a:srgbClr val="BEC5CE"/>
            </a:solidFill>
            <a:prstDash val="solid"/>
          </a:ln>
        </p:spPr>
      </p:sp>
      <p:sp>
        <p:nvSpPr>
          <p:cNvPr id="47" name="">
            <a:extLst xmlns:a="http://schemas.openxmlformats.org/drawingml/2006/main">
              <a:ext uri="{FF2B5EF4-FFF2-40B4-BE49-F238E27FC236}">
                <a16:creationId xmlns:a16="http://schemas.microsoft.com/office/drawing/2014/main" id="{60F614F4-AE9A-4069-A7C3-7F4AD39A74F4}"/>
              </a:ext>
            </a:extLst>
          </p:cNvPr>
          <p:cNvSpPr>
            <a:spLocks xmlns:a="http://schemas.openxmlformats.org/drawingml/2006/main" noGrp="1"/>
          </p:cNvSpPr>
          <p:nvPr/>
        </p:nvSpPr>
        <p:spPr>
          <a:xfrm xmlns:a="http://schemas.openxmlformats.org/drawingml/2006/main">
            <a:off x="6962775" y="5467350"/>
            <a:ext cx="1238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B6472"/>
                </a:solidFill>
                <a:latin typeface="Aptos"/>
                <a:ea typeface="Aptos"/>
                <a:cs typeface="Aptos"/>
              </a:defRPr>
            </a:pPr>
            <a:r>
              <a:t>Other tested cells</a:t>
            </a:r>
          </a:p>
        </p:txBody>
      </p:sp>
      <p:sp>
        <p:nvSpPr>
          <p:cNvPr id="48" name="">
            <a:extLst xmlns:a="http://schemas.openxmlformats.org/drawingml/2006/main">
              <a:ext uri="{FF2B5EF4-FFF2-40B4-BE49-F238E27FC236}">
                <a16:creationId xmlns:a16="http://schemas.microsoft.com/office/drawing/2014/main" id="{287A08CE-63FE-483E-871D-2C69EC39BC88}"/>
              </a:ext>
            </a:extLst>
          </p:cNvPr>
          <p:cNvSpPr>
            <a:spLocks xmlns:a="http://schemas.openxmlformats.org/drawingml/2006/main" noGrp="1"/>
          </p:cNvSpPr>
          <p:nvPr/>
        </p:nvSpPr>
        <p:spPr>
          <a:xfrm xmlns:a="http://schemas.openxmlformats.org/drawingml/2006/main">
            <a:off x="8372475" y="5495925"/>
            <a:ext cx="142875" cy="142875"/>
          </a:xfrm>
          <a:prstGeom xmlns:a="http://schemas.openxmlformats.org/drawingml/2006/main" prst="ellipse">
            <a:avLst/>
          </a:prstGeom>
          <a:solidFill xmlns:a="http://schemas.openxmlformats.org/drawingml/2006/main">
            <a:srgbClr val="2563EB"/>
          </a:solidFill>
          <a:ln xmlns:a="http://schemas.openxmlformats.org/drawingml/2006/main" w="19050">
            <a:solidFill>
              <a:srgbClr val="FFFFFF"/>
            </a:solidFill>
            <a:prstDash val="solid"/>
          </a:ln>
        </p:spPr>
      </p:sp>
      <p:sp>
        <p:nvSpPr>
          <p:cNvPr id="49" name="">
            <a:extLst xmlns:a="http://schemas.openxmlformats.org/drawingml/2006/main">
              <a:ext uri="{FF2B5EF4-FFF2-40B4-BE49-F238E27FC236}">
                <a16:creationId xmlns:a16="http://schemas.microsoft.com/office/drawing/2014/main" id="{E7E9DAEB-6F78-4EA4-B035-C3A04813E89E}"/>
              </a:ext>
            </a:extLst>
          </p:cNvPr>
          <p:cNvSpPr>
            <a:spLocks xmlns:a="http://schemas.openxmlformats.org/drawingml/2006/main" noGrp="1"/>
          </p:cNvSpPr>
          <p:nvPr/>
        </p:nvSpPr>
        <p:spPr>
          <a:xfrm xmlns:a="http://schemas.openxmlformats.org/drawingml/2006/main">
            <a:off x="8582025" y="5467350"/>
            <a:ext cx="1047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B6472"/>
                </a:solidFill>
                <a:latin typeface="Aptos"/>
                <a:ea typeface="Aptos"/>
                <a:cs typeface="Aptos"/>
              </a:defRPr>
            </a:pPr>
            <a:r>
              <a:t>Pareto cells</a:t>
            </a:r>
          </a:p>
        </p:txBody>
      </p:sp>
      <p:sp>
        <p:nvSpPr>
          <p:cNvPr id="50" name="">
            <a:extLst xmlns:a="http://schemas.openxmlformats.org/drawingml/2006/main">
              <a:ext uri="{FF2B5EF4-FFF2-40B4-BE49-F238E27FC236}">
                <a16:creationId xmlns:a16="http://schemas.microsoft.com/office/drawing/2014/main" id="{B2C62ADD-24E5-4C18-8BE9-09C3E4623276}"/>
              </a:ext>
            </a:extLst>
          </p:cNvPr>
          <p:cNvSpPr>
            <a:spLocks xmlns:a="http://schemas.openxmlformats.org/drawingml/2006/main" noGrp="1"/>
          </p:cNvSpPr>
          <p:nvPr/>
        </p:nvSpPr>
        <p:spPr>
          <a:xfrm xmlns:a="http://schemas.openxmlformats.org/drawingml/2006/main">
            <a:off x="9839325" y="5486400"/>
            <a:ext cx="171450" cy="171450"/>
          </a:xfrm>
          <a:prstGeom xmlns:a="http://schemas.openxmlformats.org/drawingml/2006/main" prst="ellipse">
            <a:avLst/>
          </a:prstGeom>
          <a:solidFill xmlns:a="http://schemas.openxmlformats.org/drawingml/2006/main">
            <a:srgbClr val="0B1220"/>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04E76806-4E4D-4F07-932F-7830F98DD09D}"/>
              </a:ext>
            </a:extLst>
          </p:cNvPr>
          <p:cNvSpPr>
            <a:spLocks xmlns:a="http://schemas.openxmlformats.org/drawingml/2006/main" noGrp="1"/>
          </p:cNvSpPr>
          <p:nvPr/>
        </p:nvSpPr>
        <p:spPr>
          <a:xfrm xmlns:a="http://schemas.openxmlformats.org/drawingml/2006/main">
            <a:off x="10077450" y="5467350"/>
            <a:ext cx="1190625"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B6472"/>
                </a:solidFill>
                <a:latin typeface="Aptos"/>
                <a:ea typeface="Aptos"/>
                <a:cs typeface="Aptos"/>
              </a:defRPr>
            </a:pPr>
            <a:r>
              <a:t>Balanced choice</a:t>
            </a:r>
          </a:p>
        </p:txBody>
      </p:sp>
      <p:sp>
        <p:nvSpPr>
          <p:cNvPr id="52" name="">
            <a:extLst xmlns:a="http://schemas.openxmlformats.org/drawingml/2006/main">
              <a:ext uri="{FF2B5EF4-FFF2-40B4-BE49-F238E27FC236}">
                <a16:creationId xmlns:a16="http://schemas.microsoft.com/office/drawing/2014/main" id="{6A900EDA-638A-4898-8E64-8A5037897D49}"/>
              </a:ext>
            </a:extLst>
          </p:cNvPr>
          <p:cNvSpPr>
            <a:spLocks xmlns:a="http://schemas.openxmlformats.org/drawingml/2006/main" noGrp="1"/>
          </p:cNvSpPr>
          <p:nvPr/>
        </p:nvSpPr>
        <p:spPr>
          <a:xfrm xmlns:a="http://schemas.openxmlformats.org/drawingml/2006/main">
            <a:off x="11277600" y="6381750"/>
            <a:ext cx="4953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A93A2"/>
                </a:solidFill>
                <a:latin typeface="Aptos"/>
                <a:ea typeface="Aptos"/>
                <a:cs typeface="Aptos"/>
              </a:defRPr>
            </a:pPr>
            <a:r>
              <a:t>01</a:t>
            </a:r>
          </a:p>
        </p:txBody>
      </p:sp>
    </p:spTree>
    <p:extLst>
      <p:ext uri="{BB962C8B-B14F-4D97-AF65-F5344CB8AC3E}">
        <p14:creationId xmlns:p14="http://schemas.microsoft.com/office/powerpoint/2010/main" val="133559212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F9445C1-DCA1-4A54-90B9-4AB083025397}"/>
              </a:ext>
            </a:extLst>
          </p:cNvPr>
          <p:cNvSpPr>
            <a:spLocks xmlns:a="http://schemas.openxmlformats.org/drawingml/2006/main" noGrp="1"/>
          </p:cNvSpPr>
          <p:nvPr/>
        </p:nvSpPr>
        <p:spPr>
          <a:xfrm xmlns:a="http://schemas.openxmlformats.org/drawingml/2006/main">
            <a:off x="400050" y="228600"/>
            <a:ext cx="4953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563EB"/>
                </a:solidFill>
                <a:latin typeface="Aptos"/>
                <a:ea typeface="Aptos"/>
                <a:cs typeface="Aptos"/>
              </a:defRPr>
            </a:pPr>
            <a:r>
              <a:t>PHASE C · WEEK 5–6</a:t>
            </a:r>
          </a:p>
        </p:txBody>
      </p:sp>
      <p:sp>
        <p:nvSpPr>
          <p:cNvPr id="2" name="">
            <a:extLst xmlns:a="http://schemas.openxmlformats.org/drawingml/2006/main">
              <a:ext uri="{FF2B5EF4-FFF2-40B4-BE49-F238E27FC236}">
                <a16:creationId xmlns:a16="http://schemas.microsoft.com/office/drawing/2014/main" id="{588E6349-4269-4249-8F33-F536AE948DAD}"/>
              </a:ext>
            </a:extLst>
          </p:cNvPr>
          <p:cNvSpPr>
            <a:spLocks xmlns:a="http://schemas.openxmlformats.org/drawingml/2006/main" noGrp="1"/>
          </p:cNvSpPr>
          <p:nvPr/>
        </p:nvSpPr>
        <p:spPr>
          <a:xfrm xmlns:a="http://schemas.openxmlformats.org/drawingml/2006/main">
            <a:off x="400050" y="504825"/>
            <a:ext cx="11144250" cy="590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111827"/>
                </a:solidFill>
                <a:latin typeface="Aptos"/>
                <a:ea typeface="Aptos"/>
                <a:cs typeface="Aptos"/>
              </a:defRPr>
            </a:pPr>
            <a:r>
              <a:t>Three workstreams, one evidence boundary</a:t>
            </a:r>
          </a:p>
        </p:txBody>
      </p:sp>
      <p:cxnSp>
        <p:nvCxnSpPr>
          <p:cNvPr id="25"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D7DCE3"/>
            </a:solidFill>
            <a:prstDash val="solid"/>
          </a:ln>
        </p:spPr>
      </p:cxnSp>
      <p:sp>
        <p:nvSpPr>
          <p:cNvPr id="4" name="">
            <a:extLst xmlns:a="http://schemas.openxmlformats.org/drawingml/2006/main">
              <a:ext uri="{FF2B5EF4-FFF2-40B4-BE49-F238E27FC236}">
                <a16:creationId xmlns:a16="http://schemas.microsoft.com/office/drawing/2014/main" id="{70DC3AD1-7FD1-4ED1-889E-C6B79A88AE3D}"/>
              </a:ext>
            </a:extLst>
          </p:cNvPr>
          <p:cNvSpPr>
            <a:spLocks xmlns:a="http://schemas.openxmlformats.org/drawingml/2006/main" noGrp="1"/>
          </p:cNvSpPr>
          <p:nvPr/>
        </p:nvSpPr>
        <p:spPr>
          <a:xfrm xmlns:a="http://schemas.openxmlformats.org/drawingml/2006/main">
            <a:off x="11277600" y="6381750"/>
            <a:ext cx="4953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A93A2"/>
                </a:solidFill>
                <a:latin typeface="Aptos"/>
                <a:ea typeface="Aptos"/>
                <a:cs typeface="Aptos"/>
              </a:defRPr>
            </a:pPr>
            <a:r>
              <a:t>02</a:t>
            </a:r>
          </a:p>
        </p:txBody>
      </p:sp>
      <p:sp>
        <p:nvSpPr>
          <p:cNvPr id="5" name="">
            <a:extLst xmlns:a="http://schemas.openxmlformats.org/drawingml/2006/main">
              <a:ext uri="{FF2B5EF4-FFF2-40B4-BE49-F238E27FC236}">
                <a16:creationId xmlns:a16="http://schemas.microsoft.com/office/drawing/2014/main" id="{C2C65C54-202F-4B74-89AC-05F424D4CBF8}"/>
              </a:ext>
            </a:extLst>
          </p:cNvPr>
          <p:cNvSpPr>
            <a:spLocks xmlns:a="http://schemas.openxmlformats.org/drawingml/2006/main" noGrp="1"/>
          </p:cNvSpPr>
          <p:nvPr/>
        </p:nvSpPr>
        <p:spPr>
          <a:xfrm xmlns:a="http://schemas.openxmlformats.org/drawingml/2006/main">
            <a:off x="400050" y="1524000"/>
            <a:ext cx="3581400" cy="3219450"/>
          </a:xfrm>
          <a:prstGeom xmlns:a="http://schemas.openxmlformats.org/drawingml/2006/main" prst="roundRect">
            <a:avLst>
              <a:gd name="adj" fmla="val 2367"/>
            </a:avLst>
          </a:prstGeom>
          <a:solidFill xmlns:a="http://schemas.openxmlformats.org/drawingml/2006/main">
            <a:srgbClr val="F3F5F7"/>
          </a:solidFill>
          <a:ln xmlns:a="http://schemas.openxmlformats.org/drawingml/2006/main" w="0">
            <a:solidFill>
              <a:srgbClr val="F3F5F7"/>
            </a:solidFill>
            <a:prstDash val="solid"/>
          </a:ln>
        </p:spPr>
      </p:sp>
      <p:sp>
        <p:nvSpPr>
          <p:cNvPr id="6" name="">
            <a:extLst xmlns:a="http://schemas.openxmlformats.org/drawingml/2006/main">
              <a:ext uri="{FF2B5EF4-FFF2-40B4-BE49-F238E27FC236}">
                <a16:creationId xmlns:a16="http://schemas.microsoft.com/office/drawing/2014/main" id="{4F252B7E-AEC4-402C-9319-AE6B45B9AC70}"/>
              </a:ext>
            </a:extLst>
          </p:cNvPr>
          <p:cNvSpPr>
            <a:spLocks xmlns:a="http://schemas.openxmlformats.org/drawingml/2006/main" noGrp="1"/>
          </p:cNvSpPr>
          <p:nvPr/>
        </p:nvSpPr>
        <p:spPr>
          <a:xfrm xmlns:a="http://schemas.openxmlformats.org/drawingml/2006/main">
            <a:off x="400050" y="1524000"/>
            <a:ext cx="76200" cy="32194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F28B62E2-2D56-43AB-8335-B9B5670F79C6}"/>
              </a:ext>
            </a:extLst>
          </p:cNvPr>
          <p:cNvSpPr>
            <a:spLocks xmlns:a="http://schemas.openxmlformats.org/drawingml/2006/main" noGrp="1"/>
          </p:cNvSpPr>
          <p:nvPr/>
        </p:nvSpPr>
        <p:spPr>
          <a:xfrm xmlns:a="http://schemas.openxmlformats.org/drawingml/2006/main">
            <a:off x="647700" y="1714500"/>
            <a:ext cx="5143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563EB"/>
                </a:solidFill>
                <a:latin typeface="Aptos"/>
                <a:ea typeface="Aptos"/>
                <a:cs typeface="Aptos"/>
              </a:defRPr>
            </a:pPr>
            <a:r>
              <a:t>01</a:t>
            </a:r>
          </a:p>
        </p:txBody>
      </p:sp>
      <p:sp>
        <p:nvSpPr>
          <p:cNvPr id="8" name="">
            <a:extLst xmlns:a="http://schemas.openxmlformats.org/drawingml/2006/main">
              <a:ext uri="{FF2B5EF4-FFF2-40B4-BE49-F238E27FC236}">
                <a16:creationId xmlns:a16="http://schemas.microsoft.com/office/drawing/2014/main" id="{123BA6CA-376C-4FCE-A1FD-94B510FB6EA9}"/>
              </a:ext>
            </a:extLst>
          </p:cNvPr>
          <p:cNvSpPr>
            <a:spLocks xmlns:a="http://schemas.openxmlformats.org/drawingml/2006/main" noGrp="1"/>
          </p:cNvSpPr>
          <p:nvPr/>
        </p:nvSpPr>
        <p:spPr>
          <a:xfrm xmlns:a="http://schemas.openxmlformats.org/drawingml/2006/main">
            <a:off x="1219200" y="1714500"/>
            <a:ext cx="25146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t>Controlled RAG</a:t>
            </a:r>
          </a:p>
        </p:txBody>
      </p:sp>
      <p:sp>
        <p:nvSpPr>
          <p:cNvPr id="9" name="">
            <a:extLst xmlns:a="http://schemas.openxmlformats.org/drawingml/2006/main">
              <a:ext uri="{FF2B5EF4-FFF2-40B4-BE49-F238E27FC236}">
                <a16:creationId xmlns:a16="http://schemas.microsoft.com/office/drawing/2014/main" id="{F6214F4C-3EAF-408A-B530-E5F8A8131E84}"/>
              </a:ext>
            </a:extLst>
          </p:cNvPr>
          <p:cNvSpPr>
            <a:spLocks xmlns:a="http://schemas.openxmlformats.org/drawingml/2006/main" noGrp="1"/>
          </p:cNvSpPr>
          <p:nvPr/>
        </p:nvSpPr>
        <p:spPr>
          <a:xfrm xmlns:a="http://schemas.openxmlformats.org/drawingml/2006/main">
            <a:off x="647700" y="2247900"/>
            <a:ext cx="3086100" cy="2324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Aptos"/>
                <a:ea typeface="Aptos"/>
                <a:cs typeface="Aptos"/>
              </a:defRPr>
            </a:pPr>
            <a:r>
              <a:t>18 factorial cells
20 frozen questions per cell
360 generated and traced rows
21 complete official sources</a:t>
            </a:r>
          </a:p>
        </p:txBody>
      </p:sp>
      <p:sp>
        <p:nvSpPr>
          <p:cNvPr id="10" name="">
            <a:extLst xmlns:a="http://schemas.openxmlformats.org/drawingml/2006/main">
              <a:ext uri="{FF2B5EF4-FFF2-40B4-BE49-F238E27FC236}">
                <a16:creationId xmlns:a16="http://schemas.microsoft.com/office/drawing/2014/main" id="{19F7FB4D-4F43-423E-A59B-F948535C8C40}"/>
              </a:ext>
            </a:extLst>
          </p:cNvPr>
          <p:cNvSpPr>
            <a:spLocks xmlns:a="http://schemas.openxmlformats.org/drawingml/2006/main" noGrp="1"/>
          </p:cNvSpPr>
          <p:nvPr/>
        </p:nvSpPr>
        <p:spPr>
          <a:xfrm xmlns:a="http://schemas.openxmlformats.org/drawingml/2006/main">
            <a:off x="4305300" y="1524000"/>
            <a:ext cx="3581400" cy="3219450"/>
          </a:xfrm>
          <a:prstGeom xmlns:a="http://schemas.openxmlformats.org/drawingml/2006/main" prst="roundRect">
            <a:avLst>
              <a:gd name="adj" fmla="val 2367"/>
            </a:avLst>
          </a:prstGeom>
          <a:solidFill xmlns:a="http://schemas.openxmlformats.org/drawingml/2006/main">
            <a:srgbClr val="F3F5F7"/>
          </a:solidFill>
          <a:ln xmlns:a="http://schemas.openxmlformats.org/drawingml/2006/main" w="0">
            <a:solidFill>
              <a:srgbClr val="F3F5F7"/>
            </a:solidFill>
            <a:prstDash val="solid"/>
          </a:ln>
        </p:spPr>
      </p:sp>
      <p:sp>
        <p:nvSpPr>
          <p:cNvPr id="11" name="">
            <a:extLst xmlns:a="http://schemas.openxmlformats.org/drawingml/2006/main">
              <a:ext uri="{FF2B5EF4-FFF2-40B4-BE49-F238E27FC236}">
                <a16:creationId xmlns:a16="http://schemas.microsoft.com/office/drawing/2014/main" id="{B733CB9F-25B5-4902-A18E-CA5A9884BD8C}"/>
              </a:ext>
            </a:extLst>
          </p:cNvPr>
          <p:cNvSpPr>
            <a:spLocks xmlns:a="http://schemas.openxmlformats.org/drawingml/2006/main" noGrp="1"/>
          </p:cNvSpPr>
          <p:nvPr/>
        </p:nvSpPr>
        <p:spPr>
          <a:xfrm xmlns:a="http://schemas.openxmlformats.org/drawingml/2006/main">
            <a:off x="4305300" y="1524000"/>
            <a:ext cx="76200" cy="321945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12" name="">
            <a:extLst xmlns:a="http://schemas.openxmlformats.org/drawingml/2006/main">
              <a:ext uri="{FF2B5EF4-FFF2-40B4-BE49-F238E27FC236}">
                <a16:creationId xmlns:a16="http://schemas.microsoft.com/office/drawing/2014/main" id="{14AC47D8-266A-483B-ACFC-E64104048BAE}"/>
              </a:ext>
            </a:extLst>
          </p:cNvPr>
          <p:cNvSpPr>
            <a:spLocks xmlns:a="http://schemas.openxmlformats.org/drawingml/2006/main" noGrp="1"/>
          </p:cNvSpPr>
          <p:nvPr/>
        </p:nvSpPr>
        <p:spPr>
          <a:xfrm xmlns:a="http://schemas.openxmlformats.org/drawingml/2006/main">
            <a:off x="4552950" y="1714500"/>
            <a:ext cx="5143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F9D8A"/>
                </a:solidFill>
                <a:latin typeface="Aptos"/>
                <a:ea typeface="Aptos"/>
                <a:cs typeface="Aptos"/>
              </a:defRPr>
            </a:pPr>
            <a:r>
              <a:t>02</a:t>
            </a:r>
          </a:p>
        </p:txBody>
      </p:sp>
      <p:sp>
        <p:nvSpPr>
          <p:cNvPr id="13" name="">
            <a:extLst xmlns:a="http://schemas.openxmlformats.org/drawingml/2006/main">
              <a:ext uri="{FF2B5EF4-FFF2-40B4-BE49-F238E27FC236}">
                <a16:creationId xmlns:a16="http://schemas.microsoft.com/office/drawing/2014/main" id="{69CB2272-38F8-4827-9D01-3280D36C8874}"/>
              </a:ext>
            </a:extLst>
          </p:cNvPr>
          <p:cNvSpPr>
            <a:spLocks xmlns:a="http://schemas.openxmlformats.org/drawingml/2006/main" noGrp="1"/>
          </p:cNvSpPr>
          <p:nvPr/>
        </p:nvSpPr>
        <p:spPr>
          <a:xfrm xmlns:a="http://schemas.openxmlformats.org/drawingml/2006/main">
            <a:off x="5124450" y="1714500"/>
            <a:ext cx="25146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t>PIC 2.0 analysis</a:t>
            </a:r>
          </a:p>
        </p:txBody>
      </p:sp>
      <p:sp>
        <p:nvSpPr>
          <p:cNvPr id="14" name="">
            <a:extLst xmlns:a="http://schemas.openxmlformats.org/drawingml/2006/main">
              <a:ext uri="{FF2B5EF4-FFF2-40B4-BE49-F238E27FC236}">
                <a16:creationId xmlns:a16="http://schemas.microsoft.com/office/drawing/2014/main" id="{812AB8C0-F58E-4661-ABC3-2D6DDE19FAE6}"/>
              </a:ext>
            </a:extLst>
          </p:cNvPr>
          <p:cNvSpPr>
            <a:spLocks xmlns:a="http://schemas.openxmlformats.org/drawingml/2006/main" noGrp="1"/>
          </p:cNvSpPr>
          <p:nvPr/>
        </p:nvSpPr>
        <p:spPr>
          <a:xfrm xmlns:a="http://schemas.openxmlformats.org/drawingml/2006/main">
            <a:off x="4552950" y="2247900"/>
            <a:ext cx="3086100" cy="2324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Aptos"/>
                <a:ea typeface="Aptos"/>
                <a:cs typeface="Aptos"/>
              </a:defRPr>
            </a:pPr>
            <a:r>
              <a:t>Six capability tracks
Proxy evidence mapped to deployment failures
Track-specific readiness metrics
Versioned terminology boundaries</a:t>
            </a:r>
          </a:p>
        </p:txBody>
      </p:sp>
      <p:sp>
        <p:nvSpPr>
          <p:cNvPr id="15" name="">
            <a:extLst xmlns:a="http://schemas.openxmlformats.org/drawingml/2006/main">
              <a:ext uri="{FF2B5EF4-FFF2-40B4-BE49-F238E27FC236}">
                <a16:creationId xmlns:a16="http://schemas.microsoft.com/office/drawing/2014/main" id="{F0B5BC6D-3225-4D32-A501-F6D6F06CCFA0}"/>
              </a:ext>
            </a:extLst>
          </p:cNvPr>
          <p:cNvSpPr>
            <a:spLocks xmlns:a="http://schemas.openxmlformats.org/drawingml/2006/main" noGrp="1"/>
          </p:cNvSpPr>
          <p:nvPr/>
        </p:nvSpPr>
        <p:spPr>
          <a:xfrm xmlns:a="http://schemas.openxmlformats.org/drawingml/2006/main">
            <a:off x="8210550" y="1524000"/>
            <a:ext cx="3581400" cy="3219450"/>
          </a:xfrm>
          <a:prstGeom xmlns:a="http://schemas.openxmlformats.org/drawingml/2006/main" prst="roundRect">
            <a:avLst>
              <a:gd name="adj" fmla="val 2367"/>
            </a:avLst>
          </a:prstGeom>
          <a:solidFill xmlns:a="http://schemas.openxmlformats.org/drawingml/2006/main">
            <a:srgbClr val="F3F5F7"/>
          </a:solidFill>
          <a:ln xmlns:a="http://schemas.openxmlformats.org/drawingml/2006/main" w="0">
            <a:solidFill>
              <a:srgbClr val="F3F5F7"/>
            </a:solidFill>
            <a:prstDash val="solid"/>
          </a:ln>
        </p:spPr>
      </p:sp>
      <p:sp>
        <p:nvSpPr>
          <p:cNvPr id="16" name="">
            <a:extLst xmlns:a="http://schemas.openxmlformats.org/drawingml/2006/main">
              <a:ext uri="{FF2B5EF4-FFF2-40B4-BE49-F238E27FC236}">
                <a16:creationId xmlns:a16="http://schemas.microsoft.com/office/drawing/2014/main" id="{047457A7-3A03-463F-A5BE-7E7A8986FF61}"/>
              </a:ext>
            </a:extLst>
          </p:cNvPr>
          <p:cNvSpPr>
            <a:spLocks xmlns:a="http://schemas.openxmlformats.org/drawingml/2006/main" noGrp="1"/>
          </p:cNvSpPr>
          <p:nvPr/>
        </p:nvSpPr>
        <p:spPr>
          <a:xfrm xmlns:a="http://schemas.openxmlformats.org/drawingml/2006/main">
            <a:off x="8210550" y="1524000"/>
            <a:ext cx="76200" cy="321945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
        <p:nvSpPr>
          <p:cNvPr id="17" name="">
            <a:extLst xmlns:a="http://schemas.openxmlformats.org/drawingml/2006/main">
              <a:ext uri="{FF2B5EF4-FFF2-40B4-BE49-F238E27FC236}">
                <a16:creationId xmlns:a16="http://schemas.microsoft.com/office/drawing/2014/main" id="{C2EE2A5E-2648-4D6B-B495-8F7A6EEC4EDD}"/>
              </a:ext>
            </a:extLst>
          </p:cNvPr>
          <p:cNvSpPr>
            <a:spLocks xmlns:a="http://schemas.openxmlformats.org/drawingml/2006/main" noGrp="1"/>
          </p:cNvSpPr>
          <p:nvPr/>
        </p:nvSpPr>
        <p:spPr>
          <a:xfrm xmlns:a="http://schemas.openxmlformats.org/drawingml/2006/main">
            <a:off x="8458200" y="1714500"/>
            <a:ext cx="5143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D97706"/>
                </a:solidFill>
                <a:latin typeface="Aptos"/>
                <a:ea typeface="Aptos"/>
                <a:cs typeface="Aptos"/>
              </a:defRPr>
            </a:pPr>
            <a:r>
              <a:t>03</a:t>
            </a:r>
          </a:p>
        </p:txBody>
      </p:sp>
      <p:sp>
        <p:nvSpPr>
          <p:cNvPr id="18" name="">
            <a:extLst xmlns:a="http://schemas.openxmlformats.org/drawingml/2006/main">
              <a:ext uri="{FF2B5EF4-FFF2-40B4-BE49-F238E27FC236}">
                <a16:creationId xmlns:a16="http://schemas.microsoft.com/office/drawing/2014/main" id="{DFE60A6B-1397-4E36-BC8F-41302D959A2F}"/>
              </a:ext>
            </a:extLst>
          </p:cNvPr>
          <p:cNvSpPr>
            <a:spLocks xmlns:a="http://schemas.openxmlformats.org/drawingml/2006/main" noGrp="1"/>
          </p:cNvSpPr>
          <p:nvPr/>
        </p:nvSpPr>
        <p:spPr>
          <a:xfrm xmlns:a="http://schemas.openxmlformats.org/drawingml/2006/main">
            <a:off x="9029700" y="1714500"/>
            <a:ext cx="25146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t>Week 6 synthesis</a:t>
            </a:r>
          </a:p>
        </p:txBody>
      </p:sp>
      <p:sp>
        <p:nvSpPr>
          <p:cNvPr id="19" name="">
            <a:extLst xmlns:a="http://schemas.openxmlformats.org/drawingml/2006/main">
              <a:ext uri="{FF2B5EF4-FFF2-40B4-BE49-F238E27FC236}">
                <a16:creationId xmlns:a16="http://schemas.microsoft.com/office/drawing/2014/main" id="{6AABD94B-E7FB-4940-B986-5C94A20E9CA4}"/>
              </a:ext>
            </a:extLst>
          </p:cNvPr>
          <p:cNvSpPr>
            <a:spLocks xmlns:a="http://schemas.openxmlformats.org/drawingml/2006/main" noGrp="1"/>
          </p:cNvSpPr>
          <p:nvPr/>
        </p:nvSpPr>
        <p:spPr>
          <a:xfrm xmlns:a="http://schemas.openxmlformats.org/drawingml/2006/main">
            <a:off x="8458200" y="2247900"/>
            <a:ext cx="3086100" cy="2324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Aptos"/>
                <a:ea typeface="Aptos"/>
                <a:cs typeface="Aptos"/>
              </a:defRPr>
            </a:pPr>
            <a:r>
              <a:t>Weeks 2–5 evidence kept stratified
12 inputs frozen by SHA-256
Claim–evidence matrix
Methodology report and self-critique</a:t>
            </a:r>
          </a:p>
        </p:txBody>
      </p:sp>
      <p:sp>
        <p:nvSpPr>
          <p:cNvPr id="20" name="">
            <a:extLst xmlns:a="http://schemas.openxmlformats.org/drawingml/2006/main">
              <a:ext uri="{FF2B5EF4-FFF2-40B4-BE49-F238E27FC236}">
                <a16:creationId xmlns:a16="http://schemas.microsoft.com/office/drawing/2014/main" id="{B6A13E6F-F60E-429F-9856-FCBCFC241F15}"/>
              </a:ext>
            </a:extLst>
          </p:cNvPr>
          <p:cNvSpPr>
            <a:spLocks xmlns:a="http://schemas.openxmlformats.org/drawingml/2006/main" noGrp="1"/>
          </p:cNvSpPr>
          <p:nvPr/>
        </p:nvSpPr>
        <p:spPr>
          <a:xfrm xmlns:a="http://schemas.openxmlformats.org/drawingml/2006/main">
            <a:off x="400050" y="5124450"/>
            <a:ext cx="11391900" cy="876300"/>
          </a:xfrm>
          <a:prstGeom xmlns:a="http://schemas.openxmlformats.org/drawingml/2006/main" prst="roundRect">
            <a:avLst>
              <a:gd name="adj" fmla="val 8696"/>
            </a:avLst>
          </a:prstGeom>
          <a:solidFill xmlns:a="http://schemas.openxmlformats.org/drawingml/2006/main">
            <a:srgbClr val="0B1220"/>
          </a:solidFill>
          <a:ln xmlns:a="http://schemas.openxmlformats.org/drawingml/2006/main" w="0">
            <a:solidFill>
              <a:srgbClr val="0B1220"/>
            </a:solidFill>
            <a:prstDash val="solid"/>
          </a:ln>
        </p:spPr>
      </p:sp>
      <p:sp>
        <p:nvSpPr>
          <p:cNvPr id="21" name="">
            <a:extLst xmlns:a="http://schemas.openxmlformats.org/drawingml/2006/main">
              <a:ext uri="{FF2B5EF4-FFF2-40B4-BE49-F238E27FC236}">
                <a16:creationId xmlns:a16="http://schemas.microsoft.com/office/drawing/2014/main" id="{D3272A07-A619-46DF-9A7B-28AA2BF9D0D1}"/>
              </a:ext>
            </a:extLst>
          </p:cNvPr>
          <p:cNvSpPr>
            <a:spLocks xmlns:a="http://schemas.openxmlformats.org/drawingml/2006/main" noGrp="1"/>
          </p:cNvSpPr>
          <p:nvPr/>
        </p:nvSpPr>
        <p:spPr>
          <a:xfrm xmlns:a="http://schemas.openxmlformats.org/drawingml/2006/main">
            <a:off x="647700" y="5353050"/>
            <a:ext cx="1238250" cy="238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0A5FA"/>
                </a:solidFill>
                <a:latin typeface="Aptos"/>
                <a:ea typeface="Aptos"/>
                <a:cs typeface="Aptos"/>
              </a:defRPr>
            </a:pPr>
            <a:r>
              <a:t>Boundary</a:t>
            </a:r>
          </a:p>
        </p:txBody>
      </p:sp>
      <p:sp>
        <p:nvSpPr>
          <p:cNvPr id="22" name="">
            <a:extLst xmlns:a="http://schemas.openxmlformats.org/drawingml/2006/main">
              <a:ext uri="{FF2B5EF4-FFF2-40B4-BE49-F238E27FC236}">
                <a16:creationId xmlns:a16="http://schemas.microsoft.com/office/drawing/2014/main" id="{747FEED7-7425-40C9-B242-B912CB7674A6}"/>
              </a:ext>
            </a:extLst>
          </p:cNvPr>
          <p:cNvSpPr>
            <a:spLocks xmlns:a="http://schemas.openxmlformats.org/drawingml/2006/main" noGrp="1"/>
          </p:cNvSpPr>
          <p:nvPr/>
        </p:nvSpPr>
        <p:spPr>
          <a:xfrm xmlns:a="http://schemas.openxmlformats.org/drawingml/2006/main">
            <a:off x="1885950" y="5314950"/>
            <a:ext cx="9582150" cy="476250"/>
          </a:xfrm>
          <a:prstGeom xmlns:a="http://schemas.openxmlformats.org/drawingml/2006/main" prst="rect">
            <a:avLst/>
          </a:prstGeom>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l">
              <a:defRPr sz="1650" b="1">
                <a:solidFill>
                  <a:srgbClr val="FFFFFF"/>
                </a:solidFill>
                <a:latin typeface="Aptos"/>
                <a:ea typeface="Aptos"/>
                <a:cs typeface="Aptos"/>
              </a:defRPr>
            </a:pPr>
            <a:r>
              <a:t>Public proxy evaluations can support experimental design and model-selection hypotheses — not deployed InGen or proprietary PIC performance claims.</a:t>
            </a:r>
          </a:p>
        </p:txBody>
      </p:sp>
    </p:spTree>
    <p:extLst>
      <p:ext uri="{BB962C8B-B14F-4D97-AF65-F5344CB8AC3E}">
        <p14:creationId xmlns:p14="http://schemas.microsoft.com/office/powerpoint/2010/main" val="13113189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461F5740-BCF1-4560-B763-91AC45140FC4}"/>
              </a:ext>
            </a:extLst>
          </p:cNvPr>
          <p:cNvSpPr>
            <a:spLocks xmlns:a="http://schemas.openxmlformats.org/drawingml/2006/main" noGrp="1"/>
          </p:cNvSpPr>
          <p:nvPr/>
        </p:nvSpPr>
        <p:spPr>
          <a:xfrm xmlns:a="http://schemas.openxmlformats.org/drawingml/2006/main">
            <a:off x="400050" y="228600"/>
            <a:ext cx="4953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563EB"/>
                </a:solidFill>
                <a:latin typeface="Aptos"/>
                <a:ea typeface="Aptos"/>
                <a:cs typeface="Aptos"/>
              </a:defRPr>
            </a:pPr>
            <a:r>
              <a:t>PHASE C · WEEK 5–6</a:t>
            </a:r>
          </a:p>
        </p:txBody>
      </p:sp>
      <p:sp>
        <p:nvSpPr>
          <p:cNvPr id="2" name="">
            <a:extLst xmlns:a="http://schemas.openxmlformats.org/drawingml/2006/main">
              <a:ext uri="{FF2B5EF4-FFF2-40B4-BE49-F238E27FC236}">
                <a16:creationId xmlns:a16="http://schemas.microsoft.com/office/drawing/2014/main" id="{BA237A85-3443-44B1-A30A-E2829334B112}"/>
              </a:ext>
            </a:extLst>
          </p:cNvPr>
          <p:cNvSpPr>
            <a:spLocks xmlns:a="http://schemas.openxmlformats.org/drawingml/2006/main" noGrp="1"/>
          </p:cNvSpPr>
          <p:nvPr/>
        </p:nvSpPr>
        <p:spPr>
          <a:xfrm xmlns:a="http://schemas.openxmlformats.org/drawingml/2006/main">
            <a:off x="400050" y="504825"/>
            <a:ext cx="11144250" cy="590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111827"/>
                </a:solidFill>
                <a:latin typeface="Aptos"/>
                <a:ea typeface="Aptos"/>
                <a:cs typeface="Aptos"/>
              </a:defRPr>
            </a:pPr>
            <a:r>
              <a:t>A full factorial made three pipeline choices testable</a:t>
            </a:r>
          </a:p>
        </p:txBody>
      </p:sp>
      <p:cxnSp>
        <p:nvCxnSpPr>
          <p:cNvPr id="42"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D7DCE3"/>
            </a:solidFill>
            <a:prstDash val="solid"/>
          </a:ln>
        </p:spPr>
      </p:cxnSp>
      <p:sp>
        <p:nvSpPr>
          <p:cNvPr id="4" name="">
            <a:extLst xmlns:a="http://schemas.openxmlformats.org/drawingml/2006/main">
              <a:ext uri="{FF2B5EF4-FFF2-40B4-BE49-F238E27FC236}">
                <a16:creationId xmlns:a16="http://schemas.microsoft.com/office/drawing/2014/main" id="{38EB661B-8927-43EF-9F6F-8D87D6C45279}"/>
              </a:ext>
            </a:extLst>
          </p:cNvPr>
          <p:cNvSpPr>
            <a:spLocks xmlns:a="http://schemas.openxmlformats.org/drawingml/2006/main" noGrp="1"/>
          </p:cNvSpPr>
          <p:nvPr/>
        </p:nvSpPr>
        <p:spPr>
          <a:xfrm xmlns:a="http://schemas.openxmlformats.org/drawingml/2006/main">
            <a:off x="11277600" y="6381750"/>
            <a:ext cx="4953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A93A2"/>
                </a:solidFill>
                <a:latin typeface="Aptos"/>
                <a:ea typeface="Aptos"/>
                <a:cs typeface="Aptos"/>
              </a:defRPr>
            </a:pPr>
            <a:r>
              <a:t>03</a:t>
            </a:r>
          </a:p>
        </p:txBody>
      </p:sp>
      <p:sp>
        <p:nvSpPr>
          <p:cNvPr id="5" name="">
            <a:extLst xmlns:a="http://schemas.openxmlformats.org/drawingml/2006/main">
              <a:ext uri="{FF2B5EF4-FFF2-40B4-BE49-F238E27FC236}">
                <a16:creationId xmlns:a16="http://schemas.microsoft.com/office/drawing/2014/main" id="{C8EA28EE-52FC-41F8-AFF6-CE6380F341F5}"/>
              </a:ext>
            </a:extLst>
          </p:cNvPr>
          <p:cNvSpPr>
            <a:spLocks xmlns:a="http://schemas.openxmlformats.org/drawingml/2006/main" noGrp="1"/>
          </p:cNvSpPr>
          <p:nvPr/>
        </p:nvSpPr>
        <p:spPr>
          <a:xfrm xmlns:a="http://schemas.openxmlformats.org/drawingml/2006/main">
            <a:off x="400050" y="1524000"/>
            <a:ext cx="3581400" cy="1504950"/>
          </a:xfrm>
          <a:prstGeom xmlns:a="http://schemas.openxmlformats.org/drawingml/2006/main" prst="roundRect">
            <a:avLst>
              <a:gd name="adj" fmla="val 5063"/>
            </a:avLst>
          </a:prstGeom>
          <a:solidFill xmlns:a="http://schemas.openxmlformats.org/drawingml/2006/main">
            <a:srgbClr val="F3F5F7"/>
          </a:solidFill>
          <a:ln xmlns:a="http://schemas.openxmlformats.org/drawingml/2006/main" w="0">
            <a:solidFill>
              <a:srgbClr val="F3F5F7"/>
            </a:solidFill>
            <a:prstDash val="solid"/>
          </a:ln>
        </p:spPr>
      </p:sp>
      <p:sp>
        <p:nvSpPr>
          <p:cNvPr id="6" name="">
            <a:extLst xmlns:a="http://schemas.openxmlformats.org/drawingml/2006/main">
              <a:ext uri="{FF2B5EF4-FFF2-40B4-BE49-F238E27FC236}">
                <a16:creationId xmlns:a16="http://schemas.microsoft.com/office/drawing/2014/main" id="{18AB397A-83DA-478F-832A-B6CA1385615F}"/>
              </a:ext>
            </a:extLst>
          </p:cNvPr>
          <p:cNvSpPr>
            <a:spLocks xmlns:a="http://schemas.openxmlformats.org/drawingml/2006/main" noGrp="1"/>
          </p:cNvSpPr>
          <p:nvPr/>
        </p:nvSpPr>
        <p:spPr>
          <a:xfrm xmlns:a="http://schemas.openxmlformats.org/drawingml/2006/main">
            <a:off x="400050" y="1524000"/>
            <a:ext cx="3581400" cy="857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E16DD690-8A7C-4F7F-A318-0B052C637EAE}"/>
              </a:ext>
            </a:extLst>
          </p:cNvPr>
          <p:cNvSpPr>
            <a:spLocks xmlns:a="http://schemas.openxmlformats.org/drawingml/2006/main" noGrp="1"/>
          </p:cNvSpPr>
          <p:nvPr/>
        </p:nvSpPr>
        <p:spPr>
          <a:xfrm xmlns:a="http://schemas.openxmlformats.org/drawingml/2006/main">
            <a:off x="666750" y="1819275"/>
            <a:ext cx="30480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11827"/>
                </a:solidFill>
                <a:latin typeface="Aptos"/>
                <a:ea typeface="Aptos"/>
                <a:cs typeface="Aptos"/>
              </a:defRPr>
            </a:pPr>
            <a:r>
              <a:t>Chunk size</a:t>
            </a:r>
          </a:p>
        </p:txBody>
      </p:sp>
      <p:sp>
        <p:nvSpPr>
          <p:cNvPr id="8" name="">
            <a:extLst xmlns:a="http://schemas.openxmlformats.org/drawingml/2006/main">
              <a:ext uri="{FF2B5EF4-FFF2-40B4-BE49-F238E27FC236}">
                <a16:creationId xmlns:a16="http://schemas.microsoft.com/office/drawing/2014/main" id="{8CD865AD-C29E-4E21-BD3F-F22B41E19889}"/>
              </a:ext>
            </a:extLst>
          </p:cNvPr>
          <p:cNvSpPr>
            <a:spLocks xmlns:a="http://schemas.openxmlformats.org/drawingml/2006/main" noGrp="1"/>
          </p:cNvSpPr>
          <p:nvPr/>
        </p:nvSpPr>
        <p:spPr>
          <a:xfrm xmlns:a="http://schemas.openxmlformats.org/drawingml/2006/main">
            <a:off x="666750" y="2362200"/>
            <a:ext cx="30480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Aptos"/>
                <a:ea typeface="Aptos"/>
                <a:cs typeface="Aptos"/>
              </a:defRPr>
            </a:pPr>
            <a:r>
              <a:t>256  ·  512  ·  1024 tokens</a:t>
            </a:r>
          </a:p>
        </p:txBody>
      </p:sp>
      <p:sp>
        <p:nvSpPr>
          <p:cNvPr id="9" name="">
            <a:extLst xmlns:a="http://schemas.openxmlformats.org/drawingml/2006/main">
              <a:ext uri="{FF2B5EF4-FFF2-40B4-BE49-F238E27FC236}">
                <a16:creationId xmlns:a16="http://schemas.microsoft.com/office/drawing/2014/main" id="{5A58D210-43C2-4C8E-9431-D702D18F7EE6}"/>
              </a:ext>
            </a:extLst>
          </p:cNvPr>
          <p:cNvSpPr>
            <a:spLocks xmlns:a="http://schemas.openxmlformats.org/drawingml/2006/main" noGrp="1"/>
          </p:cNvSpPr>
          <p:nvPr/>
        </p:nvSpPr>
        <p:spPr>
          <a:xfrm xmlns:a="http://schemas.openxmlformats.org/drawingml/2006/main">
            <a:off x="4305300" y="1524000"/>
            <a:ext cx="3581400" cy="1504950"/>
          </a:xfrm>
          <a:prstGeom xmlns:a="http://schemas.openxmlformats.org/drawingml/2006/main" prst="roundRect">
            <a:avLst>
              <a:gd name="adj" fmla="val 5063"/>
            </a:avLst>
          </a:prstGeom>
          <a:solidFill xmlns:a="http://schemas.openxmlformats.org/drawingml/2006/main">
            <a:srgbClr val="F3F5F7"/>
          </a:solidFill>
          <a:ln xmlns:a="http://schemas.openxmlformats.org/drawingml/2006/main" w="0">
            <a:solidFill>
              <a:srgbClr val="F3F5F7"/>
            </a:solidFill>
            <a:prstDash val="solid"/>
          </a:ln>
        </p:spPr>
      </p:sp>
      <p:sp>
        <p:nvSpPr>
          <p:cNvPr id="10" name="">
            <a:extLst xmlns:a="http://schemas.openxmlformats.org/drawingml/2006/main">
              <a:ext uri="{FF2B5EF4-FFF2-40B4-BE49-F238E27FC236}">
                <a16:creationId xmlns:a16="http://schemas.microsoft.com/office/drawing/2014/main" id="{3217DA48-501B-416F-8E25-C97E752CF370}"/>
              </a:ext>
            </a:extLst>
          </p:cNvPr>
          <p:cNvSpPr>
            <a:spLocks xmlns:a="http://schemas.openxmlformats.org/drawingml/2006/main" noGrp="1"/>
          </p:cNvSpPr>
          <p:nvPr/>
        </p:nvSpPr>
        <p:spPr>
          <a:xfrm xmlns:a="http://schemas.openxmlformats.org/drawingml/2006/main">
            <a:off x="4305300" y="1524000"/>
            <a:ext cx="3581400" cy="85725"/>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11" name="">
            <a:extLst xmlns:a="http://schemas.openxmlformats.org/drawingml/2006/main">
              <a:ext uri="{FF2B5EF4-FFF2-40B4-BE49-F238E27FC236}">
                <a16:creationId xmlns:a16="http://schemas.microsoft.com/office/drawing/2014/main" id="{0AED29F9-4DFE-4CCF-95E9-7D25B60A2162}"/>
              </a:ext>
            </a:extLst>
          </p:cNvPr>
          <p:cNvSpPr>
            <a:spLocks xmlns:a="http://schemas.openxmlformats.org/drawingml/2006/main" noGrp="1"/>
          </p:cNvSpPr>
          <p:nvPr/>
        </p:nvSpPr>
        <p:spPr>
          <a:xfrm xmlns:a="http://schemas.openxmlformats.org/drawingml/2006/main">
            <a:off x="4572000" y="1819275"/>
            <a:ext cx="30480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11827"/>
                </a:solidFill>
                <a:latin typeface="Aptos"/>
                <a:ea typeface="Aptos"/>
                <a:cs typeface="Aptos"/>
              </a:defRPr>
            </a:pPr>
            <a:r>
              <a:t>Retrieved context</a:t>
            </a:r>
          </a:p>
        </p:txBody>
      </p:sp>
      <p:sp>
        <p:nvSpPr>
          <p:cNvPr id="12" name="">
            <a:extLst xmlns:a="http://schemas.openxmlformats.org/drawingml/2006/main">
              <a:ext uri="{FF2B5EF4-FFF2-40B4-BE49-F238E27FC236}">
                <a16:creationId xmlns:a16="http://schemas.microsoft.com/office/drawing/2014/main" id="{3827C1B8-1F94-45E9-B014-04F79B581408}"/>
              </a:ext>
            </a:extLst>
          </p:cNvPr>
          <p:cNvSpPr>
            <a:spLocks xmlns:a="http://schemas.openxmlformats.org/drawingml/2006/main" noGrp="1"/>
          </p:cNvSpPr>
          <p:nvPr/>
        </p:nvSpPr>
        <p:spPr>
          <a:xfrm xmlns:a="http://schemas.openxmlformats.org/drawingml/2006/main">
            <a:off x="4572000" y="2362200"/>
            <a:ext cx="30480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Aptos"/>
                <a:ea typeface="Aptos"/>
                <a:cs typeface="Aptos"/>
              </a:defRPr>
            </a:pPr>
            <a:r>
              <a:t>top-k 1  ·  3  ·  5</a:t>
            </a:r>
          </a:p>
        </p:txBody>
      </p:sp>
      <p:sp>
        <p:nvSpPr>
          <p:cNvPr id="13" name="">
            <a:extLst xmlns:a="http://schemas.openxmlformats.org/drawingml/2006/main">
              <a:ext uri="{FF2B5EF4-FFF2-40B4-BE49-F238E27FC236}">
                <a16:creationId xmlns:a16="http://schemas.microsoft.com/office/drawing/2014/main" id="{8CA9FA84-CF8E-4705-B7BC-702615995008}"/>
              </a:ext>
            </a:extLst>
          </p:cNvPr>
          <p:cNvSpPr>
            <a:spLocks xmlns:a="http://schemas.openxmlformats.org/drawingml/2006/main" noGrp="1"/>
          </p:cNvSpPr>
          <p:nvPr/>
        </p:nvSpPr>
        <p:spPr>
          <a:xfrm xmlns:a="http://schemas.openxmlformats.org/drawingml/2006/main">
            <a:off x="8210550" y="1524000"/>
            <a:ext cx="3581400" cy="1504950"/>
          </a:xfrm>
          <a:prstGeom xmlns:a="http://schemas.openxmlformats.org/drawingml/2006/main" prst="roundRect">
            <a:avLst>
              <a:gd name="adj" fmla="val 5063"/>
            </a:avLst>
          </a:prstGeom>
          <a:solidFill xmlns:a="http://schemas.openxmlformats.org/drawingml/2006/main">
            <a:srgbClr val="F3F5F7"/>
          </a:solidFill>
          <a:ln xmlns:a="http://schemas.openxmlformats.org/drawingml/2006/main" w="0">
            <a:solidFill>
              <a:srgbClr val="F3F5F7"/>
            </a:solidFill>
            <a:prstDash val="solid"/>
          </a:ln>
        </p:spPr>
      </p:sp>
      <p:sp>
        <p:nvSpPr>
          <p:cNvPr id="14" name="">
            <a:extLst xmlns:a="http://schemas.openxmlformats.org/drawingml/2006/main">
              <a:ext uri="{FF2B5EF4-FFF2-40B4-BE49-F238E27FC236}">
                <a16:creationId xmlns:a16="http://schemas.microsoft.com/office/drawing/2014/main" id="{64BF18F9-67FA-4C64-908B-ED4197CB2CDA}"/>
              </a:ext>
            </a:extLst>
          </p:cNvPr>
          <p:cNvSpPr>
            <a:spLocks xmlns:a="http://schemas.openxmlformats.org/drawingml/2006/main" noGrp="1"/>
          </p:cNvSpPr>
          <p:nvPr/>
        </p:nvSpPr>
        <p:spPr>
          <a:xfrm xmlns:a="http://schemas.openxmlformats.org/drawingml/2006/main">
            <a:off x="8210550" y="1524000"/>
            <a:ext cx="3581400" cy="85725"/>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
        <p:nvSpPr>
          <p:cNvPr id="15" name="">
            <a:extLst xmlns:a="http://schemas.openxmlformats.org/drawingml/2006/main">
              <a:ext uri="{FF2B5EF4-FFF2-40B4-BE49-F238E27FC236}">
                <a16:creationId xmlns:a16="http://schemas.microsoft.com/office/drawing/2014/main" id="{F089067E-87F4-497B-B146-EF2A46F33778}"/>
              </a:ext>
            </a:extLst>
          </p:cNvPr>
          <p:cNvSpPr>
            <a:spLocks xmlns:a="http://schemas.openxmlformats.org/drawingml/2006/main" noGrp="1"/>
          </p:cNvSpPr>
          <p:nvPr/>
        </p:nvSpPr>
        <p:spPr>
          <a:xfrm xmlns:a="http://schemas.openxmlformats.org/drawingml/2006/main">
            <a:off x="8477250" y="1819275"/>
            <a:ext cx="30480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11827"/>
                </a:solidFill>
                <a:latin typeface="Aptos"/>
                <a:ea typeface="Aptos"/>
                <a:cs typeface="Aptos"/>
              </a:defRPr>
            </a:pPr>
            <a:r>
              <a:t>Reranking</a:t>
            </a:r>
          </a:p>
        </p:txBody>
      </p:sp>
      <p:sp>
        <p:nvSpPr>
          <p:cNvPr id="16" name="">
            <a:extLst xmlns:a="http://schemas.openxmlformats.org/drawingml/2006/main">
              <a:ext uri="{FF2B5EF4-FFF2-40B4-BE49-F238E27FC236}">
                <a16:creationId xmlns:a16="http://schemas.microsoft.com/office/drawing/2014/main" id="{54E0E565-34C4-4A5A-8666-1A3A07AC4EA6}"/>
              </a:ext>
            </a:extLst>
          </p:cNvPr>
          <p:cNvSpPr>
            <a:spLocks xmlns:a="http://schemas.openxmlformats.org/drawingml/2006/main" noGrp="1"/>
          </p:cNvSpPr>
          <p:nvPr/>
        </p:nvSpPr>
        <p:spPr>
          <a:xfrm xmlns:a="http://schemas.openxmlformats.org/drawingml/2006/main">
            <a:off x="8477250" y="2362200"/>
            <a:ext cx="30480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B6472"/>
                </a:solidFill>
                <a:latin typeface="Aptos"/>
                <a:ea typeface="Aptos"/>
                <a:cs typeface="Aptos"/>
              </a:defRPr>
            </a:pPr>
            <a:r>
              <a:t>Off  ·  Cross-encoder</a:t>
            </a:r>
          </a:p>
        </p:txBody>
      </p:sp>
      <p:sp>
        <p:nvSpPr>
          <p:cNvPr id="17" name="">
            <a:extLst xmlns:a="http://schemas.openxmlformats.org/drawingml/2006/main">
              <a:ext uri="{FF2B5EF4-FFF2-40B4-BE49-F238E27FC236}">
                <a16:creationId xmlns:a16="http://schemas.microsoft.com/office/drawing/2014/main" id="{1C301FD9-A7C4-49AC-9655-16B0286A368D}"/>
              </a:ext>
            </a:extLst>
          </p:cNvPr>
          <p:cNvSpPr>
            <a:spLocks xmlns:a="http://schemas.openxmlformats.org/drawingml/2006/main" noGrp="1"/>
          </p:cNvSpPr>
          <p:nvPr/>
        </p:nvSpPr>
        <p:spPr>
          <a:xfrm xmlns:a="http://schemas.openxmlformats.org/drawingml/2006/main">
            <a:off x="1771650" y="3286125"/>
            <a:ext cx="4572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2563EB"/>
                </a:solidFill>
                <a:latin typeface="Aptos"/>
                <a:ea typeface="Aptos"/>
                <a:cs typeface="Aptos"/>
              </a:defRPr>
            </a:pPr>
            <a:r>
              <a:t>3</a:t>
            </a:r>
          </a:p>
        </p:txBody>
      </p:sp>
      <p:sp>
        <p:nvSpPr>
          <p:cNvPr id="18" name="">
            <a:extLst xmlns:a="http://schemas.openxmlformats.org/drawingml/2006/main">
              <a:ext uri="{FF2B5EF4-FFF2-40B4-BE49-F238E27FC236}">
                <a16:creationId xmlns:a16="http://schemas.microsoft.com/office/drawing/2014/main" id="{CA885F1F-A7F8-4518-9D1C-6F7EA0E1EAFC}"/>
              </a:ext>
            </a:extLst>
          </p:cNvPr>
          <p:cNvSpPr>
            <a:spLocks xmlns:a="http://schemas.openxmlformats.org/drawingml/2006/main" noGrp="1"/>
          </p:cNvSpPr>
          <p:nvPr/>
        </p:nvSpPr>
        <p:spPr>
          <a:xfrm xmlns:a="http://schemas.openxmlformats.org/drawingml/2006/main">
            <a:off x="3143250" y="3324225"/>
            <a:ext cx="3810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0">
                <a:solidFill>
                  <a:srgbClr val="8A93A2"/>
                </a:solidFill>
                <a:latin typeface="Aptos"/>
                <a:ea typeface="Aptos"/>
                <a:cs typeface="Aptos"/>
              </a:defRPr>
            </a:pPr>
            <a:r>
              <a:t>×</a:t>
            </a:r>
          </a:p>
        </p:txBody>
      </p:sp>
      <p:sp>
        <p:nvSpPr>
          <p:cNvPr id="19" name="">
            <a:extLst xmlns:a="http://schemas.openxmlformats.org/drawingml/2006/main">
              <a:ext uri="{FF2B5EF4-FFF2-40B4-BE49-F238E27FC236}">
                <a16:creationId xmlns:a16="http://schemas.microsoft.com/office/drawing/2014/main" id="{60C23720-9232-42CA-A9D8-2B1FBE0289D6}"/>
              </a:ext>
            </a:extLst>
          </p:cNvPr>
          <p:cNvSpPr>
            <a:spLocks xmlns:a="http://schemas.openxmlformats.org/drawingml/2006/main" noGrp="1"/>
          </p:cNvSpPr>
          <p:nvPr/>
        </p:nvSpPr>
        <p:spPr>
          <a:xfrm xmlns:a="http://schemas.openxmlformats.org/drawingml/2006/main">
            <a:off x="5686425" y="3286125"/>
            <a:ext cx="4572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0F9D8A"/>
                </a:solidFill>
                <a:latin typeface="Aptos"/>
                <a:ea typeface="Aptos"/>
                <a:cs typeface="Aptos"/>
              </a:defRPr>
            </a:pPr>
            <a:r>
              <a:t>3</a:t>
            </a:r>
          </a:p>
        </p:txBody>
      </p:sp>
      <p:sp>
        <p:nvSpPr>
          <p:cNvPr id="20" name="">
            <a:extLst xmlns:a="http://schemas.openxmlformats.org/drawingml/2006/main">
              <a:ext uri="{FF2B5EF4-FFF2-40B4-BE49-F238E27FC236}">
                <a16:creationId xmlns:a16="http://schemas.microsoft.com/office/drawing/2014/main" id="{34744A71-A3CA-4B10-B679-34B3D18D3EE5}"/>
              </a:ext>
            </a:extLst>
          </p:cNvPr>
          <p:cNvSpPr>
            <a:spLocks xmlns:a="http://schemas.openxmlformats.org/drawingml/2006/main" noGrp="1"/>
          </p:cNvSpPr>
          <p:nvPr/>
        </p:nvSpPr>
        <p:spPr>
          <a:xfrm xmlns:a="http://schemas.openxmlformats.org/drawingml/2006/main">
            <a:off x="7048500" y="3324225"/>
            <a:ext cx="3810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0">
                <a:solidFill>
                  <a:srgbClr val="8A93A2"/>
                </a:solidFill>
                <a:latin typeface="Aptos"/>
                <a:ea typeface="Aptos"/>
                <a:cs typeface="Aptos"/>
              </a:defRPr>
            </a:pPr>
            <a:r>
              <a:t>×</a:t>
            </a:r>
          </a:p>
        </p:txBody>
      </p:sp>
      <p:sp>
        <p:nvSpPr>
          <p:cNvPr id="21" name="">
            <a:extLst xmlns:a="http://schemas.openxmlformats.org/drawingml/2006/main">
              <a:ext uri="{FF2B5EF4-FFF2-40B4-BE49-F238E27FC236}">
                <a16:creationId xmlns:a16="http://schemas.microsoft.com/office/drawing/2014/main" id="{7AD27F80-DBB8-4118-9538-6659536F48EF}"/>
              </a:ext>
            </a:extLst>
          </p:cNvPr>
          <p:cNvSpPr>
            <a:spLocks xmlns:a="http://schemas.openxmlformats.org/drawingml/2006/main" noGrp="1"/>
          </p:cNvSpPr>
          <p:nvPr/>
        </p:nvSpPr>
        <p:spPr>
          <a:xfrm xmlns:a="http://schemas.openxmlformats.org/drawingml/2006/main">
            <a:off x="9601200" y="3286125"/>
            <a:ext cx="45720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D97706"/>
                </a:solidFill>
                <a:latin typeface="Aptos"/>
                <a:ea typeface="Aptos"/>
                <a:cs typeface="Aptos"/>
              </a:defRPr>
            </a:pPr>
            <a:r>
              <a:t>2</a:t>
            </a:r>
          </a:p>
        </p:txBody>
      </p:sp>
      <p:sp>
        <p:nvSpPr>
          <p:cNvPr id="22" name="">
            <a:extLst xmlns:a="http://schemas.openxmlformats.org/drawingml/2006/main">
              <a:ext uri="{FF2B5EF4-FFF2-40B4-BE49-F238E27FC236}">
                <a16:creationId xmlns:a16="http://schemas.microsoft.com/office/drawing/2014/main" id="{B54C90BD-5E14-47D5-9F3B-848C57B8C3D0}"/>
              </a:ext>
            </a:extLst>
          </p:cNvPr>
          <p:cNvSpPr>
            <a:spLocks xmlns:a="http://schemas.openxmlformats.org/drawingml/2006/main" noGrp="1"/>
          </p:cNvSpPr>
          <p:nvPr/>
        </p:nvSpPr>
        <p:spPr>
          <a:xfrm xmlns:a="http://schemas.openxmlformats.org/drawingml/2006/main">
            <a:off x="10191750" y="3343275"/>
            <a:ext cx="15240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11827"/>
                </a:solidFill>
                <a:latin typeface="Aptos"/>
                <a:ea typeface="Aptos"/>
                <a:cs typeface="Aptos"/>
              </a:defRPr>
            </a:pPr>
            <a:r>
              <a:t>= 18 cells</a:t>
            </a:r>
          </a:p>
        </p:txBody>
      </p:sp>
      <p:sp>
        <p:nvSpPr>
          <p:cNvPr id="23" name="">
            <a:extLst xmlns:a="http://schemas.openxmlformats.org/drawingml/2006/main">
              <a:ext uri="{FF2B5EF4-FFF2-40B4-BE49-F238E27FC236}">
                <a16:creationId xmlns:a16="http://schemas.microsoft.com/office/drawing/2014/main" id="{BD1B24B3-472C-42CC-9A48-3017E66CA8D0}"/>
              </a:ext>
            </a:extLst>
          </p:cNvPr>
          <p:cNvSpPr>
            <a:spLocks xmlns:a="http://schemas.openxmlformats.org/drawingml/2006/main" noGrp="1"/>
          </p:cNvSpPr>
          <p:nvPr/>
        </p:nvSpPr>
        <p:spPr>
          <a:xfrm xmlns:a="http://schemas.openxmlformats.org/drawingml/2006/main">
            <a:off x="400050" y="4152900"/>
            <a:ext cx="20002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DCE3"/>
            </a:solidFill>
            <a:prstDash val="solid"/>
          </a:ln>
        </p:spPr>
      </p:sp>
      <p:sp>
        <p:nvSpPr>
          <p:cNvPr id="24" name="">
            <a:extLst xmlns:a="http://schemas.openxmlformats.org/drawingml/2006/main">
              <a:ext uri="{FF2B5EF4-FFF2-40B4-BE49-F238E27FC236}">
                <a16:creationId xmlns:a16="http://schemas.microsoft.com/office/drawing/2014/main" id="{F3BFDC35-03FF-44D9-AFCE-86B41984291E}"/>
              </a:ext>
            </a:extLst>
          </p:cNvPr>
          <p:cNvSpPr>
            <a:spLocks xmlns:a="http://schemas.openxmlformats.org/drawingml/2006/main" noGrp="1"/>
          </p:cNvSpPr>
          <p:nvPr/>
        </p:nvSpPr>
        <p:spPr>
          <a:xfrm xmlns:a="http://schemas.openxmlformats.org/drawingml/2006/main">
            <a:off x="571500" y="4324350"/>
            <a:ext cx="16573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11827"/>
                </a:solidFill>
                <a:latin typeface="Aptos"/>
                <a:ea typeface="Aptos"/>
                <a:cs typeface="Aptos"/>
              </a:defRPr>
            </a:pPr>
            <a:r>
              <a:t>20</a:t>
            </a:r>
          </a:p>
        </p:txBody>
      </p:sp>
      <p:sp>
        <p:nvSpPr>
          <p:cNvPr id="25" name="">
            <a:extLst xmlns:a="http://schemas.openxmlformats.org/drawingml/2006/main">
              <a:ext uri="{FF2B5EF4-FFF2-40B4-BE49-F238E27FC236}">
                <a16:creationId xmlns:a16="http://schemas.microsoft.com/office/drawing/2014/main" id="{CB8961F3-348D-4BDA-BE3E-3C03416AB7AB}"/>
              </a:ext>
            </a:extLst>
          </p:cNvPr>
          <p:cNvSpPr>
            <a:spLocks xmlns:a="http://schemas.openxmlformats.org/drawingml/2006/main" noGrp="1"/>
          </p:cNvSpPr>
          <p:nvPr/>
        </p:nvSpPr>
        <p:spPr>
          <a:xfrm xmlns:a="http://schemas.openxmlformats.org/drawingml/2006/main">
            <a:off x="571500" y="4810125"/>
            <a:ext cx="16573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frozen questions / cell</a:t>
            </a:r>
          </a:p>
        </p:txBody>
      </p:sp>
      <p:sp>
        <p:nvSpPr>
          <p:cNvPr id="26" name="">
            <a:extLst xmlns:a="http://schemas.openxmlformats.org/drawingml/2006/main">
              <a:ext uri="{FF2B5EF4-FFF2-40B4-BE49-F238E27FC236}">
                <a16:creationId xmlns:a16="http://schemas.microsoft.com/office/drawing/2014/main" id="{7C294340-8DFF-4F64-8EAB-4AF1FD10E013}"/>
              </a:ext>
            </a:extLst>
          </p:cNvPr>
          <p:cNvSpPr>
            <a:spLocks xmlns:a="http://schemas.openxmlformats.org/drawingml/2006/main" noGrp="1"/>
          </p:cNvSpPr>
          <p:nvPr/>
        </p:nvSpPr>
        <p:spPr>
          <a:xfrm xmlns:a="http://schemas.openxmlformats.org/drawingml/2006/main">
            <a:off x="2647950" y="4152900"/>
            <a:ext cx="20002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DCE3"/>
            </a:solidFill>
            <a:prstDash val="solid"/>
          </a:ln>
        </p:spPr>
      </p:sp>
      <p:sp>
        <p:nvSpPr>
          <p:cNvPr id="27" name="">
            <a:extLst xmlns:a="http://schemas.openxmlformats.org/drawingml/2006/main">
              <a:ext uri="{FF2B5EF4-FFF2-40B4-BE49-F238E27FC236}">
                <a16:creationId xmlns:a16="http://schemas.microsoft.com/office/drawing/2014/main" id="{4AF01E7F-E609-40EE-AB2B-AB1C8B66B3DA}"/>
              </a:ext>
            </a:extLst>
          </p:cNvPr>
          <p:cNvSpPr>
            <a:spLocks xmlns:a="http://schemas.openxmlformats.org/drawingml/2006/main" noGrp="1"/>
          </p:cNvSpPr>
          <p:nvPr/>
        </p:nvSpPr>
        <p:spPr>
          <a:xfrm xmlns:a="http://schemas.openxmlformats.org/drawingml/2006/main">
            <a:off x="2819400" y="4324350"/>
            <a:ext cx="16573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11827"/>
                </a:solidFill>
                <a:latin typeface="Aptos"/>
                <a:ea typeface="Aptos"/>
                <a:cs typeface="Aptos"/>
              </a:defRPr>
            </a:pPr>
            <a:r>
              <a:t>360</a:t>
            </a:r>
          </a:p>
        </p:txBody>
      </p:sp>
      <p:sp>
        <p:nvSpPr>
          <p:cNvPr id="28" name="">
            <a:extLst xmlns:a="http://schemas.openxmlformats.org/drawingml/2006/main">
              <a:ext uri="{FF2B5EF4-FFF2-40B4-BE49-F238E27FC236}">
                <a16:creationId xmlns:a16="http://schemas.microsoft.com/office/drawing/2014/main" id="{DE9C007E-062D-4DB4-BE43-996B97432E6D}"/>
              </a:ext>
            </a:extLst>
          </p:cNvPr>
          <p:cNvSpPr>
            <a:spLocks xmlns:a="http://schemas.openxmlformats.org/drawingml/2006/main" noGrp="1"/>
          </p:cNvSpPr>
          <p:nvPr/>
        </p:nvSpPr>
        <p:spPr>
          <a:xfrm xmlns:a="http://schemas.openxmlformats.org/drawingml/2006/main">
            <a:off x="2819400" y="4810125"/>
            <a:ext cx="16573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traced answer rows</a:t>
            </a:r>
          </a:p>
        </p:txBody>
      </p:sp>
      <p:sp>
        <p:nvSpPr>
          <p:cNvPr id="29" name="">
            <a:extLst xmlns:a="http://schemas.openxmlformats.org/drawingml/2006/main">
              <a:ext uri="{FF2B5EF4-FFF2-40B4-BE49-F238E27FC236}">
                <a16:creationId xmlns:a16="http://schemas.microsoft.com/office/drawing/2014/main" id="{CFBA32F8-47AD-49E8-B820-060F897C5415}"/>
              </a:ext>
            </a:extLst>
          </p:cNvPr>
          <p:cNvSpPr>
            <a:spLocks xmlns:a="http://schemas.openxmlformats.org/drawingml/2006/main" noGrp="1"/>
          </p:cNvSpPr>
          <p:nvPr/>
        </p:nvSpPr>
        <p:spPr>
          <a:xfrm xmlns:a="http://schemas.openxmlformats.org/drawingml/2006/main">
            <a:off x="4895850" y="4152900"/>
            <a:ext cx="20002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DCE3"/>
            </a:solidFill>
            <a:prstDash val="solid"/>
          </a:ln>
        </p:spPr>
      </p:sp>
      <p:sp>
        <p:nvSpPr>
          <p:cNvPr id="30" name="">
            <a:extLst xmlns:a="http://schemas.openxmlformats.org/drawingml/2006/main">
              <a:ext uri="{FF2B5EF4-FFF2-40B4-BE49-F238E27FC236}">
                <a16:creationId xmlns:a16="http://schemas.microsoft.com/office/drawing/2014/main" id="{9E470B18-A695-441B-A0C9-14490444A301}"/>
              </a:ext>
            </a:extLst>
          </p:cNvPr>
          <p:cNvSpPr>
            <a:spLocks xmlns:a="http://schemas.openxmlformats.org/drawingml/2006/main" noGrp="1"/>
          </p:cNvSpPr>
          <p:nvPr/>
        </p:nvSpPr>
        <p:spPr>
          <a:xfrm xmlns:a="http://schemas.openxmlformats.org/drawingml/2006/main">
            <a:off x="5067300" y="4324350"/>
            <a:ext cx="16573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11827"/>
                </a:solidFill>
                <a:latin typeface="Aptos"/>
                <a:ea typeface="Aptos"/>
                <a:cs typeface="Aptos"/>
              </a:defRPr>
            </a:pPr>
            <a:r>
              <a:t>45</a:t>
            </a:r>
          </a:p>
        </p:txBody>
      </p:sp>
      <p:sp>
        <p:nvSpPr>
          <p:cNvPr id="31" name="">
            <a:extLst xmlns:a="http://schemas.openxmlformats.org/drawingml/2006/main">
              <a:ext uri="{FF2B5EF4-FFF2-40B4-BE49-F238E27FC236}">
                <a16:creationId xmlns:a16="http://schemas.microsoft.com/office/drawing/2014/main" id="{FA8CDAD7-C138-459D-8105-53D553BA089C}"/>
              </a:ext>
            </a:extLst>
          </p:cNvPr>
          <p:cNvSpPr>
            <a:spLocks xmlns:a="http://schemas.openxmlformats.org/drawingml/2006/main" noGrp="1"/>
          </p:cNvSpPr>
          <p:nvPr/>
        </p:nvSpPr>
        <p:spPr>
          <a:xfrm xmlns:a="http://schemas.openxmlformats.org/drawingml/2006/main">
            <a:off x="5067300" y="4810125"/>
            <a:ext cx="16573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one-factor contrasts</a:t>
            </a:r>
          </a:p>
        </p:txBody>
      </p:sp>
      <p:sp>
        <p:nvSpPr>
          <p:cNvPr id="32" name="">
            <a:extLst xmlns:a="http://schemas.openxmlformats.org/drawingml/2006/main">
              <a:ext uri="{FF2B5EF4-FFF2-40B4-BE49-F238E27FC236}">
                <a16:creationId xmlns:a16="http://schemas.microsoft.com/office/drawing/2014/main" id="{7BBB357D-98F7-46CA-B888-3F636AC603A2}"/>
              </a:ext>
            </a:extLst>
          </p:cNvPr>
          <p:cNvSpPr>
            <a:spLocks xmlns:a="http://schemas.openxmlformats.org/drawingml/2006/main" noGrp="1"/>
          </p:cNvSpPr>
          <p:nvPr/>
        </p:nvSpPr>
        <p:spPr>
          <a:xfrm xmlns:a="http://schemas.openxmlformats.org/drawingml/2006/main">
            <a:off x="7143750" y="4152900"/>
            <a:ext cx="20002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DCE3"/>
            </a:solidFill>
            <a:prstDash val="solid"/>
          </a:ln>
        </p:spPr>
      </p:sp>
      <p:sp>
        <p:nvSpPr>
          <p:cNvPr id="33" name="">
            <a:extLst xmlns:a="http://schemas.openxmlformats.org/drawingml/2006/main">
              <a:ext uri="{FF2B5EF4-FFF2-40B4-BE49-F238E27FC236}">
                <a16:creationId xmlns:a16="http://schemas.microsoft.com/office/drawing/2014/main" id="{B546060D-A66C-402C-A509-D3DB24F4B59D}"/>
              </a:ext>
            </a:extLst>
          </p:cNvPr>
          <p:cNvSpPr>
            <a:spLocks xmlns:a="http://schemas.openxmlformats.org/drawingml/2006/main" noGrp="1"/>
          </p:cNvSpPr>
          <p:nvPr/>
        </p:nvSpPr>
        <p:spPr>
          <a:xfrm xmlns:a="http://schemas.openxmlformats.org/drawingml/2006/main">
            <a:off x="7315200" y="4324350"/>
            <a:ext cx="16573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11827"/>
                </a:solidFill>
                <a:latin typeface="Aptos"/>
                <a:ea typeface="Aptos"/>
                <a:cs typeface="Aptos"/>
              </a:defRPr>
            </a:pPr>
            <a:r>
              <a:t>42</a:t>
            </a:r>
          </a:p>
        </p:txBody>
      </p:sp>
      <p:sp>
        <p:nvSpPr>
          <p:cNvPr id="34" name="">
            <a:extLst xmlns:a="http://schemas.openxmlformats.org/drawingml/2006/main">
              <a:ext uri="{FF2B5EF4-FFF2-40B4-BE49-F238E27FC236}">
                <a16:creationId xmlns:a16="http://schemas.microsoft.com/office/drawing/2014/main" id="{0D66CF40-867A-4ED9-8DE5-2E10924CC5FD}"/>
              </a:ext>
            </a:extLst>
          </p:cNvPr>
          <p:cNvSpPr>
            <a:spLocks xmlns:a="http://schemas.openxmlformats.org/drawingml/2006/main" noGrp="1"/>
          </p:cNvSpPr>
          <p:nvPr/>
        </p:nvSpPr>
        <p:spPr>
          <a:xfrm xmlns:a="http://schemas.openxmlformats.org/drawingml/2006/main">
            <a:off x="7315200" y="4810125"/>
            <a:ext cx="16573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seed + randomized order</a:t>
            </a:r>
          </a:p>
        </p:txBody>
      </p:sp>
      <p:sp>
        <p:nvSpPr>
          <p:cNvPr id="35" name="">
            <a:extLst xmlns:a="http://schemas.openxmlformats.org/drawingml/2006/main">
              <a:ext uri="{FF2B5EF4-FFF2-40B4-BE49-F238E27FC236}">
                <a16:creationId xmlns:a16="http://schemas.microsoft.com/office/drawing/2014/main" id="{44CF7665-C4B2-47CD-AA14-2B43497FE552}"/>
              </a:ext>
            </a:extLst>
          </p:cNvPr>
          <p:cNvSpPr>
            <a:spLocks xmlns:a="http://schemas.openxmlformats.org/drawingml/2006/main" noGrp="1"/>
          </p:cNvSpPr>
          <p:nvPr/>
        </p:nvSpPr>
        <p:spPr>
          <a:xfrm xmlns:a="http://schemas.openxmlformats.org/drawingml/2006/main">
            <a:off x="9391650" y="4152900"/>
            <a:ext cx="20002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7DCE3"/>
            </a:solidFill>
            <a:prstDash val="solid"/>
          </a:ln>
        </p:spPr>
      </p:sp>
      <p:sp>
        <p:nvSpPr>
          <p:cNvPr id="36" name="">
            <a:extLst xmlns:a="http://schemas.openxmlformats.org/drawingml/2006/main">
              <a:ext uri="{FF2B5EF4-FFF2-40B4-BE49-F238E27FC236}">
                <a16:creationId xmlns:a16="http://schemas.microsoft.com/office/drawing/2014/main" id="{EBDFB0A7-17F7-49D0-93A5-091D43219910}"/>
              </a:ext>
            </a:extLst>
          </p:cNvPr>
          <p:cNvSpPr>
            <a:spLocks xmlns:a="http://schemas.openxmlformats.org/drawingml/2006/main" noGrp="1"/>
          </p:cNvSpPr>
          <p:nvPr/>
        </p:nvSpPr>
        <p:spPr>
          <a:xfrm xmlns:a="http://schemas.openxmlformats.org/drawingml/2006/main">
            <a:off x="9563100" y="4324350"/>
            <a:ext cx="16573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11827"/>
                </a:solidFill>
                <a:latin typeface="Aptos"/>
                <a:ea typeface="Aptos"/>
                <a:cs typeface="Aptos"/>
              </a:defRPr>
            </a:pPr>
            <a:r>
              <a:t>2</a:t>
            </a:r>
          </a:p>
        </p:txBody>
      </p:sp>
      <p:sp>
        <p:nvSpPr>
          <p:cNvPr id="37" name="">
            <a:extLst xmlns:a="http://schemas.openxmlformats.org/drawingml/2006/main">
              <a:ext uri="{FF2B5EF4-FFF2-40B4-BE49-F238E27FC236}">
                <a16:creationId xmlns:a16="http://schemas.microsoft.com/office/drawing/2014/main" id="{125AD850-5394-4786-A13D-A8949CF7D68D}"/>
              </a:ext>
            </a:extLst>
          </p:cNvPr>
          <p:cNvSpPr>
            <a:spLocks xmlns:a="http://schemas.openxmlformats.org/drawingml/2006/main" noGrp="1"/>
          </p:cNvSpPr>
          <p:nvPr/>
        </p:nvSpPr>
        <p:spPr>
          <a:xfrm xmlns:a="http://schemas.openxmlformats.org/drawingml/2006/main">
            <a:off x="9563100" y="4810125"/>
            <a:ext cx="16573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cold vs warm timing</a:t>
            </a:r>
          </a:p>
        </p:txBody>
      </p:sp>
      <p:sp>
        <p:nvSpPr>
          <p:cNvPr id="38" name="">
            <a:extLst xmlns:a="http://schemas.openxmlformats.org/drawingml/2006/main">
              <a:ext uri="{FF2B5EF4-FFF2-40B4-BE49-F238E27FC236}">
                <a16:creationId xmlns:a16="http://schemas.microsoft.com/office/drawing/2014/main" id="{A670FF5C-4996-489C-8C48-E2AF9F4DE74A}"/>
              </a:ext>
            </a:extLst>
          </p:cNvPr>
          <p:cNvSpPr>
            <a:spLocks xmlns:a="http://schemas.openxmlformats.org/drawingml/2006/main" noGrp="1"/>
          </p:cNvSpPr>
          <p:nvPr/>
        </p:nvSpPr>
        <p:spPr>
          <a:xfrm xmlns:a="http://schemas.openxmlformats.org/drawingml/2006/main">
            <a:off x="400050" y="5543550"/>
            <a:ext cx="11391900" cy="457200"/>
          </a:xfrm>
          <a:prstGeom xmlns:a="http://schemas.openxmlformats.org/drawingml/2006/main" prst="roundRect">
            <a:avLst>
              <a:gd name="adj" fmla="val 16667"/>
            </a:avLst>
          </a:prstGeom>
          <a:solidFill xmlns:a="http://schemas.openxmlformats.org/drawingml/2006/main">
            <a:srgbClr val="EAF2FF"/>
          </a:solidFill>
          <a:ln xmlns:a="http://schemas.openxmlformats.org/drawingml/2006/main" w="0">
            <a:solidFill>
              <a:srgbClr val="EAF2FF"/>
            </a:solidFill>
            <a:prstDash val="solid"/>
          </a:ln>
        </p:spPr>
      </p:sp>
      <p:sp>
        <p:nvSpPr>
          <p:cNvPr id="39" name="">
            <a:extLst xmlns:a="http://schemas.openxmlformats.org/drawingml/2006/main">
              <a:ext uri="{FF2B5EF4-FFF2-40B4-BE49-F238E27FC236}">
                <a16:creationId xmlns:a16="http://schemas.microsoft.com/office/drawing/2014/main" id="{2FDE1CD8-A29E-4B21-874C-78B6DBB68B21}"/>
              </a:ext>
            </a:extLst>
          </p:cNvPr>
          <p:cNvSpPr>
            <a:spLocks xmlns:a="http://schemas.openxmlformats.org/drawingml/2006/main" noGrp="1"/>
          </p:cNvSpPr>
          <p:nvPr/>
        </p:nvSpPr>
        <p:spPr>
          <a:xfrm xmlns:a="http://schemas.openxmlformats.org/drawingml/2006/main">
            <a:off x="590550" y="5667375"/>
            <a:ext cx="11010900" cy="266700"/>
          </a:xfrm>
          <a:prstGeom xmlns:a="http://schemas.openxmlformats.org/drawingml/2006/main" prst="rect">
            <a:avLst/>
          </a:prstGeom>
        </p:spPr>
        <p:txBody>
          <a:bodyPr xmlns:a="http://schemas.openxmlformats.org/drawingml/2006/main" wrap="square" lIns="0" tIns="0" rIns="0" bIns="0" anchor="t">
            <a:normAutofit fontScale="97885"/>
          </a:bodyPr>
          <a:lstStyle xmlns:a="http://schemas.openxmlformats.org/drawingml/2006/main"/>
          <a:p xmlns:a="http://schemas.openxmlformats.org/drawingml/2006/main">
            <a:pPr algn="l">
              <a:defRPr sz="1275" b="0">
                <a:solidFill>
                  <a:srgbClr val="111827"/>
                </a:solidFill>
                <a:latin typeface="Aptos"/>
                <a:ea typeface="Aptos"/>
                <a:cs typeface="Aptos"/>
              </a:defRPr>
            </a:pPr>
            <a:r>
              <a:t>Matched comparison = change one factor while holding the other two fixed. Warm-path latency excludes one discarded warm-up; cold load is recorded separately.</a:t>
            </a:r>
          </a:p>
        </p:txBody>
      </p:sp>
    </p:spTree>
    <p:extLst>
      <p:ext uri="{BB962C8B-B14F-4D97-AF65-F5344CB8AC3E}">
        <p14:creationId xmlns:p14="http://schemas.microsoft.com/office/powerpoint/2010/main" val="1343708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9FDA7E21-041B-4D9A-9F68-EABCE4667AAC}"/>
              </a:ext>
            </a:extLst>
          </p:cNvPr>
          <p:cNvSpPr>
            <a:spLocks xmlns:a="http://schemas.openxmlformats.org/drawingml/2006/main" noGrp="1"/>
          </p:cNvSpPr>
          <p:nvPr/>
        </p:nvSpPr>
        <p:spPr>
          <a:xfrm xmlns:a="http://schemas.openxmlformats.org/drawingml/2006/main">
            <a:off x="400050" y="228600"/>
            <a:ext cx="4953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563EB"/>
                </a:solidFill>
                <a:latin typeface="Aptos"/>
                <a:ea typeface="Aptos"/>
                <a:cs typeface="Aptos"/>
              </a:defRPr>
            </a:pPr>
            <a:r>
              <a:t>PHASE C · WEEK 5–6</a:t>
            </a:r>
          </a:p>
        </p:txBody>
      </p:sp>
      <p:sp>
        <p:nvSpPr>
          <p:cNvPr id="2" name="">
            <a:extLst xmlns:a="http://schemas.openxmlformats.org/drawingml/2006/main">
              <a:ext uri="{FF2B5EF4-FFF2-40B4-BE49-F238E27FC236}">
                <a16:creationId xmlns:a16="http://schemas.microsoft.com/office/drawing/2014/main" id="{1184EA1E-00DD-4933-A078-12FDAA26AA1C}"/>
              </a:ext>
            </a:extLst>
          </p:cNvPr>
          <p:cNvSpPr>
            <a:spLocks xmlns:a="http://schemas.openxmlformats.org/drawingml/2006/main" noGrp="1"/>
          </p:cNvSpPr>
          <p:nvPr/>
        </p:nvSpPr>
        <p:spPr>
          <a:xfrm xmlns:a="http://schemas.openxmlformats.org/drawingml/2006/main">
            <a:off x="400050" y="504825"/>
            <a:ext cx="11144250" cy="590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111827"/>
                </a:solidFill>
                <a:latin typeface="Aptos"/>
                <a:ea typeface="Aptos"/>
                <a:cs typeface="Aptos"/>
              </a:defRPr>
            </a:pPr>
            <a:r>
              <a:t>The pipeline preserved outputs and audit evidence</a:t>
            </a:r>
          </a:p>
        </p:txBody>
      </p:sp>
      <p:cxnSp>
        <p:nvCxnSpPr>
          <p:cNvPr id="55"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D7DCE3"/>
            </a:solidFill>
            <a:prstDash val="solid"/>
          </a:ln>
        </p:spPr>
      </p:cxnSp>
      <p:sp>
        <p:nvSpPr>
          <p:cNvPr id="4" name="">
            <a:extLst xmlns:a="http://schemas.openxmlformats.org/drawingml/2006/main">
              <a:ext uri="{FF2B5EF4-FFF2-40B4-BE49-F238E27FC236}">
                <a16:creationId xmlns:a16="http://schemas.microsoft.com/office/drawing/2014/main" id="{B83B82B9-678A-4F29-9FC1-B2FEBF9F67D1}"/>
              </a:ext>
            </a:extLst>
          </p:cNvPr>
          <p:cNvSpPr>
            <a:spLocks xmlns:a="http://schemas.openxmlformats.org/drawingml/2006/main" noGrp="1"/>
          </p:cNvSpPr>
          <p:nvPr/>
        </p:nvSpPr>
        <p:spPr>
          <a:xfrm xmlns:a="http://schemas.openxmlformats.org/drawingml/2006/main">
            <a:off x="11277600" y="6381750"/>
            <a:ext cx="4953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A93A2"/>
                </a:solidFill>
                <a:latin typeface="Aptos"/>
                <a:ea typeface="Aptos"/>
                <a:cs typeface="Aptos"/>
              </a:defRPr>
            </a:pPr>
            <a:r>
              <a:t>04</a:t>
            </a:r>
          </a:p>
        </p:txBody>
      </p:sp>
      <p:sp>
        <p:nvSpPr>
          <p:cNvPr id="5" name="">
            <a:extLst xmlns:a="http://schemas.openxmlformats.org/drawingml/2006/main">
              <a:ext uri="{FF2B5EF4-FFF2-40B4-BE49-F238E27FC236}">
                <a16:creationId xmlns:a16="http://schemas.microsoft.com/office/drawing/2014/main" id="{EF5B907F-E164-4B94-9B74-5643F1684A3A}"/>
              </a:ext>
            </a:extLst>
          </p:cNvPr>
          <p:cNvSpPr>
            <a:spLocks xmlns:a="http://schemas.openxmlformats.org/drawingml/2006/main" noGrp="1"/>
          </p:cNvSpPr>
          <p:nvPr/>
        </p:nvSpPr>
        <p:spPr>
          <a:xfrm xmlns:a="http://schemas.openxmlformats.org/drawingml/2006/main">
            <a:off x="400050" y="1752600"/>
            <a:ext cx="1943100" cy="1885950"/>
          </a:xfrm>
          <a:prstGeom xmlns:a="http://schemas.openxmlformats.org/drawingml/2006/main" prst="roundRect">
            <a:avLst>
              <a:gd name="adj" fmla="val 4040"/>
            </a:avLst>
          </a:prstGeom>
          <a:solidFill xmlns:a="http://schemas.openxmlformats.org/drawingml/2006/main">
            <a:srgbClr val="F3F5F7"/>
          </a:solidFill>
          <a:ln xmlns:a="http://schemas.openxmlformats.org/drawingml/2006/main" w="0">
            <a:solidFill>
              <a:srgbClr val="F3F5F7"/>
            </a:solidFill>
            <a:prstDash val="solid"/>
          </a:ln>
        </p:spPr>
      </p:sp>
      <p:sp>
        <p:nvSpPr>
          <p:cNvPr id="6" name="">
            <a:extLst xmlns:a="http://schemas.openxmlformats.org/drawingml/2006/main">
              <a:ext uri="{FF2B5EF4-FFF2-40B4-BE49-F238E27FC236}">
                <a16:creationId xmlns:a16="http://schemas.microsoft.com/office/drawing/2014/main" id="{60393A44-AFBE-4D91-B05E-15333B0309DA}"/>
              </a:ext>
            </a:extLst>
          </p:cNvPr>
          <p:cNvSpPr>
            <a:spLocks xmlns:a="http://schemas.openxmlformats.org/drawingml/2006/main" noGrp="1"/>
          </p:cNvSpPr>
          <p:nvPr/>
        </p:nvSpPr>
        <p:spPr>
          <a:xfrm xmlns:a="http://schemas.openxmlformats.org/drawingml/2006/main">
            <a:off x="400050" y="1752600"/>
            <a:ext cx="19431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1B5CBFD6-133D-4B63-A138-69817EEFCBAC}"/>
              </a:ext>
            </a:extLst>
          </p:cNvPr>
          <p:cNvSpPr>
            <a:spLocks xmlns:a="http://schemas.openxmlformats.org/drawingml/2006/main" noGrp="1"/>
          </p:cNvSpPr>
          <p:nvPr/>
        </p:nvSpPr>
        <p:spPr>
          <a:xfrm xmlns:a="http://schemas.openxmlformats.org/drawingml/2006/main">
            <a:off x="590550" y="1990725"/>
            <a:ext cx="4381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563EB"/>
                </a:solidFill>
                <a:latin typeface="Aptos"/>
                <a:ea typeface="Aptos"/>
                <a:cs typeface="Aptos"/>
              </a:defRPr>
            </a:pPr>
            <a:r>
              <a:t>01</a:t>
            </a:r>
          </a:p>
        </p:txBody>
      </p:sp>
      <p:sp>
        <p:nvSpPr>
          <p:cNvPr id="8" name="">
            <a:extLst xmlns:a="http://schemas.openxmlformats.org/drawingml/2006/main">
              <a:ext uri="{FF2B5EF4-FFF2-40B4-BE49-F238E27FC236}">
                <a16:creationId xmlns:a16="http://schemas.microsoft.com/office/drawing/2014/main" id="{202E1E56-0C38-486B-A634-9586D1A3DE10}"/>
              </a:ext>
            </a:extLst>
          </p:cNvPr>
          <p:cNvSpPr>
            <a:spLocks xmlns:a="http://schemas.openxmlformats.org/drawingml/2006/main" noGrp="1"/>
          </p:cNvSpPr>
          <p:nvPr/>
        </p:nvSpPr>
        <p:spPr>
          <a:xfrm xmlns:a="http://schemas.openxmlformats.org/drawingml/2006/main">
            <a:off x="590550" y="2390775"/>
            <a:ext cx="156210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t>Long sources</a:t>
            </a:r>
          </a:p>
        </p:txBody>
      </p:sp>
      <p:sp>
        <p:nvSpPr>
          <p:cNvPr id="9" name="">
            <a:extLst xmlns:a="http://schemas.openxmlformats.org/drawingml/2006/main">
              <a:ext uri="{FF2B5EF4-FFF2-40B4-BE49-F238E27FC236}">
                <a16:creationId xmlns:a16="http://schemas.microsoft.com/office/drawing/2014/main" id="{7AA20495-4983-44ED-8BE9-486D11BA3ABF}"/>
              </a:ext>
            </a:extLst>
          </p:cNvPr>
          <p:cNvSpPr>
            <a:spLocks xmlns:a="http://schemas.openxmlformats.org/drawingml/2006/main" noGrp="1"/>
          </p:cNvSpPr>
          <p:nvPr/>
        </p:nvSpPr>
        <p:spPr>
          <a:xfrm xmlns:a="http://schemas.openxmlformats.org/drawingml/2006/main">
            <a:off x="590550" y="2886075"/>
            <a:ext cx="1562100"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21 complete official documents
status-aware metadata</a:t>
            </a:r>
          </a:p>
        </p:txBody>
      </p:sp>
      <p:sp>
        <p:nvSpPr>
          <p:cNvPr id="10" name="">
            <a:extLst xmlns:a="http://schemas.openxmlformats.org/drawingml/2006/main">
              <a:ext uri="{FF2B5EF4-FFF2-40B4-BE49-F238E27FC236}">
                <a16:creationId xmlns:a16="http://schemas.microsoft.com/office/drawing/2014/main" id="{BBB95DA7-ABB4-4355-9EBC-91754956F65C}"/>
              </a:ext>
            </a:extLst>
          </p:cNvPr>
          <p:cNvSpPr>
            <a:spLocks xmlns:a="http://schemas.openxmlformats.org/drawingml/2006/main" noGrp="1"/>
          </p:cNvSpPr>
          <p:nvPr/>
        </p:nvSpPr>
        <p:spPr>
          <a:xfrm xmlns:a="http://schemas.openxmlformats.org/drawingml/2006/main">
            <a:off x="2400300" y="2609850"/>
            <a:ext cx="571500" cy="171450"/>
          </a:xfrm>
          <a:prstGeom xmlns:a="http://schemas.openxmlformats.org/drawingml/2006/main" prst="rightArrow">
            <a:avLst/>
          </a:prstGeom>
          <a:solidFill xmlns:a="http://schemas.openxmlformats.org/drawingml/2006/main">
            <a:srgbClr val="D7DCE3"/>
          </a:solidFill>
          <a:ln xmlns:a="http://schemas.openxmlformats.org/drawingml/2006/main" w="0">
            <a:solidFill>
              <a:srgbClr val="D7DCE3"/>
            </a:solidFill>
            <a:prstDash val="solid"/>
          </a:ln>
        </p:spPr>
      </p:sp>
      <p:sp>
        <p:nvSpPr>
          <p:cNvPr id="11" name="">
            <a:extLst xmlns:a="http://schemas.openxmlformats.org/drawingml/2006/main">
              <a:ext uri="{FF2B5EF4-FFF2-40B4-BE49-F238E27FC236}">
                <a16:creationId xmlns:a16="http://schemas.microsoft.com/office/drawing/2014/main" id="{A09C2430-3551-4719-8B67-3213CA9CCD4A}"/>
              </a:ext>
            </a:extLst>
          </p:cNvPr>
          <p:cNvSpPr>
            <a:spLocks xmlns:a="http://schemas.openxmlformats.org/drawingml/2006/main" noGrp="1"/>
          </p:cNvSpPr>
          <p:nvPr/>
        </p:nvSpPr>
        <p:spPr>
          <a:xfrm xmlns:a="http://schemas.openxmlformats.org/drawingml/2006/main">
            <a:off x="2714625" y="1752600"/>
            <a:ext cx="1943100" cy="1885950"/>
          </a:xfrm>
          <a:prstGeom xmlns:a="http://schemas.openxmlformats.org/drawingml/2006/main" prst="roundRect">
            <a:avLst>
              <a:gd name="adj" fmla="val 4040"/>
            </a:avLst>
          </a:prstGeom>
          <a:solidFill xmlns:a="http://schemas.openxmlformats.org/drawingml/2006/main">
            <a:srgbClr val="F3F5F7"/>
          </a:solidFill>
          <a:ln xmlns:a="http://schemas.openxmlformats.org/drawingml/2006/main" w="0">
            <a:solidFill>
              <a:srgbClr val="F3F5F7"/>
            </a:solidFill>
            <a:prstDash val="solid"/>
          </a:ln>
        </p:spPr>
      </p:sp>
      <p:sp>
        <p:nvSpPr>
          <p:cNvPr id="12" name="">
            <a:extLst xmlns:a="http://schemas.openxmlformats.org/drawingml/2006/main">
              <a:ext uri="{FF2B5EF4-FFF2-40B4-BE49-F238E27FC236}">
                <a16:creationId xmlns:a16="http://schemas.microsoft.com/office/drawing/2014/main" id="{10FFDEAC-50D9-41C6-8D0F-4DD2DC1443F7}"/>
              </a:ext>
            </a:extLst>
          </p:cNvPr>
          <p:cNvSpPr>
            <a:spLocks xmlns:a="http://schemas.openxmlformats.org/drawingml/2006/main" noGrp="1"/>
          </p:cNvSpPr>
          <p:nvPr/>
        </p:nvSpPr>
        <p:spPr>
          <a:xfrm xmlns:a="http://schemas.openxmlformats.org/drawingml/2006/main">
            <a:off x="2714625" y="1752600"/>
            <a:ext cx="19431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3" name="">
            <a:extLst xmlns:a="http://schemas.openxmlformats.org/drawingml/2006/main">
              <a:ext uri="{FF2B5EF4-FFF2-40B4-BE49-F238E27FC236}">
                <a16:creationId xmlns:a16="http://schemas.microsoft.com/office/drawing/2014/main" id="{99EB41A5-3290-4EEE-8459-D2B10D40F3FE}"/>
              </a:ext>
            </a:extLst>
          </p:cNvPr>
          <p:cNvSpPr>
            <a:spLocks xmlns:a="http://schemas.openxmlformats.org/drawingml/2006/main" noGrp="1"/>
          </p:cNvSpPr>
          <p:nvPr/>
        </p:nvSpPr>
        <p:spPr>
          <a:xfrm xmlns:a="http://schemas.openxmlformats.org/drawingml/2006/main">
            <a:off x="2905125" y="1990725"/>
            <a:ext cx="4381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563EB"/>
                </a:solidFill>
                <a:latin typeface="Aptos"/>
                <a:ea typeface="Aptos"/>
                <a:cs typeface="Aptos"/>
              </a:defRPr>
            </a:pPr>
            <a:r>
              <a:t>02</a:t>
            </a:r>
          </a:p>
        </p:txBody>
      </p:sp>
      <p:sp>
        <p:nvSpPr>
          <p:cNvPr id="14" name="">
            <a:extLst xmlns:a="http://schemas.openxmlformats.org/drawingml/2006/main">
              <a:ext uri="{FF2B5EF4-FFF2-40B4-BE49-F238E27FC236}">
                <a16:creationId xmlns:a16="http://schemas.microsoft.com/office/drawing/2014/main" id="{870FE8CD-0209-44C2-A811-F7218022575C}"/>
              </a:ext>
            </a:extLst>
          </p:cNvPr>
          <p:cNvSpPr>
            <a:spLocks xmlns:a="http://schemas.openxmlformats.org/drawingml/2006/main" noGrp="1"/>
          </p:cNvSpPr>
          <p:nvPr/>
        </p:nvSpPr>
        <p:spPr>
          <a:xfrm xmlns:a="http://schemas.openxmlformats.org/drawingml/2006/main">
            <a:off x="2905125" y="2390775"/>
            <a:ext cx="156210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t>Chunk</a:t>
            </a:r>
          </a:p>
        </p:txBody>
      </p:sp>
      <p:sp>
        <p:nvSpPr>
          <p:cNvPr id="15" name="">
            <a:extLst xmlns:a="http://schemas.openxmlformats.org/drawingml/2006/main">
              <a:ext uri="{FF2B5EF4-FFF2-40B4-BE49-F238E27FC236}">
                <a16:creationId xmlns:a16="http://schemas.microsoft.com/office/drawing/2014/main" id="{B23C0931-5D42-4470-88B1-1C49C9B467E8}"/>
              </a:ext>
            </a:extLst>
          </p:cNvPr>
          <p:cNvSpPr>
            <a:spLocks xmlns:a="http://schemas.openxmlformats.org/drawingml/2006/main" noGrp="1"/>
          </p:cNvSpPr>
          <p:nvPr/>
        </p:nvSpPr>
        <p:spPr>
          <a:xfrm xmlns:a="http://schemas.openxmlformats.org/drawingml/2006/main">
            <a:off x="2905125" y="2886075"/>
            <a:ext cx="1562100"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256 / 512 / 1024
actual indexed units</a:t>
            </a:r>
          </a:p>
        </p:txBody>
      </p:sp>
      <p:sp>
        <p:nvSpPr>
          <p:cNvPr id="16" name="">
            <a:extLst xmlns:a="http://schemas.openxmlformats.org/drawingml/2006/main">
              <a:ext uri="{FF2B5EF4-FFF2-40B4-BE49-F238E27FC236}">
                <a16:creationId xmlns:a16="http://schemas.microsoft.com/office/drawing/2014/main" id="{D6C03F61-E159-4312-B03C-FC31F1E10090}"/>
              </a:ext>
            </a:extLst>
          </p:cNvPr>
          <p:cNvSpPr>
            <a:spLocks xmlns:a="http://schemas.openxmlformats.org/drawingml/2006/main" noGrp="1"/>
          </p:cNvSpPr>
          <p:nvPr/>
        </p:nvSpPr>
        <p:spPr>
          <a:xfrm xmlns:a="http://schemas.openxmlformats.org/drawingml/2006/main">
            <a:off x="4714875" y="2609850"/>
            <a:ext cx="571500" cy="171450"/>
          </a:xfrm>
          <a:prstGeom xmlns:a="http://schemas.openxmlformats.org/drawingml/2006/main" prst="rightArrow">
            <a:avLst/>
          </a:prstGeom>
          <a:solidFill xmlns:a="http://schemas.openxmlformats.org/drawingml/2006/main">
            <a:srgbClr val="D7DCE3"/>
          </a:solidFill>
          <a:ln xmlns:a="http://schemas.openxmlformats.org/drawingml/2006/main" w="0">
            <a:solidFill>
              <a:srgbClr val="D7DCE3"/>
            </a:solidFill>
            <a:prstDash val="solid"/>
          </a:ln>
        </p:spPr>
      </p:sp>
      <p:sp>
        <p:nvSpPr>
          <p:cNvPr id="17" name="">
            <a:extLst xmlns:a="http://schemas.openxmlformats.org/drawingml/2006/main">
              <a:ext uri="{FF2B5EF4-FFF2-40B4-BE49-F238E27FC236}">
                <a16:creationId xmlns:a16="http://schemas.microsoft.com/office/drawing/2014/main" id="{BFC29E7C-ED5B-4E3F-A76B-E07A4D919B26}"/>
              </a:ext>
            </a:extLst>
          </p:cNvPr>
          <p:cNvSpPr>
            <a:spLocks xmlns:a="http://schemas.openxmlformats.org/drawingml/2006/main" noGrp="1"/>
          </p:cNvSpPr>
          <p:nvPr/>
        </p:nvSpPr>
        <p:spPr>
          <a:xfrm xmlns:a="http://schemas.openxmlformats.org/drawingml/2006/main">
            <a:off x="5029200" y="1752600"/>
            <a:ext cx="1943100" cy="1885950"/>
          </a:xfrm>
          <a:prstGeom xmlns:a="http://schemas.openxmlformats.org/drawingml/2006/main" prst="roundRect">
            <a:avLst>
              <a:gd name="adj" fmla="val 4040"/>
            </a:avLst>
          </a:prstGeom>
          <a:solidFill xmlns:a="http://schemas.openxmlformats.org/drawingml/2006/main">
            <a:srgbClr val="F3F5F7"/>
          </a:solidFill>
          <a:ln xmlns:a="http://schemas.openxmlformats.org/drawingml/2006/main" w="0">
            <a:solidFill>
              <a:srgbClr val="F3F5F7"/>
            </a:solidFill>
            <a:prstDash val="solid"/>
          </a:ln>
        </p:spPr>
      </p:sp>
      <p:sp>
        <p:nvSpPr>
          <p:cNvPr id="18" name="">
            <a:extLst xmlns:a="http://schemas.openxmlformats.org/drawingml/2006/main">
              <a:ext uri="{FF2B5EF4-FFF2-40B4-BE49-F238E27FC236}">
                <a16:creationId xmlns:a16="http://schemas.microsoft.com/office/drawing/2014/main" id="{E0A4E64E-F239-4E5C-8403-C6347ED7E330}"/>
              </a:ext>
            </a:extLst>
          </p:cNvPr>
          <p:cNvSpPr>
            <a:spLocks xmlns:a="http://schemas.openxmlformats.org/drawingml/2006/main" noGrp="1"/>
          </p:cNvSpPr>
          <p:nvPr/>
        </p:nvSpPr>
        <p:spPr>
          <a:xfrm xmlns:a="http://schemas.openxmlformats.org/drawingml/2006/main">
            <a:off x="5029200" y="1752600"/>
            <a:ext cx="1943100" cy="7620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19" name="">
            <a:extLst xmlns:a="http://schemas.openxmlformats.org/drawingml/2006/main">
              <a:ext uri="{FF2B5EF4-FFF2-40B4-BE49-F238E27FC236}">
                <a16:creationId xmlns:a16="http://schemas.microsoft.com/office/drawing/2014/main" id="{201D3DEF-42A0-4BB1-89E7-ED81C5FD5BB3}"/>
              </a:ext>
            </a:extLst>
          </p:cNvPr>
          <p:cNvSpPr>
            <a:spLocks xmlns:a="http://schemas.openxmlformats.org/drawingml/2006/main" noGrp="1"/>
          </p:cNvSpPr>
          <p:nvPr/>
        </p:nvSpPr>
        <p:spPr>
          <a:xfrm xmlns:a="http://schemas.openxmlformats.org/drawingml/2006/main">
            <a:off x="5219700" y="1990725"/>
            <a:ext cx="4381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F9D8A"/>
                </a:solidFill>
                <a:latin typeface="Aptos"/>
                <a:ea typeface="Aptos"/>
                <a:cs typeface="Aptos"/>
              </a:defRPr>
            </a:pPr>
            <a:r>
              <a:t>03</a:t>
            </a:r>
          </a:p>
        </p:txBody>
      </p:sp>
      <p:sp>
        <p:nvSpPr>
          <p:cNvPr id="20" name="">
            <a:extLst xmlns:a="http://schemas.openxmlformats.org/drawingml/2006/main">
              <a:ext uri="{FF2B5EF4-FFF2-40B4-BE49-F238E27FC236}">
                <a16:creationId xmlns:a16="http://schemas.microsoft.com/office/drawing/2014/main" id="{C38417E5-2AC0-4635-B413-018B3EF04D6F}"/>
              </a:ext>
            </a:extLst>
          </p:cNvPr>
          <p:cNvSpPr>
            <a:spLocks xmlns:a="http://schemas.openxmlformats.org/drawingml/2006/main" noGrp="1"/>
          </p:cNvSpPr>
          <p:nvPr/>
        </p:nvSpPr>
        <p:spPr>
          <a:xfrm xmlns:a="http://schemas.openxmlformats.org/drawingml/2006/main">
            <a:off x="5219700" y="2390775"/>
            <a:ext cx="156210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t>Retrieve</a:t>
            </a:r>
          </a:p>
        </p:txBody>
      </p:sp>
      <p:sp>
        <p:nvSpPr>
          <p:cNvPr id="21" name="">
            <a:extLst xmlns:a="http://schemas.openxmlformats.org/drawingml/2006/main">
              <a:ext uri="{FF2B5EF4-FFF2-40B4-BE49-F238E27FC236}">
                <a16:creationId xmlns:a16="http://schemas.microsoft.com/office/drawing/2014/main" id="{8008AE85-3A7D-4086-B73F-9D26A311C42C}"/>
              </a:ext>
            </a:extLst>
          </p:cNvPr>
          <p:cNvSpPr>
            <a:spLocks xmlns:a="http://schemas.openxmlformats.org/drawingml/2006/main" noGrp="1"/>
          </p:cNvSpPr>
          <p:nvPr/>
        </p:nvSpPr>
        <p:spPr>
          <a:xfrm xmlns:a="http://schemas.openxmlformats.org/drawingml/2006/main">
            <a:off x="5219700" y="2886075"/>
            <a:ext cx="1562100"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BGE-M3 embeddings
top-k 1 / 3 / 5</a:t>
            </a:r>
          </a:p>
        </p:txBody>
      </p:sp>
      <p:sp>
        <p:nvSpPr>
          <p:cNvPr id="22" name="">
            <a:extLst xmlns:a="http://schemas.openxmlformats.org/drawingml/2006/main">
              <a:ext uri="{FF2B5EF4-FFF2-40B4-BE49-F238E27FC236}">
                <a16:creationId xmlns:a16="http://schemas.microsoft.com/office/drawing/2014/main" id="{00F73E8C-3DAF-44CA-B856-40C1868CC76F}"/>
              </a:ext>
            </a:extLst>
          </p:cNvPr>
          <p:cNvSpPr>
            <a:spLocks xmlns:a="http://schemas.openxmlformats.org/drawingml/2006/main" noGrp="1"/>
          </p:cNvSpPr>
          <p:nvPr/>
        </p:nvSpPr>
        <p:spPr>
          <a:xfrm xmlns:a="http://schemas.openxmlformats.org/drawingml/2006/main">
            <a:off x="7029450" y="2609850"/>
            <a:ext cx="571500" cy="171450"/>
          </a:xfrm>
          <a:prstGeom xmlns:a="http://schemas.openxmlformats.org/drawingml/2006/main" prst="rightArrow">
            <a:avLst/>
          </a:prstGeom>
          <a:solidFill xmlns:a="http://schemas.openxmlformats.org/drawingml/2006/main">
            <a:srgbClr val="D7DCE3"/>
          </a:solidFill>
          <a:ln xmlns:a="http://schemas.openxmlformats.org/drawingml/2006/main" w="0">
            <a:solidFill>
              <a:srgbClr val="D7DCE3"/>
            </a:solidFill>
            <a:prstDash val="solid"/>
          </a:ln>
        </p:spPr>
      </p:sp>
      <p:sp>
        <p:nvSpPr>
          <p:cNvPr id="23" name="">
            <a:extLst xmlns:a="http://schemas.openxmlformats.org/drawingml/2006/main">
              <a:ext uri="{FF2B5EF4-FFF2-40B4-BE49-F238E27FC236}">
                <a16:creationId xmlns:a16="http://schemas.microsoft.com/office/drawing/2014/main" id="{A137B3EA-D536-4122-89AD-0C9F9F09FA7E}"/>
              </a:ext>
            </a:extLst>
          </p:cNvPr>
          <p:cNvSpPr>
            <a:spLocks xmlns:a="http://schemas.openxmlformats.org/drawingml/2006/main" noGrp="1"/>
          </p:cNvSpPr>
          <p:nvPr/>
        </p:nvSpPr>
        <p:spPr>
          <a:xfrm xmlns:a="http://schemas.openxmlformats.org/drawingml/2006/main">
            <a:off x="7343775" y="1752600"/>
            <a:ext cx="1943100" cy="1885950"/>
          </a:xfrm>
          <a:prstGeom xmlns:a="http://schemas.openxmlformats.org/drawingml/2006/main" prst="roundRect">
            <a:avLst>
              <a:gd name="adj" fmla="val 4040"/>
            </a:avLst>
          </a:prstGeom>
          <a:solidFill xmlns:a="http://schemas.openxmlformats.org/drawingml/2006/main">
            <a:srgbClr val="F3F5F7"/>
          </a:solidFill>
          <a:ln xmlns:a="http://schemas.openxmlformats.org/drawingml/2006/main" w="0">
            <a:solidFill>
              <a:srgbClr val="F3F5F7"/>
            </a:solidFill>
            <a:prstDash val="solid"/>
          </a:ln>
        </p:spPr>
      </p:sp>
      <p:sp>
        <p:nvSpPr>
          <p:cNvPr id="24" name="">
            <a:extLst xmlns:a="http://schemas.openxmlformats.org/drawingml/2006/main">
              <a:ext uri="{FF2B5EF4-FFF2-40B4-BE49-F238E27FC236}">
                <a16:creationId xmlns:a16="http://schemas.microsoft.com/office/drawing/2014/main" id="{675BC1A9-C8DF-45C3-BB87-0399EF65CD88}"/>
              </a:ext>
            </a:extLst>
          </p:cNvPr>
          <p:cNvSpPr>
            <a:spLocks xmlns:a="http://schemas.openxmlformats.org/drawingml/2006/main" noGrp="1"/>
          </p:cNvSpPr>
          <p:nvPr/>
        </p:nvSpPr>
        <p:spPr>
          <a:xfrm xmlns:a="http://schemas.openxmlformats.org/drawingml/2006/main">
            <a:off x="7343775" y="1752600"/>
            <a:ext cx="1943100" cy="7620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25" name="">
            <a:extLst xmlns:a="http://schemas.openxmlformats.org/drawingml/2006/main">
              <a:ext uri="{FF2B5EF4-FFF2-40B4-BE49-F238E27FC236}">
                <a16:creationId xmlns:a16="http://schemas.microsoft.com/office/drawing/2014/main" id="{9CF217D3-CDD7-4FA0-BA94-4917663B82D1}"/>
              </a:ext>
            </a:extLst>
          </p:cNvPr>
          <p:cNvSpPr>
            <a:spLocks xmlns:a="http://schemas.openxmlformats.org/drawingml/2006/main" noGrp="1"/>
          </p:cNvSpPr>
          <p:nvPr/>
        </p:nvSpPr>
        <p:spPr>
          <a:xfrm xmlns:a="http://schemas.openxmlformats.org/drawingml/2006/main">
            <a:off x="7534275" y="1990725"/>
            <a:ext cx="4381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F9D8A"/>
                </a:solidFill>
                <a:latin typeface="Aptos"/>
                <a:ea typeface="Aptos"/>
                <a:cs typeface="Aptos"/>
              </a:defRPr>
            </a:pPr>
            <a:r>
              <a:t>04</a:t>
            </a:r>
          </a:p>
        </p:txBody>
      </p:sp>
      <p:sp>
        <p:nvSpPr>
          <p:cNvPr id="26" name="">
            <a:extLst xmlns:a="http://schemas.openxmlformats.org/drawingml/2006/main">
              <a:ext uri="{FF2B5EF4-FFF2-40B4-BE49-F238E27FC236}">
                <a16:creationId xmlns:a16="http://schemas.microsoft.com/office/drawing/2014/main" id="{EB5AE93C-F5D2-4DB5-8528-44418C5104F1}"/>
              </a:ext>
            </a:extLst>
          </p:cNvPr>
          <p:cNvSpPr>
            <a:spLocks xmlns:a="http://schemas.openxmlformats.org/drawingml/2006/main" noGrp="1"/>
          </p:cNvSpPr>
          <p:nvPr/>
        </p:nvSpPr>
        <p:spPr>
          <a:xfrm xmlns:a="http://schemas.openxmlformats.org/drawingml/2006/main">
            <a:off x="7534275" y="2390775"/>
            <a:ext cx="156210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t>Rerank</a:t>
            </a:r>
          </a:p>
        </p:txBody>
      </p:sp>
      <p:sp>
        <p:nvSpPr>
          <p:cNvPr id="27" name="">
            <a:extLst xmlns:a="http://schemas.openxmlformats.org/drawingml/2006/main">
              <a:ext uri="{FF2B5EF4-FFF2-40B4-BE49-F238E27FC236}">
                <a16:creationId xmlns:a16="http://schemas.microsoft.com/office/drawing/2014/main" id="{A2B7C5C4-F1AE-450C-B7C7-C4A54C7549B6}"/>
              </a:ext>
            </a:extLst>
          </p:cNvPr>
          <p:cNvSpPr>
            <a:spLocks xmlns:a="http://schemas.openxmlformats.org/drawingml/2006/main" noGrp="1"/>
          </p:cNvSpPr>
          <p:nvPr/>
        </p:nvSpPr>
        <p:spPr>
          <a:xfrm xmlns:a="http://schemas.openxmlformats.org/drawingml/2006/main">
            <a:off x="7534275" y="2886075"/>
            <a:ext cx="1562100"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Off or BGE reranker v2-M3</a:t>
            </a:r>
          </a:p>
        </p:txBody>
      </p:sp>
      <p:sp>
        <p:nvSpPr>
          <p:cNvPr id="28" name="">
            <a:extLst xmlns:a="http://schemas.openxmlformats.org/drawingml/2006/main">
              <a:ext uri="{FF2B5EF4-FFF2-40B4-BE49-F238E27FC236}">
                <a16:creationId xmlns:a16="http://schemas.microsoft.com/office/drawing/2014/main" id="{841F7C09-738C-4701-A433-AD54D00354B7}"/>
              </a:ext>
            </a:extLst>
          </p:cNvPr>
          <p:cNvSpPr>
            <a:spLocks xmlns:a="http://schemas.openxmlformats.org/drawingml/2006/main" noGrp="1"/>
          </p:cNvSpPr>
          <p:nvPr/>
        </p:nvSpPr>
        <p:spPr>
          <a:xfrm xmlns:a="http://schemas.openxmlformats.org/drawingml/2006/main">
            <a:off x="9344025" y="2609850"/>
            <a:ext cx="571500" cy="171450"/>
          </a:xfrm>
          <a:prstGeom xmlns:a="http://schemas.openxmlformats.org/drawingml/2006/main" prst="rightArrow">
            <a:avLst/>
          </a:prstGeom>
          <a:solidFill xmlns:a="http://schemas.openxmlformats.org/drawingml/2006/main">
            <a:srgbClr val="D7DCE3"/>
          </a:solidFill>
          <a:ln xmlns:a="http://schemas.openxmlformats.org/drawingml/2006/main" w="0">
            <a:solidFill>
              <a:srgbClr val="D7DCE3"/>
            </a:solidFill>
            <a:prstDash val="solid"/>
          </a:ln>
        </p:spPr>
      </p:sp>
      <p:sp>
        <p:nvSpPr>
          <p:cNvPr id="29" name="">
            <a:extLst xmlns:a="http://schemas.openxmlformats.org/drawingml/2006/main">
              <a:ext uri="{FF2B5EF4-FFF2-40B4-BE49-F238E27FC236}">
                <a16:creationId xmlns:a16="http://schemas.microsoft.com/office/drawing/2014/main" id="{162A82A0-FA0E-4633-BE55-426EF6036F82}"/>
              </a:ext>
            </a:extLst>
          </p:cNvPr>
          <p:cNvSpPr>
            <a:spLocks xmlns:a="http://schemas.openxmlformats.org/drawingml/2006/main" noGrp="1"/>
          </p:cNvSpPr>
          <p:nvPr/>
        </p:nvSpPr>
        <p:spPr>
          <a:xfrm xmlns:a="http://schemas.openxmlformats.org/drawingml/2006/main">
            <a:off x="9658350" y="1752600"/>
            <a:ext cx="1943100" cy="1885950"/>
          </a:xfrm>
          <a:prstGeom xmlns:a="http://schemas.openxmlformats.org/drawingml/2006/main" prst="roundRect">
            <a:avLst>
              <a:gd name="adj" fmla="val 4040"/>
            </a:avLst>
          </a:prstGeom>
          <a:solidFill xmlns:a="http://schemas.openxmlformats.org/drawingml/2006/main">
            <a:srgbClr val="F3F5F7"/>
          </a:solidFill>
          <a:ln xmlns:a="http://schemas.openxmlformats.org/drawingml/2006/main" w="0">
            <a:solidFill>
              <a:srgbClr val="F3F5F7"/>
            </a:solidFill>
            <a:prstDash val="solid"/>
          </a:ln>
        </p:spPr>
      </p:sp>
      <p:sp>
        <p:nvSpPr>
          <p:cNvPr id="30" name="">
            <a:extLst xmlns:a="http://schemas.openxmlformats.org/drawingml/2006/main">
              <a:ext uri="{FF2B5EF4-FFF2-40B4-BE49-F238E27FC236}">
                <a16:creationId xmlns:a16="http://schemas.microsoft.com/office/drawing/2014/main" id="{2672BD3B-BCBF-4D0A-A3DD-05B0FE2D666B}"/>
              </a:ext>
            </a:extLst>
          </p:cNvPr>
          <p:cNvSpPr>
            <a:spLocks xmlns:a="http://schemas.openxmlformats.org/drawingml/2006/main" noGrp="1"/>
          </p:cNvSpPr>
          <p:nvPr/>
        </p:nvSpPr>
        <p:spPr>
          <a:xfrm xmlns:a="http://schemas.openxmlformats.org/drawingml/2006/main">
            <a:off x="9658350" y="1752600"/>
            <a:ext cx="1943100" cy="7620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
        <p:nvSpPr>
          <p:cNvPr id="31" name="">
            <a:extLst xmlns:a="http://schemas.openxmlformats.org/drawingml/2006/main">
              <a:ext uri="{FF2B5EF4-FFF2-40B4-BE49-F238E27FC236}">
                <a16:creationId xmlns:a16="http://schemas.microsoft.com/office/drawing/2014/main" id="{C1979868-DB90-4E31-B932-CFA05D5D617A}"/>
              </a:ext>
            </a:extLst>
          </p:cNvPr>
          <p:cNvSpPr>
            <a:spLocks xmlns:a="http://schemas.openxmlformats.org/drawingml/2006/main" noGrp="1"/>
          </p:cNvSpPr>
          <p:nvPr/>
        </p:nvSpPr>
        <p:spPr>
          <a:xfrm xmlns:a="http://schemas.openxmlformats.org/drawingml/2006/main">
            <a:off x="9848850" y="1990725"/>
            <a:ext cx="4381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D97706"/>
                </a:solidFill>
                <a:latin typeface="Aptos"/>
                <a:ea typeface="Aptos"/>
                <a:cs typeface="Aptos"/>
              </a:defRPr>
            </a:pPr>
            <a:r>
              <a:t>05</a:t>
            </a:r>
          </a:p>
        </p:txBody>
      </p:sp>
      <p:sp>
        <p:nvSpPr>
          <p:cNvPr id="32" name="">
            <a:extLst xmlns:a="http://schemas.openxmlformats.org/drawingml/2006/main">
              <a:ext uri="{FF2B5EF4-FFF2-40B4-BE49-F238E27FC236}">
                <a16:creationId xmlns:a16="http://schemas.microsoft.com/office/drawing/2014/main" id="{537DBD65-CA38-4AC0-A018-8C88CA320770}"/>
              </a:ext>
            </a:extLst>
          </p:cNvPr>
          <p:cNvSpPr>
            <a:spLocks xmlns:a="http://schemas.openxmlformats.org/drawingml/2006/main" noGrp="1"/>
          </p:cNvSpPr>
          <p:nvPr/>
        </p:nvSpPr>
        <p:spPr>
          <a:xfrm xmlns:a="http://schemas.openxmlformats.org/drawingml/2006/main">
            <a:off x="9848850" y="2390775"/>
            <a:ext cx="1562100" cy="342900"/>
          </a:xfrm>
          <a:prstGeom xmlns:a="http://schemas.openxmlformats.org/drawingml/2006/main" prst="rect">
            <a:avLst/>
          </a:prstGeom>
        </p:spPr>
        <p:txBody>
          <a:bodyPr xmlns:a="http://schemas.openxmlformats.org/drawingml/2006/main" wrap="square" lIns="0" tIns="0" rIns="0" bIns="0" anchor="t">
            <a:normAutofit fontScale="97198"/>
          </a:bodyPr>
          <a:lstStyle xmlns:a="http://schemas.openxmlformats.org/drawingml/2006/main"/>
          <a:p xmlns:a="http://schemas.openxmlformats.org/drawingml/2006/main">
            <a:pPr algn="l">
              <a:defRPr sz="1650" b="1">
                <a:solidFill>
                  <a:srgbClr val="111827"/>
                </a:solidFill>
                <a:latin typeface="Aptos"/>
                <a:ea typeface="Aptos"/>
                <a:cs typeface="Aptos"/>
              </a:defRPr>
            </a:pPr>
            <a:r>
              <a:t>Generate + score</a:t>
            </a:r>
          </a:p>
        </p:txBody>
      </p:sp>
      <p:sp>
        <p:nvSpPr>
          <p:cNvPr id="33" name="">
            <a:extLst xmlns:a="http://schemas.openxmlformats.org/drawingml/2006/main">
              <a:ext uri="{FF2B5EF4-FFF2-40B4-BE49-F238E27FC236}">
                <a16:creationId xmlns:a16="http://schemas.microsoft.com/office/drawing/2014/main" id="{66F77DEE-1A23-432B-9CE6-1ACF38F2F91F}"/>
              </a:ext>
            </a:extLst>
          </p:cNvPr>
          <p:cNvSpPr>
            <a:spLocks xmlns:a="http://schemas.openxmlformats.org/drawingml/2006/main" noGrp="1"/>
          </p:cNvSpPr>
          <p:nvPr/>
        </p:nvSpPr>
        <p:spPr>
          <a:xfrm xmlns:a="http://schemas.openxmlformats.org/drawingml/2006/main">
            <a:off x="9848850" y="2886075"/>
            <a:ext cx="1562100" cy="552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Llama 3.1 8B
local Mistral evaluator</a:t>
            </a:r>
          </a:p>
        </p:txBody>
      </p:sp>
      <p:sp>
        <p:nvSpPr>
          <p:cNvPr id="34" name="">
            <a:extLst xmlns:a="http://schemas.openxmlformats.org/drawingml/2006/main">
              <a:ext uri="{FF2B5EF4-FFF2-40B4-BE49-F238E27FC236}">
                <a16:creationId xmlns:a16="http://schemas.microsoft.com/office/drawing/2014/main" id="{A05FFE67-6031-4780-8BC6-CF3E617205A5}"/>
              </a:ext>
            </a:extLst>
          </p:cNvPr>
          <p:cNvSpPr>
            <a:spLocks xmlns:a="http://schemas.openxmlformats.org/drawingml/2006/main" noGrp="1"/>
          </p:cNvSpPr>
          <p:nvPr/>
        </p:nvSpPr>
        <p:spPr>
          <a:xfrm xmlns:a="http://schemas.openxmlformats.org/drawingml/2006/main">
            <a:off x="400050" y="4067175"/>
            <a:ext cx="20002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t>Traceability rail</a:t>
            </a:r>
          </a:p>
        </p:txBody>
      </p:sp>
      <p:cxnSp>
        <p:nvCxnSpPr>
          <p:cNvPr id="87" name=""/>
          <p:cNvCxnSpPr/>
          <p:nvPr/>
        </p:nvCxnSpPr>
        <p:spPr>
          <a:xfrm xmlns:a="http://schemas.openxmlformats.org/drawingml/2006/main">
            <a:off x="400050" y="4524375"/>
            <a:ext cx="11391900" cy="95"/>
          </a:xfrm>
          <a:prstGeom xmlns:a="http://schemas.openxmlformats.org/drawingml/2006/main" prst="straightConnector1">
            <a:avLst/>
          </a:prstGeom>
          <a:ln xmlns:a="http://schemas.openxmlformats.org/drawingml/2006/main" w="19050">
            <a:solidFill>
              <a:srgbClr val="111827"/>
            </a:solidFill>
            <a:prstDash val="solid"/>
          </a:ln>
        </p:spPr>
      </p:cxnSp>
      <p:sp>
        <p:nvSpPr>
          <p:cNvPr id="36" name="">
            <a:extLst xmlns:a="http://schemas.openxmlformats.org/drawingml/2006/main">
              <a:ext uri="{FF2B5EF4-FFF2-40B4-BE49-F238E27FC236}">
                <a16:creationId xmlns:a16="http://schemas.microsoft.com/office/drawing/2014/main" id="{7DC627CA-6D4E-4D3F-A676-70EC9825944E}"/>
              </a:ext>
            </a:extLst>
          </p:cNvPr>
          <p:cNvSpPr>
            <a:spLocks xmlns:a="http://schemas.openxmlformats.org/drawingml/2006/main" noGrp="1"/>
          </p:cNvSpPr>
          <p:nvPr/>
        </p:nvSpPr>
        <p:spPr>
          <a:xfrm xmlns:a="http://schemas.openxmlformats.org/drawingml/2006/main">
            <a:off x="400050" y="4457700"/>
            <a:ext cx="133350" cy="1333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7" name="">
            <a:extLst xmlns:a="http://schemas.openxmlformats.org/drawingml/2006/main">
              <a:ext uri="{FF2B5EF4-FFF2-40B4-BE49-F238E27FC236}">
                <a16:creationId xmlns:a16="http://schemas.microsoft.com/office/drawing/2014/main" id="{B3B5D1C2-A43E-49F4-8EE3-6A3C466EC884}"/>
              </a:ext>
            </a:extLst>
          </p:cNvPr>
          <p:cNvSpPr>
            <a:spLocks xmlns:a="http://schemas.openxmlformats.org/drawingml/2006/main" noGrp="1"/>
          </p:cNvSpPr>
          <p:nvPr/>
        </p:nvSpPr>
        <p:spPr>
          <a:xfrm xmlns:a="http://schemas.openxmlformats.org/drawingml/2006/main">
            <a:off x="400050" y="476250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Source hashes</a:t>
            </a:r>
          </a:p>
        </p:txBody>
      </p:sp>
      <p:sp>
        <p:nvSpPr>
          <p:cNvPr id="38" name="">
            <a:extLst xmlns:a="http://schemas.openxmlformats.org/drawingml/2006/main">
              <a:ext uri="{FF2B5EF4-FFF2-40B4-BE49-F238E27FC236}">
                <a16:creationId xmlns:a16="http://schemas.microsoft.com/office/drawing/2014/main" id="{8BB51764-564A-4025-994B-0F92DE599B1E}"/>
              </a:ext>
            </a:extLst>
          </p:cNvPr>
          <p:cNvSpPr>
            <a:spLocks xmlns:a="http://schemas.openxmlformats.org/drawingml/2006/main" noGrp="1"/>
          </p:cNvSpPr>
          <p:nvPr/>
        </p:nvSpPr>
        <p:spPr>
          <a:xfrm xmlns:a="http://schemas.openxmlformats.org/drawingml/2006/main">
            <a:off x="2028825" y="4457700"/>
            <a:ext cx="133350" cy="1333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9" name="">
            <a:extLst xmlns:a="http://schemas.openxmlformats.org/drawingml/2006/main">
              <a:ext uri="{FF2B5EF4-FFF2-40B4-BE49-F238E27FC236}">
                <a16:creationId xmlns:a16="http://schemas.microsoft.com/office/drawing/2014/main" id="{8F0A8DA2-22B0-4370-8570-91730264E86D}"/>
              </a:ext>
            </a:extLst>
          </p:cNvPr>
          <p:cNvSpPr>
            <a:spLocks xmlns:a="http://schemas.openxmlformats.org/drawingml/2006/main" noGrp="1"/>
          </p:cNvSpPr>
          <p:nvPr/>
        </p:nvSpPr>
        <p:spPr>
          <a:xfrm xmlns:a="http://schemas.openxmlformats.org/drawingml/2006/main">
            <a:off x="2028825" y="476250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Model revisions</a:t>
            </a:r>
          </a:p>
        </p:txBody>
      </p:sp>
      <p:sp>
        <p:nvSpPr>
          <p:cNvPr id="40" name="">
            <a:extLst xmlns:a="http://schemas.openxmlformats.org/drawingml/2006/main">
              <a:ext uri="{FF2B5EF4-FFF2-40B4-BE49-F238E27FC236}">
                <a16:creationId xmlns:a16="http://schemas.microsoft.com/office/drawing/2014/main" id="{07CB2E97-D296-4481-9DD6-8745A533C19E}"/>
              </a:ext>
            </a:extLst>
          </p:cNvPr>
          <p:cNvSpPr>
            <a:spLocks xmlns:a="http://schemas.openxmlformats.org/drawingml/2006/main" noGrp="1"/>
          </p:cNvSpPr>
          <p:nvPr/>
        </p:nvSpPr>
        <p:spPr>
          <a:xfrm xmlns:a="http://schemas.openxmlformats.org/drawingml/2006/main">
            <a:off x="3657600" y="4457700"/>
            <a:ext cx="133350" cy="1333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1" name="">
            <a:extLst xmlns:a="http://schemas.openxmlformats.org/drawingml/2006/main">
              <a:ext uri="{FF2B5EF4-FFF2-40B4-BE49-F238E27FC236}">
                <a16:creationId xmlns:a16="http://schemas.microsoft.com/office/drawing/2014/main" id="{98725C8D-9CC2-4FB8-8AC7-856777B5BAEC}"/>
              </a:ext>
            </a:extLst>
          </p:cNvPr>
          <p:cNvSpPr>
            <a:spLocks xmlns:a="http://schemas.openxmlformats.org/drawingml/2006/main" noGrp="1"/>
          </p:cNvSpPr>
          <p:nvPr/>
        </p:nvSpPr>
        <p:spPr>
          <a:xfrm xmlns:a="http://schemas.openxmlformats.org/drawingml/2006/main">
            <a:off x="3657600" y="476250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Seed 42</a:t>
            </a:r>
          </a:p>
        </p:txBody>
      </p:sp>
      <p:sp>
        <p:nvSpPr>
          <p:cNvPr id="42" name="">
            <a:extLst xmlns:a="http://schemas.openxmlformats.org/drawingml/2006/main">
              <a:ext uri="{FF2B5EF4-FFF2-40B4-BE49-F238E27FC236}">
                <a16:creationId xmlns:a16="http://schemas.microsoft.com/office/drawing/2014/main" id="{F28A805A-4C84-4F26-A789-956821C2EF17}"/>
              </a:ext>
            </a:extLst>
          </p:cNvPr>
          <p:cNvSpPr>
            <a:spLocks xmlns:a="http://schemas.openxmlformats.org/drawingml/2006/main" noGrp="1"/>
          </p:cNvSpPr>
          <p:nvPr/>
        </p:nvSpPr>
        <p:spPr>
          <a:xfrm xmlns:a="http://schemas.openxmlformats.org/drawingml/2006/main">
            <a:off x="5286375" y="4457700"/>
            <a:ext cx="133350" cy="1333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3" name="">
            <a:extLst xmlns:a="http://schemas.openxmlformats.org/drawingml/2006/main">
              <a:ext uri="{FF2B5EF4-FFF2-40B4-BE49-F238E27FC236}">
                <a16:creationId xmlns:a16="http://schemas.microsoft.com/office/drawing/2014/main" id="{B30D9D94-2931-4F2D-91CB-33A574EBD6E3}"/>
              </a:ext>
            </a:extLst>
          </p:cNvPr>
          <p:cNvSpPr>
            <a:spLocks xmlns:a="http://schemas.openxmlformats.org/drawingml/2006/main" noGrp="1"/>
          </p:cNvSpPr>
          <p:nvPr/>
        </p:nvSpPr>
        <p:spPr>
          <a:xfrm xmlns:a="http://schemas.openxmlformats.org/drawingml/2006/main">
            <a:off x="5286375" y="476250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Rendered prompts</a:t>
            </a:r>
          </a:p>
        </p:txBody>
      </p:sp>
      <p:sp>
        <p:nvSpPr>
          <p:cNvPr id="44" name="">
            <a:extLst xmlns:a="http://schemas.openxmlformats.org/drawingml/2006/main">
              <a:ext uri="{FF2B5EF4-FFF2-40B4-BE49-F238E27FC236}">
                <a16:creationId xmlns:a16="http://schemas.microsoft.com/office/drawing/2014/main" id="{1E07B443-2A6B-448D-9063-8102E5DCCB6E}"/>
              </a:ext>
            </a:extLst>
          </p:cNvPr>
          <p:cNvSpPr>
            <a:spLocks xmlns:a="http://schemas.openxmlformats.org/drawingml/2006/main" noGrp="1"/>
          </p:cNvSpPr>
          <p:nvPr/>
        </p:nvSpPr>
        <p:spPr>
          <a:xfrm xmlns:a="http://schemas.openxmlformats.org/drawingml/2006/main">
            <a:off x="6915150" y="4457700"/>
            <a:ext cx="133350" cy="1333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5" name="">
            <a:extLst xmlns:a="http://schemas.openxmlformats.org/drawingml/2006/main">
              <a:ext uri="{FF2B5EF4-FFF2-40B4-BE49-F238E27FC236}">
                <a16:creationId xmlns:a16="http://schemas.microsoft.com/office/drawing/2014/main" id="{C3330D6B-A40A-4104-9DAF-FACEA23478C3}"/>
              </a:ext>
            </a:extLst>
          </p:cNvPr>
          <p:cNvSpPr>
            <a:spLocks xmlns:a="http://schemas.openxmlformats.org/drawingml/2006/main" noGrp="1"/>
          </p:cNvSpPr>
          <p:nvPr/>
        </p:nvSpPr>
        <p:spPr>
          <a:xfrm xmlns:a="http://schemas.openxmlformats.org/drawingml/2006/main">
            <a:off x="6915150" y="476250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Retrieved IDs</a:t>
            </a:r>
          </a:p>
        </p:txBody>
      </p:sp>
      <p:sp>
        <p:nvSpPr>
          <p:cNvPr id="46" name="">
            <a:extLst xmlns:a="http://schemas.openxmlformats.org/drawingml/2006/main">
              <a:ext uri="{FF2B5EF4-FFF2-40B4-BE49-F238E27FC236}">
                <a16:creationId xmlns:a16="http://schemas.microsoft.com/office/drawing/2014/main" id="{056CF925-E823-4B00-B240-29AD4031D010}"/>
              </a:ext>
            </a:extLst>
          </p:cNvPr>
          <p:cNvSpPr>
            <a:spLocks xmlns:a="http://schemas.openxmlformats.org/drawingml/2006/main" noGrp="1"/>
          </p:cNvSpPr>
          <p:nvPr/>
        </p:nvSpPr>
        <p:spPr>
          <a:xfrm xmlns:a="http://schemas.openxmlformats.org/drawingml/2006/main">
            <a:off x="8543925" y="4457700"/>
            <a:ext cx="133350" cy="133350"/>
          </a:xfrm>
          <a:prstGeom xmlns:a="http://schemas.openxmlformats.org/drawingml/2006/main" prst="ellipse">
            <a:avLst/>
          </a:prstGeom>
          <a:solidFill xmlns:a="http://schemas.openxmlformats.org/drawingml/2006/main">
            <a:srgbClr val="0F9D8A"/>
          </a:solidFill>
          <a:ln xmlns:a="http://schemas.openxmlformats.org/drawingml/2006/main" w="0">
            <a:solidFill>
              <a:srgbClr val="0F9D8A"/>
            </a:solidFill>
            <a:prstDash val="solid"/>
          </a:ln>
        </p:spPr>
      </p:sp>
      <p:sp>
        <p:nvSpPr>
          <p:cNvPr id="47" name="">
            <a:extLst xmlns:a="http://schemas.openxmlformats.org/drawingml/2006/main">
              <a:ext uri="{FF2B5EF4-FFF2-40B4-BE49-F238E27FC236}">
                <a16:creationId xmlns:a16="http://schemas.microsoft.com/office/drawing/2014/main" id="{DB8F8978-3057-46B0-8F21-1CE47BA06526}"/>
              </a:ext>
            </a:extLst>
          </p:cNvPr>
          <p:cNvSpPr>
            <a:spLocks xmlns:a="http://schemas.openxmlformats.org/drawingml/2006/main" noGrp="1"/>
          </p:cNvSpPr>
          <p:nvPr/>
        </p:nvSpPr>
        <p:spPr>
          <a:xfrm xmlns:a="http://schemas.openxmlformats.org/drawingml/2006/main">
            <a:off x="8543925" y="476250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Row-level scores</a:t>
            </a:r>
          </a:p>
        </p:txBody>
      </p:sp>
      <p:sp>
        <p:nvSpPr>
          <p:cNvPr id="48" name="">
            <a:extLst xmlns:a="http://schemas.openxmlformats.org/drawingml/2006/main">
              <a:ext uri="{FF2B5EF4-FFF2-40B4-BE49-F238E27FC236}">
                <a16:creationId xmlns:a16="http://schemas.microsoft.com/office/drawing/2014/main" id="{DAF96701-88A9-4B51-8D82-ECCCD765A6F6}"/>
              </a:ext>
            </a:extLst>
          </p:cNvPr>
          <p:cNvSpPr>
            <a:spLocks xmlns:a="http://schemas.openxmlformats.org/drawingml/2006/main" noGrp="1"/>
          </p:cNvSpPr>
          <p:nvPr/>
        </p:nvSpPr>
        <p:spPr>
          <a:xfrm xmlns:a="http://schemas.openxmlformats.org/drawingml/2006/main">
            <a:off x="10172700" y="4457700"/>
            <a:ext cx="133350" cy="133350"/>
          </a:xfrm>
          <a:prstGeom xmlns:a="http://schemas.openxmlformats.org/drawingml/2006/main" prst="ellipse">
            <a:avLst/>
          </a:prstGeom>
          <a:solidFill xmlns:a="http://schemas.openxmlformats.org/drawingml/2006/main">
            <a:srgbClr val="0F9D8A"/>
          </a:solidFill>
          <a:ln xmlns:a="http://schemas.openxmlformats.org/drawingml/2006/main" w="0">
            <a:solidFill>
              <a:srgbClr val="0F9D8A"/>
            </a:solidFill>
            <a:prstDash val="solid"/>
          </a:ln>
        </p:spPr>
      </p:sp>
      <p:sp>
        <p:nvSpPr>
          <p:cNvPr id="49" name="">
            <a:extLst xmlns:a="http://schemas.openxmlformats.org/drawingml/2006/main">
              <a:ext uri="{FF2B5EF4-FFF2-40B4-BE49-F238E27FC236}">
                <a16:creationId xmlns:a16="http://schemas.microsoft.com/office/drawing/2014/main" id="{55E628D0-D7A0-422B-A7FB-209EC942D656}"/>
              </a:ext>
            </a:extLst>
          </p:cNvPr>
          <p:cNvSpPr>
            <a:spLocks xmlns:a="http://schemas.openxmlformats.org/drawingml/2006/main" noGrp="1"/>
          </p:cNvSpPr>
          <p:nvPr/>
        </p:nvSpPr>
        <p:spPr>
          <a:xfrm xmlns:a="http://schemas.openxmlformats.org/drawingml/2006/main">
            <a:off x="10172700" y="476250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Warm / cold timing</a:t>
            </a:r>
          </a:p>
        </p:txBody>
      </p:sp>
      <p:sp>
        <p:nvSpPr>
          <p:cNvPr id="50" name="">
            <a:extLst xmlns:a="http://schemas.openxmlformats.org/drawingml/2006/main">
              <a:ext uri="{FF2B5EF4-FFF2-40B4-BE49-F238E27FC236}">
                <a16:creationId xmlns:a16="http://schemas.microsoft.com/office/drawing/2014/main" id="{91F104A4-450A-45B4-A6F5-6AEA541D7E85}"/>
              </a:ext>
            </a:extLst>
          </p:cNvPr>
          <p:cNvSpPr>
            <a:spLocks xmlns:a="http://schemas.openxmlformats.org/drawingml/2006/main" noGrp="1"/>
          </p:cNvSpPr>
          <p:nvPr/>
        </p:nvSpPr>
        <p:spPr>
          <a:xfrm xmlns:a="http://schemas.openxmlformats.org/drawingml/2006/main">
            <a:off x="400050" y="5429250"/>
            <a:ext cx="11391900" cy="571500"/>
          </a:xfrm>
          <a:prstGeom xmlns:a="http://schemas.openxmlformats.org/drawingml/2006/main" prst="roundRect">
            <a:avLst>
              <a:gd name="adj" fmla="val 13333"/>
            </a:avLst>
          </a:prstGeom>
          <a:solidFill xmlns:a="http://schemas.openxmlformats.org/drawingml/2006/main">
            <a:srgbClr val="0B1220"/>
          </a:solidFill>
          <a:ln xmlns:a="http://schemas.openxmlformats.org/drawingml/2006/main" w="0">
            <a:solidFill>
              <a:srgbClr val="0B1220"/>
            </a:solidFill>
            <a:prstDash val="solid"/>
          </a:ln>
        </p:spPr>
      </p:sp>
      <p:sp>
        <p:nvSpPr>
          <p:cNvPr id="51" name="">
            <a:extLst xmlns:a="http://schemas.openxmlformats.org/drawingml/2006/main">
              <a:ext uri="{FF2B5EF4-FFF2-40B4-BE49-F238E27FC236}">
                <a16:creationId xmlns:a16="http://schemas.microsoft.com/office/drawing/2014/main" id="{9C8ADD2A-994E-4A40-9C71-611492839D46}"/>
              </a:ext>
            </a:extLst>
          </p:cNvPr>
          <p:cNvSpPr>
            <a:spLocks xmlns:a="http://schemas.openxmlformats.org/drawingml/2006/main" noGrp="1"/>
          </p:cNvSpPr>
          <p:nvPr/>
        </p:nvSpPr>
        <p:spPr>
          <a:xfrm xmlns:a="http://schemas.openxmlformats.org/drawingml/2006/main">
            <a:off x="609600" y="5600700"/>
            <a:ext cx="1619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0A5FA"/>
                </a:solidFill>
                <a:latin typeface="Aptos"/>
                <a:ea typeface="Aptos"/>
                <a:cs typeface="Aptos"/>
              </a:defRPr>
            </a:pPr>
            <a:r>
              <a:t>Debugging outcome</a:t>
            </a:r>
          </a:p>
        </p:txBody>
      </p:sp>
      <p:sp>
        <p:nvSpPr>
          <p:cNvPr id="52" name="">
            <a:extLst xmlns:a="http://schemas.openxmlformats.org/drawingml/2006/main">
              <a:ext uri="{FF2B5EF4-FFF2-40B4-BE49-F238E27FC236}">
                <a16:creationId xmlns:a16="http://schemas.microsoft.com/office/drawing/2014/main" id="{533C13DB-0234-459E-80AA-CA030EF8D9E2}"/>
              </a:ext>
            </a:extLst>
          </p:cNvPr>
          <p:cNvSpPr>
            <a:spLocks xmlns:a="http://schemas.openxmlformats.org/drawingml/2006/main" noGrp="1"/>
          </p:cNvSpPr>
          <p:nvPr/>
        </p:nvSpPr>
        <p:spPr>
          <a:xfrm xmlns:a="http://schemas.openxmlformats.org/drawingml/2006/main">
            <a:off x="2228850" y="5572125"/>
            <a:ext cx="9258300" cy="304800"/>
          </a:xfrm>
          <a:prstGeom xmlns:a="http://schemas.openxmlformats.org/drawingml/2006/main" prst="rect">
            <a:avLst/>
          </a:prstGeom>
        </p:spPr>
        <p:txBody>
          <a:bodyPr xmlns:a="http://schemas.openxmlformats.org/drawingml/2006/main" wrap="square" lIns="0" tIns="0" rIns="0" bIns="0" anchor="t">
            <a:normAutofit fontScale="88086"/>
          </a:bodyPr>
          <a:lstStyle xmlns:a="http://schemas.openxmlformats.org/drawingml/2006/main"/>
          <a:p xmlns:a="http://schemas.openxmlformats.org/drawingml/2006/main">
            <a:pPr algn="l">
              <a:defRPr sz="1350" b="0">
                <a:solidFill>
                  <a:srgbClr val="FFFFFF"/>
                </a:solidFill>
                <a:latin typeface="Aptos"/>
                <a:ea typeface="Aptos"/>
                <a:cs typeface="Aptos"/>
              </a:defRPr>
            </a:pPr>
            <a:r>
              <a:t>An 8,192-token Judge overflow was isolated before output; the same checkpoint resumed at 16,384 tokens with zero failed-batch rows retained.</a:t>
            </a:r>
          </a:p>
        </p:txBody>
      </p:sp>
    </p:spTree>
    <p:extLst>
      <p:ext uri="{BB962C8B-B14F-4D97-AF65-F5344CB8AC3E}">
        <p14:creationId xmlns:p14="http://schemas.microsoft.com/office/powerpoint/2010/main" val="122505116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83CCA074-26C0-4923-8BC6-7399F59CC5C0}"/>
              </a:ext>
            </a:extLst>
          </p:cNvPr>
          <p:cNvSpPr>
            <a:spLocks xmlns:a="http://schemas.openxmlformats.org/drawingml/2006/main" noGrp="1"/>
          </p:cNvSpPr>
          <p:nvPr/>
        </p:nvSpPr>
        <p:spPr>
          <a:xfrm xmlns:a="http://schemas.openxmlformats.org/drawingml/2006/main">
            <a:off x="400050" y="228600"/>
            <a:ext cx="4953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563EB"/>
                </a:solidFill>
                <a:latin typeface="Aptos"/>
                <a:ea typeface="Aptos"/>
                <a:cs typeface="Aptos"/>
              </a:defRPr>
            </a:pPr>
            <a:r>
              <a:t>PHASE C · WEEK 5–6</a:t>
            </a:r>
          </a:p>
        </p:txBody>
      </p:sp>
      <p:sp>
        <p:nvSpPr>
          <p:cNvPr id="2" name="">
            <a:extLst xmlns:a="http://schemas.openxmlformats.org/drawingml/2006/main">
              <a:ext uri="{FF2B5EF4-FFF2-40B4-BE49-F238E27FC236}">
                <a16:creationId xmlns:a16="http://schemas.microsoft.com/office/drawing/2014/main" id="{48BB7C3F-6D34-4729-B57D-251C592C430C}"/>
              </a:ext>
            </a:extLst>
          </p:cNvPr>
          <p:cNvSpPr>
            <a:spLocks xmlns:a="http://schemas.openxmlformats.org/drawingml/2006/main" noGrp="1"/>
          </p:cNvSpPr>
          <p:nvPr/>
        </p:nvSpPr>
        <p:spPr>
          <a:xfrm xmlns:a="http://schemas.openxmlformats.org/drawingml/2006/main">
            <a:off x="400050" y="504825"/>
            <a:ext cx="11144250" cy="590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111827"/>
                </a:solidFill>
                <a:latin typeface="Aptos"/>
                <a:ea typeface="Aptos"/>
                <a:cs typeface="Aptos"/>
              </a:defRPr>
            </a:pPr>
            <a:r>
              <a:t>Three cells survived the Pareto test</a:t>
            </a:r>
          </a:p>
        </p:txBody>
      </p:sp>
      <p:cxnSp>
        <p:nvCxnSpPr>
          <p:cNvPr id="67"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D7DCE3"/>
            </a:solidFill>
            <a:prstDash val="solid"/>
          </a:ln>
        </p:spPr>
      </p:cxnSp>
      <p:sp>
        <p:nvSpPr>
          <p:cNvPr id="4" name="">
            <a:extLst xmlns:a="http://schemas.openxmlformats.org/drawingml/2006/main">
              <a:ext uri="{FF2B5EF4-FFF2-40B4-BE49-F238E27FC236}">
                <a16:creationId xmlns:a16="http://schemas.microsoft.com/office/drawing/2014/main" id="{FC452D93-F537-42E4-9AC5-71B6814E1437}"/>
              </a:ext>
            </a:extLst>
          </p:cNvPr>
          <p:cNvSpPr>
            <a:spLocks xmlns:a="http://schemas.openxmlformats.org/drawingml/2006/main" noGrp="1"/>
          </p:cNvSpPr>
          <p:nvPr/>
        </p:nvSpPr>
        <p:spPr>
          <a:xfrm xmlns:a="http://schemas.openxmlformats.org/drawingml/2006/main">
            <a:off x="11277600" y="6381750"/>
            <a:ext cx="4953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A93A2"/>
                </a:solidFill>
                <a:latin typeface="Aptos"/>
                <a:ea typeface="Aptos"/>
                <a:cs typeface="Aptos"/>
              </a:defRPr>
            </a:pPr>
            <a:r>
              <a:t>05</a:t>
            </a:r>
          </a:p>
        </p:txBody>
      </p:sp>
      <p:sp>
        <p:nvSpPr>
          <p:cNvPr id="5" name="">
            <a:extLst xmlns:a="http://schemas.openxmlformats.org/drawingml/2006/main">
              <a:ext uri="{FF2B5EF4-FFF2-40B4-BE49-F238E27FC236}">
                <a16:creationId xmlns:a16="http://schemas.microsoft.com/office/drawing/2014/main" id="{15450469-1EDE-4F3E-B010-CD651E1704BB}"/>
              </a:ext>
            </a:extLst>
          </p:cNvPr>
          <p:cNvSpPr>
            <a:spLocks xmlns:a="http://schemas.openxmlformats.org/drawingml/2006/main" noGrp="1"/>
          </p:cNvSpPr>
          <p:nvPr/>
        </p:nvSpPr>
        <p:spPr>
          <a:xfrm xmlns:a="http://schemas.openxmlformats.org/drawingml/2006/main">
            <a:off x="400050" y="1524000"/>
            <a:ext cx="66675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D7DCE3"/>
            </a:solidFill>
            <a:prstDash val="solid"/>
          </a:ln>
        </p:spPr>
      </p:sp>
      <p:cxnSp>
        <p:nvCxnSpPr>
          <p:cNvPr id="70" name=""/>
          <p:cNvCxnSpPr/>
          <p:nvPr/>
        </p:nvCxnSpPr>
        <p:spPr>
          <a:xfrm xmlns:a="http://schemas.openxmlformats.org/drawingml/2006/main">
            <a:off x="1028700" y="4876800"/>
            <a:ext cx="5715000" cy="95"/>
          </a:xfrm>
          <a:prstGeom xmlns:a="http://schemas.openxmlformats.org/drawingml/2006/main" prst="straightConnector1">
            <a:avLst/>
          </a:prstGeom>
          <a:ln xmlns:a="http://schemas.openxmlformats.org/drawingml/2006/main" w="14288">
            <a:solidFill>
              <a:srgbClr val="8A93A2"/>
            </a:solidFill>
            <a:prstDash val="solid"/>
          </a:ln>
        </p:spPr>
      </p:cxnSp>
      <p:cxnSp>
        <p:nvCxnSpPr>
          <p:cNvPr id="71" name=""/>
          <p:cNvCxnSpPr/>
          <p:nvPr/>
        </p:nvCxnSpPr>
        <p:spPr>
          <a:xfrm xmlns:a="http://schemas.openxmlformats.org/drawingml/2006/main">
            <a:off x="1028700" y="1866900"/>
            <a:ext cx="95" cy="3009900"/>
          </a:xfrm>
          <a:prstGeom xmlns:a="http://schemas.openxmlformats.org/drawingml/2006/main" prst="straightConnector1">
            <a:avLst/>
          </a:prstGeom>
          <a:ln xmlns:a="http://schemas.openxmlformats.org/drawingml/2006/main" w="14288">
            <a:solidFill>
              <a:srgbClr val="8A93A2"/>
            </a:solidFill>
            <a:prstDash val="solid"/>
          </a:ln>
        </p:spPr>
      </p:cxnSp>
      <p:cxnSp>
        <p:nvCxnSpPr>
          <p:cNvPr id="72" name=""/>
          <p:cNvCxnSpPr/>
          <p:nvPr/>
        </p:nvCxnSpPr>
        <p:spPr>
          <a:xfrm xmlns:a="http://schemas.openxmlformats.org/drawingml/2006/main">
            <a:off x="1371600" y="1866900"/>
            <a:ext cx="95" cy="3009900"/>
          </a:xfrm>
          <a:prstGeom xmlns:a="http://schemas.openxmlformats.org/drawingml/2006/main" prst="straightConnector1">
            <a:avLst/>
          </a:prstGeom>
          <a:ln xmlns:a="http://schemas.openxmlformats.org/drawingml/2006/main" w="9525">
            <a:solidFill>
              <a:srgbClr val="D7DCE3"/>
            </a:solidFill>
            <a:prstDash val="solid"/>
          </a:ln>
        </p:spPr>
      </p:cxnSp>
      <p:sp>
        <p:nvSpPr>
          <p:cNvPr id="9" name="">
            <a:extLst xmlns:a="http://schemas.openxmlformats.org/drawingml/2006/main">
              <a:ext uri="{FF2B5EF4-FFF2-40B4-BE49-F238E27FC236}">
                <a16:creationId xmlns:a16="http://schemas.microsoft.com/office/drawing/2014/main" id="{E852411D-DA6B-4C07-A9EB-14D24E86136B}"/>
              </a:ext>
            </a:extLst>
          </p:cNvPr>
          <p:cNvSpPr>
            <a:spLocks xmlns:a="http://schemas.openxmlformats.org/drawingml/2006/main" noGrp="1"/>
          </p:cNvSpPr>
          <p:nvPr/>
        </p:nvSpPr>
        <p:spPr>
          <a:xfrm xmlns:a="http://schemas.openxmlformats.org/drawingml/2006/main">
            <a:off x="1143000" y="49720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6.5s</a:t>
            </a:r>
          </a:p>
        </p:txBody>
      </p:sp>
      <p:cxnSp>
        <p:nvCxnSpPr>
          <p:cNvPr id="74" name=""/>
          <p:cNvCxnSpPr/>
          <p:nvPr/>
        </p:nvCxnSpPr>
        <p:spPr>
          <a:xfrm xmlns:a="http://schemas.openxmlformats.org/drawingml/2006/main">
            <a:off x="3086100" y="1866900"/>
            <a:ext cx="95" cy="3009900"/>
          </a:xfrm>
          <a:prstGeom xmlns:a="http://schemas.openxmlformats.org/drawingml/2006/main" prst="straightConnector1">
            <a:avLst/>
          </a:prstGeom>
          <a:ln xmlns:a="http://schemas.openxmlformats.org/drawingml/2006/main" w="9525">
            <a:solidFill>
              <a:srgbClr val="D7DCE3"/>
            </a:solidFill>
            <a:prstDash val="solid"/>
          </a:ln>
        </p:spPr>
      </p:cxnSp>
      <p:sp>
        <p:nvSpPr>
          <p:cNvPr id="11" name="">
            <a:extLst xmlns:a="http://schemas.openxmlformats.org/drawingml/2006/main">
              <a:ext uri="{FF2B5EF4-FFF2-40B4-BE49-F238E27FC236}">
                <a16:creationId xmlns:a16="http://schemas.microsoft.com/office/drawing/2014/main" id="{406920D3-0805-4878-B93B-29B623C5BA6E}"/>
              </a:ext>
            </a:extLst>
          </p:cNvPr>
          <p:cNvSpPr>
            <a:spLocks xmlns:a="http://schemas.openxmlformats.org/drawingml/2006/main" noGrp="1"/>
          </p:cNvSpPr>
          <p:nvPr/>
        </p:nvSpPr>
        <p:spPr>
          <a:xfrm xmlns:a="http://schemas.openxmlformats.org/drawingml/2006/main">
            <a:off x="2857500" y="49720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8.0s</a:t>
            </a:r>
          </a:p>
        </p:txBody>
      </p:sp>
      <p:cxnSp>
        <p:nvCxnSpPr>
          <p:cNvPr id="76" name=""/>
          <p:cNvCxnSpPr/>
          <p:nvPr/>
        </p:nvCxnSpPr>
        <p:spPr>
          <a:xfrm xmlns:a="http://schemas.openxmlformats.org/drawingml/2006/main">
            <a:off x="4800600" y="1866900"/>
            <a:ext cx="95" cy="3009900"/>
          </a:xfrm>
          <a:prstGeom xmlns:a="http://schemas.openxmlformats.org/drawingml/2006/main" prst="straightConnector1">
            <a:avLst/>
          </a:prstGeom>
          <a:ln xmlns:a="http://schemas.openxmlformats.org/drawingml/2006/main" w="9525">
            <a:solidFill>
              <a:srgbClr val="D7DCE3"/>
            </a:solidFill>
            <a:prstDash val="solid"/>
          </a:ln>
        </p:spPr>
      </p:cxnSp>
      <p:sp>
        <p:nvSpPr>
          <p:cNvPr id="13" name="">
            <a:extLst xmlns:a="http://schemas.openxmlformats.org/drawingml/2006/main">
              <a:ext uri="{FF2B5EF4-FFF2-40B4-BE49-F238E27FC236}">
                <a16:creationId xmlns:a16="http://schemas.microsoft.com/office/drawing/2014/main" id="{12737F80-DE60-4051-93FA-825D5D3FAA99}"/>
              </a:ext>
            </a:extLst>
          </p:cNvPr>
          <p:cNvSpPr>
            <a:spLocks xmlns:a="http://schemas.openxmlformats.org/drawingml/2006/main" noGrp="1"/>
          </p:cNvSpPr>
          <p:nvPr/>
        </p:nvSpPr>
        <p:spPr>
          <a:xfrm xmlns:a="http://schemas.openxmlformats.org/drawingml/2006/main">
            <a:off x="4572000" y="49720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9.5s</a:t>
            </a:r>
          </a:p>
        </p:txBody>
      </p:sp>
      <p:cxnSp>
        <p:nvCxnSpPr>
          <p:cNvPr id="78" name=""/>
          <p:cNvCxnSpPr/>
          <p:nvPr/>
        </p:nvCxnSpPr>
        <p:spPr>
          <a:xfrm xmlns:a="http://schemas.openxmlformats.org/drawingml/2006/main">
            <a:off x="6515100" y="1866900"/>
            <a:ext cx="95" cy="3009900"/>
          </a:xfrm>
          <a:prstGeom xmlns:a="http://schemas.openxmlformats.org/drawingml/2006/main" prst="straightConnector1">
            <a:avLst/>
          </a:prstGeom>
          <a:ln xmlns:a="http://schemas.openxmlformats.org/drawingml/2006/main" w="9525">
            <a:solidFill>
              <a:srgbClr val="D7DCE3"/>
            </a:solidFill>
            <a:prstDash val="solid"/>
          </a:ln>
        </p:spPr>
      </p:cxnSp>
      <p:sp>
        <p:nvSpPr>
          <p:cNvPr id="15" name="">
            <a:extLst xmlns:a="http://schemas.openxmlformats.org/drawingml/2006/main">
              <a:ext uri="{FF2B5EF4-FFF2-40B4-BE49-F238E27FC236}">
                <a16:creationId xmlns:a16="http://schemas.microsoft.com/office/drawing/2014/main" id="{543F8854-AB9E-4099-8DAC-688A28DB56C5}"/>
              </a:ext>
            </a:extLst>
          </p:cNvPr>
          <p:cNvSpPr>
            <a:spLocks xmlns:a="http://schemas.openxmlformats.org/drawingml/2006/main" noGrp="1"/>
          </p:cNvSpPr>
          <p:nvPr/>
        </p:nvSpPr>
        <p:spPr>
          <a:xfrm xmlns:a="http://schemas.openxmlformats.org/drawingml/2006/main">
            <a:off x="6286500" y="49720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11.0s</a:t>
            </a:r>
          </a:p>
        </p:txBody>
      </p:sp>
      <p:cxnSp>
        <p:nvCxnSpPr>
          <p:cNvPr id="80" name=""/>
          <p:cNvCxnSpPr/>
          <p:nvPr/>
        </p:nvCxnSpPr>
        <p:spPr>
          <a:xfrm xmlns:a="http://schemas.openxmlformats.org/drawingml/2006/main">
            <a:off x="1028700" y="4500562"/>
            <a:ext cx="5715000" cy="95"/>
          </a:xfrm>
          <a:prstGeom xmlns:a="http://schemas.openxmlformats.org/drawingml/2006/main" prst="straightConnector1">
            <a:avLst/>
          </a:prstGeom>
          <a:ln xmlns:a="http://schemas.openxmlformats.org/drawingml/2006/main" w="9525">
            <a:solidFill>
              <a:srgbClr val="D7DCE3"/>
            </a:solidFill>
            <a:prstDash val="solid"/>
          </a:ln>
        </p:spPr>
      </p:cxnSp>
      <p:sp>
        <p:nvSpPr>
          <p:cNvPr id="17" name="">
            <a:extLst xmlns:a="http://schemas.openxmlformats.org/drawingml/2006/main">
              <a:ext uri="{FF2B5EF4-FFF2-40B4-BE49-F238E27FC236}">
                <a16:creationId xmlns:a16="http://schemas.microsoft.com/office/drawing/2014/main" id="{9AF3730E-7E1F-458E-BD3C-40BCCB29C6B5}"/>
              </a:ext>
            </a:extLst>
          </p:cNvPr>
          <p:cNvSpPr>
            <a:spLocks xmlns:a="http://schemas.openxmlformats.org/drawingml/2006/main" noGrp="1"/>
          </p:cNvSpPr>
          <p:nvPr/>
        </p:nvSpPr>
        <p:spPr>
          <a:xfrm xmlns:a="http://schemas.openxmlformats.org/drawingml/2006/main">
            <a:off x="514350" y="4424362"/>
            <a:ext cx="4191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8A93A2"/>
                </a:solidFill>
                <a:latin typeface="Aptos"/>
                <a:ea typeface="Aptos"/>
                <a:cs typeface="Aptos"/>
              </a:defRPr>
            </a:pPr>
            <a:r>
              <a:t>0.75</a:t>
            </a:r>
          </a:p>
        </p:txBody>
      </p:sp>
      <p:cxnSp>
        <p:nvCxnSpPr>
          <p:cNvPr id="82" name=""/>
          <p:cNvCxnSpPr/>
          <p:nvPr/>
        </p:nvCxnSpPr>
        <p:spPr>
          <a:xfrm xmlns:a="http://schemas.openxmlformats.org/drawingml/2006/main">
            <a:off x="1028700" y="3246438"/>
            <a:ext cx="5715000" cy="95"/>
          </a:xfrm>
          <a:prstGeom xmlns:a="http://schemas.openxmlformats.org/drawingml/2006/main" prst="straightConnector1">
            <a:avLst/>
          </a:prstGeom>
          <a:ln xmlns:a="http://schemas.openxmlformats.org/drawingml/2006/main" w="9525">
            <a:solidFill>
              <a:srgbClr val="D7DCE3"/>
            </a:solidFill>
            <a:prstDash val="solid"/>
          </a:ln>
        </p:spPr>
      </p:cxnSp>
      <p:sp>
        <p:nvSpPr>
          <p:cNvPr id="19" name="">
            <a:extLst xmlns:a="http://schemas.openxmlformats.org/drawingml/2006/main">
              <a:ext uri="{FF2B5EF4-FFF2-40B4-BE49-F238E27FC236}">
                <a16:creationId xmlns:a16="http://schemas.microsoft.com/office/drawing/2014/main" id="{0F7BFB4E-0691-4001-9C5D-9C15257B9A30}"/>
              </a:ext>
            </a:extLst>
          </p:cNvPr>
          <p:cNvSpPr>
            <a:spLocks xmlns:a="http://schemas.openxmlformats.org/drawingml/2006/main" noGrp="1"/>
          </p:cNvSpPr>
          <p:nvPr/>
        </p:nvSpPr>
        <p:spPr>
          <a:xfrm xmlns:a="http://schemas.openxmlformats.org/drawingml/2006/main">
            <a:off x="514350" y="3170238"/>
            <a:ext cx="4191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8A93A2"/>
                </a:solidFill>
                <a:latin typeface="Aptos"/>
                <a:ea typeface="Aptos"/>
                <a:cs typeface="Aptos"/>
              </a:defRPr>
            </a:pPr>
            <a:r>
              <a:t>0.85</a:t>
            </a:r>
          </a:p>
        </p:txBody>
      </p:sp>
      <p:cxnSp>
        <p:nvCxnSpPr>
          <p:cNvPr id="84" name=""/>
          <p:cNvCxnSpPr/>
          <p:nvPr/>
        </p:nvCxnSpPr>
        <p:spPr>
          <a:xfrm xmlns:a="http://schemas.openxmlformats.org/drawingml/2006/main">
            <a:off x="1028700" y="1992313"/>
            <a:ext cx="5715000" cy="95"/>
          </a:xfrm>
          <a:prstGeom xmlns:a="http://schemas.openxmlformats.org/drawingml/2006/main" prst="straightConnector1">
            <a:avLst/>
          </a:prstGeom>
          <a:ln xmlns:a="http://schemas.openxmlformats.org/drawingml/2006/main" w="9525">
            <a:solidFill>
              <a:srgbClr val="D7DCE3"/>
            </a:solidFill>
            <a:prstDash val="solid"/>
          </a:ln>
        </p:spPr>
      </p:cxnSp>
      <p:sp>
        <p:nvSpPr>
          <p:cNvPr id="21" name="">
            <a:extLst xmlns:a="http://schemas.openxmlformats.org/drawingml/2006/main">
              <a:ext uri="{FF2B5EF4-FFF2-40B4-BE49-F238E27FC236}">
                <a16:creationId xmlns:a16="http://schemas.microsoft.com/office/drawing/2014/main" id="{6B09B77A-129B-49C9-9A19-587923165A18}"/>
              </a:ext>
            </a:extLst>
          </p:cNvPr>
          <p:cNvSpPr>
            <a:spLocks xmlns:a="http://schemas.openxmlformats.org/drawingml/2006/main" noGrp="1"/>
          </p:cNvSpPr>
          <p:nvPr/>
        </p:nvSpPr>
        <p:spPr>
          <a:xfrm xmlns:a="http://schemas.openxmlformats.org/drawingml/2006/main">
            <a:off x="514350" y="1916113"/>
            <a:ext cx="4191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8A93A2"/>
                </a:solidFill>
                <a:latin typeface="Aptos"/>
                <a:ea typeface="Aptos"/>
                <a:cs typeface="Aptos"/>
              </a:defRPr>
            </a:pPr>
            <a:r>
              <a:t>0.95</a:t>
            </a:r>
          </a:p>
        </p:txBody>
      </p:sp>
      <p:sp>
        <p:nvSpPr>
          <p:cNvPr id="22" name="">
            <a:extLst xmlns:a="http://schemas.openxmlformats.org/drawingml/2006/main">
              <a:ext uri="{FF2B5EF4-FFF2-40B4-BE49-F238E27FC236}">
                <a16:creationId xmlns:a16="http://schemas.microsoft.com/office/drawing/2014/main" id="{B41C124E-4915-4B41-B993-52F0051B40BE}"/>
              </a:ext>
            </a:extLst>
          </p:cNvPr>
          <p:cNvSpPr>
            <a:spLocks xmlns:a="http://schemas.openxmlformats.org/drawingml/2006/main" noGrp="1"/>
          </p:cNvSpPr>
          <p:nvPr/>
        </p:nvSpPr>
        <p:spPr>
          <a:xfrm xmlns:a="http://schemas.openxmlformats.org/drawingml/2006/main">
            <a:off x="2076450" y="5162550"/>
            <a:ext cx="22860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5B6472"/>
                </a:solidFill>
                <a:latin typeface="Aptos"/>
                <a:ea typeface="Aptos"/>
                <a:cs typeface="Aptos"/>
              </a:defRPr>
            </a:pPr>
            <a:r>
              <a:t>Warm-path p50 latency</a:t>
            </a:r>
          </a:p>
        </p:txBody>
      </p:sp>
      <p:sp>
        <p:nvSpPr>
          <p:cNvPr id="23" name="">
            <a:extLst xmlns:a="http://schemas.openxmlformats.org/drawingml/2006/main">
              <a:ext uri="{FF2B5EF4-FFF2-40B4-BE49-F238E27FC236}">
                <a16:creationId xmlns:a16="http://schemas.microsoft.com/office/drawing/2014/main" id="{9CE08FBD-D48E-4654-9756-673BDF051303}"/>
              </a:ext>
            </a:extLst>
          </p:cNvPr>
          <p:cNvSpPr>
            <a:spLocks xmlns:a="http://schemas.openxmlformats.org/drawingml/2006/main" noGrp="1"/>
          </p:cNvSpPr>
          <p:nvPr/>
        </p:nvSpPr>
        <p:spPr>
          <a:xfrm xmlns:a="http://schemas.openxmlformats.org/drawingml/2006/main">
            <a:off x="571500" y="1619250"/>
            <a:ext cx="63246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B6472"/>
                </a:solidFill>
                <a:latin typeface="Aptos"/>
                <a:ea typeface="Aptos"/>
                <a:cs typeface="Aptos"/>
              </a:defRPr>
            </a:pPr>
            <a:r>
              <a:t>Mean quality = (Faithfulness + Coverage) / 2</a:t>
            </a:r>
          </a:p>
        </p:txBody>
      </p:sp>
      <p:sp>
        <p:nvSpPr>
          <p:cNvPr id="24" name="">
            <a:extLst xmlns:a="http://schemas.openxmlformats.org/drawingml/2006/main">
              <a:ext uri="{FF2B5EF4-FFF2-40B4-BE49-F238E27FC236}">
                <a16:creationId xmlns:a16="http://schemas.microsoft.com/office/drawing/2014/main" id="{24F61796-6BA5-4F77-96EA-49D65686309E}"/>
              </a:ext>
            </a:extLst>
          </p:cNvPr>
          <p:cNvSpPr>
            <a:spLocks xmlns:a="http://schemas.openxmlformats.org/drawingml/2006/main" noGrp="1"/>
          </p:cNvSpPr>
          <p:nvPr/>
        </p:nvSpPr>
        <p:spPr>
          <a:xfrm xmlns:a="http://schemas.openxmlformats.org/drawingml/2006/main">
            <a:off x="3882581" y="3252113"/>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25" name="">
            <a:extLst xmlns:a="http://schemas.openxmlformats.org/drawingml/2006/main">
              <a:ext uri="{FF2B5EF4-FFF2-40B4-BE49-F238E27FC236}">
                <a16:creationId xmlns:a16="http://schemas.microsoft.com/office/drawing/2014/main" id="{509E7894-288E-45FF-B728-669C438D1363}"/>
              </a:ext>
            </a:extLst>
          </p:cNvPr>
          <p:cNvSpPr>
            <a:spLocks xmlns:a="http://schemas.openxmlformats.org/drawingml/2006/main" noGrp="1"/>
          </p:cNvSpPr>
          <p:nvPr/>
        </p:nvSpPr>
        <p:spPr>
          <a:xfrm xmlns:a="http://schemas.openxmlformats.org/drawingml/2006/main">
            <a:off x="2661857" y="4999736"/>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26" name="">
            <a:extLst xmlns:a="http://schemas.openxmlformats.org/drawingml/2006/main">
              <a:ext uri="{FF2B5EF4-FFF2-40B4-BE49-F238E27FC236}">
                <a16:creationId xmlns:a16="http://schemas.microsoft.com/office/drawing/2014/main" id="{81E512AF-954C-427D-A4DF-730273A1121F}"/>
              </a:ext>
            </a:extLst>
          </p:cNvPr>
          <p:cNvSpPr>
            <a:spLocks xmlns:a="http://schemas.openxmlformats.org/drawingml/2006/main" noGrp="1"/>
          </p:cNvSpPr>
          <p:nvPr/>
        </p:nvSpPr>
        <p:spPr>
          <a:xfrm xmlns:a="http://schemas.openxmlformats.org/drawingml/2006/main">
            <a:off x="3791331" y="2478334"/>
            <a:ext cx="142875" cy="142875"/>
          </a:xfrm>
          <a:prstGeom xmlns:a="http://schemas.openxmlformats.org/drawingml/2006/main" prst="ellipse">
            <a:avLst/>
          </a:prstGeom>
          <a:solidFill xmlns:a="http://schemas.openxmlformats.org/drawingml/2006/main">
            <a:srgbClr val="2563EB"/>
          </a:solidFill>
          <a:ln xmlns:a="http://schemas.openxmlformats.org/drawingml/2006/main" w="19050">
            <a:solidFill>
              <a:srgbClr val="FFFFFF"/>
            </a:solidFill>
            <a:prstDash val="solid"/>
          </a:ln>
        </p:spPr>
      </p:sp>
      <p:sp>
        <p:nvSpPr>
          <p:cNvPr id="27" name="">
            <a:extLst xmlns:a="http://schemas.openxmlformats.org/drawingml/2006/main">
              <a:ext uri="{FF2B5EF4-FFF2-40B4-BE49-F238E27FC236}">
                <a16:creationId xmlns:a16="http://schemas.microsoft.com/office/drawing/2014/main" id="{A2856074-4381-4283-9632-60AA33122C0D}"/>
              </a:ext>
            </a:extLst>
          </p:cNvPr>
          <p:cNvSpPr>
            <a:spLocks xmlns:a="http://schemas.openxmlformats.org/drawingml/2006/main" noGrp="1"/>
          </p:cNvSpPr>
          <p:nvPr/>
        </p:nvSpPr>
        <p:spPr>
          <a:xfrm xmlns:a="http://schemas.openxmlformats.org/drawingml/2006/main">
            <a:off x="3958019" y="2340221"/>
            <a:ext cx="952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563EB"/>
                </a:solidFill>
                <a:latin typeface="Aptos"/>
                <a:ea typeface="Aptos"/>
                <a:cs typeface="Aptos"/>
              </a:defRPr>
            </a:pPr>
            <a:r>
              <a:t>1024/3/CE</a:t>
            </a:r>
          </a:p>
        </p:txBody>
      </p:sp>
      <p:sp>
        <p:nvSpPr>
          <p:cNvPr id="28" name="">
            <a:extLst xmlns:a="http://schemas.openxmlformats.org/drawingml/2006/main">
              <a:ext uri="{FF2B5EF4-FFF2-40B4-BE49-F238E27FC236}">
                <a16:creationId xmlns:a16="http://schemas.microsoft.com/office/drawing/2014/main" id="{6FF9517D-4135-4CA2-9319-B820FA5B704A}"/>
              </a:ext>
            </a:extLst>
          </p:cNvPr>
          <p:cNvSpPr>
            <a:spLocks xmlns:a="http://schemas.openxmlformats.org/drawingml/2006/main" noGrp="1"/>
          </p:cNvSpPr>
          <p:nvPr/>
        </p:nvSpPr>
        <p:spPr>
          <a:xfrm xmlns:a="http://schemas.openxmlformats.org/drawingml/2006/main">
            <a:off x="3978021" y="3210727"/>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29" name="">
            <a:extLst xmlns:a="http://schemas.openxmlformats.org/drawingml/2006/main">
              <a:ext uri="{FF2B5EF4-FFF2-40B4-BE49-F238E27FC236}">
                <a16:creationId xmlns:a16="http://schemas.microsoft.com/office/drawing/2014/main" id="{3429B3B9-DAEC-4B87-AB53-5BA77F546696}"/>
              </a:ext>
            </a:extLst>
          </p:cNvPr>
          <p:cNvSpPr>
            <a:spLocks xmlns:a="http://schemas.openxmlformats.org/drawingml/2006/main" noGrp="1"/>
          </p:cNvSpPr>
          <p:nvPr/>
        </p:nvSpPr>
        <p:spPr>
          <a:xfrm xmlns:a="http://schemas.openxmlformats.org/drawingml/2006/main">
            <a:off x="6272670" y="2003782"/>
            <a:ext cx="171450" cy="171450"/>
          </a:xfrm>
          <a:prstGeom xmlns:a="http://schemas.openxmlformats.org/drawingml/2006/main" prst="ellipse">
            <a:avLst/>
          </a:prstGeom>
          <a:solidFill xmlns:a="http://schemas.openxmlformats.org/drawingml/2006/main">
            <a:srgbClr val="0B1220"/>
          </a:solidFill>
          <a:ln xmlns:a="http://schemas.openxmlformats.org/drawingml/2006/main" w="19050">
            <a:solidFill>
              <a:srgbClr val="FFFFFF"/>
            </a:solidFill>
            <a:prstDash val="solid"/>
          </a:ln>
        </p:spPr>
      </p:sp>
      <p:sp>
        <p:nvSpPr>
          <p:cNvPr id="30" name="">
            <a:extLst xmlns:a="http://schemas.openxmlformats.org/drawingml/2006/main">
              <a:ext uri="{FF2B5EF4-FFF2-40B4-BE49-F238E27FC236}">
                <a16:creationId xmlns:a16="http://schemas.microsoft.com/office/drawing/2014/main" id="{B8DAEB1B-1D63-4F76-A631-A561B0E7C3E4}"/>
              </a:ext>
            </a:extLst>
          </p:cNvPr>
          <p:cNvSpPr>
            <a:spLocks xmlns:a="http://schemas.openxmlformats.org/drawingml/2006/main" noGrp="1"/>
          </p:cNvSpPr>
          <p:nvPr/>
        </p:nvSpPr>
        <p:spPr>
          <a:xfrm xmlns:a="http://schemas.openxmlformats.org/drawingml/2006/main">
            <a:off x="5482095" y="1879957"/>
            <a:ext cx="952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B1220"/>
                </a:solidFill>
                <a:latin typeface="Aptos"/>
                <a:ea typeface="Aptos"/>
                <a:cs typeface="Aptos"/>
              </a:defRPr>
            </a:pPr>
            <a:r>
              <a:t>1024/5/CE</a:t>
            </a:r>
          </a:p>
        </p:txBody>
      </p:sp>
      <p:sp>
        <p:nvSpPr>
          <p:cNvPr id="31" name="">
            <a:extLst xmlns:a="http://schemas.openxmlformats.org/drawingml/2006/main">
              <a:ext uri="{FF2B5EF4-FFF2-40B4-BE49-F238E27FC236}">
                <a16:creationId xmlns:a16="http://schemas.microsoft.com/office/drawing/2014/main" id="{347CB8D7-A6B0-40CD-B8D6-909E62FAAF62}"/>
              </a:ext>
            </a:extLst>
          </p:cNvPr>
          <p:cNvSpPr>
            <a:spLocks xmlns:a="http://schemas.openxmlformats.org/drawingml/2006/main" noGrp="1"/>
          </p:cNvSpPr>
          <p:nvPr/>
        </p:nvSpPr>
        <p:spPr>
          <a:xfrm xmlns:a="http://schemas.openxmlformats.org/drawingml/2006/main">
            <a:off x="2497150" y="2828846"/>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2" name="">
            <a:extLst xmlns:a="http://schemas.openxmlformats.org/drawingml/2006/main">
              <a:ext uri="{FF2B5EF4-FFF2-40B4-BE49-F238E27FC236}">
                <a16:creationId xmlns:a16="http://schemas.microsoft.com/office/drawing/2014/main" id="{71952E6F-9F61-4AD7-AE7A-61214D286EBB}"/>
              </a:ext>
            </a:extLst>
          </p:cNvPr>
          <p:cNvSpPr>
            <a:spLocks xmlns:a="http://schemas.openxmlformats.org/drawingml/2006/main" noGrp="1"/>
          </p:cNvSpPr>
          <p:nvPr/>
        </p:nvSpPr>
        <p:spPr>
          <a:xfrm xmlns:a="http://schemas.openxmlformats.org/drawingml/2006/main">
            <a:off x="1878330" y="3000661"/>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3" name="">
            <a:extLst xmlns:a="http://schemas.openxmlformats.org/drawingml/2006/main">
              <a:ext uri="{FF2B5EF4-FFF2-40B4-BE49-F238E27FC236}">
                <a16:creationId xmlns:a16="http://schemas.microsoft.com/office/drawing/2014/main" id="{308E9FAC-95E4-4549-A2F3-69DB0F436668}"/>
              </a:ext>
            </a:extLst>
          </p:cNvPr>
          <p:cNvSpPr>
            <a:spLocks xmlns:a="http://schemas.openxmlformats.org/drawingml/2006/main" noGrp="1"/>
          </p:cNvSpPr>
          <p:nvPr/>
        </p:nvSpPr>
        <p:spPr>
          <a:xfrm xmlns:a="http://schemas.openxmlformats.org/drawingml/2006/main">
            <a:off x="2983040" y="4139406"/>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4" name="">
            <a:extLst xmlns:a="http://schemas.openxmlformats.org/drawingml/2006/main">
              <a:ext uri="{FF2B5EF4-FFF2-40B4-BE49-F238E27FC236}">
                <a16:creationId xmlns:a16="http://schemas.microsoft.com/office/drawing/2014/main" id="{450F9AD4-CF1D-4A7C-97AA-AEA538760A11}"/>
              </a:ext>
            </a:extLst>
          </p:cNvPr>
          <p:cNvSpPr>
            <a:spLocks xmlns:a="http://schemas.openxmlformats.org/drawingml/2006/main" noGrp="1"/>
          </p:cNvSpPr>
          <p:nvPr/>
        </p:nvSpPr>
        <p:spPr>
          <a:xfrm xmlns:a="http://schemas.openxmlformats.org/drawingml/2006/main">
            <a:off x="2600820" y="2472674"/>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5" name="">
            <a:extLst xmlns:a="http://schemas.openxmlformats.org/drawingml/2006/main">
              <a:ext uri="{FF2B5EF4-FFF2-40B4-BE49-F238E27FC236}">
                <a16:creationId xmlns:a16="http://schemas.microsoft.com/office/drawing/2014/main" id="{301F030E-50DD-4B59-ACDF-731B689597E0}"/>
              </a:ext>
            </a:extLst>
          </p:cNvPr>
          <p:cNvSpPr>
            <a:spLocks xmlns:a="http://schemas.openxmlformats.org/drawingml/2006/main" noGrp="1"/>
          </p:cNvSpPr>
          <p:nvPr/>
        </p:nvSpPr>
        <p:spPr>
          <a:xfrm xmlns:a="http://schemas.openxmlformats.org/drawingml/2006/main">
            <a:off x="2364677" y="2516569"/>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6" name="">
            <a:extLst xmlns:a="http://schemas.openxmlformats.org/drawingml/2006/main">
              <a:ext uri="{FF2B5EF4-FFF2-40B4-BE49-F238E27FC236}">
                <a16:creationId xmlns:a16="http://schemas.microsoft.com/office/drawing/2014/main" id="{28F32770-4C93-4EE8-A397-D41BAC16C905}"/>
              </a:ext>
            </a:extLst>
          </p:cNvPr>
          <p:cNvSpPr>
            <a:spLocks xmlns:a="http://schemas.openxmlformats.org/drawingml/2006/main" noGrp="1"/>
          </p:cNvSpPr>
          <p:nvPr/>
        </p:nvSpPr>
        <p:spPr>
          <a:xfrm xmlns:a="http://schemas.openxmlformats.org/drawingml/2006/main">
            <a:off x="2480462" y="2835116"/>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7" name="">
            <a:extLst xmlns:a="http://schemas.openxmlformats.org/drawingml/2006/main">
              <a:ext uri="{FF2B5EF4-FFF2-40B4-BE49-F238E27FC236}">
                <a16:creationId xmlns:a16="http://schemas.microsoft.com/office/drawing/2014/main" id="{70F36EA9-1478-4C87-9D93-68686244FA4B}"/>
              </a:ext>
            </a:extLst>
          </p:cNvPr>
          <p:cNvSpPr>
            <a:spLocks xmlns:a="http://schemas.openxmlformats.org/drawingml/2006/main" noGrp="1"/>
          </p:cNvSpPr>
          <p:nvPr/>
        </p:nvSpPr>
        <p:spPr>
          <a:xfrm xmlns:a="http://schemas.openxmlformats.org/drawingml/2006/main">
            <a:off x="2266950" y="2434423"/>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8" name="">
            <a:extLst xmlns:a="http://schemas.openxmlformats.org/drawingml/2006/main">
              <a:ext uri="{FF2B5EF4-FFF2-40B4-BE49-F238E27FC236}">
                <a16:creationId xmlns:a16="http://schemas.microsoft.com/office/drawing/2014/main" id="{A330347D-80B0-4B88-9B29-0B543F814482}"/>
              </a:ext>
            </a:extLst>
          </p:cNvPr>
          <p:cNvSpPr>
            <a:spLocks xmlns:a="http://schemas.openxmlformats.org/drawingml/2006/main" noGrp="1"/>
          </p:cNvSpPr>
          <p:nvPr/>
        </p:nvSpPr>
        <p:spPr>
          <a:xfrm xmlns:a="http://schemas.openxmlformats.org/drawingml/2006/main">
            <a:off x="1988172" y="3246469"/>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39" name="">
            <a:extLst xmlns:a="http://schemas.openxmlformats.org/drawingml/2006/main">
              <a:ext uri="{FF2B5EF4-FFF2-40B4-BE49-F238E27FC236}">
                <a16:creationId xmlns:a16="http://schemas.microsoft.com/office/drawing/2014/main" id="{5FA2A66D-6F0F-45A3-B135-0C7C6431CF73}"/>
              </a:ext>
            </a:extLst>
          </p:cNvPr>
          <p:cNvSpPr>
            <a:spLocks xmlns:a="http://schemas.openxmlformats.org/drawingml/2006/main" noGrp="1"/>
          </p:cNvSpPr>
          <p:nvPr/>
        </p:nvSpPr>
        <p:spPr>
          <a:xfrm xmlns:a="http://schemas.openxmlformats.org/drawingml/2006/main">
            <a:off x="1065428" y="3973862"/>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40" name="">
            <a:extLst xmlns:a="http://schemas.openxmlformats.org/drawingml/2006/main">
              <a:ext uri="{FF2B5EF4-FFF2-40B4-BE49-F238E27FC236}">
                <a16:creationId xmlns:a16="http://schemas.microsoft.com/office/drawing/2014/main" id="{9AFD1D9C-F545-4482-B593-03F3822475E9}"/>
              </a:ext>
            </a:extLst>
          </p:cNvPr>
          <p:cNvSpPr>
            <a:spLocks xmlns:a="http://schemas.openxmlformats.org/drawingml/2006/main" noGrp="1"/>
          </p:cNvSpPr>
          <p:nvPr/>
        </p:nvSpPr>
        <p:spPr>
          <a:xfrm xmlns:a="http://schemas.openxmlformats.org/drawingml/2006/main">
            <a:off x="2670772" y="2880892"/>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41" name="">
            <a:extLst xmlns:a="http://schemas.openxmlformats.org/drawingml/2006/main">
              <a:ext uri="{FF2B5EF4-FFF2-40B4-BE49-F238E27FC236}">
                <a16:creationId xmlns:a16="http://schemas.microsoft.com/office/drawing/2014/main" id="{44264BDC-9A0F-4FBA-96C6-A219F63D298D}"/>
              </a:ext>
            </a:extLst>
          </p:cNvPr>
          <p:cNvSpPr>
            <a:spLocks xmlns:a="http://schemas.openxmlformats.org/drawingml/2006/main" noGrp="1"/>
          </p:cNvSpPr>
          <p:nvPr/>
        </p:nvSpPr>
        <p:spPr>
          <a:xfrm xmlns:a="http://schemas.openxmlformats.org/drawingml/2006/main">
            <a:off x="2127390" y="2806898"/>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42" name="">
            <a:extLst xmlns:a="http://schemas.openxmlformats.org/drawingml/2006/main">
              <a:ext uri="{FF2B5EF4-FFF2-40B4-BE49-F238E27FC236}">
                <a16:creationId xmlns:a16="http://schemas.microsoft.com/office/drawing/2014/main" id="{A6446754-C28D-4D3C-A62E-B49B5F4186E5}"/>
              </a:ext>
            </a:extLst>
          </p:cNvPr>
          <p:cNvSpPr>
            <a:spLocks xmlns:a="http://schemas.openxmlformats.org/drawingml/2006/main" noGrp="1"/>
          </p:cNvSpPr>
          <p:nvPr/>
        </p:nvSpPr>
        <p:spPr>
          <a:xfrm xmlns:a="http://schemas.openxmlformats.org/drawingml/2006/main">
            <a:off x="1387259" y="2117146"/>
            <a:ext cx="142875" cy="142875"/>
          </a:xfrm>
          <a:prstGeom xmlns:a="http://schemas.openxmlformats.org/drawingml/2006/main" prst="ellipse">
            <a:avLst/>
          </a:prstGeom>
          <a:solidFill xmlns:a="http://schemas.openxmlformats.org/drawingml/2006/main">
            <a:srgbClr val="2563EB"/>
          </a:solidFill>
          <a:ln xmlns:a="http://schemas.openxmlformats.org/drawingml/2006/main" w="19050">
            <a:solidFill>
              <a:srgbClr val="FFFFFF"/>
            </a:solidFill>
            <a:prstDash val="solid"/>
          </a:ln>
        </p:spPr>
      </p:sp>
      <p:sp>
        <p:nvSpPr>
          <p:cNvPr id="43" name="">
            <a:extLst xmlns:a="http://schemas.openxmlformats.org/drawingml/2006/main">
              <a:ext uri="{FF2B5EF4-FFF2-40B4-BE49-F238E27FC236}">
                <a16:creationId xmlns:a16="http://schemas.microsoft.com/office/drawing/2014/main" id="{7222966C-2EB9-4057-9ABD-876C7FBD7456}"/>
              </a:ext>
            </a:extLst>
          </p:cNvPr>
          <p:cNvSpPr>
            <a:spLocks xmlns:a="http://schemas.openxmlformats.org/drawingml/2006/main" noGrp="1"/>
          </p:cNvSpPr>
          <p:nvPr/>
        </p:nvSpPr>
        <p:spPr>
          <a:xfrm xmlns:a="http://schemas.openxmlformats.org/drawingml/2006/main">
            <a:off x="1553947" y="2283833"/>
            <a:ext cx="952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563EB"/>
                </a:solidFill>
                <a:latin typeface="Aptos"/>
                <a:ea typeface="Aptos"/>
                <a:cs typeface="Aptos"/>
              </a:defRPr>
            </a:pPr>
            <a:r>
              <a:t>512/5/CE</a:t>
            </a:r>
          </a:p>
        </p:txBody>
      </p:sp>
      <p:sp>
        <p:nvSpPr>
          <p:cNvPr id="44" name="">
            <a:extLst xmlns:a="http://schemas.openxmlformats.org/drawingml/2006/main">
              <a:ext uri="{FF2B5EF4-FFF2-40B4-BE49-F238E27FC236}">
                <a16:creationId xmlns:a16="http://schemas.microsoft.com/office/drawing/2014/main" id="{FCB0F110-EAEB-48E7-9A8A-1ED4EBD3EFCA}"/>
              </a:ext>
            </a:extLst>
          </p:cNvPr>
          <p:cNvSpPr>
            <a:spLocks xmlns:a="http://schemas.openxmlformats.org/drawingml/2006/main" noGrp="1"/>
          </p:cNvSpPr>
          <p:nvPr/>
        </p:nvSpPr>
        <p:spPr>
          <a:xfrm xmlns:a="http://schemas.openxmlformats.org/drawingml/2006/main">
            <a:off x="1680020" y="2990001"/>
            <a:ext cx="95250" cy="95250"/>
          </a:xfrm>
          <a:prstGeom xmlns:a="http://schemas.openxmlformats.org/drawingml/2006/main" prst="ellipse">
            <a:avLst/>
          </a:prstGeom>
          <a:solidFill xmlns:a="http://schemas.openxmlformats.org/drawingml/2006/main">
            <a:srgbClr val="BEC5CE"/>
          </a:solidFill>
          <a:ln xmlns:a="http://schemas.openxmlformats.org/drawingml/2006/main" w="0">
            <a:solidFill>
              <a:srgbClr val="FFFFFF"/>
            </a:solidFill>
            <a:prstDash val="solid"/>
          </a:ln>
        </p:spPr>
      </p:sp>
      <p:sp>
        <p:nvSpPr>
          <p:cNvPr id="45" name="">
            <a:extLst xmlns:a="http://schemas.openxmlformats.org/drawingml/2006/main">
              <a:ext uri="{FF2B5EF4-FFF2-40B4-BE49-F238E27FC236}">
                <a16:creationId xmlns:a16="http://schemas.microsoft.com/office/drawing/2014/main" id="{195D4971-1E08-4892-9B32-62D1CC7238AB}"/>
              </a:ext>
            </a:extLst>
          </p:cNvPr>
          <p:cNvSpPr>
            <a:spLocks xmlns:a="http://schemas.openxmlformats.org/drawingml/2006/main" noGrp="1"/>
          </p:cNvSpPr>
          <p:nvPr/>
        </p:nvSpPr>
        <p:spPr>
          <a:xfrm xmlns:a="http://schemas.openxmlformats.org/drawingml/2006/main">
            <a:off x="7391400" y="1524000"/>
            <a:ext cx="4400550" cy="2438400"/>
          </a:xfrm>
          <a:prstGeom xmlns:a="http://schemas.openxmlformats.org/drawingml/2006/main" prst="roundRect">
            <a:avLst>
              <a:gd name="adj" fmla="val 3125"/>
            </a:avLst>
          </a:prstGeom>
          <a:solidFill xmlns:a="http://schemas.openxmlformats.org/drawingml/2006/main">
            <a:srgbClr val="0B1220"/>
          </a:solidFill>
          <a:ln xmlns:a="http://schemas.openxmlformats.org/drawingml/2006/main" w="0">
            <a:solidFill>
              <a:srgbClr val="0B1220"/>
            </a:solidFill>
            <a:prstDash val="solid"/>
          </a:ln>
        </p:spPr>
      </p:sp>
      <p:sp>
        <p:nvSpPr>
          <p:cNvPr id="46" name="">
            <a:extLst xmlns:a="http://schemas.openxmlformats.org/drawingml/2006/main">
              <a:ext uri="{FF2B5EF4-FFF2-40B4-BE49-F238E27FC236}">
                <a16:creationId xmlns:a16="http://schemas.microsoft.com/office/drawing/2014/main" id="{AFDFA8AD-B6CE-47D0-976F-BA9CA3AA64B5}"/>
              </a:ext>
            </a:extLst>
          </p:cNvPr>
          <p:cNvSpPr>
            <a:spLocks xmlns:a="http://schemas.openxmlformats.org/drawingml/2006/main" noGrp="1"/>
          </p:cNvSpPr>
          <p:nvPr/>
        </p:nvSpPr>
        <p:spPr>
          <a:xfrm xmlns:a="http://schemas.openxmlformats.org/drawingml/2006/main">
            <a:off x="7658100" y="1781175"/>
            <a:ext cx="3810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0A5FA"/>
                </a:solidFill>
                <a:latin typeface="Aptos"/>
                <a:ea typeface="Aptos"/>
                <a:cs typeface="Aptos"/>
              </a:defRPr>
            </a:pPr>
            <a:r>
              <a:t>BALANCED DIAGNOSTIC CHOICE</a:t>
            </a:r>
          </a:p>
        </p:txBody>
      </p:sp>
      <p:sp>
        <p:nvSpPr>
          <p:cNvPr id="47" name="">
            <a:extLst xmlns:a="http://schemas.openxmlformats.org/drawingml/2006/main">
              <a:ext uri="{FF2B5EF4-FFF2-40B4-BE49-F238E27FC236}">
                <a16:creationId xmlns:a16="http://schemas.microsoft.com/office/drawing/2014/main" id="{53887405-8E9B-46ED-86C7-8FE8EF6B7C65}"/>
              </a:ext>
            </a:extLst>
          </p:cNvPr>
          <p:cNvSpPr>
            <a:spLocks xmlns:a="http://schemas.openxmlformats.org/drawingml/2006/main" noGrp="1"/>
          </p:cNvSpPr>
          <p:nvPr/>
        </p:nvSpPr>
        <p:spPr>
          <a:xfrm xmlns:a="http://schemas.openxmlformats.org/drawingml/2006/main">
            <a:off x="7658100" y="2152650"/>
            <a:ext cx="3810000" cy="685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Aptos"/>
                <a:ea typeface="Aptos"/>
                <a:cs typeface="Aptos"/>
              </a:defRPr>
            </a:pPr>
            <a:r>
              <a:t>1024-token chunks
top-k 5 · cross-encoder</a:t>
            </a:r>
          </a:p>
        </p:txBody>
      </p:sp>
      <p:sp>
        <p:nvSpPr>
          <p:cNvPr id="48" name="">
            <a:extLst xmlns:a="http://schemas.openxmlformats.org/drawingml/2006/main">
              <a:ext uri="{FF2B5EF4-FFF2-40B4-BE49-F238E27FC236}">
                <a16:creationId xmlns:a16="http://schemas.microsoft.com/office/drawing/2014/main" id="{C586CB4E-D797-4074-B7C2-CEE445D59058}"/>
              </a:ext>
            </a:extLst>
          </p:cNvPr>
          <p:cNvSpPr>
            <a:spLocks xmlns:a="http://schemas.openxmlformats.org/drawingml/2006/main" noGrp="1"/>
          </p:cNvSpPr>
          <p:nvPr/>
        </p:nvSpPr>
        <p:spPr>
          <a:xfrm xmlns:a="http://schemas.openxmlformats.org/drawingml/2006/main">
            <a:off x="7658100" y="3143250"/>
            <a:ext cx="10668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t>0.910</a:t>
            </a:r>
          </a:p>
        </p:txBody>
      </p:sp>
      <p:sp>
        <p:nvSpPr>
          <p:cNvPr id="49" name="">
            <a:extLst xmlns:a="http://schemas.openxmlformats.org/drawingml/2006/main">
              <a:ext uri="{FF2B5EF4-FFF2-40B4-BE49-F238E27FC236}">
                <a16:creationId xmlns:a16="http://schemas.microsoft.com/office/drawing/2014/main" id="{151FF9C7-3CBD-410E-966C-F7B49A03F718}"/>
              </a:ext>
            </a:extLst>
          </p:cNvPr>
          <p:cNvSpPr>
            <a:spLocks xmlns:a="http://schemas.openxmlformats.org/drawingml/2006/main" noGrp="1"/>
          </p:cNvSpPr>
          <p:nvPr/>
        </p:nvSpPr>
        <p:spPr>
          <a:xfrm xmlns:a="http://schemas.openxmlformats.org/drawingml/2006/main">
            <a:off x="7658100" y="3505200"/>
            <a:ext cx="10668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8D2E0"/>
                </a:solidFill>
                <a:latin typeface="Aptos"/>
                <a:ea typeface="Aptos"/>
                <a:cs typeface="Aptos"/>
              </a:defRPr>
            </a:pPr>
            <a:r>
              <a:t>Faithfulness</a:t>
            </a:r>
          </a:p>
        </p:txBody>
      </p:sp>
      <p:sp>
        <p:nvSpPr>
          <p:cNvPr id="50" name="">
            <a:extLst xmlns:a="http://schemas.openxmlformats.org/drawingml/2006/main">
              <a:ext uri="{FF2B5EF4-FFF2-40B4-BE49-F238E27FC236}">
                <a16:creationId xmlns:a16="http://schemas.microsoft.com/office/drawing/2014/main" id="{575E19A1-4801-4780-9AFA-2952042A7CEA}"/>
              </a:ext>
            </a:extLst>
          </p:cNvPr>
          <p:cNvSpPr>
            <a:spLocks xmlns:a="http://schemas.openxmlformats.org/drawingml/2006/main" noGrp="1"/>
          </p:cNvSpPr>
          <p:nvPr/>
        </p:nvSpPr>
        <p:spPr>
          <a:xfrm xmlns:a="http://schemas.openxmlformats.org/drawingml/2006/main">
            <a:off x="8858250" y="3143250"/>
            <a:ext cx="10668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t>0.975</a:t>
            </a:r>
          </a:p>
        </p:txBody>
      </p:sp>
      <p:sp>
        <p:nvSpPr>
          <p:cNvPr id="51" name="">
            <a:extLst xmlns:a="http://schemas.openxmlformats.org/drawingml/2006/main">
              <a:ext uri="{FF2B5EF4-FFF2-40B4-BE49-F238E27FC236}">
                <a16:creationId xmlns:a16="http://schemas.microsoft.com/office/drawing/2014/main" id="{D15720F6-ED01-4799-A503-0D2627BEC838}"/>
              </a:ext>
            </a:extLst>
          </p:cNvPr>
          <p:cNvSpPr>
            <a:spLocks xmlns:a="http://schemas.openxmlformats.org/drawingml/2006/main" noGrp="1"/>
          </p:cNvSpPr>
          <p:nvPr/>
        </p:nvSpPr>
        <p:spPr>
          <a:xfrm xmlns:a="http://schemas.openxmlformats.org/drawingml/2006/main">
            <a:off x="8858250" y="3505200"/>
            <a:ext cx="10668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8D2E0"/>
                </a:solidFill>
                <a:latin typeface="Aptos"/>
                <a:ea typeface="Aptos"/>
                <a:cs typeface="Aptos"/>
              </a:defRPr>
            </a:pPr>
            <a:r>
              <a:t>Coverage</a:t>
            </a:r>
          </a:p>
        </p:txBody>
      </p:sp>
      <p:sp>
        <p:nvSpPr>
          <p:cNvPr id="52" name="">
            <a:extLst xmlns:a="http://schemas.openxmlformats.org/drawingml/2006/main">
              <a:ext uri="{FF2B5EF4-FFF2-40B4-BE49-F238E27FC236}">
                <a16:creationId xmlns:a16="http://schemas.microsoft.com/office/drawing/2014/main" id="{6D324454-DAE7-47C6-BC06-C3EA81E1F7BD}"/>
              </a:ext>
            </a:extLst>
          </p:cNvPr>
          <p:cNvSpPr>
            <a:spLocks xmlns:a="http://schemas.openxmlformats.org/drawingml/2006/main" noGrp="1"/>
          </p:cNvSpPr>
          <p:nvPr/>
        </p:nvSpPr>
        <p:spPr>
          <a:xfrm xmlns:a="http://schemas.openxmlformats.org/drawingml/2006/main">
            <a:off x="10058400" y="3143250"/>
            <a:ext cx="10668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t>10.86s</a:t>
            </a:r>
          </a:p>
        </p:txBody>
      </p:sp>
      <p:sp>
        <p:nvSpPr>
          <p:cNvPr id="53" name="">
            <a:extLst xmlns:a="http://schemas.openxmlformats.org/drawingml/2006/main">
              <a:ext uri="{FF2B5EF4-FFF2-40B4-BE49-F238E27FC236}">
                <a16:creationId xmlns:a16="http://schemas.microsoft.com/office/drawing/2014/main" id="{117991A1-3F20-46C2-9B73-F276D6DFA8ED}"/>
              </a:ext>
            </a:extLst>
          </p:cNvPr>
          <p:cNvSpPr>
            <a:spLocks xmlns:a="http://schemas.openxmlformats.org/drawingml/2006/main" noGrp="1"/>
          </p:cNvSpPr>
          <p:nvPr/>
        </p:nvSpPr>
        <p:spPr>
          <a:xfrm xmlns:a="http://schemas.openxmlformats.org/drawingml/2006/main">
            <a:off x="10058400" y="3505200"/>
            <a:ext cx="10668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8D2E0"/>
                </a:solidFill>
                <a:latin typeface="Aptos"/>
                <a:ea typeface="Aptos"/>
                <a:cs typeface="Aptos"/>
              </a:defRPr>
            </a:pPr>
            <a:r>
              <a:t>warm p50</a:t>
            </a:r>
          </a:p>
        </p:txBody>
      </p:sp>
      <p:sp>
        <p:nvSpPr>
          <p:cNvPr id="54" name="">
            <a:extLst xmlns:a="http://schemas.openxmlformats.org/drawingml/2006/main">
              <a:ext uri="{FF2B5EF4-FFF2-40B4-BE49-F238E27FC236}">
                <a16:creationId xmlns:a16="http://schemas.microsoft.com/office/drawing/2014/main" id="{915844BC-B5C7-4B74-BBD1-9C088AEF2225}"/>
              </a:ext>
            </a:extLst>
          </p:cNvPr>
          <p:cNvSpPr>
            <a:spLocks xmlns:a="http://schemas.openxmlformats.org/drawingml/2006/main" noGrp="1"/>
          </p:cNvSpPr>
          <p:nvPr/>
        </p:nvSpPr>
        <p:spPr>
          <a:xfrm xmlns:a="http://schemas.openxmlformats.org/drawingml/2006/main">
            <a:off x="7391400" y="4295775"/>
            <a:ext cx="2000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563EB"/>
                </a:solidFill>
                <a:latin typeface="Aptos"/>
                <a:ea typeface="Aptos"/>
                <a:cs typeface="Aptos"/>
              </a:defRPr>
            </a:pPr>
            <a:r>
              <a:t>NON-DOMINATED SET</a:t>
            </a:r>
          </a:p>
        </p:txBody>
      </p:sp>
      <p:sp>
        <p:nvSpPr>
          <p:cNvPr id="55" name="">
            <a:extLst xmlns:a="http://schemas.openxmlformats.org/drawingml/2006/main">
              <a:ext uri="{FF2B5EF4-FFF2-40B4-BE49-F238E27FC236}">
                <a16:creationId xmlns:a16="http://schemas.microsoft.com/office/drawing/2014/main" id="{F614FE09-7812-450E-BD01-3B7CC2D3BA95}"/>
              </a:ext>
            </a:extLst>
          </p:cNvPr>
          <p:cNvSpPr>
            <a:spLocks xmlns:a="http://schemas.openxmlformats.org/drawingml/2006/main" noGrp="1"/>
          </p:cNvSpPr>
          <p:nvPr/>
        </p:nvSpPr>
        <p:spPr>
          <a:xfrm xmlns:a="http://schemas.openxmlformats.org/drawingml/2006/main">
            <a:off x="7419975" y="4667250"/>
            <a:ext cx="114300" cy="1143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56" name="">
            <a:extLst xmlns:a="http://schemas.openxmlformats.org/drawingml/2006/main">
              <a:ext uri="{FF2B5EF4-FFF2-40B4-BE49-F238E27FC236}">
                <a16:creationId xmlns:a16="http://schemas.microsoft.com/office/drawing/2014/main" id="{5284F187-1E9D-4DB0-9F04-98EF42EFE5C4}"/>
              </a:ext>
            </a:extLst>
          </p:cNvPr>
          <p:cNvSpPr>
            <a:spLocks xmlns:a="http://schemas.openxmlformats.org/drawingml/2006/main" noGrp="1"/>
          </p:cNvSpPr>
          <p:nvPr/>
        </p:nvSpPr>
        <p:spPr>
          <a:xfrm xmlns:a="http://schemas.openxmlformats.org/drawingml/2006/main">
            <a:off x="7629525" y="4629150"/>
            <a:ext cx="1381125"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11827"/>
                </a:solidFill>
                <a:latin typeface="Aptos"/>
                <a:ea typeface="Aptos"/>
                <a:cs typeface="Aptos"/>
              </a:defRPr>
            </a:pPr>
            <a:r>
              <a:t>512 / 5 / CE</a:t>
            </a:r>
          </a:p>
        </p:txBody>
      </p:sp>
      <p:sp>
        <p:nvSpPr>
          <p:cNvPr id="57" name="">
            <a:extLst xmlns:a="http://schemas.openxmlformats.org/drawingml/2006/main">
              <a:ext uri="{FF2B5EF4-FFF2-40B4-BE49-F238E27FC236}">
                <a16:creationId xmlns:a16="http://schemas.microsoft.com/office/drawing/2014/main" id="{B97E3849-BB7A-4AB2-9D66-943D0D404294}"/>
              </a:ext>
            </a:extLst>
          </p:cNvPr>
          <p:cNvSpPr>
            <a:spLocks xmlns:a="http://schemas.openxmlformats.org/drawingml/2006/main" noGrp="1"/>
          </p:cNvSpPr>
          <p:nvPr/>
        </p:nvSpPr>
        <p:spPr>
          <a:xfrm xmlns:a="http://schemas.openxmlformats.org/drawingml/2006/main">
            <a:off x="9010650" y="4629150"/>
            <a:ext cx="2724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F 0.902 · C 0.967 · 6.58s</a:t>
            </a:r>
          </a:p>
        </p:txBody>
      </p:sp>
      <p:sp>
        <p:nvSpPr>
          <p:cNvPr id="58" name="">
            <a:extLst xmlns:a="http://schemas.openxmlformats.org/drawingml/2006/main">
              <a:ext uri="{FF2B5EF4-FFF2-40B4-BE49-F238E27FC236}">
                <a16:creationId xmlns:a16="http://schemas.microsoft.com/office/drawing/2014/main" id="{73AACFC5-320C-4C64-9ED1-96A346327A68}"/>
              </a:ext>
            </a:extLst>
          </p:cNvPr>
          <p:cNvSpPr>
            <a:spLocks xmlns:a="http://schemas.openxmlformats.org/drawingml/2006/main" noGrp="1"/>
          </p:cNvSpPr>
          <p:nvPr/>
        </p:nvSpPr>
        <p:spPr>
          <a:xfrm xmlns:a="http://schemas.openxmlformats.org/drawingml/2006/main">
            <a:off x="7419975" y="5143500"/>
            <a:ext cx="114300" cy="1143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59" name="">
            <a:extLst xmlns:a="http://schemas.openxmlformats.org/drawingml/2006/main">
              <a:ext uri="{FF2B5EF4-FFF2-40B4-BE49-F238E27FC236}">
                <a16:creationId xmlns:a16="http://schemas.microsoft.com/office/drawing/2014/main" id="{5B3CE457-647D-4525-8788-3FCBFB05D888}"/>
              </a:ext>
            </a:extLst>
          </p:cNvPr>
          <p:cNvSpPr>
            <a:spLocks xmlns:a="http://schemas.openxmlformats.org/drawingml/2006/main" noGrp="1"/>
          </p:cNvSpPr>
          <p:nvPr/>
        </p:nvSpPr>
        <p:spPr>
          <a:xfrm xmlns:a="http://schemas.openxmlformats.org/drawingml/2006/main">
            <a:off x="7629525" y="5105400"/>
            <a:ext cx="1381125"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11827"/>
                </a:solidFill>
                <a:latin typeface="Aptos"/>
                <a:ea typeface="Aptos"/>
                <a:cs typeface="Aptos"/>
              </a:defRPr>
            </a:pPr>
            <a:r>
              <a:t>1024 / 3 / CE</a:t>
            </a:r>
          </a:p>
        </p:txBody>
      </p:sp>
      <p:sp>
        <p:nvSpPr>
          <p:cNvPr id="60" name="">
            <a:extLst xmlns:a="http://schemas.openxmlformats.org/drawingml/2006/main">
              <a:ext uri="{FF2B5EF4-FFF2-40B4-BE49-F238E27FC236}">
                <a16:creationId xmlns:a16="http://schemas.microsoft.com/office/drawing/2014/main" id="{53CBF5EE-9EB1-4D24-9BC9-69798CEB8EDB}"/>
              </a:ext>
            </a:extLst>
          </p:cNvPr>
          <p:cNvSpPr>
            <a:spLocks xmlns:a="http://schemas.openxmlformats.org/drawingml/2006/main" noGrp="1"/>
          </p:cNvSpPr>
          <p:nvPr/>
        </p:nvSpPr>
        <p:spPr>
          <a:xfrm xmlns:a="http://schemas.openxmlformats.org/drawingml/2006/main">
            <a:off x="9010650" y="5105400"/>
            <a:ext cx="2724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F 0.836 · C 0.975 · 8.68s</a:t>
            </a:r>
          </a:p>
        </p:txBody>
      </p:sp>
      <p:sp>
        <p:nvSpPr>
          <p:cNvPr id="61" name="">
            <a:extLst xmlns:a="http://schemas.openxmlformats.org/drawingml/2006/main">
              <a:ext uri="{FF2B5EF4-FFF2-40B4-BE49-F238E27FC236}">
                <a16:creationId xmlns:a16="http://schemas.microsoft.com/office/drawing/2014/main" id="{85B1970B-E908-4388-BAE5-F158B852047F}"/>
              </a:ext>
            </a:extLst>
          </p:cNvPr>
          <p:cNvSpPr>
            <a:spLocks xmlns:a="http://schemas.openxmlformats.org/drawingml/2006/main" noGrp="1"/>
          </p:cNvSpPr>
          <p:nvPr/>
        </p:nvSpPr>
        <p:spPr>
          <a:xfrm xmlns:a="http://schemas.openxmlformats.org/drawingml/2006/main">
            <a:off x="7419975" y="5619750"/>
            <a:ext cx="114300" cy="114300"/>
          </a:xfrm>
          <a:prstGeom xmlns:a="http://schemas.openxmlformats.org/drawingml/2006/main" prst="ellipse">
            <a:avLst/>
          </a:prstGeom>
          <a:solidFill xmlns:a="http://schemas.openxmlformats.org/drawingml/2006/main">
            <a:srgbClr val="0B1220"/>
          </a:solidFill>
          <a:ln xmlns:a="http://schemas.openxmlformats.org/drawingml/2006/main" w="0">
            <a:solidFill>
              <a:srgbClr val="0B1220"/>
            </a:solidFill>
            <a:prstDash val="solid"/>
          </a:ln>
        </p:spPr>
      </p:sp>
      <p:sp>
        <p:nvSpPr>
          <p:cNvPr id="62" name="">
            <a:extLst xmlns:a="http://schemas.openxmlformats.org/drawingml/2006/main">
              <a:ext uri="{FF2B5EF4-FFF2-40B4-BE49-F238E27FC236}">
                <a16:creationId xmlns:a16="http://schemas.microsoft.com/office/drawing/2014/main" id="{DBB09185-196B-434A-BEBF-2B44BF058117}"/>
              </a:ext>
            </a:extLst>
          </p:cNvPr>
          <p:cNvSpPr>
            <a:spLocks xmlns:a="http://schemas.openxmlformats.org/drawingml/2006/main" noGrp="1"/>
          </p:cNvSpPr>
          <p:nvPr/>
        </p:nvSpPr>
        <p:spPr>
          <a:xfrm xmlns:a="http://schemas.openxmlformats.org/drawingml/2006/main">
            <a:off x="7629525" y="5581650"/>
            <a:ext cx="1381125"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11827"/>
                </a:solidFill>
                <a:latin typeface="Aptos"/>
                <a:ea typeface="Aptos"/>
                <a:cs typeface="Aptos"/>
              </a:defRPr>
            </a:pPr>
            <a:r>
              <a:t>1024 / 5 / CE</a:t>
            </a:r>
          </a:p>
        </p:txBody>
      </p:sp>
      <p:sp>
        <p:nvSpPr>
          <p:cNvPr id="63" name="">
            <a:extLst xmlns:a="http://schemas.openxmlformats.org/drawingml/2006/main">
              <a:ext uri="{FF2B5EF4-FFF2-40B4-BE49-F238E27FC236}">
                <a16:creationId xmlns:a16="http://schemas.microsoft.com/office/drawing/2014/main" id="{942EA73D-262B-439C-9A9C-84402B416E26}"/>
              </a:ext>
            </a:extLst>
          </p:cNvPr>
          <p:cNvSpPr>
            <a:spLocks xmlns:a="http://schemas.openxmlformats.org/drawingml/2006/main" noGrp="1"/>
          </p:cNvSpPr>
          <p:nvPr/>
        </p:nvSpPr>
        <p:spPr>
          <a:xfrm xmlns:a="http://schemas.openxmlformats.org/drawingml/2006/main">
            <a:off x="9010650" y="5581650"/>
            <a:ext cx="2724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F 0.910 · C 0.975 · 10.86s</a:t>
            </a:r>
          </a:p>
        </p:txBody>
      </p:sp>
      <p:sp>
        <p:nvSpPr>
          <p:cNvPr id="64" name="">
            <a:extLst xmlns:a="http://schemas.openxmlformats.org/drawingml/2006/main">
              <a:ext uri="{FF2B5EF4-FFF2-40B4-BE49-F238E27FC236}">
                <a16:creationId xmlns:a16="http://schemas.microsoft.com/office/drawing/2014/main" id="{06B4A189-711B-45E3-B7E1-7B5A9E54EE2A}"/>
              </a:ext>
            </a:extLst>
          </p:cNvPr>
          <p:cNvSpPr>
            <a:spLocks xmlns:a="http://schemas.openxmlformats.org/drawingml/2006/main" noGrp="1"/>
          </p:cNvSpPr>
          <p:nvPr/>
        </p:nvSpPr>
        <p:spPr>
          <a:xfrm xmlns:a="http://schemas.openxmlformats.org/drawingml/2006/main">
            <a:off x="400050" y="5772150"/>
            <a:ext cx="113919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B6472"/>
                </a:solidFill>
                <a:latin typeface="Aptos"/>
                <a:ea typeface="Aptos"/>
                <a:cs typeface="Aptos"/>
              </a:defRPr>
            </a:pPr>
            <a:r>
              <a:t>Frontier objectives: maximise Faithfulness and required-point Coverage; minimise warm-path p50 latency. Relevance is supporting evidence.</a:t>
            </a:r>
          </a:p>
        </p:txBody>
      </p:sp>
    </p:spTree>
    <p:extLst>
      <p:ext uri="{BB962C8B-B14F-4D97-AF65-F5344CB8AC3E}">
        <p14:creationId xmlns:p14="http://schemas.microsoft.com/office/powerpoint/2010/main" val="196554327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A4F1AADC-A398-4468-8DD7-3E5111F9F5B8}"/>
              </a:ext>
            </a:extLst>
          </p:cNvPr>
          <p:cNvSpPr>
            <a:spLocks xmlns:a="http://schemas.openxmlformats.org/drawingml/2006/main" noGrp="1"/>
          </p:cNvSpPr>
          <p:nvPr/>
        </p:nvSpPr>
        <p:spPr>
          <a:xfrm xmlns:a="http://schemas.openxmlformats.org/drawingml/2006/main">
            <a:off x="400050" y="228600"/>
            <a:ext cx="4953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563EB"/>
                </a:solidFill>
                <a:latin typeface="Aptos"/>
                <a:ea typeface="Aptos"/>
                <a:cs typeface="Aptos"/>
              </a:defRPr>
            </a:pPr>
            <a:r>
              <a:t>PHASE C · WEEK 5–6</a:t>
            </a:r>
          </a:p>
        </p:txBody>
      </p:sp>
      <p:sp>
        <p:nvSpPr>
          <p:cNvPr id="2" name="">
            <a:extLst xmlns:a="http://schemas.openxmlformats.org/drawingml/2006/main">
              <a:ext uri="{FF2B5EF4-FFF2-40B4-BE49-F238E27FC236}">
                <a16:creationId xmlns:a16="http://schemas.microsoft.com/office/drawing/2014/main" id="{09E0C11C-B925-49A4-9D90-05C92CFF8F27}"/>
              </a:ext>
            </a:extLst>
          </p:cNvPr>
          <p:cNvSpPr>
            <a:spLocks xmlns:a="http://schemas.openxmlformats.org/drawingml/2006/main" noGrp="1"/>
          </p:cNvSpPr>
          <p:nvPr/>
        </p:nvSpPr>
        <p:spPr>
          <a:xfrm xmlns:a="http://schemas.openxmlformats.org/drawingml/2006/main">
            <a:off x="400050" y="504825"/>
            <a:ext cx="11144250" cy="590550"/>
          </a:xfrm>
          <a:prstGeom xmlns:a="http://schemas.openxmlformats.org/drawingml/2006/main" prst="rect">
            <a:avLst/>
          </a:prstGeom>
        </p:spPr>
        <p:txBody>
          <a:bodyPr xmlns:a="http://schemas.openxmlformats.org/drawingml/2006/main" wrap="square" lIns="0" tIns="0" rIns="0" bIns="0" anchor="t">
            <a:normAutofit fontScale="94766"/>
          </a:bodyPr>
          <a:lstStyle xmlns:a="http://schemas.openxmlformats.org/drawingml/2006/main"/>
          <a:p xmlns:a="http://schemas.openxmlformats.org/drawingml/2006/main">
            <a:pPr algn="l">
              <a:defRPr sz="3000" b="1">
                <a:solidFill>
                  <a:srgbClr val="111827"/>
                </a:solidFill>
                <a:latin typeface="Aptos"/>
                <a:ea typeface="Aptos"/>
                <a:cs typeface="Aptos"/>
              </a:defRPr>
            </a:pPr>
            <a:r>
              <a:t>More retrieved context helped on average; reranking was conditional</a:t>
            </a:r>
          </a:p>
        </p:txBody>
      </p:sp>
      <p:cxnSp>
        <p:nvCxnSpPr>
          <p:cNvPr id="47"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D7DCE3"/>
            </a:solidFill>
            <a:prstDash val="solid"/>
          </a:ln>
        </p:spPr>
      </p:cxnSp>
      <p:sp>
        <p:nvSpPr>
          <p:cNvPr id="4" name="">
            <a:extLst xmlns:a="http://schemas.openxmlformats.org/drawingml/2006/main">
              <a:ext uri="{FF2B5EF4-FFF2-40B4-BE49-F238E27FC236}">
                <a16:creationId xmlns:a16="http://schemas.microsoft.com/office/drawing/2014/main" id="{9CD5E057-79B3-48F4-BD72-5D2F127019B6}"/>
              </a:ext>
            </a:extLst>
          </p:cNvPr>
          <p:cNvSpPr>
            <a:spLocks xmlns:a="http://schemas.openxmlformats.org/drawingml/2006/main" noGrp="1"/>
          </p:cNvSpPr>
          <p:nvPr/>
        </p:nvSpPr>
        <p:spPr>
          <a:xfrm xmlns:a="http://schemas.openxmlformats.org/drawingml/2006/main">
            <a:off x="11277600" y="6381750"/>
            <a:ext cx="4953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A93A2"/>
                </a:solidFill>
                <a:latin typeface="Aptos"/>
                <a:ea typeface="Aptos"/>
                <a:cs typeface="Aptos"/>
              </a:defRPr>
            </a:pPr>
            <a:r>
              <a:t>06</a:t>
            </a:r>
          </a:p>
        </p:txBody>
      </p:sp>
      <p:sp>
        <p:nvSpPr>
          <p:cNvPr id="5" name="">
            <a:extLst xmlns:a="http://schemas.openxmlformats.org/drawingml/2006/main">
              <a:ext uri="{FF2B5EF4-FFF2-40B4-BE49-F238E27FC236}">
                <a16:creationId xmlns:a16="http://schemas.microsoft.com/office/drawing/2014/main" id="{40B5188C-35E5-4613-BED3-98B0DE90F897}"/>
              </a:ext>
            </a:extLst>
          </p:cNvPr>
          <p:cNvSpPr>
            <a:spLocks xmlns:a="http://schemas.openxmlformats.org/drawingml/2006/main" noGrp="1"/>
          </p:cNvSpPr>
          <p:nvPr/>
        </p:nvSpPr>
        <p:spPr>
          <a:xfrm xmlns:a="http://schemas.openxmlformats.org/drawingml/2006/main">
            <a:off x="400050" y="1466850"/>
            <a:ext cx="67627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B6472"/>
                </a:solidFill>
                <a:latin typeface="Aptos"/>
                <a:ea typeface="Aptos"/>
                <a:cs typeface="Aptos"/>
              </a:defRPr>
            </a:pPr>
            <a:r>
              <a:t>Average quality delta across registered one-factor matched contrasts</a:t>
            </a:r>
          </a:p>
        </p:txBody>
      </p:sp>
      <p:cxnSp>
        <p:nvCxnSpPr>
          <p:cNvPr id="50" name=""/>
          <p:cNvCxnSpPr/>
          <p:nvPr/>
        </p:nvCxnSpPr>
        <p:spPr>
          <a:xfrm xmlns:a="http://schemas.openxmlformats.org/drawingml/2006/main">
            <a:off x="2190750" y="1905000"/>
            <a:ext cx="95" cy="3333750"/>
          </a:xfrm>
          <a:prstGeom xmlns:a="http://schemas.openxmlformats.org/drawingml/2006/main" prst="straightConnector1">
            <a:avLst/>
          </a:prstGeom>
          <a:ln xmlns:a="http://schemas.openxmlformats.org/drawingml/2006/main" w="9525">
            <a:solidFill>
              <a:srgbClr val="D7DCE3"/>
            </a:solidFill>
            <a:prstDash val="solid"/>
          </a:ln>
        </p:spPr>
      </p:cxnSp>
      <p:sp>
        <p:nvSpPr>
          <p:cNvPr id="7" name="">
            <a:extLst xmlns:a="http://schemas.openxmlformats.org/drawingml/2006/main">
              <a:ext uri="{FF2B5EF4-FFF2-40B4-BE49-F238E27FC236}">
                <a16:creationId xmlns:a16="http://schemas.microsoft.com/office/drawing/2014/main" id="{F8D4BE01-ECC5-4EED-950D-7D9AE08A1951}"/>
              </a:ext>
            </a:extLst>
          </p:cNvPr>
          <p:cNvSpPr>
            <a:spLocks xmlns:a="http://schemas.openxmlformats.org/drawingml/2006/main" noGrp="1"/>
          </p:cNvSpPr>
          <p:nvPr/>
        </p:nvSpPr>
        <p:spPr>
          <a:xfrm xmlns:a="http://schemas.openxmlformats.org/drawingml/2006/main">
            <a:off x="1962150" y="52768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0.00</a:t>
            </a:r>
          </a:p>
        </p:txBody>
      </p:sp>
      <p:cxnSp>
        <p:nvCxnSpPr>
          <p:cNvPr id="52" name=""/>
          <p:cNvCxnSpPr/>
          <p:nvPr/>
        </p:nvCxnSpPr>
        <p:spPr>
          <a:xfrm xmlns:a="http://schemas.openxmlformats.org/drawingml/2006/main">
            <a:off x="3841750" y="1905000"/>
            <a:ext cx="95" cy="3333750"/>
          </a:xfrm>
          <a:prstGeom xmlns:a="http://schemas.openxmlformats.org/drawingml/2006/main" prst="straightConnector1">
            <a:avLst/>
          </a:prstGeom>
          <a:ln xmlns:a="http://schemas.openxmlformats.org/drawingml/2006/main" w="9525">
            <a:solidFill>
              <a:srgbClr val="D7DCE3"/>
            </a:solidFill>
            <a:prstDash val="solid"/>
          </a:ln>
        </p:spPr>
      </p:cxnSp>
      <p:sp>
        <p:nvSpPr>
          <p:cNvPr id="9" name="">
            <a:extLst xmlns:a="http://schemas.openxmlformats.org/drawingml/2006/main">
              <a:ext uri="{FF2B5EF4-FFF2-40B4-BE49-F238E27FC236}">
                <a16:creationId xmlns:a16="http://schemas.microsoft.com/office/drawing/2014/main" id="{830DBE12-B60F-45C0-8302-2894F85CCF1E}"/>
              </a:ext>
            </a:extLst>
          </p:cNvPr>
          <p:cNvSpPr>
            <a:spLocks xmlns:a="http://schemas.openxmlformats.org/drawingml/2006/main" noGrp="1"/>
          </p:cNvSpPr>
          <p:nvPr/>
        </p:nvSpPr>
        <p:spPr>
          <a:xfrm xmlns:a="http://schemas.openxmlformats.org/drawingml/2006/main">
            <a:off x="3613150" y="52768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0.04</a:t>
            </a:r>
          </a:p>
        </p:txBody>
      </p:sp>
      <p:cxnSp>
        <p:nvCxnSpPr>
          <p:cNvPr id="54" name=""/>
          <p:cNvCxnSpPr/>
          <p:nvPr/>
        </p:nvCxnSpPr>
        <p:spPr>
          <a:xfrm xmlns:a="http://schemas.openxmlformats.org/drawingml/2006/main">
            <a:off x="5492750" y="1905000"/>
            <a:ext cx="95" cy="3333750"/>
          </a:xfrm>
          <a:prstGeom xmlns:a="http://schemas.openxmlformats.org/drawingml/2006/main" prst="straightConnector1">
            <a:avLst/>
          </a:prstGeom>
          <a:ln xmlns:a="http://schemas.openxmlformats.org/drawingml/2006/main" w="9525">
            <a:solidFill>
              <a:srgbClr val="D7DCE3"/>
            </a:solidFill>
            <a:prstDash val="solid"/>
          </a:ln>
        </p:spPr>
      </p:cxnSp>
      <p:sp>
        <p:nvSpPr>
          <p:cNvPr id="11" name="">
            <a:extLst xmlns:a="http://schemas.openxmlformats.org/drawingml/2006/main">
              <a:ext uri="{FF2B5EF4-FFF2-40B4-BE49-F238E27FC236}">
                <a16:creationId xmlns:a16="http://schemas.microsoft.com/office/drawing/2014/main" id="{7311155C-DF0F-4EDE-90D8-A13C127EB147}"/>
              </a:ext>
            </a:extLst>
          </p:cNvPr>
          <p:cNvSpPr>
            <a:spLocks xmlns:a="http://schemas.openxmlformats.org/drawingml/2006/main" noGrp="1"/>
          </p:cNvSpPr>
          <p:nvPr/>
        </p:nvSpPr>
        <p:spPr>
          <a:xfrm xmlns:a="http://schemas.openxmlformats.org/drawingml/2006/main">
            <a:off x="5264150" y="52768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0.08</a:t>
            </a:r>
          </a:p>
        </p:txBody>
      </p:sp>
      <p:cxnSp>
        <p:nvCxnSpPr>
          <p:cNvPr id="56" name=""/>
          <p:cNvCxnSpPr/>
          <p:nvPr/>
        </p:nvCxnSpPr>
        <p:spPr>
          <a:xfrm xmlns:a="http://schemas.openxmlformats.org/drawingml/2006/main">
            <a:off x="7143750" y="1905000"/>
            <a:ext cx="95" cy="3333750"/>
          </a:xfrm>
          <a:prstGeom xmlns:a="http://schemas.openxmlformats.org/drawingml/2006/main" prst="straightConnector1">
            <a:avLst/>
          </a:prstGeom>
          <a:ln xmlns:a="http://schemas.openxmlformats.org/drawingml/2006/main" w="9525">
            <a:solidFill>
              <a:srgbClr val="D7DCE3"/>
            </a:solidFill>
            <a:prstDash val="solid"/>
          </a:ln>
        </p:spPr>
      </p:cxnSp>
      <p:sp>
        <p:nvSpPr>
          <p:cNvPr id="13" name="">
            <a:extLst xmlns:a="http://schemas.openxmlformats.org/drawingml/2006/main">
              <a:ext uri="{FF2B5EF4-FFF2-40B4-BE49-F238E27FC236}">
                <a16:creationId xmlns:a16="http://schemas.microsoft.com/office/drawing/2014/main" id="{E0B6F57A-3BB5-43DD-8A34-7B32D4BD4A3A}"/>
              </a:ext>
            </a:extLst>
          </p:cNvPr>
          <p:cNvSpPr>
            <a:spLocks xmlns:a="http://schemas.openxmlformats.org/drawingml/2006/main" noGrp="1"/>
          </p:cNvSpPr>
          <p:nvPr/>
        </p:nvSpPr>
        <p:spPr>
          <a:xfrm xmlns:a="http://schemas.openxmlformats.org/drawingml/2006/main">
            <a:off x="6915150" y="5276850"/>
            <a:ext cx="4572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8A93A2"/>
                </a:solidFill>
                <a:latin typeface="Aptos"/>
                <a:ea typeface="Aptos"/>
                <a:cs typeface="Aptos"/>
              </a:defRPr>
            </a:pPr>
            <a:r>
              <a:t>0.12</a:t>
            </a:r>
          </a:p>
        </p:txBody>
      </p:sp>
      <p:sp>
        <p:nvSpPr>
          <p:cNvPr id="14" name="">
            <a:extLst xmlns:a="http://schemas.openxmlformats.org/drawingml/2006/main">
              <a:ext uri="{FF2B5EF4-FFF2-40B4-BE49-F238E27FC236}">
                <a16:creationId xmlns:a16="http://schemas.microsoft.com/office/drawing/2014/main" id="{8954BB24-0DFD-4C7B-B0B7-9C31B1058176}"/>
              </a:ext>
            </a:extLst>
          </p:cNvPr>
          <p:cNvSpPr>
            <a:spLocks xmlns:a="http://schemas.openxmlformats.org/drawingml/2006/main" noGrp="1"/>
          </p:cNvSpPr>
          <p:nvPr/>
        </p:nvSpPr>
        <p:spPr>
          <a:xfrm xmlns:a="http://schemas.openxmlformats.org/drawingml/2006/main">
            <a:off x="400050" y="2228850"/>
            <a:ext cx="1619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11827"/>
                </a:solidFill>
                <a:latin typeface="Aptos"/>
                <a:ea typeface="Aptos"/>
                <a:cs typeface="Aptos"/>
              </a:defRPr>
            </a:pPr>
            <a:r>
              <a:t>Faithfulness</a:t>
            </a:r>
          </a:p>
        </p:txBody>
      </p:sp>
      <p:sp>
        <p:nvSpPr>
          <p:cNvPr id="15" name="">
            <a:extLst xmlns:a="http://schemas.openxmlformats.org/drawingml/2006/main">
              <a:ext uri="{FF2B5EF4-FFF2-40B4-BE49-F238E27FC236}">
                <a16:creationId xmlns:a16="http://schemas.microsoft.com/office/drawing/2014/main" id="{C537E204-8E20-46CD-8F38-6446714E5B8C}"/>
              </a:ext>
            </a:extLst>
          </p:cNvPr>
          <p:cNvSpPr>
            <a:spLocks xmlns:a="http://schemas.openxmlformats.org/drawingml/2006/main" noGrp="1"/>
          </p:cNvSpPr>
          <p:nvPr/>
        </p:nvSpPr>
        <p:spPr>
          <a:xfrm xmlns:a="http://schemas.openxmlformats.org/drawingml/2006/main">
            <a:off x="2190750" y="2133600"/>
            <a:ext cx="2571432" cy="2381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6" name="">
            <a:extLst xmlns:a="http://schemas.openxmlformats.org/drawingml/2006/main">
              <a:ext uri="{FF2B5EF4-FFF2-40B4-BE49-F238E27FC236}">
                <a16:creationId xmlns:a16="http://schemas.microsoft.com/office/drawing/2014/main" id="{72A8D5E2-274F-4FD8-87B9-EDB1E3D5DDD4}"/>
              </a:ext>
            </a:extLst>
          </p:cNvPr>
          <p:cNvSpPr>
            <a:spLocks xmlns:a="http://schemas.openxmlformats.org/drawingml/2006/main" noGrp="1"/>
          </p:cNvSpPr>
          <p:nvPr/>
        </p:nvSpPr>
        <p:spPr>
          <a:xfrm xmlns:a="http://schemas.openxmlformats.org/drawingml/2006/main">
            <a:off x="4838383" y="2152650"/>
            <a:ext cx="666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563EB"/>
                </a:solidFill>
                <a:latin typeface="Aptos"/>
                <a:ea typeface="Aptos"/>
                <a:cs typeface="Aptos"/>
              </a:defRPr>
            </a:pPr>
            <a:r>
              <a:t>+0.062</a:t>
            </a:r>
          </a:p>
        </p:txBody>
      </p:sp>
      <p:sp>
        <p:nvSpPr>
          <p:cNvPr id="17" name="">
            <a:extLst xmlns:a="http://schemas.openxmlformats.org/drawingml/2006/main">
              <a:ext uri="{FF2B5EF4-FFF2-40B4-BE49-F238E27FC236}">
                <a16:creationId xmlns:a16="http://schemas.microsoft.com/office/drawing/2014/main" id="{9005A84E-31AF-4DB1-9CAA-AB01F24A5FC8}"/>
              </a:ext>
            </a:extLst>
          </p:cNvPr>
          <p:cNvSpPr>
            <a:spLocks xmlns:a="http://schemas.openxmlformats.org/drawingml/2006/main" noGrp="1"/>
          </p:cNvSpPr>
          <p:nvPr/>
        </p:nvSpPr>
        <p:spPr>
          <a:xfrm xmlns:a="http://schemas.openxmlformats.org/drawingml/2006/main">
            <a:off x="2190750" y="2466975"/>
            <a:ext cx="1085533" cy="238125"/>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18" name="">
            <a:extLst xmlns:a="http://schemas.openxmlformats.org/drawingml/2006/main">
              <a:ext uri="{FF2B5EF4-FFF2-40B4-BE49-F238E27FC236}">
                <a16:creationId xmlns:a16="http://schemas.microsoft.com/office/drawing/2014/main" id="{DFFA119B-DCAD-4EA3-A6D5-E222A6337052}"/>
              </a:ext>
            </a:extLst>
          </p:cNvPr>
          <p:cNvSpPr>
            <a:spLocks xmlns:a="http://schemas.openxmlformats.org/drawingml/2006/main" noGrp="1"/>
          </p:cNvSpPr>
          <p:nvPr/>
        </p:nvSpPr>
        <p:spPr>
          <a:xfrm xmlns:a="http://schemas.openxmlformats.org/drawingml/2006/main">
            <a:off x="3352483" y="2486025"/>
            <a:ext cx="666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F9D8A"/>
                </a:solidFill>
                <a:latin typeface="Aptos"/>
                <a:ea typeface="Aptos"/>
                <a:cs typeface="Aptos"/>
              </a:defRPr>
            </a:pPr>
            <a:r>
              <a:t>+0.026</a:t>
            </a:r>
          </a:p>
        </p:txBody>
      </p:sp>
      <p:sp>
        <p:nvSpPr>
          <p:cNvPr id="19" name="">
            <a:extLst xmlns:a="http://schemas.openxmlformats.org/drawingml/2006/main">
              <a:ext uri="{FF2B5EF4-FFF2-40B4-BE49-F238E27FC236}">
                <a16:creationId xmlns:a16="http://schemas.microsoft.com/office/drawing/2014/main" id="{C9ED8E63-A60C-4F93-AEA8-2DBAEFB5AC27}"/>
              </a:ext>
            </a:extLst>
          </p:cNvPr>
          <p:cNvSpPr>
            <a:spLocks xmlns:a="http://schemas.openxmlformats.org/drawingml/2006/main" noGrp="1"/>
          </p:cNvSpPr>
          <p:nvPr/>
        </p:nvSpPr>
        <p:spPr>
          <a:xfrm xmlns:a="http://schemas.openxmlformats.org/drawingml/2006/main">
            <a:off x="400050" y="3257550"/>
            <a:ext cx="1619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11827"/>
                </a:solidFill>
                <a:latin typeface="Aptos"/>
                <a:ea typeface="Aptos"/>
                <a:cs typeface="Aptos"/>
              </a:defRPr>
            </a:pPr>
            <a:r>
              <a:t>Answer relevance</a:t>
            </a:r>
          </a:p>
        </p:txBody>
      </p:sp>
      <p:sp>
        <p:nvSpPr>
          <p:cNvPr id="20" name="">
            <a:extLst xmlns:a="http://schemas.openxmlformats.org/drawingml/2006/main">
              <a:ext uri="{FF2B5EF4-FFF2-40B4-BE49-F238E27FC236}">
                <a16:creationId xmlns:a16="http://schemas.microsoft.com/office/drawing/2014/main" id="{7F0C0948-F7BF-48B9-983A-8F9D5346C302}"/>
              </a:ext>
            </a:extLst>
          </p:cNvPr>
          <p:cNvSpPr>
            <a:spLocks xmlns:a="http://schemas.openxmlformats.org/drawingml/2006/main" noGrp="1"/>
          </p:cNvSpPr>
          <p:nvPr/>
        </p:nvSpPr>
        <p:spPr>
          <a:xfrm xmlns:a="http://schemas.openxmlformats.org/drawingml/2006/main">
            <a:off x="2190750" y="3162300"/>
            <a:ext cx="4387533" cy="2381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1" name="">
            <a:extLst xmlns:a="http://schemas.openxmlformats.org/drawingml/2006/main">
              <a:ext uri="{FF2B5EF4-FFF2-40B4-BE49-F238E27FC236}">
                <a16:creationId xmlns:a16="http://schemas.microsoft.com/office/drawing/2014/main" id="{0FE0291B-5E1F-403F-89E6-F8E6924FA40B}"/>
              </a:ext>
            </a:extLst>
          </p:cNvPr>
          <p:cNvSpPr>
            <a:spLocks xmlns:a="http://schemas.openxmlformats.org/drawingml/2006/main" noGrp="1"/>
          </p:cNvSpPr>
          <p:nvPr/>
        </p:nvSpPr>
        <p:spPr>
          <a:xfrm xmlns:a="http://schemas.openxmlformats.org/drawingml/2006/main">
            <a:off x="6654483" y="3181350"/>
            <a:ext cx="666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563EB"/>
                </a:solidFill>
                <a:latin typeface="Aptos"/>
                <a:ea typeface="Aptos"/>
                <a:cs typeface="Aptos"/>
              </a:defRPr>
            </a:pPr>
            <a:r>
              <a:t>+0.106</a:t>
            </a:r>
          </a:p>
        </p:txBody>
      </p:sp>
      <p:sp>
        <p:nvSpPr>
          <p:cNvPr id="22" name="">
            <a:extLst xmlns:a="http://schemas.openxmlformats.org/drawingml/2006/main">
              <a:ext uri="{FF2B5EF4-FFF2-40B4-BE49-F238E27FC236}">
                <a16:creationId xmlns:a16="http://schemas.microsoft.com/office/drawing/2014/main" id="{580689AF-790A-4161-8CD5-A98DF60D99F8}"/>
              </a:ext>
            </a:extLst>
          </p:cNvPr>
          <p:cNvSpPr>
            <a:spLocks xmlns:a="http://schemas.openxmlformats.org/drawingml/2006/main" noGrp="1"/>
          </p:cNvSpPr>
          <p:nvPr/>
        </p:nvSpPr>
        <p:spPr>
          <a:xfrm xmlns:a="http://schemas.openxmlformats.org/drawingml/2006/main">
            <a:off x="2190750" y="3495675"/>
            <a:ext cx="3161665" cy="238125"/>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23" name="">
            <a:extLst xmlns:a="http://schemas.openxmlformats.org/drawingml/2006/main">
              <a:ext uri="{FF2B5EF4-FFF2-40B4-BE49-F238E27FC236}">
                <a16:creationId xmlns:a16="http://schemas.microsoft.com/office/drawing/2014/main" id="{CD6DFD52-FB49-4745-B880-426CC0A77674}"/>
              </a:ext>
            </a:extLst>
          </p:cNvPr>
          <p:cNvSpPr>
            <a:spLocks xmlns:a="http://schemas.openxmlformats.org/drawingml/2006/main" noGrp="1"/>
          </p:cNvSpPr>
          <p:nvPr/>
        </p:nvSpPr>
        <p:spPr>
          <a:xfrm xmlns:a="http://schemas.openxmlformats.org/drawingml/2006/main">
            <a:off x="5428615" y="3514725"/>
            <a:ext cx="666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F9D8A"/>
                </a:solidFill>
                <a:latin typeface="Aptos"/>
                <a:ea typeface="Aptos"/>
                <a:cs typeface="Aptos"/>
              </a:defRPr>
            </a:pPr>
            <a:r>
              <a:t>+0.077</a:t>
            </a:r>
          </a:p>
        </p:txBody>
      </p:sp>
      <p:sp>
        <p:nvSpPr>
          <p:cNvPr id="24" name="">
            <a:extLst xmlns:a="http://schemas.openxmlformats.org/drawingml/2006/main">
              <a:ext uri="{FF2B5EF4-FFF2-40B4-BE49-F238E27FC236}">
                <a16:creationId xmlns:a16="http://schemas.microsoft.com/office/drawing/2014/main" id="{B70C75FD-568D-46B1-9F37-EE78286BBD05}"/>
              </a:ext>
            </a:extLst>
          </p:cNvPr>
          <p:cNvSpPr>
            <a:spLocks xmlns:a="http://schemas.openxmlformats.org/drawingml/2006/main" noGrp="1"/>
          </p:cNvSpPr>
          <p:nvPr/>
        </p:nvSpPr>
        <p:spPr>
          <a:xfrm xmlns:a="http://schemas.openxmlformats.org/drawingml/2006/main">
            <a:off x="400050" y="4286250"/>
            <a:ext cx="1619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11827"/>
                </a:solidFill>
                <a:latin typeface="Aptos"/>
                <a:ea typeface="Aptos"/>
                <a:cs typeface="Aptos"/>
              </a:defRPr>
            </a:pPr>
            <a:r>
              <a:t>Coverage</a:t>
            </a:r>
          </a:p>
        </p:txBody>
      </p:sp>
      <p:sp>
        <p:nvSpPr>
          <p:cNvPr id="25" name="">
            <a:extLst xmlns:a="http://schemas.openxmlformats.org/drawingml/2006/main">
              <a:ext uri="{FF2B5EF4-FFF2-40B4-BE49-F238E27FC236}">
                <a16:creationId xmlns:a16="http://schemas.microsoft.com/office/drawing/2014/main" id="{6EE27FF9-2987-4376-8372-7777BE75F3BF}"/>
              </a:ext>
            </a:extLst>
          </p:cNvPr>
          <p:cNvSpPr>
            <a:spLocks xmlns:a="http://schemas.openxmlformats.org/drawingml/2006/main" noGrp="1"/>
          </p:cNvSpPr>
          <p:nvPr/>
        </p:nvSpPr>
        <p:spPr>
          <a:xfrm xmlns:a="http://schemas.openxmlformats.org/drawingml/2006/main">
            <a:off x="2190750" y="4191000"/>
            <a:ext cx="3429953" cy="2381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6" name="">
            <a:extLst xmlns:a="http://schemas.openxmlformats.org/drawingml/2006/main">
              <a:ext uri="{FF2B5EF4-FFF2-40B4-BE49-F238E27FC236}">
                <a16:creationId xmlns:a16="http://schemas.microsoft.com/office/drawing/2014/main" id="{09F18B74-264B-4756-8EC2-29107301018E}"/>
              </a:ext>
            </a:extLst>
          </p:cNvPr>
          <p:cNvSpPr>
            <a:spLocks xmlns:a="http://schemas.openxmlformats.org/drawingml/2006/main" noGrp="1"/>
          </p:cNvSpPr>
          <p:nvPr/>
        </p:nvSpPr>
        <p:spPr>
          <a:xfrm xmlns:a="http://schemas.openxmlformats.org/drawingml/2006/main">
            <a:off x="5696903" y="4210050"/>
            <a:ext cx="666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563EB"/>
                </a:solidFill>
                <a:latin typeface="Aptos"/>
                <a:ea typeface="Aptos"/>
                <a:cs typeface="Aptos"/>
              </a:defRPr>
            </a:pPr>
            <a:r>
              <a:t>+0.083</a:t>
            </a:r>
          </a:p>
        </p:txBody>
      </p:sp>
      <p:sp>
        <p:nvSpPr>
          <p:cNvPr id="27" name="">
            <a:extLst xmlns:a="http://schemas.openxmlformats.org/drawingml/2006/main">
              <a:ext uri="{FF2B5EF4-FFF2-40B4-BE49-F238E27FC236}">
                <a16:creationId xmlns:a16="http://schemas.microsoft.com/office/drawing/2014/main" id="{6C00E637-8AED-438C-BD18-2214D7D7E36A}"/>
              </a:ext>
            </a:extLst>
          </p:cNvPr>
          <p:cNvSpPr>
            <a:spLocks xmlns:a="http://schemas.openxmlformats.org/drawingml/2006/main" noGrp="1"/>
          </p:cNvSpPr>
          <p:nvPr/>
        </p:nvSpPr>
        <p:spPr>
          <a:xfrm xmlns:a="http://schemas.openxmlformats.org/drawingml/2006/main">
            <a:off x="2190750" y="4524375"/>
            <a:ext cx="2740660" cy="238125"/>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28" name="">
            <a:extLst xmlns:a="http://schemas.openxmlformats.org/drawingml/2006/main">
              <a:ext uri="{FF2B5EF4-FFF2-40B4-BE49-F238E27FC236}">
                <a16:creationId xmlns:a16="http://schemas.microsoft.com/office/drawing/2014/main" id="{D3C01A6B-64A6-4F69-B329-B10CC6A679FF}"/>
              </a:ext>
            </a:extLst>
          </p:cNvPr>
          <p:cNvSpPr>
            <a:spLocks xmlns:a="http://schemas.openxmlformats.org/drawingml/2006/main" noGrp="1"/>
          </p:cNvSpPr>
          <p:nvPr/>
        </p:nvSpPr>
        <p:spPr>
          <a:xfrm xmlns:a="http://schemas.openxmlformats.org/drawingml/2006/main">
            <a:off x="5007610" y="4543425"/>
            <a:ext cx="666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F9D8A"/>
                </a:solidFill>
                <a:latin typeface="Aptos"/>
                <a:ea typeface="Aptos"/>
                <a:cs typeface="Aptos"/>
              </a:defRPr>
            </a:pPr>
            <a:r>
              <a:t>+0.066</a:t>
            </a:r>
          </a:p>
        </p:txBody>
      </p:sp>
      <p:sp>
        <p:nvSpPr>
          <p:cNvPr id="29" name="">
            <a:extLst xmlns:a="http://schemas.openxmlformats.org/drawingml/2006/main">
              <a:ext uri="{FF2B5EF4-FFF2-40B4-BE49-F238E27FC236}">
                <a16:creationId xmlns:a16="http://schemas.microsoft.com/office/drawing/2014/main" id="{385CC23D-4EAA-498D-8522-64ACDC81E656}"/>
              </a:ext>
            </a:extLst>
          </p:cNvPr>
          <p:cNvSpPr>
            <a:spLocks xmlns:a="http://schemas.openxmlformats.org/drawingml/2006/main" noGrp="1"/>
          </p:cNvSpPr>
          <p:nvPr/>
        </p:nvSpPr>
        <p:spPr>
          <a:xfrm xmlns:a="http://schemas.openxmlformats.org/drawingml/2006/main">
            <a:off x="400050" y="5657850"/>
            <a:ext cx="171450" cy="1714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30" name="">
            <a:extLst xmlns:a="http://schemas.openxmlformats.org/drawingml/2006/main">
              <a:ext uri="{FF2B5EF4-FFF2-40B4-BE49-F238E27FC236}">
                <a16:creationId xmlns:a16="http://schemas.microsoft.com/office/drawing/2014/main" id="{91260F54-7307-47FC-9304-94C00E65D1D6}"/>
              </a:ext>
            </a:extLst>
          </p:cNvPr>
          <p:cNvSpPr>
            <a:spLocks xmlns:a="http://schemas.openxmlformats.org/drawingml/2006/main" noGrp="1"/>
          </p:cNvSpPr>
          <p:nvPr/>
        </p:nvSpPr>
        <p:spPr>
          <a:xfrm xmlns:a="http://schemas.openxmlformats.org/drawingml/2006/main">
            <a:off x="666750" y="5638800"/>
            <a:ext cx="1333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Higher top-k</a:t>
            </a:r>
          </a:p>
        </p:txBody>
      </p:sp>
      <p:sp>
        <p:nvSpPr>
          <p:cNvPr id="31" name="">
            <a:extLst xmlns:a="http://schemas.openxmlformats.org/drawingml/2006/main">
              <a:ext uri="{FF2B5EF4-FFF2-40B4-BE49-F238E27FC236}">
                <a16:creationId xmlns:a16="http://schemas.microsoft.com/office/drawing/2014/main" id="{797EC8B9-8452-4403-83C6-25A58E90B243}"/>
              </a:ext>
            </a:extLst>
          </p:cNvPr>
          <p:cNvSpPr>
            <a:spLocks xmlns:a="http://schemas.openxmlformats.org/drawingml/2006/main" noGrp="1"/>
          </p:cNvSpPr>
          <p:nvPr/>
        </p:nvSpPr>
        <p:spPr>
          <a:xfrm xmlns:a="http://schemas.openxmlformats.org/drawingml/2006/main">
            <a:off x="1981200" y="5657850"/>
            <a:ext cx="171450" cy="17145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32" name="">
            <a:extLst xmlns:a="http://schemas.openxmlformats.org/drawingml/2006/main">
              <a:ext uri="{FF2B5EF4-FFF2-40B4-BE49-F238E27FC236}">
                <a16:creationId xmlns:a16="http://schemas.microsoft.com/office/drawing/2014/main" id="{F8F1C983-A61B-45FC-A96B-EE8B80CC96E1}"/>
              </a:ext>
            </a:extLst>
          </p:cNvPr>
          <p:cNvSpPr>
            <a:spLocks xmlns:a="http://schemas.openxmlformats.org/drawingml/2006/main" noGrp="1"/>
          </p:cNvSpPr>
          <p:nvPr/>
        </p:nvSpPr>
        <p:spPr>
          <a:xfrm xmlns:a="http://schemas.openxmlformats.org/drawingml/2006/main">
            <a:off x="2247900" y="5638800"/>
            <a:ext cx="19050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Cross-encoder reranking</a:t>
            </a:r>
          </a:p>
        </p:txBody>
      </p:sp>
      <p:sp>
        <p:nvSpPr>
          <p:cNvPr id="33" name="">
            <a:extLst xmlns:a="http://schemas.openxmlformats.org/drawingml/2006/main">
              <a:ext uri="{FF2B5EF4-FFF2-40B4-BE49-F238E27FC236}">
                <a16:creationId xmlns:a16="http://schemas.microsoft.com/office/drawing/2014/main" id="{EF42F07B-B3C2-4DA2-9FA4-48877AC9301F}"/>
              </a:ext>
            </a:extLst>
          </p:cNvPr>
          <p:cNvSpPr>
            <a:spLocks xmlns:a="http://schemas.openxmlformats.org/drawingml/2006/main" noGrp="1"/>
          </p:cNvSpPr>
          <p:nvPr/>
        </p:nvSpPr>
        <p:spPr>
          <a:xfrm xmlns:a="http://schemas.openxmlformats.org/drawingml/2006/main">
            <a:off x="7715250" y="1524000"/>
            <a:ext cx="4076700" cy="1809750"/>
          </a:xfrm>
          <a:prstGeom xmlns:a="http://schemas.openxmlformats.org/drawingml/2006/main" prst="roundRect">
            <a:avLst>
              <a:gd name="adj" fmla="val 4211"/>
            </a:avLst>
          </a:prstGeom>
          <a:solidFill xmlns:a="http://schemas.openxmlformats.org/drawingml/2006/main">
            <a:srgbClr val="EAF2FF"/>
          </a:solidFill>
          <a:ln xmlns:a="http://schemas.openxmlformats.org/drawingml/2006/main" w="0">
            <a:solidFill>
              <a:srgbClr val="EAF2FF"/>
            </a:solidFill>
            <a:prstDash val="solid"/>
          </a:ln>
        </p:spPr>
      </p:sp>
      <p:sp>
        <p:nvSpPr>
          <p:cNvPr id="34" name="">
            <a:extLst xmlns:a="http://schemas.openxmlformats.org/drawingml/2006/main">
              <a:ext uri="{FF2B5EF4-FFF2-40B4-BE49-F238E27FC236}">
                <a16:creationId xmlns:a16="http://schemas.microsoft.com/office/drawing/2014/main" id="{4FCE4B57-8FBA-47CD-8DAB-012349896D55}"/>
              </a:ext>
            </a:extLst>
          </p:cNvPr>
          <p:cNvSpPr>
            <a:spLocks xmlns:a="http://schemas.openxmlformats.org/drawingml/2006/main" noGrp="1"/>
          </p:cNvSpPr>
          <p:nvPr/>
        </p:nvSpPr>
        <p:spPr>
          <a:xfrm xmlns:a="http://schemas.openxmlformats.org/drawingml/2006/main">
            <a:off x="7962900" y="1752600"/>
            <a:ext cx="17145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t>Latency cost</a:t>
            </a:r>
          </a:p>
        </p:txBody>
      </p:sp>
      <p:sp>
        <p:nvSpPr>
          <p:cNvPr id="35" name="">
            <a:extLst xmlns:a="http://schemas.openxmlformats.org/drawingml/2006/main">
              <a:ext uri="{FF2B5EF4-FFF2-40B4-BE49-F238E27FC236}">
                <a16:creationId xmlns:a16="http://schemas.microsoft.com/office/drawing/2014/main" id="{36F0396F-4C68-40A0-9ED3-1D1120F5346D}"/>
              </a:ext>
            </a:extLst>
          </p:cNvPr>
          <p:cNvSpPr>
            <a:spLocks xmlns:a="http://schemas.openxmlformats.org/drawingml/2006/main" noGrp="1"/>
          </p:cNvSpPr>
          <p:nvPr/>
        </p:nvSpPr>
        <p:spPr>
          <a:xfrm xmlns:a="http://schemas.openxmlformats.org/drawingml/2006/main">
            <a:off x="7962900" y="2219325"/>
            <a:ext cx="1619250" cy="333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563EB"/>
                </a:solidFill>
                <a:latin typeface="Aptos"/>
                <a:ea typeface="Aptos"/>
                <a:cs typeface="Aptos"/>
              </a:defRPr>
            </a:pPr>
            <a:r>
              <a:t>+606.7 ms</a:t>
            </a:r>
          </a:p>
        </p:txBody>
      </p:sp>
      <p:sp>
        <p:nvSpPr>
          <p:cNvPr id="36" name="">
            <a:extLst xmlns:a="http://schemas.openxmlformats.org/drawingml/2006/main">
              <a:ext uri="{FF2B5EF4-FFF2-40B4-BE49-F238E27FC236}">
                <a16:creationId xmlns:a16="http://schemas.microsoft.com/office/drawing/2014/main" id="{48E29F33-8BC1-4506-A939-B3814FE19959}"/>
              </a:ext>
            </a:extLst>
          </p:cNvPr>
          <p:cNvSpPr>
            <a:spLocks xmlns:a="http://schemas.openxmlformats.org/drawingml/2006/main" noGrp="1"/>
          </p:cNvSpPr>
          <p:nvPr/>
        </p:nvSpPr>
        <p:spPr>
          <a:xfrm xmlns:a="http://schemas.openxmlformats.org/drawingml/2006/main">
            <a:off x="7962900" y="2581275"/>
            <a:ext cx="1714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average top-k contrast</a:t>
            </a:r>
          </a:p>
        </p:txBody>
      </p:sp>
      <p:sp>
        <p:nvSpPr>
          <p:cNvPr id="37" name="">
            <a:extLst xmlns:a="http://schemas.openxmlformats.org/drawingml/2006/main">
              <a:ext uri="{FF2B5EF4-FFF2-40B4-BE49-F238E27FC236}">
                <a16:creationId xmlns:a16="http://schemas.microsoft.com/office/drawing/2014/main" id="{7279A118-ABC7-4E23-B1DD-2F67E6232E47}"/>
              </a:ext>
            </a:extLst>
          </p:cNvPr>
          <p:cNvSpPr>
            <a:spLocks xmlns:a="http://schemas.openxmlformats.org/drawingml/2006/main" noGrp="1"/>
          </p:cNvSpPr>
          <p:nvPr/>
        </p:nvSpPr>
        <p:spPr>
          <a:xfrm xmlns:a="http://schemas.openxmlformats.org/drawingml/2006/main">
            <a:off x="9848850" y="2219325"/>
            <a:ext cx="1619250" cy="333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0F9D8A"/>
                </a:solidFill>
                <a:latin typeface="Aptos"/>
                <a:ea typeface="Aptos"/>
                <a:cs typeface="Aptos"/>
              </a:defRPr>
            </a:pPr>
            <a:r>
              <a:t>+772.9 ms</a:t>
            </a:r>
          </a:p>
        </p:txBody>
      </p:sp>
      <p:sp>
        <p:nvSpPr>
          <p:cNvPr id="38" name="">
            <a:extLst xmlns:a="http://schemas.openxmlformats.org/drawingml/2006/main">
              <a:ext uri="{FF2B5EF4-FFF2-40B4-BE49-F238E27FC236}">
                <a16:creationId xmlns:a16="http://schemas.microsoft.com/office/drawing/2014/main" id="{8AD80866-B184-42CA-9B53-424E8CD9EF6F}"/>
              </a:ext>
            </a:extLst>
          </p:cNvPr>
          <p:cNvSpPr>
            <a:spLocks xmlns:a="http://schemas.openxmlformats.org/drawingml/2006/main" noGrp="1"/>
          </p:cNvSpPr>
          <p:nvPr/>
        </p:nvSpPr>
        <p:spPr>
          <a:xfrm xmlns:a="http://schemas.openxmlformats.org/drawingml/2006/main">
            <a:off x="9848850" y="2581275"/>
            <a:ext cx="1714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average reranking contrast</a:t>
            </a:r>
          </a:p>
        </p:txBody>
      </p:sp>
      <p:sp>
        <p:nvSpPr>
          <p:cNvPr id="39" name="">
            <a:extLst xmlns:a="http://schemas.openxmlformats.org/drawingml/2006/main">
              <a:ext uri="{FF2B5EF4-FFF2-40B4-BE49-F238E27FC236}">
                <a16:creationId xmlns:a16="http://schemas.microsoft.com/office/drawing/2014/main" id="{5ECC7D3D-828A-4F1E-932B-F21A66DCBABB}"/>
              </a:ext>
            </a:extLst>
          </p:cNvPr>
          <p:cNvSpPr>
            <a:spLocks xmlns:a="http://schemas.openxmlformats.org/drawingml/2006/main" noGrp="1"/>
          </p:cNvSpPr>
          <p:nvPr/>
        </p:nvSpPr>
        <p:spPr>
          <a:xfrm xmlns:a="http://schemas.openxmlformats.org/drawingml/2006/main">
            <a:off x="7715250" y="3638550"/>
            <a:ext cx="4076700" cy="1790700"/>
          </a:xfrm>
          <a:prstGeom xmlns:a="http://schemas.openxmlformats.org/drawingml/2006/main" prst="roundRect">
            <a:avLst>
              <a:gd name="adj" fmla="val 4255"/>
            </a:avLst>
          </a:prstGeom>
          <a:solidFill xmlns:a="http://schemas.openxmlformats.org/drawingml/2006/main">
            <a:srgbClr val="F3F5F7"/>
          </a:solidFill>
          <a:ln xmlns:a="http://schemas.openxmlformats.org/drawingml/2006/main" w="0">
            <a:solidFill>
              <a:srgbClr val="F3F5F7"/>
            </a:solidFill>
            <a:prstDash val="solid"/>
          </a:ln>
        </p:spPr>
      </p:sp>
      <p:sp>
        <p:nvSpPr>
          <p:cNvPr id="40" name="">
            <a:extLst xmlns:a="http://schemas.openxmlformats.org/drawingml/2006/main">
              <a:ext uri="{FF2B5EF4-FFF2-40B4-BE49-F238E27FC236}">
                <a16:creationId xmlns:a16="http://schemas.microsoft.com/office/drawing/2014/main" id="{E3D4399B-D1AA-4C0F-81C4-CEE5BCF8B939}"/>
              </a:ext>
            </a:extLst>
          </p:cNvPr>
          <p:cNvSpPr>
            <a:spLocks xmlns:a="http://schemas.openxmlformats.org/drawingml/2006/main" noGrp="1"/>
          </p:cNvSpPr>
          <p:nvPr/>
        </p:nvSpPr>
        <p:spPr>
          <a:xfrm xmlns:a="http://schemas.openxmlformats.org/drawingml/2006/main">
            <a:off x="7962900" y="3867150"/>
            <a:ext cx="2381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t>Interaction matters</a:t>
            </a:r>
          </a:p>
        </p:txBody>
      </p:sp>
      <p:sp>
        <p:nvSpPr>
          <p:cNvPr id="41" name="">
            <a:extLst xmlns:a="http://schemas.openxmlformats.org/drawingml/2006/main">
              <a:ext uri="{FF2B5EF4-FFF2-40B4-BE49-F238E27FC236}">
                <a16:creationId xmlns:a16="http://schemas.microsoft.com/office/drawing/2014/main" id="{E293A5F9-A921-4B57-8A94-1530EE5A80F7}"/>
              </a:ext>
            </a:extLst>
          </p:cNvPr>
          <p:cNvSpPr>
            <a:spLocks xmlns:a="http://schemas.openxmlformats.org/drawingml/2006/main" noGrp="1"/>
          </p:cNvSpPr>
          <p:nvPr/>
        </p:nvSpPr>
        <p:spPr>
          <a:xfrm xmlns:a="http://schemas.openxmlformats.org/drawingml/2006/main">
            <a:off x="7962900" y="4333875"/>
            <a:ext cx="2381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Reranking at fixed top-k 3</a:t>
            </a:r>
          </a:p>
        </p:txBody>
      </p:sp>
      <p:sp>
        <p:nvSpPr>
          <p:cNvPr id="42" name="">
            <a:extLst xmlns:a="http://schemas.openxmlformats.org/drawingml/2006/main">
              <a:ext uri="{FF2B5EF4-FFF2-40B4-BE49-F238E27FC236}">
                <a16:creationId xmlns:a16="http://schemas.microsoft.com/office/drawing/2014/main" id="{98DF367B-3BD0-477F-B9F2-3473A3236238}"/>
              </a:ext>
            </a:extLst>
          </p:cNvPr>
          <p:cNvSpPr>
            <a:spLocks xmlns:a="http://schemas.openxmlformats.org/drawingml/2006/main" noGrp="1"/>
          </p:cNvSpPr>
          <p:nvPr/>
        </p:nvSpPr>
        <p:spPr>
          <a:xfrm xmlns:a="http://schemas.openxmlformats.org/drawingml/2006/main">
            <a:off x="7962900" y="4657725"/>
            <a:ext cx="2476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DC4C3E"/>
                </a:solidFill>
                <a:latin typeface="Aptos"/>
                <a:ea typeface="Aptos"/>
                <a:cs typeface="Aptos"/>
              </a:defRPr>
            </a:pPr>
            <a:r>
              <a:t>Δ Faithfulness  −0.016</a:t>
            </a:r>
          </a:p>
        </p:txBody>
      </p:sp>
      <p:sp>
        <p:nvSpPr>
          <p:cNvPr id="43" name="">
            <a:extLst xmlns:a="http://schemas.openxmlformats.org/drawingml/2006/main">
              <a:ext uri="{FF2B5EF4-FFF2-40B4-BE49-F238E27FC236}">
                <a16:creationId xmlns:a16="http://schemas.microsoft.com/office/drawing/2014/main" id="{10FD2E91-16E7-4A32-8043-C939763066AD}"/>
              </a:ext>
            </a:extLst>
          </p:cNvPr>
          <p:cNvSpPr>
            <a:spLocks xmlns:a="http://schemas.openxmlformats.org/drawingml/2006/main" noGrp="1"/>
          </p:cNvSpPr>
          <p:nvPr/>
        </p:nvSpPr>
        <p:spPr>
          <a:xfrm xmlns:a="http://schemas.openxmlformats.org/drawingml/2006/main">
            <a:off x="7962900" y="5019675"/>
            <a:ext cx="3429000" cy="285750"/>
          </a:xfrm>
          <a:prstGeom xmlns:a="http://schemas.openxmlformats.org/drawingml/2006/main" prst="rect">
            <a:avLst/>
          </a:prstGeom>
        </p:spPr>
        <p:txBody>
          <a:bodyPr xmlns:a="http://schemas.openxmlformats.org/drawingml/2006/main" wrap="square" lIns="0" tIns="0" rIns="0" bIns="0" anchor="t">
            <a:normAutofit fontScale="95750"/>
          </a:bodyPr>
          <a:lstStyle xmlns:a="http://schemas.openxmlformats.org/drawingml/2006/main"/>
          <a:p xmlns:a="http://schemas.openxmlformats.org/drawingml/2006/main">
            <a:pPr algn="l">
              <a:defRPr sz="1125" b="0">
                <a:solidFill>
                  <a:srgbClr val="5B6472"/>
                </a:solidFill>
                <a:latin typeface="Aptos"/>
                <a:ea typeface="Aptos"/>
                <a:cs typeface="Aptos"/>
              </a:defRPr>
            </a:pPr>
            <a:r>
              <a:t>The average benefit is not uniform across operating points.</a:t>
            </a:r>
          </a:p>
        </p:txBody>
      </p:sp>
      <p:sp>
        <p:nvSpPr>
          <p:cNvPr id="44" name="">
            <a:extLst xmlns:a="http://schemas.openxmlformats.org/drawingml/2006/main">
              <a:ext uri="{FF2B5EF4-FFF2-40B4-BE49-F238E27FC236}">
                <a16:creationId xmlns:a16="http://schemas.microsoft.com/office/drawing/2014/main" id="{A6532FBE-AAAA-4559-AAED-1BF4E9846DFA}"/>
              </a:ext>
            </a:extLst>
          </p:cNvPr>
          <p:cNvSpPr>
            <a:spLocks xmlns:a="http://schemas.openxmlformats.org/drawingml/2006/main" noGrp="1"/>
          </p:cNvSpPr>
          <p:nvPr/>
        </p:nvSpPr>
        <p:spPr>
          <a:xfrm xmlns:a="http://schemas.openxmlformats.org/drawingml/2006/main">
            <a:off x="7715250" y="5753100"/>
            <a:ext cx="4076700" cy="238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5B6472"/>
                </a:solidFill>
                <a:latin typeface="Aptos"/>
                <a:ea typeface="Aptos"/>
                <a:cs typeface="Aptos"/>
              </a:defRPr>
            </a:pPr>
            <a:r>
              <a:t>45 matched contrasts: 18 chunk-size · 18 top-k · 9 reranking</a:t>
            </a:r>
          </a:p>
        </p:txBody>
      </p:sp>
    </p:spTree>
    <p:extLst>
      <p:ext uri="{BB962C8B-B14F-4D97-AF65-F5344CB8AC3E}">
        <p14:creationId xmlns:p14="http://schemas.microsoft.com/office/powerpoint/2010/main" val="3200013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385EE717-CB49-431A-891E-9513431FE8C9}"/>
              </a:ext>
            </a:extLst>
          </p:cNvPr>
          <p:cNvSpPr>
            <a:spLocks xmlns:a="http://schemas.openxmlformats.org/drawingml/2006/main" noGrp="1"/>
          </p:cNvSpPr>
          <p:nvPr/>
        </p:nvSpPr>
        <p:spPr>
          <a:xfrm xmlns:a="http://schemas.openxmlformats.org/drawingml/2006/main">
            <a:off x="400050" y="228600"/>
            <a:ext cx="4953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563EB"/>
                </a:solidFill>
                <a:latin typeface="Aptos"/>
                <a:ea typeface="Aptos"/>
                <a:cs typeface="Aptos"/>
              </a:defRPr>
            </a:pPr>
            <a:r>
              <a:t>PHASE C · WEEK 5–6</a:t>
            </a:r>
          </a:p>
        </p:txBody>
      </p:sp>
      <p:sp>
        <p:nvSpPr>
          <p:cNvPr id="2" name="">
            <a:extLst xmlns:a="http://schemas.openxmlformats.org/drawingml/2006/main">
              <a:ext uri="{FF2B5EF4-FFF2-40B4-BE49-F238E27FC236}">
                <a16:creationId xmlns:a16="http://schemas.microsoft.com/office/drawing/2014/main" id="{9852BC7D-5A7A-4372-B05B-A0A722DCA86B}"/>
              </a:ext>
            </a:extLst>
          </p:cNvPr>
          <p:cNvSpPr>
            <a:spLocks xmlns:a="http://schemas.openxmlformats.org/drawingml/2006/main" noGrp="1"/>
          </p:cNvSpPr>
          <p:nvPr/>
        </p:nvSpPr>
        <p:spPr>
          <a:xfrm xmlns:a="http://schemas.openxmlformats.org/drawingml/2006/main">
            <a:off x="400050" y="504825"/>
            <a:ext cx="11144250" cy="590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111827"/>
                </a:solidFill>
                <a:latin typeface="Aptos"/>
                <a:ea typeface="Aptos"/>
                <a:cs typeface="Aptos"/>
              </a:defRPr>
            </a:pPr>
            <a:r>
              <a:t>PIC 2.0 needs class-specific readiness metrics</a:t>
            </a:r>
          </a:p>
        </p:txBody>
      </p:sp>
      <p:cxnSp>
        <p:nvCxnSpPr>
          <p:cNvPr id="52"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D7DCE3"/>
            </a:solidFill>
            <a:prstDash val="solid"/>
          </a:ln>
        </p:spPr>
      </p:cxnSp>
      <p:sp>
        <p:nvSpPr>
          <p:cNvPr id="4" name="">
            <a:extLst xmlns:a="http://schemas.openxmlformats.org/drawingml/2006/main">
              <a:ext uri="{FF2B5EF4-FFF2-40B4-BE49-F238E27FC236}">
                <a16:creationId xmlns:a16="http://schemas.microsoft.com/office/drawing/2014/main" id="{0A9E56FC-50EF-4715-9299-DCAC4AF93DC4}"/>
              </a:ext>
            </a:extLst>
          </p:cNvPr>
          <p:cNvSpPr>
            <a:spLocks xmlns:a="http://schemas.openxmlformats.org/drawingml/2006/main" noGrp="1"/>
          </p:cNvSpPr>
          <p:nvPr/>
        </p:nvSpPr>
        <p:spPr>
          <a:xfrm xmlns:a="http://schemas.openxmlformats.org/drawingml/2006/main">
            <a:off x="11277600" y="6381750"/>
            <a:ext cx="4953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A93A2"/>
                </a:solidFill>
                <a:latin typeface="Aptos"/>
                <a:ea typeface="Aptos"/>
                <a:cs typeface="Aptos"/>
              </a:defRPr>
            </a:pPr>
            <a:r>
              <a:t>07</a:t>
            </a:r>
          </a:p>
        </p:txBody>
      </p:sp>
      <p:sp>
        <p:nvSpPr>
          <p:cNvPr id="5" name="">
            <a:extLst xmlns:a="http://schemas.openxmlformats.org/drawingml/2006/main">
              <a:ext uri="{FF2B5EF4-FFF2-40B4-BE49-F238E27FC236}">
                <a16:creationId xmlns:a16="http://schemas.microsoft.com/office/drawing/2014/main" id="{FC531EE4-4C5F-4B35-857B-C8EA80ADA2D1}"/>
              </a:ext>
            </a:extLst>
          </p:cNvPr>
          <p:cNvSpPr>
            <a:spLocks xmlns:a="http://schemas.openxmlformats.org/drawingml/2006/main" noGrp="1"/>
          </p:cNvSpPr>
          <p:nvPr/>
        </p:nvSpPr>
        <p:spPr>
          <a:xfrm xmlns:a="http://schemas.openxmlformats.org/drawingml/2006/main">
            <a:off x="400050" y="1504950"/>
            <a:ext cx="3581400" cy="1581150"/>
          </a:xfrm>
          <a:prstGeom xmlns:a="http://schemas.openxmlformats.org/drawingml/2006/main" prst="roundRect">
            <a:avLst>
              <a:gd name="adj" fmla="val 4819"/>
            </a:avLst>
          </a:prstGeom>
          <a:solidFill xmlns:a="http://schemas.openxmlformats.org/drawingml/2006/main">
            <a:srgbClr val="F3F5F7"/>
          </a:solidFill>
          <a:ln xmlns:a="http://schemas.openxmlformats.org/drawingml/2006/main" w="0">
            <a:solidFill>
              <a:srgbClr val="F3F5F7"/>
            </a:solidFill>
            <a:prstDash val="solid"/>
          </a:ln>
        </p:spPr>
      </p:sp>
      <p:sp>
        <p:nvSpPr>
          <p:cNvPr id="6" name="">
            <a:extLst xmlns:a="http://schemas.openxmlformats.org/drawingml/2006/main">
              <a:ext uri="{FF2B5EF4-FFF2-40B4-BE49-F238E27FC236}">
                <a16:creationId xmlns:a16="http://schemas.microsoft.com/office/drawing/2014/main" id="{445705B0-8787-4381-83B8-C6A68F57DE29}"/>
              </a:ext>
            </a:extLst>
          </p:cNvPr>
          <p:cNvSpPr>
            <a:spLocks xmlns:a="http://schemas.openxmlformats.org/drawingml/2006/main" noGrp="1"/>
          </p:cNvSpPr>
          <p:nvPr/>
        </p:nvSpPr>
        <p:spPr>
          <a:xfrm xmlns:a="http://schemas.openxmlformats.org/drawingml/2006/main">
            <a:off x="400050" y="1504950"/>
            <a:ext cx="95250" cy="158115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7" name="">
            <a:extLst xmlns:a="http://schemas.openxmlformats.org/drawingml/2006/main">
              <a:ext uri="{FF2B5EF4-FFF2-40B4-BE49-F238E27FC236}">
                <a16:creationId xmlns:a16="http://schemas.microsoft.com/office/drawing/2014/main" id="{2270E116-9170-4BE6-95AA-1F135F1DD128}"/>
              </a:ext>
            </a:extLst>
          </p:cNvPr>
          <p:cNvSpPr>
            <a:spLocks xmlns:a="http://schemas.openxmlformats.org/drawingml/2006/main" noGrp="1"/>
          </p:cNvSpPr>
          <p:nvPr/>
        </p:nvSpPr>
        <p:spPr>
          <a:xfrm xmlns:a="http://schemas.openxmlformats.org/drawingml/2006/main">
            <a:off x="685800" y="171450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t>AMDC</a:t>
            </a:r>
          </a:p>
        </p:txBody>
      </p:sp>
      <p:sp>
        <p:nvSpPr>
          <p:cNvPr id="8" name="">
            <a:extLst xmlns:a="http://schemas.openxmlformats.org/drawingml/2006/main">
              <a:ext uri="{FF2B5EF4-FFF2-40B4-BE49-F238E27FC236}">
                <a16:creationId xmlns:a16="http://schemas.microsoft.com/office/drawing/2014/main" id="{250754FB-7C6D-4033-9B8F-5F3405B0457D}"/>
              </a:ext>
            </a:extLst>
          </p:cNvPr>
          <p:cNvSpPr>
            <a:spLocks xmlns:a="http://schemas.openxmlformats.org/drawingml/2006/main" noGrp="1"/>
          </p:cNvSpPr>
          <p:nvPr/>
        </p:nvSpPr>
        <p:spPr>
          <a:xfrm xmlns:a="http://schemas.openxmlformats.org/drawingml/2006/main">
            <a:off x="2190750" y="1771650"/>
            <a:ext cx="1504950" cy="238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0F9D8A"/>
                </a:solidFill>
                <a:latin typeface="Aptos"/>
                <a:ea typeface="Aptos"/>
                <a:cs typeface="Aptos"/>
              </a:defRPr>
            </a:pPr>
            <a:r>
              <a:t>Broadest direct proxy</a:t>
            </a:r>
          </a:p>
        </p:txBody>
      </p:sp>
      <p:cxnSp>
        <p:nvCxnSpPr>
          <p:cNvPr id="58" name=""/>
          <p:cNvCxnSpPr/>
          <p:nvPr/>
        </p:nvCxnSpPr>
        <p:spPr>
          <a:xfrm xmlns:a="http://schemas.openxmlformats.org/drawingml/2006/main">
            <a:off x="685800" y="2190750"/>
            <a:ext cx="3009900" cy="95"/>
          </a:xfrm>
          <a:prstGeom xmlns:a="http://schemas.openxmlformats.org/drawingml/2006/main" prst="straightConnector1">
            <a:avLst/>
          </a:prstGeom>
          <a:ln xmlns:a="http://schemas.openxmlformats.org/drawingml/2006/main" w="9525">
            <a:solidFill>
              <a:srgbClr val="D7DCE3"/>
            </a:solidFill>
            <a:prstDash val="solid"/>
          </a:ln>
        </p:spPr>
      </p:cxnSp>
      <p:sp>
        <p:nvSpPr>
          <p:cNvPr id="10" name="">
            <a:extLst xmlns:a="http://schemas.openxmlformats.org/drawingml/2006/main">
              <a:ext uri="{FF2B5EF4-FFF2-40B4-BE49-F238E27FC236}">
                <a16:creationId xmlns:a16="http://schemas.microsoft.com/office/drawing/2014/main" id="{99DBB667-0F12-4F15-8F37-DA16AB17304E}"/>
              </a:ext>
            </a:extLst>
          </p:cNvPr>
          <p:cNvSpPr>
            <a:spLocks xmlns:a="http://schemas.openxmlformats.org/drawingml/2006/main" noGrp="1"/>
          </p:cNvSpPr>
          <p:nvPr/>
        </p:nvSpPr>
        <p:spPr>
          <a:xfrm xmlns:a="http://schemas.openxmlformats.org/drawingml/2006/main">
            <a:off x="685800" y="2371725"/>
            <a:ext cx="1428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Readiness metric</a:t>
            </a:r>
          </a:p>
        </p:txBody>
      </p:sp>
      <p:sp>
        <p:nvSpPr>
          <p:cNvPr id="11" name="">
            <a:extLst xmlns:a="http://schemas.openxmlformats.org/drawingml/2006/main">
              <a:ext uri="{FF2B5EF4-FFF2-40B4-BE49-F238E27FC236}">
                <a16:creationId xmlns:a16="http://schemas.microsoft.com/office/drawing/2014/main" id="{134395C7-8CF2-4595-BDFB-F0F57CF630D3}"/>
              </a:ext>
            </a:extLst>
          </p:cNvPr>
          <p:cNvSpPr>
            <a:spLocks xmlns:a="http://schemas.openxmlformats.org/drawingml/2006/main" noGrp="1"/>
          </p:cNvSpPr>
          <p:nvPr/>
        </p:nvSpPr>
        <p:spPr>
          <a:xfrm xmlns:a="http://schemas.openxmlformats.org/drawingml/2006/main">
            <a:off x="685800" y="2628900"/>
            <a:ext cx="30099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Aptos"/>
                <a:ea typeface="Aptos"/>
                <a:cs typeface="Aptos"/>
              </a:defRPr>
            </a:pPr>
            <a:r>
              <a:t>Modality-degradation AUC</a:t>
            </a:r>
          </a:p>
        </p:txBody>
      </p:sp>
      <p:sp>
        <p:nvSpPr>
          <p:cNvPr id="12" name="">
            <a:extLst xmlns:a="http://schemas.openxmlformats.org/drawingml/2006/main">
              <a:ext uri="{FF2B5EF4-FFF2-40B4-BE49-F238E27FC236}">
                <a16:creationId xmlns:a16="http://schemas.microsoft.com/office/drawing/2014/main" id="{A4E64348-21F8-402E-AE18-6F82541977A6}"/>
              </a:ext>
            </a:extLst>
          </p:cNvPr>
          <p:cNvSpPr>
            <a:spLocks xmlns:a="http://schemas.openxmlformats.org/drawingml/2006/main" noGrp="1"/>
          </p:cNvSpPr>
          <p:nvPr/>
        </p:nvSpPr>
        <p:spPr>
          <a:xfrm xmlns:a="http://schemas.openxmlformats.org/drawingml/2006/main">
            <a:off x="4305300" y="1504950"/>
            <a:ext cx="3581400" cy="1581150"/>
          </a:xfrm>
          <a:prstGeom xmlns:a="http://schemas.openxmlformats.org/drawingml/2006/main" prst="roundRect">
            <a:avLst>
              <a:gd name="adj" fmla="val 4819"/>
            </a:avLst>
          </a:prstGeom>
          <a:solidFill xmlns:a="http://schemas.openxmlformats.org/drawingml/2006/main">
            <a:srgbClr val="F3F5F7"/>
          </a:solidFill>
          <a:ln xmlns:a="http://schemas.openxmlformats.org/drawingml/2006/main" w="0">
            <a:solidFill>
              <a:srgbClr val="F3F5F7"/>
            </a:solidFill>
            <a:prstDash val="solid"/>
          </a:ln>
        </p:spPr>
      </p:sp>
      <p:sp>
        <p:nvSpPr>
          <p:cNvPr id="13" name="">
            <a:extLst xmlns:a="http://schemas.openxmlformats.org/drawingml/2006/main">
              <a:ext uri="{FF2B5EF4-FFF2-40B4-BE49-F238E27FC236}">
                <a16:creationId xmlns:a16="http://schemas.microsoft.com/office/drawing/2014/main" id="{C52669F5-92BB-4DF4-A043-F009C5CFE5B0}"/>
              </a:ext>
            </a:extLst>
          </p:cNvPr>
          <p:cNvSpPr>
            <a:spLocks xmlns:a="http://schemas.openxmlformats.org/drawingml/2006/main" noGrp="1"/>
          </p:cNvSpPr>
          <p:nvPr/>
        </p:nvSpPr>
        <p:spPr>
          <a:xfrm xmlns:a="http://schemas.openxmlformats.org/drawingml/2006/main">
            <a:off x="4305300" y="1504950"/>
            <a:ext cx="95250" cy="15811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4" name="">
            <a:extLst xmlns:a="http://schemas.openxmlformats.org/drawingml/2006/main">
              <a:ext uri="{FF2B5EF4-FFF2-40B4-BE49-F238E27FC236}">
                <a16:creationId xmlns:a16="http://schemas.microsoft.com/office/drawing/2014/main" id="{3486432A-92CF-4A74-9894-10B4A3E5573C}"/>
              </a:ext>
            </a:extLst>
          </p:cNvPr>
          <p:cNvSpPr>
            <a:spLocks xmlns:a="http://schemas.openxmlformats.org/drawingml/2006/main" noGrp="1"/>
          </p:cNvSpPr>
          <p:nvPr/>
        </p:nvSpPr>
        <p:spPr>
          <a:xfrm xmlns:a="http://schemas.openxmlformats.org/drawingml/2006/main">
            <a:off x="4591050" y="171450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t>GRPO</a:t>
            </a:r>
          </a:p>
        </p:txBody>
      </p:sp>
      <p:sp>
        <p:nvSpPr>
          <p:cNvPr id="15" name="">
            <a:extLst xmlns:a="http://schemas.openxmlformats.org/drawingml/2006/main">
              <a:ext uri="{FF2B5EF4-FFF2-40B4-BE49-F238E27FC236}">
                <a16:creationId xmlns:a16="http://schemas.microsoft.com/office/drawing/2014/main" id="{235A95BD-EDD0-4A7B-A79D-D27A55E47FF6}"/>
              </a:ext>
            </a:extLst>
          </p:cNvPr>
          <p:cNvSpPr>
            <a:spLocks xmlns:a="http://schemas.openxmlformats.org/drawingml/2006/main" noGrp="1"/>
          </p:cNvSpPr>
          <p:nvPr/>
        </p:nvSpPr>
        <p:spPr>
          <a:xfrm xmlns:a="http://schemas.openxmlformats.org/drawingml/2006/main">
            <a:off x="6096000" y="1771650"/>
            <a:ext cx="1504950" cy="238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2563EB"/>
                </a:solidFill>
                <a:latin typeface="Aptos"/>
                <a:ea typeface="Aptos"/>
                <a:cs typeface="Aptos"/>
              </a:defRPr>
            </a:pPr>
            <a:r>
              <a:t>Text plans only</a:t>
            </a:r>
          </a:p>
        </p:txBody>
      </p:sp>
      <p:cxnSp>
        <p:nvCxnSpPr>
          <p:cNvPr id="65" name=""/>
          <p:cNvCxnSpPr/>
          <p:nvPr/>
        </p:nvCxnSpPr>
        <p:spPr>
          <a:xfrm xmlns:a="http://schemas.openxmlformats.org/drawingml/2006/main">
            <a:off x="4591050" y="2190750"/>
            <a:ext cx="3009900" cy="95"/>
          </a:xfrm>
          <a:prstGeom xmlns:a="http://schemas.openxmlformats.org/drawingml/2006/main" prst="straightConnector1">
            <a:avLst/>
          </a:prstGeom>
          <a:ln xmlns:a="http://schemas.openxmlformats.org/drawingml/2006/main" w="9525">
            <a:solidFill>
              <a:srgbClr val="D7DCE3"/>
            </a:solidFill>
            <a:prstDash val="solid"/>
          </a:ln>
        </p:spPr>
      </p:cxnSp>
      <p:sp>
        <p:nvSpPr>
          <p:cNvPr id="17" name="">
            <a:extLst xmlns:a="http://schemas.openxmlformats.org/drawingml/2006/main">
              <a:ext uri="{FF2B5EF4-FFF2-40B4-BE49-F238E27FC236}">
                <a16:creationId xmlns:a16="http://schemas.microsoft.com/office/drawing/2014/main" id="{D8BCD6D5-07C1-49AE-BD14-17988E920C20}"/>
              </a:ext>
            </a:extLst>
          </p:cNvPr>
          <p:cNvSpPr>
            <a:spLocks xmlns:a="http://schemas.openxmlformats.org/drawingml/2006/main" noGrp="1"/>
          </p:cNvSpPr>
          <p:nvPr/>
        </p:nvSpPr>
        <p:spPr>
          <a:xfrm xmlns:a="http://schemas.openxmlformats.org/drawingml/2006/main">
            <a:off x="4591050" y="2371725"/>
            <a:ext cx="1428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Readiness metric</a:t>
            </a:r>
          </a:p>
        </p:txBody>
      </p:sp>
      <p:sp>
        <p:nvSpPr>
          <p:cNvPr id="18" name="">
            <a:extLst xmlns:a="http://schemas.openxmlformats.org/drawingml/2006/main">
              <a:ext uri="{FF2B5EF4-FFF2-40B4-BE49-F238E27FC236}">
                <a16:creationId xmlns:a16="http://schemas.microsoft.com/office/drawing/2014/main" id="{E66DE871-F10C-4E75-86D4-452101D33DC3}"/>
              </a:ext>
            </a:extLst>
          </p:cNvPr>
          <p:cNvSpPr>
            <a:spLocks xmlns:a="http://schemas.openxmlformats.org/drawingml/2006/main" noGrp="1"/>
          </p:cNvSpPr>
          <p:nvPr/>
        </p:nvSpPr>
        <p:spPr>
          <a:xfrm xmlns:a="http://schemas.openxmlformats.org/drawingml/2006/main">
            <a:off x="4591050" y="2628900"/>
            <a:ext cx="30099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Aptos"/>
                <a:ea typeface="Aptos"/>
                <a:cs typeface="Aptos"/>
              </a:defRPr>
            </a:pPr>
            <a:r>
              <a:t>Constrained goal-success rate</a:t>
            </a:r>
          </a:p>
        </p:txBody>
      </p:sp>
      <p:sp>
        <p:nvSpPr>
          <p:cNvPr id="19" name="">
            <a:extLst xmlns:a="http://schemas.openxmlformats.org/drawingml/2006/main">
              <a:ext uri="{FF2B5EF4-FFF2-40B4-BE49-F238E27FC236}">
                <a16:creationId xmlns:a16="http://schemas.microsoft.com/office/drawing/2014/main" id="{A9A4016A-6161-4F8C-92BD-A5D276CB5910}"/>
              </a:ext>
            </a:extLst>
          </p:cNvPr>
          <p:cNvSpPr>
            <a:spLocks xmlns:a="http://schemas.openxmlformats.org/drawingml/2006/main" noGrp="1"/>
          </p:cNvSpPr>
          <p:nvPr/>
        </p:nvSpPr>
        <p:spPr>
          <a:xfrm xmlns:a="http://schemas.openxmlformats.org/drawingml/2006/main">
            <a:off x="8210550" y="1504950"/>
            <a:ext cx="3581400" cy="1581150"/>
          </a:xfrm>
          <a:prstGeom xmlns:a="http://schemas.openxmlformats.org/drawingml/2006/main" prst="roundRect">
            <a:avLst>
              <a:gd name="adj" fmla="val 4819"/>
            </a:avLst>
          </a:prstGeom>
          <a:solidFill xmlns:a="http://schemas.openxmlformats.org/drawingml/2006/main">
            <a:srgbClr val="F3F5F7"/>
          </a:solidFill>
          <a:ln xmlns:a="http://schemas.openxmlformats.org/drawingml/2006/main" w="0">
            <a:solidFill>
              <a:srgbClr val="F3F5F7"/>
            </a:solidFill>
            <a:prstDash val="solid"/>
          </a:ln>
        </p:spPr>
      </p:sp>
      <p:sp>
        <p:nvSpPr>
          <p:cNvPr id="20" name="">
            <a:extLst xmlns:a="http://schemas.openxmlformats.org/drawingml/2006/main">
              <a:ext uri="{FF2B5EF4-FFF2-40B4-BE49-F238E27FC236}">
                <a16:creationId xmlns:a16="http://schemas.microsoft.com/office/drawing/2014/main" id="{3412C69B-2CDC-4425-A8DA-FE4850229863}"/>
              </a:ext>
            </a:extLst>
          </p:cNvPr>
          <p:cNvSpPr>
            <a:spLocks xmlns:a="http://schemas.openxmlformats.org/drawingml/2006/main" noGrp="1"/>
          </p:cNvSpPr>
          <p:nvPr/>
        </p:nvSpPr>
        <p:spPr>
          <a:xfrm xmlns:a="http://schemas.openxmlformats.org/drawingml/2006/main">
            <a:off x="8210550" y="1504950"/>
            <a:ext cx="95250" cy="15811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1" name="">
            <a:extLst xmlns:a="http://schemas.openxmlformats.org/drawingml/2006/main">
              <a:ext uri="{FF2B5EF4-FFF2-40B4-BE49-F238E27FC236}">
                <a16:creationId xmlns:a16="http://schemas.microsoft.com/office/drawing/2014/main" id="{4264D4FE-17A8-4C33-98FD-A04242D349E2}"/>
              </a:ext>
            </a:extLst>
          </p:cNvPr>
          <p:cNvSpPr>
            <a:spLocks xmlns:a="http://schemas.openxmlformats.org/drawingml/2006/main" noGrp="1"/>
          </p:cNvSpPr>
          <p:nvPr/>
        </p:nvSpPr>
        <p:spPr>
          <a:xfrm xmlns:a="http://schemas.openxmlformats.org/drawingml/2006/main">
            <a:off x="8496300" y="171450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t>HTD-IRL</a:t>
            </a:r>
          </a:p>
        </p:txBody>
      </p:sp>
      <p:sp>
        <p:nvSpPr>
          <p:cNvPr id="22" name="">
            <a:extLst xmlns:a="http://schemas.openxmlformats.org/drawingml/2006/main">
              <a:ext uri="{FF2B5EF4-FFF2-40B4-BE49-F238E27FC236}">
                <a16:creationId xmlns:a16="http://schemas.microsoft.com/office/drawing/2014/main" id="{10BE42FB-0D16-4FAC-90D3-60F45CCE3E37}"/>
              </a:ext>
            </a:extLst>
          </p:cNvPr>
          <p:cNvSpPr>
            <a:spLocks xmlns:a="http://schemas.openxmlformats.org/drawingml/2006/main" noGrp="1"/>
          </p:cNvSpPr>
          <p:nvPr/>
        </p:nvSpPr>
        <p:spPr>
          <a:xfrm xmlns:a="http://schemas.openxmlformats.org/drawingml/2006/main">
            <a:off x="10001250" y="1771650"/>
            <a:ext cx="1504950" cy="238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2563EB"/>
                </a:solidFill>
                <a:latin typeface="Aptos"/>
                <a:ea typeface="Aptos"/>
                <a:cs typeface="Aptos"/>
              </a:defRPr>
            </a:pPr>
            <a:r>
              <a:t>Text task graphs</a:t>
            </a:r>
          </a:p>
        </p:txBody>
      </p:sp>
      <p:cxnSp>
        <p:nvCxnSpPr>
          <p:cNvPr id="72" name=""/>
          <p:cNvCxnSpPr/>
          <p:nvPr/>
        </p:nvCxnSpPr>
        <p:spPr>
          <a:xfrm xmlns:a="http://schemas.openxmlformats.org/drawingml/2006/main">
            <a:off x="8496300" y="2190750"/>
            <a:ext cx="3009900" cy="95"/>
          </a:xfrm>
          <a:prstGeom xmlns:a="http://schemas.openxmlformats.org/drawingml/2006/main" prst="straightConnector1">
            <a:avLst/>
          </a:prstGeom>
          <a:ln xmlns:a="http://schemas.openxmlformats.org/drawingml/2006/main" w="9525">
            <a:solidFill>
              <a:srgbClr val="D7DCE3"/>
            </a:solidFill>
            <a:prstDash val="solid"/>
          </a:ln>
        </p:spPr>
      </p:cxnSp>
      <p:sp>
        <p:nvSpPr>
          <p:cNvPr id="24" name="">
            <a:extLst xmlns:a="http://schemas.openxmlformats.org/drawingml/2006/main">
              <a:ext uri="{FF2B5EF4-FFF2-40B4-BE49-F238E27FC236}">
                <a16:creationId xmlns:a16="http://schemas.microsoft.com/office/drawing/2014/main" id="{AC3A6058-AB3E-4129-9769-F1DA93646B0B}"/>
              </a:ext>
            </a:extLst>
          </p:cNvPr>
          <p:cNvSpPr>
            <a:spLocks xmlns:a="http://schemas.openxmlformats.org/drawingml/2006/main" noGrp="1"/>
          </p:cNvSpPr>
          <p:nvPr/>
        </p:nvSpPr>
        <p:spPr>
          <a:xfrm xmlns:a="http://schemas.openxmlformats.org/drawingml/2006/main">
            <a:off x="8496300" y="2371725"/>
            <a:ext cx="1428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Readiness metric</a:t>
            </a:r>
          </a:p>
        </p:txBody>
      </p:sp>
      <p:sp>
        <p:nvSpPr>
          <p:cNvPr id="25" name="">
            <a:extLst xmlns:a="http://schemas.openxmlformats.org/drawingml/2006/main">
              <a:ext uri="{FF2B5EF4-FFF2-40B4-BE49-F238E27FC236}">
                <a16:creationId xmlns:a16="http://schemas.microsoft.com/office/drawing/2014/main" id="{C9F9E41A-1959-42D4-A0F4-D683A4484806}"/>
              </a:ext>
            </a:extLst>
          </p:cNvPr>
          <p:cNvSpPr>
            <a:spLocks xmlns:a="http://schemas.openxmlformats.org/drawingml/2006/main" noGrp="1"/>
          </p:cNvSpPr>
          <p:nvPr/>
        </p:nvSpPr>
        <p:spPr>
          <a:xfrm xmlns:a="http://schemas.openxmlformats.org/drawingml/2006/main">
            <a:off x="8496300" y="2628900"/>
            <a:ext cx="30099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Aptos"/>
                <a:ea typeface="Aptos"/>
                <a:cs typeface="Aptos"/>
              </a:defRPr>
            </a:pPr>
            <a:r>
              <a:t>Dependency-violation rate</a:t>
            </a:r>
          </a:p>
        </p:txBody>
      </p:sp>
      <p:sp>
        <p:nvSpPr>
          <p:cNvPr id="26" name="">
            <a:extLst xmlns:a="http://schemas.openxmlformats.org/drawingml/2006/main">
              <a:ext uri="{FF2B5EF4-FFF2-40B4-BE49-F238E27FC236}">
                <a16:creationId xmlns:a16="http://schemas.microsoft.com/office/drawing/2014/main" id="{B7D7AAE2-DDFA-4D60-84C2-0143FDFA93CD}"/>
              </a:ext>
            </a:extLst>
          </p:cNvPr>
          <p:cNvSpPr>
            <a:spLocks xmlns:a="http://schemas.openxmlformats.org/drawingml/2006/main" noGrp="1"/>
          </p:cNvSpPr>
          <p:nvPr/>
        </p:nvSpPr>
        <p:spPr>
          <a:xfrm xmlns:a="http://schemas.openxmlformats.org/drawingml/2006/main">
            <a:off x="400050" y="3429000"/>
            <a:ext cx="3581400" cy="1581150"/>
          </a:xfrm>
          <a:prstGeom xmlns:a="http://schemas.openxmlformats.org/drawingml/2006/main" prst="roundRect">
            <a:avLst>
              <a:gd name="adj" fmla="val 4819"/>
            </a:avLst>
          </a:prstGeom>
          <a:solidFill xmlns:a="http://schemas.openxmlformats.org/drawingml/2006/main">
            <a:srgbClr val="F3F5F7"/>
          </a:solidFill>
          <a:ln xmlns:a="http://schemas.openxmlformats.org/drawingml/2006/main" w="0">
            <a:solidFill>
              <a:srgbClr val="F3F5F7"/>
            </a:solidFill>
            <a:prstDash val="solid"/>
          </a:ln>
        </p:spPr>
      </p:sp>
      <p:sp>
        <p:nvSpPr>
          <p:cNvPr id="27" name="">
            <a:extLst xmlns:a="http://schemas.openxmlformats.org/drawingml/2006/main">
              <a:ext uri="{FF2B5EF4-FFF2-40B4-BE49-F238E27FC236}">
                <a16:creationId xmlns:a16="http://schemas.microsoft.com/office/drawing/2014/main" id="{8CE7BCBC-67F8-4EFE-AC05-45856A1AEA12}"/>
              </a:ext>
            </a:extLst>
          </p:cNvPr>
          <p:cNvSpPr>
            <a:spLocks xmlns:a="http://schemas.openxmlformats.org/drawingml/2006/main" noGrp="1"/>
          </p:cNvSpPr>
          <p:nvPr/>
        </p:nvSpPr>
        <p:spPr>
          <a:xfrm xmlns:a="http://schemas.openxmlformats.org/drawingml/2006/main">
            <a:off x="400050" y="3429000"/>
            <a:ext cx="95250" cy="158115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
        <p:nvSpPr>
          <p:cNvPr id="28" name="">
            <a:extLst xmlns:a="http://schemas.openxmlformats.org/drawingml/2006/main">
              <a:ext uri="{FF2B5EF4-FFF2-40B4-BE49-F238E27FC236}">
                <a16:creationId xmlns:a16="http://schemas.microsoft.com/office/drawing/2014/main" id="{2A6B608A-3596-4504-9FE6-9E82B2E9670A}"/>
              </a:ext>
            </a:extLst>
          </p:cNvPr>
          <p:cNvSpPr>
            <a:spLocks xmlns:a="http://schemas.openxmlformats.org/drawingml/2006/main" noGrp="1"/>
          </p:cNvSpPr>
          <p:nvPr/>
        </p:nvSpPr>
        <p:spPr>
          <a:xfrm xmlns:a="http://schemas.openxmlformats.org/drawingml/2006/main">
            <a:off x="685800" y="363855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t>STUM</a:t>
            </a:r>
          </a:p>
        </p:txBody>
      </p:sp>
      <p:sp>
        <p:nvSpPr>
          <p:cNvPr id="29" name="">
            <a:extLst xmlns:a="http://schemas.openxmlformats.org/drawingml/2006/main">
              <a:ext uri="{FF2B5EF4-FFF2-40B4-BE49-F238E27FC236}">
                <a16:creationId xmlns:a16="http://schemas.microsoft.com/office/drawing/2014/main" id="{8157D62C-B955-4EAD-974F-74DFEF1939E3}"/>
              </a:ext>
            </a:extLst>
          </p:cNvPr>
          <p:cNvSpPr>
            <a:spLocks xmlns:a="http://schemas.openxmlformats.org/drawingml/2006/main" noGrp="1"/>
          </p:cNvSpPr>
          <p:nvPr/>
        </p:nvSpPr>
        <p:spPr>
          <a:xfrm xmlns:a="http://schemas.openxmlformats.org/drawingml/2006/main">
            <a:off x="2190750" y="3695700"/>
            <a:ext cx="1504950" cy="238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D97706"/>
                </a:solidFill>
                <a:latin typeface="Aptos"/>
                <a:ea typeface="Aptos"/>
                <a:cs typeface="Aptos"/>
              </a:defRPr>
            </a:pPr>
            <a:r>
              <a:t>No horizon benchmark</a:t>
            </a:r>
          </a:p>
        </p:txBody>
      </p:sp>
      <p:cxnSp>
        <p:nvCxnSpPr>
          <p:cNvPr id="79" name=""/>
          <p:cNvCxnSpPr/>
          <p:nvPr/>
        </p:nvCxnSpPr>
        <p:spPr>
          <a:xfrm xmlns:a="http://schemas.openxmlformats.org/drawingml/2006/main">
            <a:off x="685800" y="4114800"/>
            <a:ext cx="3009900" cy="95"/>
          </a:xfrm>
          <a:prstGeom xmlns:a="http://schemas.openxmlformats.org/drawingml/2006/main" prst="straightConnector1">
            <a:avLst/>
          </a:prstGeom>
          <a:ln xmlns:a="http://schemas.openxmlformats.org/drawingml/2006/main" w="9525">
            <a:solidFill>
              <a:srgbClr val="D7DCE3"/>
            </a:solidFill>
            <a:prstDash val="solid"/>
          </a:ln>
        </p:spPr>
      </p:cxnSp>
      <p:sp>
        <p:nvSpPr>
          <p:cNvPr id="31" name="">
            <a:extLst xmlns:a="http://schemas.openxmlformats.org/drawingml/2006/main">
              <a:ext uri="{FF2B5EF4-FFF2-40B4-BE49-F238E27FC236}">
                <a16:creationId xmlns:a16="http://schemas.microsoft.com/office/drawing/2014/main" id="{0A746BF5-AA24-44C1-BC57-A40D635B847D}"/>
              </a:ext>
            </a:extLst>
          </p:cNvPr>
          <p:cNvSpPr>
            <a:spLocks xmlns:a="http://schemas.openxmlformats.org/drawingml/2006/main" noGrp="1"/>
          </p:cNvSpPr>
          <p:nvPr/>
        </p:nvSpPr>
        <p:spPr>
          <a:xfrm xmlns:a="http://schemas.openxmlformats.org/drawingml/2006/main">
            <a:off x="685800" y="4295775"/>
            <a:ext cx="1428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Readiness metric</a:t>
            </a:r>
          </a:p>
        </p:txBody>
      </p:sp>
      <p:sp>
        <p:nvSpPr>
          <p:cNvPr id="32" name="">
            <a:extLst xmlns:a="http://schemas.openxmlformats.org/drawingml/2006/main">
              <a:ext uri="{FF2B5EF4-FFF2-40B4-BE49-F238E27FC236}">
                <a16:creationId xmlns:a16="http://schemas.microsoft.com/office/drawing/2014/main" id="{26761EF3-73C2-4554-A4CA-DD7FB39CA7CC}"/>
              </a:ext>
            </a:extLst>
          </p:cNvPr>
          <p:cNvSpPr>
            <a:spLocks xmlns:a="http://schemas.openxmlformats.org/drawingml/2006/main" noGrp="1"/>
          </p:cNvSpPr>
          <p:nvPr/>
        </p:nvSpPr>
        <p:spPr>
          <a:xfrm xmlns:a="http://schemas.openxmlformats.org/drawingml/2006/main">
            <a:off x="685800" y="4552950"/>
            <a:ext cx="30099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Aptos"/>
                <a:ea typeface="Aptos"/>
                <a:cs typeface="Aptos"/>
              </a:defRPr>
            </a:pPr>
            <a:r>
              <a:t>Contradiction rate by horizon</a:t>
            </a:r>
          </a:p>
        </p:txBody>
      </p:sp>
      <p:sp>
        <p:nvSpPr>
          <p:cNvPr id="33" name="">
            <a:extLst xmlns:a="http://schemas.openxmlformats.org/drawingml/2006/main">
              <a:ext uri="{FF2B5EF4-FFF2-40B4-BE49-F238E27FC236}">
                <a16:creationId xmlns:a16="http://schemas.microsoft.com/office/drawing/2014/main" id="{824B6C15-4BF6-4037-9740-AE9CB7AAF4B0}"/>
              </a:ext>
            </a:extLst>
          </p:cNvPr>
          <p:cNvSpPr>
            <a:spLocks xmlns:a="http://schemas.openxmlformats.org/drawingml/2006/main" noGrp="1"/>
          </p:cNvSpPr>
          <p:nvPr/>
        </p:nvSpPr>
        <p:spPr>
          <a:xfrm xmlns:a="http://schemas.openxmlformats.org/drawingml/2006/main">
            <a:off x="4305300" y="3429000"/>
            <a:ext cx="3581400" cy="1581150"/>
          </a:xfrm>
          <a:prstGeom xmlns:a="http://schemas.openxmlformats.org/drawingml/2006/main" prst="roundRect">
            <a:avLst>
              <a:gd name="adj" fmla="val 4819"/>
            </a:avLst>
          </a:prstGeom>
          <a:solidFill xmlns:a="http://schemas.openxmlformats.org/drawingml/2006/main">
            <a:srgbClr val="F3F5F7"/>
          </a:solidFill>
          <a:ln xmlns:a="http://schemas.openxmlformats.org/drawingml/2006/main" w="0">
            <a:solidFill>
              <a:srgbClr val="F3F5F7"/>
            </a:solidFill>
            <a:prstDash val="solid"/>
          </a:ln>
        </p:spPr>
      </p:sp>
      <p:sp>
        <p:nvSpPr>
          <p:cNvPr id="34" name="">
            <a:extLst xmlns:a="http://schemas.openxmlformats.org/drawingml/2006/main">
              <a:ext uri="{FF2B5EF4-FFF2-40B4-BE49-F238E27FC236}">
                <a16:creationId xmlns:a16="http://schemas.microsoft.com/office/drawing/2014/main" id="{B0AA87CB-5939-4176-89CF-D314085500BF}"/>
              </a:ext>
            </a:extLst>
          </p:cNvPr>
          <p:cNvSpPr>
            <a:spLocks xmlns:a="http://schemas.openxmlformats.org/drawingml/2006/main" noGrp="1"/>
          </p:cNvSpPr>
          <p:nvPr/>
        </p:nvSpPr>
        <p:spPr>
          <a:xfrm xmlns:a="http://schemas.openxmlformats.org/drawingml/2006/main">
            <a:off x="4305300" y="3429000"/>
            <a:ext cx="95250" cy="158115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
        <p:nvSpPr>
          <p:cNvPr id="35" name="">
            <a:extLst xmlns:a="http://schemas.openxmlformats.org/drawingml/2006/main">
              <a:ext uri="{FF2B5EF4-FFF2-40B4-BE49-F238E27FC236}">
                <a16:creationId xmlns:a16="http://schemas.microsoft.com/office/drawing/2014/main" id="{E1A0FE05-549D-4E78-99BA-914D4EEFEBA6}"/>
              </a:ext>
            </a:extLst>
          </p:cNvPr>
          <p:cNvSpPr>
            <a:spLocks xmlns:a="http://schemas.openxmlformats.org/drawingml/2006/main" noGrp="1"/>
          </p:cNvSpPr>
          <p:nvPr/>
        </p:nvSpPr>
        <p:spPr>
          <a:xfrm xmlns:a="http://schemas.openxmlformats.org/drawingml/2006/main">
            <a:off x="4591050" y="363855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t>SEOM</a:t>
            </a:r>
          </a:p>
        </p:txBody>
      </p:sp>
      <p:sp>
        <p:nvSpPr>
          <p:cNvPr id="36" name="">
            <a:extLst xmlns:a="http://schemas.openxmlformats.org/drawingml/2006/main">
              <a:ext uri="{FF2B5EF4-FFF2-40B4-BE49-F238E27FC236}">
                <a16:creationId xmlns:a16="http://schemas.microsoft.com/office/drawing/2014/main" id="{6A8E4433-48CE-43B4-89CF-DACAD4F5B88E}"/>
              </a:ext>
            </a:extLst>
          </p:cNvPr>
          <p:cNvSpPr>
            <a:spLocks xmlns:a="http://schemas.openxmlformats.org/drawingml/2006/main" noGrp="1"/>
          </p:cNvSpPr>
          <p:nvPr/>
        </p:nvSpPr>
        <p:spPr>
          <a:xfrm xmlns:a="http://schemas.openxmlformats.org/drawingml/2006/main">
            <a:off x="6096000" y="3695700"/>
            <a:ext cx="1504950" cy="238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D97706"/>
                </a:solidFill>
                <a:latin typeface="Aptos"/>
                <a:ea typeface="Aptos"/>
                <a:cs typeface="Aptos"/>
              </a:defRPr>
            </a:pPr>
            <a:r>
              <a:t>Static-image ceiling</a:t>
            </a:r>
          </a:p>
        </p:txBody>
      </p:sp>
      <p:cxnSp>
        <p:nvCxnSpPr>
          <p:cNvPr id="86" name=""/>
          <p:cNvCxnSpPr/>
          <p:nvPr/>
        </p:nvCxnSpPr>
        <p:spPr>
          <a:xfrm xmlns:a="http://schemas.openxmlformats.org/drawingml/2006/main">
            <a:off x="4591050" y="4114800"/>
            <a:ext cx="3009900" cy="95"/>
          </a:xfrm>
          <a:prstGeom xmlns:a="http://schemas.openxmlformats.org/drawingml/2006/main" prst="straightConnector1">
            <a:avLst/>
          </a:prstGeom>
          <a:ln xmlns:a="http://schemas.openxmlformats.org/drawingml/2006/main" w="9525">
            <a:solidFill>
              <a:srgbClr val="D7DCE3"/>
            </a:solidFill>
            <a:prstDash val="solid"/>
          </a:ln>
        </p:spPr>
      </p:cxnSp>
      <p:sp>
        <p:nvSpPr>
          <p:cNvPr id="38" name="">
            <a:extLst xmlns:a="http://schemas.openxmlformats.org/drawingml/2006/main">
              <a:ext uri="{FF2B5EF4-FFF2-40B4-BE49-F238E27FC236}">
                <a16:creationId xmlns:a16="http://schemas.microsoft.com/office/drawing/2014/main" id="{4256D42B-62DD-4BE8-B5B2-9498F45E38D9}"/>
              </a:ext>
            </a:extLst>
          </p:cNvPr>
          <p:cNvSpPr>
            <a:spLocks xmlns:a="http://schemas.openxmlformats.org/drawingml/2006/main" noGrp="1"/>
          </p:cNvSpPr>
          <p:nvPr/>
        </p:nvSpPr>
        <p:spPr>
          <a:xfrm xmlns:a="http://schemas.openxmlformats.org/drawingml/2006/main">
            <a:off x="4591050" y="4295775"/>
            <a:ext cx="1428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Readiness metric</a:t>
            </a:r>
          </a:p>
        </p:txBody>
      </p:sp>
      <p:sp>
        <p:nvSpPr>
          <p:cNvPr id="39" name="">
            <a:extLst xmlns:a="http://schemas.openxmlformats.org/drawingml/2006/main">
              <a:ext uri="{FF2B5EF4-FFF2-40B4-BE49-F238E27FC236}">
                <a16:creationId xmlns:a16="http://schemas.microsoft.com/office/drawing/2014/main" id="{A20C8C46-1F2E-44E2-B4BD-8E6BE0091D11}"/>
              </a:ext>
            </a:extLst>
          </p:cNvPr>
          <p:cNvSpPr>
            <a:spLocks xmlns:a="http://schemas.openxmlformats.org/drawingml/2006/main" noGrp="1"/>
          </p:cNvSpPr>
          <p:nvPr/>
        </p:nvSpPr>
        <p:spPr>
          <a:xfrm xmlns:a="http://schemas.openxmlformats.org/drawingml/2006/main">
            <a:off x="4591050" y="4552950"/>
            <a:ext cx="30099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Aptos"/>
                <a:ea typeface="Aptos"/>
                <a:cs typeface="Aptos"/>
              </a:defRPr>
            </a:pPr>
            <a:r>
              <a:t>Collision-free navigation</a:t>
            </a:r>
          </a:p>
        </p:txBody>
      </p:sp>
      <p:sp>
        <p:nvSpPr>
          <p:cNvPr id="40" name="">
            <a:extLst xmlns:a="http://schemas.openxmlformats.org/drawingml/2006/main">
              <a:ext uri="{FF2B5EF4-FFF2-40B4-BE49-F238E27FC236}">
                <a16:creationId xmlns:a16="http://schemas.microsoft.com/office/drawing/2014/main" id="{7E0C05B0-1C1C-403D-AA15-1BE88AA496A3}"/>
              </a:ext>
            </a:extLst>
          </p:cNvPr>
          <p:cNvSpPr>
            <a:spLocks xmlns:a="http://schemas.openxmlformats.org/drawingml/2006/main" noGrp="1"/>
          </p:cNvSpPr>
          <p:nvPr/>
        </p:nvSpPr>
        <p:spPr>
          <a:xfrm xmlns:a="http://schemas.openxmlformats.org/drawingml/2006/main">
            <a:off x="8210550" y="3429000"/>
            <a:ext cx="3581400" cy="1581150"/>
          </a:xfrm>
          <a:prstGeom xmlns:a="http://schemas.openxmlformats.org/drawingml/2006/main" prst="roundRect">
            <a:avLst>
              <a:gd name="adj" fmla="val 4819"/>
            </a:avLst>
          </a:prstGeom>
          <a:solidFill xmlns:a="http://schemas.openxmlformats.org/drawingml/2006/main">
            <a:srgbClr val="F3F5F7"/>
          </a:solidFill>
          <a:ln xmlns:a="http://schemas.openxmlformats.org/drawingml/2006/main" w="0">
            <a:solidFill>
              <a:srgbClr val="F3F5F7"/>
            </a:solidFill>
            <a:prstDash val="solid"/>
          </a:ln>
        </p:spPr>
      </p:sp>
      <p:sp>
        <p:nvSpPr>
          <p:cNvPr id="41" name="">
            <a:extLst xmlns:a="http://schemas.openxmlformats.org/drawingml/2006/main">
              <a:ext uri="{FF2B5EF4-FFF2-40B4-BE49-F238E27FC236}">
                <a16:creationId xmlns:a16="http://schemas.microsoft.com/office/drawing/2014/main" id="{9371D110-875D-471F-9AEE-FA0E8F2659F3}"/>
              </a:ext>
            </a:extLst>
          </p:cNvPr>
          <p:cNvSpPr>
            <a:spLocks xmlns:a="http://schemas.openxmlformats.org/drawingml/2006/main" noGrp="1"/>
          </p:cNvSpPr>
          <p:nvPr/>
        </p:nvSpPr>
        <p:spPr>
          <a:xfrm xmlns:a="http://schemas.openxmlformats.org/drawingml/2006/main">
            <a:off x="8210550" y="3429000"/>
            <a:ext cx="95250" cy="1581150"/>
          </a:xfrm>
          <a:prstGeom xmlns:a="http://schemas.openxmlformats.org/drawingml/2006/main" prst="rect">
            <a:avLst/>
          </a:prstGeom>
          <a:solidFill xmlns:a="http://schemas.openxmlformats.org/drawingml/2006/main">
            <a:srgbClr val="DC4C3E"/>
          </a:solidFill>
          <a:ln xmlns:a="http://schemas.openxmlformats.org/drawingml/2006/main" w="0">
            <a:solidFill>
              <a:srgbClr val="DC4C3E"/>
            </a:solidFill>
            <a:prstDash val="solid"/>
          </a:ln>
        </p:spPr>
      </p:sp>
      <p:sp>
        <p:nvSpPr>
          <p:cNvPr id="42" name="">
            <a:extLst xmlns:a="http://schemas.openxmlformats.org/drawingml/2006/main">
              <a:ext uri="{FF2B5EF4-FFF2-40B4-BE49-F238E27FC236}">
                <a16:creationId xmlns:a16="http://schemas.microsoft.com/office/drawing/2014/main" id="{63234700-AF66-4E80-A5E1-92E85BCA9384}"/>
              </a:ext>
            </a:extLst>
          </p:cNvPr>
          <p:cNvSpPr>
            <a:spLocks xmlns:a="http://schemas.openxmlformats.org/drawingml/2006/main" noGrp="1"/>
          </p:cNvSpPr>
          <p:nvPr/>
        </p:nvSpPr>
        <p:spPr>
          <a:xfrm xmlns:a="http://schemas.openxmlformats.org/drawingml/2006/main">
            <a:off x="8496300" y="3638550"/>
            <a:ext cx="1428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t>CRL-MRS</a:t>
            </a:r>
          </a:p>
        </p:txBody>
      </p:sp>
      <p:sp>
        <p:nvSpPr>
          <p:cNvPr id="43" name="">
            <a:extLst xmlns:a="http://schemas.openxmlformats.org/drawingml/2006/main">
              <a:ext uri="{FF2B5EF4-FFF2-40B4-BE49-F238E27FC236}">
                <a16:creationId xmlns:a16="http://schemas.microsoft.com/office/drawing/2014/main" id="{091D714B-6287-4D2F-B066-ACCAE607FFB0}"/>
              </a:ext>
            </a:extLst>
          </p:cNvPr>
          <p:cNvSpPr>
            <a:spLocks xmlns:a="http://schemas.openxmlformats.org/drawingml/2006/main" noGrp="1"/>
          </p:cNvSpPr>
          <p:nvPr/>
        </p:nvSpPr>
        <p:spPr>
          <a:xfrm xmlns:a="http://schemas.openxmlformats.org/drawingml/2006/main">
            <a:off x="10001250" y="3695700"/>
            <a:ext cx="1504950" cy="238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DC4C3E"/>
                </a:solidFill>
                <a:latin typeface="Aptos"/>
                <a:ea typeface="Aptos"/>
                <a:cs typeface="Aptos"/>
              </a:defRPr>
            </a:pPr>
            <a:r>
              <a:t>Largest evidence gap</a:t>
            </a:r>
          </a:p>
        </p:txBody>
      </p:sp>
      <p:cxnSp>
        <p:nvCxnSpPr>
          <p:cNvPr id="93" name=""/>
          <p:cNvCxnSpPr/>
          <p:nvPr/>
        </p:nvCxnSpPr>
        <p:spPr>
          <a:xfrm xmlns:a="http://schemas.openxmlformats.org/drawingml/2006/main">
            <a:off x="8496300" y="4114800"/>
            <a:ext cx="3009900" cy="95"/>
          </a:xfrm>
          <a:prstGeom xmlns:a="http://schemas.openxmlformats.org/drawingml/2006/main" prst="straightConnector1">
            <a:avLst/>
          </a:prstGeom>
          <a:ln xmlns:a="http://schemas.openxmlformats.org/drawingml/2006/main" w="9525">
            <a:solidFill>
              <a:srgbClr val="D7DCE3"/>
            </a:solidFill>
            <a:prstDash val="solid"/>
          </a:ln>
        </p:spPr>
      </p:cxnSp>
      <p:sp>
        <p:nvSpPr>
          <p:cNvPr id="45" name="">
            <a:extLst xmlns:a="http://schemas.openxmlformats.org/drawingml/2006/main">
              <a:ext uri="{FF2B5EF4-FFF2-40B4-BE49-F238E27FC236}">
                <a16:creationId xmlns:a16="http://schemas.microsoft.com/office/drawing/2014/main" id="{D13BE87E-B3CB-4242-8790-04D677D08224}"/>
              </a:ext>
            </a:extLst>
          </p:cNvPr>
          <p:cNvSpPr>
            <a:spLocks xmlns:a="http://schemas.openxmlformats.org/drawingml/2006/main" noGrp="1"/>
          </p:cNvSpPr>
          <p:nvPr/>
        </p:nvSpPr>
        <p:spPr>
          <a:xfrm xmlns:a="http://schemas.openxmlformats.org/drawingml/2006/main">
            <a:off x="8496300" y="4295775"/>
            <a:ext cx="1428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B6472"/>
                </a:solidFill>
                <a:latin typeface="Aptos"/>
                <a:ea typeface="Aptos"/>
                <a:cs typeface="Aptos"/>
              </a:defRPr>
            </a:pPr>
            <a:r>
              <a:t>Readiness metric</a:t>
            </a:r>
          </a:p>
        </p:txBody>
      </p:sp>
      <p:sp>
        <p:nvSpPr>
          <p:cNvPr id="46" name="">
            <a:extLst xmlns:a="http://schemas.openxmlformats.org/drawingml/2006/main">
              <a:ext uri="{FF2B5EF4-FFF2-40B4-BE49-F238E27FC236}">
                <a16:creationId xmlns:a16="http://schemas.microsoft.com/office/drawing/2014/main" id="{80E6FD8A-879A-4B29-9403-DF1780059536}"/>
              </a:ext>
            </a:extLst>
          </p:cNvPr>
          <p:cNvSpPr>
            <a:spLocks xmlns:a="http://schemas.openxmlformats.org/drawingml/2006/main" noGrp="1"/>
          </p:cNvSpPr>
          <p:nvPr/>
        </p:nvSpPr>
        <p:spPr>
          <a:xfrm xmlns:a="http://schemas.openxmlformats.org/drawingml/2006/main">
            <a:off x="8496300" y="4552950"/>
            <a:ext cx="30099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827"/>
                </a:solidFill>
                <a:latin typeface="Aptos"/>
                <a:ea typeface="Aptos"/>
                <a:cs typeface="Aptos"/>
              </a:defRPr>
            </a:pPr>
            <a:r>
              <a:t>Joint success under comms loss</a:t>
            </a:r>
          </a:p>
        </p:txBody>
      </p:sp>
      <p:sp>
        <p:nvSpPr>
          <p:cNvPr id="47" name="">
            <a:extLst xmlns:a="http://schemas.openxmlformats.org/drawingml/2006/main">
              <a:ext uri="{FF2B5EF4-FFF2-40B4-BE49-F238E27FC236}">
                <a16:creationId xmlns:a16="http://schemas.microsoft.com/office/drawing/2014/main" id="{CE8593A4-9955-4013-9E07-47AA329F3C4C}"/>
              </a:ext>
            </a:extLst>
          </p:cNvPr>
          <p:cNvSpPr>
            <a:spLocks xmlns:a="http://schemas.openxmlformats.org/drawingml/2006/main" noGrp="1"/>
          </p:cNvSpPr>
          <p:nvPr/>
        </p:nvSpPr>
        <p:spPr>
          <a:xfrm xmlns:a="http://schemas.openxmlformats.org/drawingml/2006/main">
            <a:off x="400050" y="5429250"/>
            <a:ext cx="11391900" cy="571500"/>
          </a:xfrm>
          <a:prstGeom xmlns:a="http://schemas.openxmlformats.org/drawingml/2006/main" prst="roundRect">
            <a:avLst>
              <a:gd name="adj" fmla="val 13333"/>
            </a:avLst>
          </a:prstGeom>
          <a:solidFill xmlns:a="http://schemas.openxmlformats.org/drawingml/2006/main">
            <a:srgbClr val="0B1220"/>
          </a:solidFill>
          <a:ln xmlns:a="http://schemas.openxmlformats.org/drawingml/2006/main" w="0">
            <a:solidFill>
              <a:srgbClr val="0B1220"/>
            </a:solidFill>
            <a:prstDash val="solid"/>
          </a:ln>
        </p:spPr>
      </p:sp>
      <p:sp>
        <p:nvSpPr>
          <p:cNvPr id="48" name="">
            <a:extLst xmlns:a="http://schemas.openxmlformats.org/drawingml/2006/main">
              <a:ext uri="{FF2B5EF4-FFF2-40B4-BE49-F238E27FC236}">
                <a16:creationId xmlns:a16="http://schemas.microsoft.com/office/drawing/2014/main" id="{C574BC1E-F1ED-4698-B723-899C797BD7A8}"/>
              </a:ext>
            </a:extLst>
          </p:cNvPr>
          <p:cNvSpPr>
            <a:spLocks xmlns:a="http://schemas.openxmlformats.org/drawingml/2006/main" noGrp="1"/>
          </p:cNvSpPr>
          <p:nvPr/>
        </p:nvSpPr>
        <p:spPr>
          <a:xfrm xmlns:a="http://schemas.openxmlformats.org/drawingml/2006/main">
            <a:off x="628650" y="5600700"/>
            <a:ext cx="1809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0A5FA"/>
                </a:solidFill>
                <a:latin typeface="Aptos"/>
                <a:ea typeface="Aptos"/>
                <a:cs typeface="Aptos"/>
              </a:defRPr>
            </a:pPr>
            <a:r>
              <a:t>Decision implication</a:t>
            </a:r>
          </a:p>
        </p:txBody>
      </p:sp>
      <p:sp>
        <p:nvSpPr>
          <p:cNvPr id="49" name="">
            <a:extLst xmlns:a="http://schemas.openxmlformats.org/drawingml/2006/main">
              <a:ext uri="{FF2B5EF4-FFF2-40B4-BE49-F238E27FC236}">
                <a16:creationId xmlns:a16="http://schemas.microsoft.com/office/drawing/2014/main" id="{A29658C3-7F24-4B16-B764-819847715131}"/>
              </a:ext>
            </a:extLst>
          </p:cNvPr>
          <p:cNvSpPr>
            <a:spLocks xmlns:a="http://schemas.openxmlformats.org/drawingml/2006/main" noGrp="1"/>
          </p:cNvSpPr>
          <p:nvPr/>
        </p:nvSpPr>
        <p:spPr>
          <a:xfrm xmlns:a="http://schemas.openxmlformats.org/drawingml/2006/main">
            <a:off x="2419350" y="5572125"/>
            <a:ext cx="9029700" cy="323850"/>
          </a:xfrm>
          <a:prstGeom xmlns:a="http://schemas.openxmlformats.org/drawingml/2006/main" prst="rect">
            <a:avLst/>
          </a:prstGeom>
        </p:spPr>
        <p:txBody>
          <a:bodyPr xmlns:a="http://schemas.openxmlformats.org/drawingml/2006/main" wrap="square" lIns="0" tIns="0" rIns="0" bIns="0" anchor="t">
            <a:normAutofit fontScale="95066"/>
          </a:bodyPr>
          <a:lstStyle xmlns:a="http://schemas.openxmlformats.org/drawingml/2006/main"/>
          <a:p xmlns:a="http://schemas.openxmlformats.org/drawingml/2006/main">
            <a:pPr algn="l">
              <a:defRPr sz="1425" b="1">
                <a:solidFill>
                  <a:srgbClr val="FFFFFF"/>
                </a:solidFill>
                <a:latin typeface="Aptos"/>
                <a:ea typeface="Aptos"/>
                <a:cs typeface="Aptos"/>
              </a:defRPr>
            </a:pPr>
            <a:r>
              <a:t>AMDC is the strongest proxy; CRL-MRS is the clearest gap. Next: executed state transitions, not one aggregate score.</a:t>
            </a:r>
          </a:p>
        </p:txBody>
      </p:sp>
    </p:spTree>
    <p:extLst>
      <p:ext uri="{BB962C8B-B14F-4D97-AF65-F5344CB8AC3E}">
        <p14:creationId xmlns:p14="http://schemas.microsoft.com/office/powerpoint/2010/main" val="110180871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FEDF2D4-86AF-46AE-A7BB-2F015D5BDAB7}"/>
              </a:ext>
            </a:extLst>
          </p:cNvPr>
          <p:cNvSpPr>
            <a:spLocks xmlns:a="http://schemas.openxmlformats.org/drawingml/2006/main" noGrp="1"/>
          </p:cNvSpPr>
          <p:nvPr/>
        </p:nvSpPr>
        <p:spPr>
          <a:xfrm xmlns:a="http://schemas.openxmlformats.org/drawingml/2006/main">
            <a:off x="400050" y="228600"/>
            <a:ext cx="4953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563EB"/>
                </a:solidFill>
                <a:latin typeface="Aptos"/>
                <a:ea typeface="Aptos"/>
                <a:cs typeface="Aptos"/>
              </a:defRPr>
            </a:pPr>
            <a:r>
              <a:t>PHASE C · WEEK 5–6</a:t>
            </a:r>
          </a:p>
        </p:txBody>
      </p:sp>
      <p:sp>
        <p:nvSpPr>
          <p:cNvPr id="2" name="">
            <a:extLst xmlns:a="http://schemas.openxmlformats.org/drawingml/2006/main">
              <a:ext uri="{FF2B5EF4-FFF2-40B4-BE49-F238E27FC236}">
                <a16:creationId xmlns:a16="http://schemas.microsoft.com/office/drawing/2014/main" id="{16075E20-6D81-4321-A06D-B6799165C399}"/>
              </a:ext>
            </a:extLst>
          </p:cNvPr>
          <p:cNvSpPr>
            <a:spLocks xmlns:a="http://schemas.openxmlformats.org/drawingml/2006/main" noGrp="1"/>
          </p:cNvSpPr>
          <p:nvPr/>
        </p:nvSpPr>
        <p:spPr>
          <a:xfrm xmlns:a="http://schemas.openxmlformats.org/drawingml/2006/main">
            <a:off x="400050" y="504825"/>
            <a:ext cx="11144250" cy="590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111827"/>
                </a:solidFill>
                <a:latin typeface="Aptos"/>
                <a:ea typeface="Aptos"/>
                <a:cs typeface="Aptos"/>
              </a:defRPr>
            </a:pPr>
            <a:r>
              <a:t>Week 6 separated reproducibility from validity</a:t>
            </a:r>
          </a:p>
        </p:txBody>
      </p:sp>
      <p:cxnSp>
        <p:nvCxnSpPr>
          <p:cNvPr id="42"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D7DCE3"/>
            </a:solidFill>
            <a:prstDash val="solid"/>
          </a:ln>
        </p:spPr>
      </p:cxnSp>
      <p:sp>
        <p:nvSpPr>
          <p:cNvPr id="4" name="">
            <a:extLst xmlns:a="http://schemas.openxmlformats.org/drawingml/2006/main">
              <a:ext uri="{FF2B5EF4-FFF2-40B4-BE49-F238E27FC236}">
                <a16:creationId xmlns:a16="http://schemas.microsoft.com/office/drawing/2014/main" id="{2CFFF64A-E489-4001-A8D4-00CE466281DE}"/>
              </a:ext>
            </a:extLst>
          </p:cNvPr>
          <p:cNvSpPr>
            <a:spLocks xmlns:a="http://schemas.openxmlformats.org/drawingml/2006/main" noGrp="1"/>
          </p:cNvSpPr>
          <p:nvPr/>
        </p:nvSpPr>
        <p:spPr>
          <a:xfrm xmlns:a="http://schemas.openxmlformats.org/drawingml/2006/main">
            <a:off x="11277600" y="6381750"/>
            <a:ext cx="4953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A93A2"/>
                </a:solidFill>
                <a:latin typeface="Aptos"/>
                <a:ea typeface="Aptos"/>
                <a:cs typeface="Aptos"/>
              </a:defRPr>
            </a:pPr>
            <a:r>
              <a:t>08</a:t>
            </a:r>
          </a:p>
        </p:txBody>
      </p:sp>
      <p:sp>
        <p:nvSpPr>
          <p:cNvPr id="5" name="">
            <a:extLst xmlns:a="http://schemas.openxmlformats.org/drawingml/2006/main">
              <a:ext uri="{FF2B5EF4-FFF2-40B4-BE49-F238E27FC236}">
                <a16:creationId xmlns:a16="http://schemas.microsoft.com/office/drawing/2014/main" id="{7448F8CB-D5C7-4FF7-BB16-BD56641FF075}"/>
              </a:ext>
            </a:extLst>
          </p:cNvPr>
          <p:cNvSpPr>
            <a:spLocks xmlns:a="http://schemas.openxmlformats.org/drawingml/2006/main" noGrp="1"/>
          </p:cNvSpPr>
          <p:nvPr/>
        </p:nvSpPr>
        <p:spPr>
          <a:xfrm xmlns:a="http://schemas.openxmlformats.org/drawingml/2006/main">
            <a:off x="400050" y="1476375"/>
            <a:ext cx="53340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t>Judge reliability signals</a:t>
            </a:r>
          </a:p>
        </p:txBody>
      </p:sp>
      <p:cxnSp>
        <p:nvCxnSpPr>
          <p:cNvPr id="45" name=""/>
          <p:cNvCxnSpPr/>
          <p:nvPr/>
        </p:nvCxnSpPr>
        <p:spPr>
          <a:xfrm xmlns:a="http://schemas.openxmlformats.org/drawingml/2006/main">
            <a:off x="5676900" y="1866900"/>
            <a:ext cx="95" cy="3143250"/>
          </a:xfrm>
          <a:prstGeom xmlns:a="http://schemas.openxmlformats.org/drawingml/2006/main" prst="straightConnector1">
            <a:avLst/>
          </a:prstGeom>
          <a:ln xmlns:a="http://schemas.openxmlformats.org/drawingml/2006/main" w="19050">
            <a:solidFill>
              <a:srgbClr val="111827"/>
            </a:solidFill>
            <a:prstDash val="dash"/>
          </a:ln>
        </p:spPr>
      </p:cxnSp>
      <p:sp>
        <p:nvSpPr>
          <p:cNvPr id="7" name="">
            <a:extLst xmlns:a="http://schemas.openxmlformats.org/drawingml/2006/main">
              <a:ext uri="{FF2B5EF4-FFF2-40B4-BE49-F238E27FC236}">
                <a16:creationId xmlns:a16="http://schemas.microsoft.com/office/drawing/2014/main" id="{8F4D718E-E3FA-479B-8969-904048304843}"/>
              </a:ext>
            </a:extLst>
          </p:cNvPr>
          <p:cNvSpPr>
            <a:spLocks xmlns:a="http://schemas.openxmlformats.org/drawingml/2006/main" noGrp="1"/>
          </p:cNvSpPr>
          <p:nvPr/>
        </p:nvSpPr>
        <p:spPr>
          <a:xfrm xmlns:a="http://schemas.openxmlformats.org/drawingml/2006/main">
            <a:off x="5324475" y="1676400"/>
            <a:ext cx="70485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11827"/>
                </a:solidFill>
                <a:latin typeface="Aptos"/>
                <a:ea typeface="Aptos"/>
                <a:cs typeface="Aptos"/>
              </a:defRPr>
            </a:pPr>
            <a:r>
              <a:t>0.80 gate</a:t>
            </a:r>
          </a:p>
        </p:txBody>
      </p:sp>
      <p:sp>
        <p:nvSpPr>
          <p:cNvPr id="8" name="">
            <a:extLst xmlns:a="http://schemas.openxmlformats.org/drawingml/2006/main">
              <a:ext uri="{FF2B5EF4-FFF2-40B4-BE49-F238E27FC236}">
                <a16:creationId xmlns:a16="http://schemas.microsoft.com/office/drawing/2014/main" id="{2406E67E-8A65-461C-BB88-4F6876535E5F}"/>
              </a:ext>
            </a:extLst>
          </p:cNvPr>
          <p:cNvSpPr>
            <a:spLocks xmlns:a="http://schemas.openxmlformats.org/drawingml/2006/main" noGrp="1"/>
          </p:cNvSpPr>
          <p:nvPr/>
        </p:nvSpPr>
        <p:spPr>
          <a:xfrm xmlns:a="http://schemas.openxmlformats.org/drawingml/2006/main">
            <a:off x="400050" y="2066925"/>
            <a:ext cx="18097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11827"/>
                </a:solidFill>
                <a:latin typeface="Aptos"/>
                <a:ea typeface="Aptos"/>
                <a:cs typeface="Aptos"/>
              </a:defRPr>
            </a:pPr>
            <a:r>
              <a:t>Task agreement
(3 prompt forms)</a:t>
            </a:r>
          </a:p>
        </p:txBody>
      </p:sp>
      <p:sp>
        <p:nvSpPr>
          <p:cNvPr id="9" name="">
            <a:extLst xmlns:a="http://schemas.openxmlformats.org/drawingml/2006/main">
              <a:ext uri="{FF2B5EF4-FFF2-40B4-BE49-F238E27FC236}">
                <a16:creationId xmlns:a16="http://schemas.microsoft.com/office/drawing/2014/main" id="{77CEB236-B388-40A6-8F61-3AC26595112B}"/>
              </a:ext>
            </a:extLst>
          </p:cNvPr>
          <p:cNvSpPr>
            <a:spLocks xmlns:a="http://schemas.openxmlformats.org/drawingml/2006/main" noGrp="1"/>
          </p:cNvSpPr>
          <p:nvPr/>
        </p:nvSpPr>
        <p:spPr>
          <a:xfrm xmlns:a="http://schemas.openxmlformats.org/drawingml/2006/main">
            <a:off x="2400300" y="2114550"/>
            <a:ext cx="4095750" cy="285750"/>
          </a:xfrm>
          <a:prstGeom xmlns:a="http://schemas.openxmlformats.org/drawingml/2006/main" prst="rect">
            <a:avLst/>
          </a:prstGeom>
          <a:solidFill xmlns:a="http://schemas.openxmlformats.org/drawingml/2006/main">
            <a:srgbClr val="E5E9EF"/>
          </a:solidFill>
          <a:ln xmlns:a="http://schemas.openxmlformats.org/drawingml/2006/main" w="0">
            <a:solidFill>
              <a:srgbClr val="E5E9EF"/>
            </a:solidFill>
            <a:prstDash val="solid"/>
          </a:ln>
        </p:spPr>
      </p:sp>
      <p:sp>
        <p:nvSpPr>
          <p:cNvPr id="10" name="">
            <a:extLst xmlns:a="http://schemas.openxmlformats.org/drawingml/2006/main">
              <a:ext uri="{FF2B5EF4-FFF2-40B4-BE49-F238E27FC236}">
                <a16:creationId xmlns:a16="http://schemas.microsoft.com/office/drawing/2014/main" id="{D0EC4BA2-6C0E-4301-99C9-2FA7B451B179}"/>
              </a:ext>
            </a:extLst>
          </p:cNvPr>
          <p:cNvSpPr>
            <a:spLocks xmlns:a="http://schemas.openxmlformats.org/drawingml/2006/main" noGrp="1"/>
          </p:cNvSpPr>
          <p:nvPr/>
        </p:nvSpPr>
        <p:spPr>
          <a:xfrm xmlns:a="http://schemas.openxmlformats.org/drawingml/2006/main">
            <a:off x="2400300" y="2114550"/>
            <a:ext cx="3592792" cy="28575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11" name="">
            <a:extLst xmlns:a="http://schemas.openxmlformats.org/drawingml/2006/main">
              <a:ext uri="{FF2B5EF4-FFF2-40B4-BE49-F238E27FC236}">
                <a16:creationId xmlns:a16="http://schemas.microsoft.com/office/drawing/2014/main" id="{73447EE5-A1F8-495A-90C3-923DF28AF9FD}"/>
              </a:ext>
            </a:extLst>
          </p:cNvPr>
          <p:cNvSpPr>
            <a:spLocks xmlns:a="http://schemas.openxmlformats.org/drawingml/2006/main" noGrp="1"/>
          </p:cNvSpPr>
          <p:nvPr/>
        </p:nvSpPr>
        <p:spPr>
          <a:xfrm xmlns:a="http://schemas.openxmlformats.org/drawingml/2006/main">
            <a:off x="5402542" y="2152650"/>
            <a:ext cx="5334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FFFFF"/>
                </a:solidFill>
                <a:latin typeface="Aptos"/>
                <a:ea typeface="Aptos"/>
                <a:cs typeface="Aptos"/>
              </a:defRPr>
            </a:pPr>
            <a:r>
              <a:t>0.8772</a:t>
            </a:r>
          </a:p>
        </p:txBody>
      </p:sp>
      <p:sp>
        <p:nvSpPr>
          <p:cNvPr id="12" name="">
            <a:extLst xmlns:a="http://schemas.openxmlformats.org/drawingml/2006/main">
              <a:ext uri="{FF2B5EF4-FFF2-40B4-BE49-F238E27FC236}">
                <a16:creationId xmlns:a16="http://schemas.microsoft.com/office/drawing/2014/main" id="{80C34884-DBBA-45EF-800B-AD7F5A31FB9D}"/>
              </a:ext>
            </a:extLst>
          </p:cNvPr>
          <p:cNvSpPr>
            <a:spLocks xmlns:a="http://schemas.openxmlformats.org/drawingml/2006/main" noGrp="1"/>
          </p:cNvSpPr>
          <p:nvPr/>
        </p:nvSpPr>
        <p:spPr>
          <a:xfrm xmlns:a="http://schemas.openxmlformats.org/drawingml/2006/main">
            <a:off x="400050" y="3095625"/>
            <a:ext cx="18097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11827"/>
                </a:solidFill>
                <a:latin typeface="Aptos"/>
                <a:ea typeface="Aptos"/>
                <a:cs typeface="Aptos"/>
              </a:defRPr>
            </a:pPr>
            <a:r>
              <a:t>Failure-mode agreement
(3 prompt forms)</a:t>
            </a:r>
          </a:p>
        </p:txBody>
      </p:sp>
      <p:sp>
        <p:nvSpPr>
          <p:cNvPr id="13" name="">
            <a:extLst xmlns:a="http://schemas.openxmlformats.org/drawingml/2006/main">
              <a:ext uri="{FF2B5EF4-FFF2-40B4-BE49-F238E27FC236}">
                <a16:creationId xmlns:a16="http://schemas.microsoft.com/office/drawing/2014/main" id="{98A0887F-6BC6-4EB5-B7D1-ED989597A845}"/>
              </a:ext>
            </a:extLst>
          </p:cNvPr>
          <p:cNvSpPr>
            <a:spLocks xmlns:a="http://schemas.openxmlformats.org/drawingml/2006/main" noGrp="1"/>
          </p:cNvSpPr>
          <p:nvPr/>
        </p:nvSpPr>
        <p:spPr>
          <a:xfrm xmlns:a="http://schemas.openxmlformats.org/drawingml/2006/main">
            <a:off x="2400300" y="3143250"/>
            <a:ext cx="4095750" cy="285750"/>
          </a:xfrm>
          <a:prstGeom xmlns:a="http://schemas.openxmlformats.org/drawingml/2006/main" prst="rect">
            <a:avLst/>
          </a:prstGeom>
          <a:solidFill xmlns:a="http://schemas.openxmlformats.org/drawingml/2006/main">
            <a:srgbClr val="E5E9EF"/>
          </a:solidFill>
          <a:ln xmlns:a="http://schemas.openxmlformats.org/drawingml/2006/main" w="0">
            <a:solidFill>
              <a:srgbClr val="E5E9EF"/>
            </a:solidFill>
            <a:prstDash val="solid"/>
          </a:ln>
        </p:spPr>
      </p:sp>
      <p:sp>
        <p:nvSpPr>
          <p:cNvPr id="14" name="">
            <a:extLst xmlns:a="http://schemas.openxmlformats.org/drawingml/2006/main">
              <a:ext uri="{FF2B5EF4-FFF2-40B4-BE49-F238E27FC236}">
                <a16:creationId xmlns:a16="http://schemas.microsoft.com/office/drawing/2014/main" id="{21E6D92E-913D-44B6-967C-93D0746613B5}"/>
              </a:ext>
            </a:extLst>
          </p:cNvPr>
          <p:cNvSpPr>
            <a:spLocks xmlns:a="http://schemas.openxmlformats.org/drawingml/2006/main" noGrp="1"/>
          </p:cNvSpPr>
          <p:nvPr/>
        </p:nvSpPr>
        <p:spPr>
          <a:xfrm xmlns:a="http://schemas.openxmlformats.org/drawingml/2006/main">
            <a:off x="2400300" y="3143250"/>
            <a:ext cx="2323519" cy="285750"/>
          </a:xfrm>
          <a:prstGeom xmlns:a="http://schemas.openxmlformats.org/drawingml/2006/main" prst="rect">
            <a:avLst/>
          </a:prstGeom>
          <a:solidFill xmlns:a="http://schemas.openxmlformats.org/drawingml/2006/main">
            <a:srgbClr val="DC4C3E"/>
          </a:solidFill>
          <a:ln xmlns:a="http://schemas.openxmlformats.org/drawingml/2006/main" w="0">
            <a:solidFill>
              <a:srgbClr val="DC4C3E"/>
            </a:solidFill>
            <a:prstDash val="solid"/>
          </a:ln>
        </p:spPr>
      </p:sp>
      <p:sp>
        <p:nvSpPr>
          <p:cNvPr id="15" name="">
            <a:extLst xmlns:a="http://schemas.openxmlformats.org/drawingml/2006/main">
              <a:ext uri="{FF2B5EF4-FFF2-40B4-BE49-F238E27FC236}">
                <a16:creationId xmlns:a16="http://schemas.microsoft.com/office/drawing/2014/main" id="{DBADDDC0-2FBA-4A57-98F2-CD60ED1B8C84}"/>
              </a:ext>
            </a:extLst>
          </p:cNvPr>
          <p:cNvSpPr>
            <a:spLocks xmlns:a="http://schemas.openxmlformats.org/drawingml/2006/main" noGrp="1"/>
          </p:cNvSpPr>
          <p:nvPr/>
        </p:nvSpPr>
        <p:spPr>
          <a:xfrm xmlns:a="http://schemas.openxmlformats.org/drawingml/2006/main">
            <a:off x="4133269" y="3181350"/>
            <a:ext cx="5334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FFFFF"/>
                </a:solidFill>
                <a:latin typeface="Aptos"/>
                <a:ea typeface="Aptos"/>
                <a:cs typeface="Aptos"/>
              </a:defRPr>
            </a:pPr>
            <a:r>
              <a:t>0.5673</a:t>
            </a:r>
          </a:p>
        </p:txBody>
      </p:sp>
      <p:sp>
        <p:nvSpPr>
          <p:cNvPr id="16" name="">
            <a:extLst xmlns:a="http://schemas.openxmlformats.org/drawingml/2006/main">
              <a:ext uri="{FF2B5EF4-FFF2-40B4-BE49-F238E27FC236}">
                <a16:creationId xmlns:a16="http://schemas.microsoft.com/office/drawing/2014/main" id="{80623B16-A385-41B6-A0A8-284F95E80E5B}"/>
              </a:ext>
            </a:extLst>
          </p:cNvPr>
          <p:cNvSpPr>
            <a:spLocks xmlns:a="http://schemas.openxmlformats.org/drawingml/2006/main" noGrp="1"/>
          </p:cNvSpPr>
          <p:nvPr/>
        </p:nvSpPr>
        <p:spPr>
          <a:xfrm xmlns:a="http://schemas.openxmlformats.org/drawingml/2006/main">
            <a:off x="400050" y="4124325"/>
            <a:ext cx="18097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11827"/>
                </a:solidFill>
                <a:latin typeface="Aptos"/>
                <a:ea typeface="Aptos"/>
                <a:cs typeface="Aptos"/>
              </a:defRPr>
            </a:pPr>
            <a:r>
              <a:t>Frozen-label calibration</a:t>
            </a:r>
          </a:p>
        </p:txBody>
      </p:sp>
      <p:sp>
        <p:nvSpPr>
          <p:cNvPr id="17" name="">
            <a:extLst xmlns:a="http://schemas.openxmlformats.org/drawingml/2006/main">
              <a:ext uri="{FF2B5EF4-FFF2-40B4-BE49-F238E27FC236}">
                <a16:creationId xmlns:a16="http://schemas.microsoft.com/office/drawing/2014/main" id="{271B5814-FA8E-4C4F-9C4F-59386A70CA15}"/>
              </a:ext>
            </a:extLst>
          </p:cNvPr>
          <p:cNvSpPr>
            <a:spLocks xmlns:a="http://schemas.openxmlformats.org/drawingml/2006/main" noGrp="1"/>
          </p:cNvSpPr>
          <p:nvPr/>
        </p:nvSpPr>
        <p:spPr>
          <a:xfrm xmlns:a="http://schemas.openxmlformats.org/drawingml/2006/main">
            <a:off x="2400300" y="4171950"/>
            <a:ext cx="4095750" cy="285750"/>
          </a:xfrm>
          <a:prstGeom xmlns:a="http://schemas.openxmlformats.org/drawingml/2006/main" prst="rect">
            <a:avLst/>
          </a:prstGeom>
          <a:solidFill xmlns:a="http://schemas.openxmlformats.org/drawingml/2006/main">
            <a:srgbClr val="E5E9EF"/>
          </a:solidFill>
          <a:ln xmlns:a="http://schemas.openxmlformats.org/drawingml/2006/main" w="0">
            <a:solidFill>
              <a:srgbClr val="E5E9EF"/>
            </a:solidFill>
            <a:prstDash val="solid"/>
          </a:ln>
        </p:spPr>
      </p:sp>
      <p:sp>
        <p:nvSpPr>
          <p:cNvPr id="18" name="">
            <a:extLst xmlns:a="http://schemas.openxmlformats.org/drawingml/2006/main">
              <a:ext uri="{FF2B5EF4-FFF2-40B4-BE49-F238E27FC236}">
                <a16:creationId xmlns:a16="http://schemas.microsoft.com/office/drawing/2014/main" id="{F4EEDECB-E597-482B-B508-F41888419D06}"/>
              </a:ext>
            </a:extLst>
          </p:cNvPr>
          <p:cNvSpPr>
            <a:spLocks xmlns:a="http://schemas.openxmlformats.org/drawingml/2006/main" noGrp="1"/>
          </p:cNvSpPr>
          <p:nvPr/>
        </p:nvSpPr>
        <p:spPr>
          <a:xfrm xmlns:a="http://schemas.openxmlformats.org/drawingml/2006/main">
            <a:off x="2400300" y="4171950"/>
            <a:ext cx="3092701" cy="28575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
        <p:nvSpPr>
          <p:cNvPr id="19" name="">
            <a:extLst xmlns:a="http://schemas.openxmlformats.org/drawingml/2006/main">
              <a:ext uri="{FF2B5EF4-FFF2-40B4-BE49-F238E27FC236}">
                <a16:creationId xmlns:a16="http://schemas.microsoft.com/office/drawing/2014/main" id="{4650D5E3-1516-41FC-9068-D46A1A3FE983}"/>
              </a:ext>
            </a:extLst>
          </p:cNvPr>
          <p:cNvSpPr>
            <a:spLocks xmlns:a="http://schemas.openxmlformats.org/drawingml/2006/main" noGrp="1"/>
          </p:cNvSpPr>
          <p:nvPr/>
        </p:nvSpPr>
        <p:spPr>
          <a:xfrm xmlns:a="http://schemas.openxmlformats.org/drawingml/2006/main">
            <a:off x="4902451" y="4210050"/>
            <a:ext cx="5334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FFFFF"/>
                </a:solidFill>
                <a:latin typeface="Aptos"/>
                <a:ea typeface="Aptos"/>
                <a:cs typeface="Aptos"/>
              </a:defRPr>
            </a:pPr>
            <a:r>
              <a:t>0.7551</a:t>
            </a:r>
          </a:p>
        </p:txBody>
      </p:sp>
      <p:sp>
        <p:nvSpPr>
          <p:cNvPr id="20" name="">
            <a:extLst xmlns:a="http://schemas.openxmlformats.org/drawingml/2006/main">
              <a:ext uri="{FF2B5EF4-FFF2-40B4-BE49-F238E27FC236}">
                <a16:creationId xmlns:a16="http://schemas.microsoft.com/office/drawing/2014/main" id="{48A87733-9A56-491A-9650-A147B55D87B4}"/>
              </a:ext>
            </a:extLst>
          </p:cNvPr>
          <p:cNvSpPr>
            <a:spLocks xmlns:a="http://schemas.openxmlformats.org/drawingml/2006/main" noGrp="1"/>
          </p:cNvSpPr>
          <p:nvPr/>
        </p:nvSpPr>
        <p:spPr>
          <a:xfrm xmlns:a="http://schemas.openxmlformats.org/drawingml/2006/main">
            <a:off x="400050" y="5286375"/>
            <a:ext cx="60960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B6472"/>
                </a:solidFill>
                <a:latin typeface="Aptos"/>
                <a:ea typeface="Aptos"/>
                <a:cs typeface="Aptos"/>
              </a:defRPr>
            </a:pPr>
            <a:r>
              <a:t>Agreement among Judge prompts can be high even when calibration against frozen labels fails.</a:t>
            </a:r>
          </a:p>
        </p:txBody>
      </p:sp>
      <p:sp>
        <p:nvSpPr>
          <p:cNvPr id="21" name="">
            <a:extLst xmlns:a="http://schemas.openxmlformats.org/drawingml/2006/main">
              <a:ext uri="{FF2B5EF4-FFF2-40B4-BE49-F238E27FC236}">
                <a16:creationId xmlns:a16="http://schemas.microsoft.com/office/drawing/2014/main" id="{E194E92A-D590-4F80-B833-2DD4570641BE}"/>
              </a:ext>
            </a:extLst>
          </p:cNvPr>
          <p:cNvSpPr>
            <a:spLocks xmlns:a="http://schemas.openxmlformats.org/drawingml/2006/main" noGrp="1"/>
          </p:cNvSpPr>
          <p:nvPr/>
        </p:nvSpPr>
        <p:spPr>
          <a:xfrm xmlns:a="http://schemas.openxmlformats.org/drawingml/2006/main">
            <a:off x="6896100" y="1504950"/>
            <a:ext cx="4895850" cy="1790700"/>
          </a:xfrm>
          <a:prstGeom xmlns:a="http://schemas.openxmlformats.org/drawingml/2006/main" prst="roundRect">
            <a:avLst>
              <a:gd name="adj" fmla="val 4255"/>
            </a:avLst>
          </a:prstGeom>
          <a:solidFill xmlns:a="http://schemas.openxmlformats.org/drawingml/2006/main">
            <a:srgbClr val="0B1220"/>
          </a:solidFill>
          <a:ln xmlns:a="http://schemas.openxmlformats.org/drawingml/2006/main" w="0">
            <a:solidFill>
              <a:srgbClr val="0B1220"/>
            </a:solidFill>
            <a:prstDash val="solid"/>
          </a:ln>
        </p:spPr>
      </p:sp>
      <p:sp>
        <p:nvSpPr>
          <p:cNvPr id="22" name="">
            <a:extLst xmlns:a="http://schemas.openxmlformats.org/drawingml/2006/main">
              <a:ext uri="{FF2B5EF4-FFF2-40B4-BE49-F238E27FC236}">
                <a16:creationId xmlns:a16="http://schemas.microsoft.com/office/drawing/2014/main" id="{E91F81F2-3B53-45F6-A588-1EE324794249}"/>
              </a:ext>
            </a:extLst>
          </p:cNvPr>
          <p:cNvSpPr>
            <a:spLocks xmlns:a="http://schemas.openxmlformats.org/drawingml/2006/main" noGrp="1"/>
          </p:cNvSpPr>
          <p:nvPr/>
        </p:nvSpPr>
        <p:spPr>
          <a:xfrm xmlns:a="http://schemas.openxmlformats.org/drawingml/2006/main">
            <a:off x="7143750" y="1866900"/>
            <a:ext cx="10477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latin typeface="Aptos"/>
                <a:ea typeface="Aptos"/>
                <a:cs typeface="Aptos"/>
              </a:defRPr>
            </a:pPr>
            <a:r>
              <a:t>12</a:t>
            </a:r>
          </a:p>
        </p:txBody>
      </p:sp>
      <p:sp>
        <p:nvSpPr>
          <p:cNvPr id="23" name="">
            <a:extLst xmlns:a="http://schemas.openxmlformats.org/drawingml/2006/main">
              <a:ext uri="{FF2B5EF4-FFF2-40B4-BE49-F238E27FC236}">
                <a16:creationId xmlns:a16="http://schemas.microsoft.com/office/drawing/2014/main" id="{A129567B-BDD8-4492-9DFC-E0DF8932A50C}"/>
              </a:ext>
            </a:extLst>
          </p:cNvPr>
          <p:cNvSpPr>
            <a:spLocks xmlns:a="http://schemas.openxmlformats.org/drawingml/2006/main" noGrp="1"/>
          </p:cNvSpPr>
          <p:nvPr/>
        </p:nvSpPr>
        <p:spPr>
          <a:xfrm xmlns:a="http://schemas.openxmlformats.org/drawingml/2006/main">
            <a:off x="7143750" y="2457450"/>
            <a:ext cx="11239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8D2E0"/>
                </a:solidFill>
                <a:latin typeface="Aptos"/>
                <a:ea typeface="Aptos"/>
                <a:cs typeface="Aptos"/>
              </a:defRPr>
            </a:pPr>
            <a:r>
              <a:t>frozen sources</a:t>
            </a:r>
          </a:p>
        </p:txBody>
      </p:sp>
      <p:sp>
        <p:nvSpPr>
          <p:cNvPr id="24" name="">
            <a:extLst xmlns:a="http://schemas.openxmlformats.org/drawingml/2006/main">
              <a:ext uri="{FF2B5EF4-FFF2-40B4-BE49-F238E27FC236}">
                <a16:creationId xmlns:a16="http://schemas.microsoft.com/office/drawing/2014/main" id="{BB4AB140-E4DB-411E-9304-AD6909AFAC95}"/>
              </a:ext>
            </a:extLst>
          </p:cNvPr>
          <p:cNvSpPr>
            <a:spLocks xmlns:a="http://schemas.openxmlformats.org/drawingml/2006/main" noGrp="1"/>
          </p:cNvSpPr>
          <p:nvPr/>
        </p:nvSpPr>
        <p:spPr>
          <a:xfrm xmlns:a="http://schemas.openxmlformats.org/drawingml/2006/main">
            <a:off x="8620125" y="1866900"/>
            <a:ext cx="10477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latin typeface="Aptos"/>
                <a:ea typeface="Aptos"/>
                <a:cs typeface="Aptos"/>
              </a:defRPr>
            </a:pPr>
            <a:r>
              <a:t>7</a:t>
            </a:r>
          </a:p>
        </p:txBody>
      </p:sp>
      <p:sp>
        <p:nvSpPr>
          <p:cNvPr id="25" name="">
            <a:extLst xmlns:a="http://schemas.openxmlformats.org/drawingml/2006/main">
              <a:ext uri="{FF2B5EF4-FFF2-40B4-BE49-F238E27FC236}">
                <a16:creationId xmlns:a16="http://schemas.microsoft.com/office/drawing/2014/main" id="{3B8DC479-11F5-4372-87FE-80683D2D44CC}"/>
              </a:ext>
            </a:extLst>
          </p:cNvPr>
          <p:cNvSpPr>
            <a:spLocks xmlns:a="http://schemas.openxmlformats.org/drawingml/2006/main" noGrp="1"/>
          </p:cNvSpPr>
          <p:nvPr/>
        </p:nvSpPr>
        <p:spPr>
          <a:xfrm xmlns:a="http://schemas.openxmlformats.org/drawingml/2006/main">
            <a:off x="8620125" y="2457450"/>
            <a:ext cx="11239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8D2E0"/>
                </a:solidFill>
                <a:latin typeface="Aptos"/>
                <a:ea typeface="Aptos"/>
                <a:cs typeface="Aptos"/>
              </a:defRPr>
            </a:pPr>
            <a:r>
              <a:t>principal claims</a:t>
            </a:r>
          </a:p>
        </p:txBody>
      </p:sp>
      <p:sp>
        <p:nvSpPr>
          <p:cNvPr id="26" name="">
            <a:extLst xmlns:a="http://schemas.openxmlformats.org/drawingml/2006/main">
              <a:ext uri="{FF2B5EF4-FFF2-40B4-BE49-F238E27FC236}">
                <a16:creationId xmlns:a16="http://schemas.microsoft.com/office/drawing/2014/main" id="{49B4A1D8-1DAF-44C8-B454-2C9736C11A87}"/>
              </a:ext>
            </a:extLst>
          </p:cNvPr>
          <p:cNvSpPr>
            <a:spLocks xmlns:a="http://schemas.openxmlformats.org/drawingml/2006/main" noGrp="1"/>
          </p:cNvSpPr>
          <p:nvPr/>
        </p:nvSpPr>
        <p:spPr>
          <a:xfrm xmlns:a="http://schemas.openxmlformats.org/drawingml/2006/main">
            <a:off x="10096500" y="1866900"/>
            <a:ext cx="10477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latin typeface="Aptos"/>
                <a:ea typeface="Aptos"/>
                <a:cs typeface="Aptos"/>
              </a:defRPr>
            </a:pPr>
            <a:r>
              <a:t>0</a:t>
            </a:r>
          </a:p>
        </p:txBody>
      </p:sp>
      <p:sp>
        <p:nvSpPr>
          <p:cNvPr id="27" name="">
            <a:extLst xmlns:a="http://schemas.openxmlformats.org/drawingml/2006/main">
              <a:ext uri="{FF2B5EF4-FFF2-40B4-BE49-F238E27FC236}">
                <a16:creationId xmlns:a16="http://schemas.microsoft.com/office/drawing/2014/main" id="{DB68D5D7-32C8-4E60-A0F0-F06CB8C7D23B}"/>
              </a:ext>
            </a:extLst>
          </p:cNvPr>
          <p:cNvSpPr>
            <a:spLocks xmlns:a="http://schemas.openxmlformats.org/drawingml/2006/main" noGrp="1"/>
          </p:cNvSpPr>
          <p:nvPr/>
        </p:nvSpPr>
        <p:spPr>
          <a:xfrm xmlns:a="http://schemas.openxmlformats.org/drawingml/2006/main">
            <a:off x="10096500" y="2457450"/>
            <a:ext cx="11239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8D2E0"/>
                </a:solidFill>
                <a:latin typeface="Aptos"/>
                <a:ea typeface="Aptos"/>
                <a:cs typeface="Aptos"/>
              </a:defRPr>
            </a:pPr>
            <a:r>
              <a:t>validated claims</a:t>
            </a:r>
          </a:p>
        </p:txBody>
      </p:sp>
      <p:sp>
        <p:nvSpPr>
          <p:cNvPr id="28" name="">
            <a:extLst xmlns:a="http://schemas.openxmlformats.org/drawingml/2006/main">
              <a:ext uri="{FF2B5EF4-FFF2-40B4-BE49-F238E27FC236}">
                <a16:creationId xmlns:a16="http://schemas.microsoft.com/office/drawing/2014/main" id="{3BA48763-D402-47D2-882A-40C388107915}"/>
              </a:ext>
            </a:extLst>
          </p:cNvPr>
          <p:cNvSpPr>
            <a:spLocks xmlns:a="http://schemas.openxmlformats.org/drawingml/2006/main" noGrp="1"/>
          </p:cNvSpPr>
          <p:nvPr/>
        </p:nvSpPr>
        <p:spPr>
          <a:xfrm xmlns:a="http://schemas.openxmlformats.org/drawingml/2006/main">
            <a:off x="7143750" y="2895600"/>
            <a:ext cx="4286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0A5FA"/>
                </a:solidFill>
                <a:latin typeface="Aptos"/>
                <a:ea typeface="Aptos"/>
                <a:cs typeface="Aptos"/>
              </a:defRPr>
            </a:pPr>
            <a:r>
              <a:t>Evidence status is part of every result, not a footnote.</a:t>
            </a:r>
          </a:p>
        </p:txBody>
      </p:sp>
      <p:sp>
        <p:nvSpPr>
          <p:cNvPr id="29" name="">
            <a:extLst xmlns:a="http://schemas.openxmlformats.org/drawingml/2006/main">
              <a:ext uri="{FF2B5EF4-FFF2-40B4-BE49-F238E27FC236}">
                <a16:creationId xmlns:a16="http://schemas.microsoft.com/office/drawing/2014/main" id="{1C1FDAE5-D8B8-4E5B-8E84-8866058A4A2F}"/>
              </a:ext>
            </a:extLst>
          </p:cNvPr>
          <p:cNvSpPr>
            <a:spLocks xmlns:a="http://schemas.openxmlformats.org/drawingml/2006/main" noGrp="1"/>
          </p:cNvSpPr>
          <p:nvPr/>
        </p:nvSpPr>
        <p:spPr>
          <a:xfrm xmlns:a="http://schemas.openxmlformats.org/drawingml/2006/main">
            <a:off x="6896100" y="3600450"/>
            <a:ext cx="4895850" cy="1847850"/>
          </a:xfrm>
          <a:prstGeom xmlns:a="http://schemas.openxmlformats.org/drawingml/2006/main" prst="roundRect">
            <a:avLst>
              <a:gd name="adj" fmla="val 4124"/>
            </a:avLst>
          </a:prstGeom>
          <a:solidFill xmlns:a="http://schemas.openxmlformats.org/drawingml/2006/main">
            <a:srgbClr val="EAF2FF"/>
          </a:solidFill>
          <a:ln xmlns:a="http://schemas.openxmlformats.org/drawingml/2006/main" w="0">
            <a:solidFill>
              <a:srgbClr val="EAF2FF"/>
            </a:solidFill>
            <a:prstDash val="solid"/>
          </a:ln>
        </p:spPr>
      </p:sp>
      <p:sp>
        <p:nvSpPr>
          <p:cNvPr id="30" name="">
            <a:extLst xmlns:a="http://schemas.openxmlformats.org/drawingml/2006/main">
              <a:ext uri="{FF2B5EF4-FFF2-40B4-BE49-F238E27FC236}">
                <a16:creationId xmlns:a16="http://schemas.microsoft.com/office/drawing/2014/main" id="{E7F2BEC6-6E90-4F2D-A4F7-6A339F3E1CBE}"/>
              </a:ext>
            </a:extLst>
          </p:cNvPr>
          <p:cNvSpPr>
            <a:spLocks xmlns:a="http://schemas.openxmlformats.org/drawingml/2006/main" noGrp="1"/>
          </p:cNvSpPr>
          <p:nvPr/>
        </p:nvSpPr>
        <p:spPr>
          <a:xfrm xmlns:a="http://schemas.openxmlformats.org/drawingml/2006/main">
            <a:off x="7143750" y="3829050"/>
            <a:ext cx="41910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t>Corrected long-source Base → RAG</a:t>
            </a:r>
          </a:p>
        </p:txBody>
      </p:sp>
      <p:sp>
        <p:nvSpPr>
          <p:cNvPr id="31" name="">
            <a:extLst xmlns:a="http://schemas.openxmlformats.org/drawingml/2006/main">
              <a:ext uri="{FF2B5EF4-FFF2-40B4-BE49-F238E27FC236}">
                <a16:creationId xmlns:a16="http://schemas.microsoft.com/office/drawing/2014/main" id="{3BEF3F13-9BB6-43FC-B0D8-0D4F1DE425FD}"/>
              </a:ext>
            </a:extLst>
          </p:cNvPr>
          <p:cNvSpPr>
            <a:spLocks xmlns:a="http://schemas.openxmlformats.org/drawingml/2006/main" noGrp="1"/>
          </p:cNvSpPr>
          <p:nvPr/>
        </p:nvSpPr>
        <p:spPr>
          <a:xfrm xmlns:a="http://schemas.openxmlformats.org/drawingml/2006/main">
            <a:off x="7143750" y="4324350"/>
            <a:ext cx="12001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2563EB"/>
                </a:solidFill>
                <a:latin typeface="Aptos"/>
                <a:ea typeface="Aptos"/>
                <a:cs typeface="Aptos"/>
              </a:defRPr>
            </a:pPr>
            <a:r>
              <a:t>+0.656</a:t>
            </a:r>
          </a:p>
        </p:txBody>
      </p:sp>
      <p:sp>
        <p:nvSpPr>
          <p:cNvPr id="32" name="">
            <a:extLst xmlns:a="http://schemas.openxmlformats.org/drawingml/2006/main">
              <a:ext uri="{FF2B5EF4-FFF2-40B4-BE49-F238E27FC236}">
                <a16:creationId xmlns:a16="http://schemas.microsoft.com/office/drawing/2014/main" id="{FB8233BF-81BA-40E8-9899-CA487806681F}"/>
              </a:ext>
            </a:extLst>
          </p:cNvPr>
          <p:cNvSpPr>
            <a:spLocks xmlns:a="http://schemas.openxmlformats.org/drawingml/2006/main" noGrp="1"/>
          </p:cNvSpPr>
          <p:nvPr/>
        </p:nvSpPr>
        <p:spPr>
          <a:xfrm xmlns:a="http://schemas.openxmlformats.org/drawingml/2006/main">
            <a:off x="7143750" y="4724400"/>
            <a:ext cx="1200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472"/>
                </a:solidFill>
                <a:latin typeface="Aptos"/>
                <a:ea typeface="Aptos"/>
                <a:cs typeface="Aptos"/>
              </a:defRPr>
            </a:pPr>
            <a:r>
              <a:t>answer relevance</a:t>
            </a:r>
          </a:p>
        </p:txBody>
      </p:sp>
      <p:sp>
        <p:nvSpPr>
          <p:cNvPr id="33" name="">
            <a:extLst xmlns:a="http://schemas.openxmlformats.org/drawingml/2006/main">
              <a:ext uri="{FF2B5EF4-FFF2-40B4-BE49-F238E27FC236}">
                <a16:creationId xmlns:a16="http://schemas.microsoft.com/office/drawing/2014/main" id="{BD69B1DD-CB2C-4442-84D2-135C41BD7A6D}"/>
              </a:ext>
            </a:extLst>
          </p:cNvPr>
          <p:cNvSpPr>
            <a:spLocks xmlns:a="http://schemas.openxmlformats.org/drawingml/2006/main" noGrp="1"/>
          </p:cNvSpPr>
          <p:nvPr/>
        </p:nvSpPr>
        <p:spPr>
          <a:xfrm xmlns:a="http://schemas.openxmlformats.org/drawingml/2006/main">
            <a:off x="8620125" y="4324350"/>
            <a:ext cx="12001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F9D8A"/>
                </a:solidFill>
                <a:latin typeface="Aptos"/>
                <a:ea typeface="Aptos"/>
                <a:cs typeface="Aptos"/>
              </a:defRPr>
            </a:pPr>
            <a:r>
              <a:t>+0.523</a:t>
            </a:r>
          </a:p>
        </p:txBody>
      </p:sp>
      <p:sp>
        <p:nvSpPr>
          <p:cNvPr id="34" name="">
            <a:extLst xmlns:a="http://schemas.openxmlformats.org/drawingml/2006/main">
              <a:ext uri="{FF2B5EF4-FFF2-40B4-BE49-F238E27FC236}">
                <a16:creationId xmlns:a16="http://schemas.microsoft.com/office/drawing/2014/main" id="{B34FBFC5-2FCF-4765-8E91-7A8D9C541CE2}"/>
              </a:ext>
            </a:extLst>
          </p:cNvPr>
          <p:cNvSpPr>
            <a:spLocks xmlns:a="http://schemas.openxmlformats.org/drawingml/2006/main" noGrp="1"/>
          </p:cNvSpPr>
          <p:nvPr/>
        </p:nvSpPr>
        <p:spPr>
          <a:xfrm xmlns:a="http://schemas.openxmlformats.org/drawingml/2006/main">
            <a:off x="8620125" y="4724400"/>
            <a:ext cx="1200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472"/>
                </a:solidFill>
                <a:latin typeface="Aptos"/>
                <a:ea typeface="Aptos"/>
                <a:cs typeface="Aptos"/>
              </a:defRPr>
            </a:pPr>
            <a:r>
              <a:t>required coverage</a:t>
            </a:r>
          </a:p>
        </p:txBody>
      </p:sp>
      <p:sp>
        <p:nvSpPr>
          <p:cNvPr id="35" name="">
            <a:extLst xmlns:a="http://schemas.openxmlformats.org/drawingml/2006/main">
              <a:ext uri="{FF2B5EF4-FFF2-40B4-BE49-F238E27FC236}">
                <a16:creationId xmlns:a16="http://schemas.microsoft.com/office/drawing/2014/main" id="{E1EDD54F-3C41-46C8-9B49-02F7BEC03063}"/>
              </a:ext>
            </a:extLst>
          </p:cNvPr>
          <p:cNvSpPr>
            <a:spLocks xmlns:a="http://schemas.openxmlformats.org/drawingml/2006/main" noGrp="1"/>
          </p:cNvSpPr>
          <p:nvPr/>
        </p:nvSpPr>
        <p:spPr>
          <a:xfrm xmlns:a="http://schemas.openxmlformats.org/drawingml/2006/main">
            <a:off x="10096500" y="4324350"/>
            <a:ext cx="12001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D97706"/>
                </a:solidFill>
                <a:latin typeface="Aptos"/>
                <a:ea typeface="Aptos"/>
                <a:cs typeface="Aptos"/>
              </a:defRPr>
            </a:pPr>
            <a:r>
              <a:t>+8.03s</a:t>
            </a:r>
          </a:p>
        </p:txBody>
      </p:sp>
      <p:sp>
        <p:nvSpPr>
          <p:cNvPr id="36" name="">
            <a:extLst xmlns:a="http://schemas.openxmlformats.org/drawingml/2006/main">
              <a:ext uri="{FF2B5EF4-FFF2-40B4-BE49-F238E27FC236}">
                <a16:creationId xmlns:a16="http://schemas.microsoft.com/office/drawing/2014/main" id="{AFD6C809-D3B2-4656-9E33-B0E1FBEBFC0A}"/>
              </a:ext>
            </a:extLst>
          </p:cNvPr>
          <p:cNvSpPr>
            <a:spLocks xmlns:a="http://schemas.openxmlformats.org/drawingml/2006/main" noGrp="1"/>
          </p:cNvSpPr>
          <p:nvPr/>
        </p:nvSpPr>
        <p:spPr>
          <a:xfrm xmlns:a="http://schemas.openxmlformats.org/drawingml/2006/main">
            <a:off x="10096500" y="4724400"/>
            <a:ext cx="1200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472"/>
                </a:solidFill>
                <a:latin typeface="Aptos"/>
                <a:ea typeface="Aptos"/>
                <a:cs typeface="Aptos"/>
              </a:defRPr>
            </a:pPr>
            <a:r>
              <a:t>mean generation</a:t>
            </a:r>
          </a:p>
        </p:txBody>
      </p:sp>
      <p:sp>
        <p:nvSpPr>
          <p:cNvPr id="37" name="">
            <a:extLst xmlns:a="http://schemas.openxmlformats.org/drawingml/2006/main">
              <a:ext uri="{FF2B5EF4-FFF2-40B4-BE49-F238E27FC236}">
                <a16:creationId xmlns:a16="http://schemas.microsoft.com/office/drawing/2014/main" id="{7E4B4331-D024-45F3-B5D3-5587A321D590}"/>
              </a:ext>
            </a:extLst>
          </p:cNvPr>
          <p:cNvSpPr>
            <a:spLocks xmlns:a="http://schemas.openxmlformats.org/drawingml/2006/main" noGrp="1"/>
          </p:cNvSpPr>
          <p:nvPr/>
        </p:nvSpPr>
        <p:spPr>
          <a:xfrm xmlns:a="http://schemas.openxmlformats.org/drawingml/2006/main">
            <a:off x="7143750" y="5124450"/>
            <a:ext cx="41910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472"/>
                </a:solidFill>
                <a:latin typeface="Aptos"/>
                <a:ea typeface="Aptos"/>
                <a:cs typeface="Aptos"/>
              </a:defRPr>
            </a:pPr>
            <a:r>
              <a:t>40 matched questions · one pinned Llama stack · NVIDIA A40</a:t>
            </a:r>
          </a:p>
        </p:txBody>
      </p:sp>
      <p:sp>
        <p:nvSpPr>
          <p:cNvPr id="38" name="">
            <a:extLst xmlns:a="http://schemas.openxmlformats.org/drawingml/2006/main">
              <a:ext uri="{FF2B5EF4-FFF2-40B4-BE49-F238E27FC236}">
                <a16:creationId xmlns:a16="http://schemas.microsoft.com/office/drawing/2014/main" id="{650ACE2F-C695-417A-82C1-B84DE6595293}"/>
              </a:ext>
            </a:extLst>
          </p:cNvPr>
          <p:cNvSpPr>
            <a:spLocks xmlns:a="http://schemas.openxmlformats.org/drawingml/2006/main" noGrp="1"/>
          </p:cNvSpPr>
          <p:nvPr/>
        </p:nvSpPr>
        <p:spPr>
          <a:xfrm xmlns:a="http://schemas.openxmlformats.org/drawingml/2006/main">
            <a:off x="6896100" y="5715000"/>
            <a:ext cx="489585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D7DCE3"/>
            </a:solidFill>
            <a:prstDash val="solid"/>
          </a:ln>
        </p:spPr>
      </p:sp>
      <p:sp>
        <p:nvSpPr>
          <p:cNvPr id="39" name="">
            <a:extLst xmlns:a="http://schemas.openxmlformats.org/drawingml/2006/main">
              <a:ext uri="{FF2B5EF4-FFF2-40B4-BE49-F238E27FC236}">
                <a16:creationId xmlns:a16="http://schemas.microsoft.com/office/drawing/2014/main" id="{372ADBAA-872A-49F2-B9ED-B38817010038}"/>
              </a:ext>
            </a:extLst>
          </p:cNvPr>
          <p:cNvSpPr>
            <a:spLocks xmlns:a="http://schemas.openxmlformats.org/drawingml/2006/main" noGrp="1"/>
          </p:cNvSpPr>
          <p:nvPr/>
        </p:nvSpPr>
        <p:spPr>
          <a:xfrm xmlns:a="http://schemas.openxmlformats.org/drawingml/2006/main">
            <a:off x="7048500" y="5772150"/>
            <a:ext cx="459105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5B6472"/>
                </a:solidFill>
                <a:latin typeface="Aptos"/>
                <a:ea typeface="Aptos"/>
                <a:cs typeface="Aptos"/>
              </a:defRPr>
            </a:pPr>
            <a:r>
              <a:t>Week 6 synthesis itself is CPU-only; RunPod verified Linux portability, not GPU performance.</a:t>
            </a:r>
          </a:p>
        </p:txBody>
      </p:sp>
    </p:spTree>
    <p:extLst>
      <p:ext uri="{BB962C8B-B14F-4D97-AF65-F5344CB8AC3E}">
        <p14:creationId xmlns:p14="http://schemas.microsoft.com/office/powerpoint/2010/main" val="141435751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45A8E42-3658-4BB5-8A1A-1B391EC4B398}"/>
              </a:ext>
            </a:extLst>
          </p:cNvPr>
          <p:cNvSpPr>
            <a:spLocks xmlns:a="http://schemas.openxmlformats.org/drawingml/2006/main" noGrp="1"/>
          </p:cNvSpPr>
          <p:nvPr/>
        </p:nvSpPr>
        <p:spPr>
          <a:xfrm xmlns:a="http://schemas.openxmlformats.org/drawingml/2006/main">
            <a:off x="400050" y="228600"/>
            <a:ext cx="49530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563EB"/>
                </a:solidFill>
                <a:latin typeface="Aptos"/>
                <a:ea typeface="Aptos"/>
                <a:cs typeface="Aptos"/>
              </a:defRPr>
            </a:pPr>
            <a:r>
              <a:t>PHASE C · WEEK 5–6</a:t>
            </a:r>
          </a:p>
        </p:txBody>
      </p:sp>
      <p:sp>
        <p:nvSpPr>
          <p:cNvPr id="2" name="">
            <a:extLst xmlns:a="http://schemas.openxmlformats.org/drawingml/2006/main">
              <a:ext uri="{FF2B5EF4-FFF2-40B4-BE49-F238E27FC236}">
                <a16:creationId xmlns:a16="http://schemas.microsoft.com/office/drawing/2014/main" id="{155F375B-412A-4045-BB9F-303E315C9E5E}"/>
              </a:ext>
            </a:extLst>
          </p:cNvPr>
          <p:cNvSpPr>
            <a:spLocks xmlns:a="http://schemas.openxmlformats.org/drawingml/2006/main" noGrp="1"/>
          </p:cNvSpPr>
          <p:nvPr/>
        </p:nvSpPr>
        <p:spPr>
          <a:xfrm xmlns:a="http://schemas.openxmlformats.org/drawingml/2006/main">
            <a:off x="400050" y="504825"/>
            <a:ext cx="11144250" cy="590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111827"/>
                </a:solidFill>
                <a:latin typeface="Aptos"/>
                <a:ea typeface="Aptos"/>
                <a:cs typeface="Aptos"/>
              </a:defRPr>
            </a:pPr>
            <a:r>
              <a:t>What is established — and what must come next</a:t>
            </a:r>
          </a:p>
        </p:txBody>
      </p:sp>
      <p:cxnSp>
        <p:nvCxnSpPr>
          <p:cNvPr id="38"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D7DCE3"/>
            </a:solidFill>
            <a:prstDash val="solid"/>
          </a:ln>
        </p:spPr>
      </p:cxnSp>
      <p:sp>
        <p:nvSpPr>
          <p:cNvPr id="4" name="">
            <a:extLst xmlns:a="http://schemas.openxmlformats.org/drawingml/2006/main">
              <a:ext uri="{FF2B5EF4-FFF2-40B4-BE49-F238E27FC236}">
                <a16:creationId xmlns:a16="http://schemas.microsoft.com/office/drawing/2014/main" id="{66F8E5AD-63D7-47FB-945D-692B01938E57}"/>
              </a:ext>
            </a:extLst>
          </p:cNvPr>
          <p:cNvSpPr>
            <a:spLocks xmlns:a="http://schemas.openxmlformats.org/drawingml/2006/main" noGrp="1"/>
          </p:cNvSpPr>
          <p:nvPr/>
        </p:nvSpPr>
        <p:spPr>
          <a:xfrm xmlns:a="http://schemas.openxmlformats.org/drawingml/2006/main">
            <a:off x="11277600" y="6381750"/>
            <a:ext cx="4953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8A93A2"/>
                </a:solidFill>
                <a:latin typeface="Aptos"/>
                <a:ea typeface="Aptos"/>
                <a:cs typeface="Aptos"/>
              </a:defRPr>
            </a:pPr>
            <a:r>
              <a:t>09</a:t>
            </a:r>
          </a:p>
        </p:txBody>
      </p:sp>
      <p:sp>
        <p:nvSpPr>
          <p:cNvPr id="5" name="">
            <a:extLst xmlns:a="http://schemas.openxmlformats.org/drawingml/2006/main">
              <a:ext uri="{FF2B5EF4-FFF2-40B4-BE49-F238E27FC236}">
                <a16:creationId xmlns:a16="http://schemas.microsoft.com/office/drawing/2014/main" id="{F32CB8F9-5AF1-4B01-B101-803939AB6387}"/>
              </a:ext>
            </a:extLst>
          </p:cNvPr>
          <p:cNvSpPr>
            <a:spLocks xmlns:a="http://schemas.openxmlformats.org/drawingml/2006/main" noGrp="1"/>
          </p:cNvSpPr>
          <p:nvPr/>
        </p:nvSpPr>
        <p:spPr>
          <a:xfrm xmlns:a="http://schemas.openxmlformats.org/drawingml/2006/main">
            <a:off x="400050" y="1476375"/>
            <a:ext cx="53340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F9D8A"/>
                </a:solidFill>
                <a:latin typeface="Aptos"/>
                <a:ea typeface="Aptos"/>
                <a:cs typeface="Aptos"/>
              </a:defRPr>
            </a:pPr>
            <a:r>
              <a:t>ESTABLISHED</a:t>
            </a:r>
          </a:p>
        </p:txBody>
      </p:sp>
      <p:sp>
        <p:nvSpPr>
          <p:cNvPr id="6" name="">
            <a:extLst xmlns:a="http://schemas.openxmlformats.org/drawingml/2006/main">
              <a:ext uri="{FF2B5EF4-FFF2-40B4-BE49-F238E27FC236}">
                <a16:creationId xmlns:a16="http://schemas.microsoft.com/office/drawing/2014/main" id="{FE05592D-339B-45E6-8413-AD8363B8D2F5}"/>
              </a:ext>
            </a:extLst>
          </p:cNvPr>
          <p:cNvSpPr>
            <a:spLocks xmlns:a="http://schemas.openxmlformats.org/drawingml/2006/main" noGrp="1"/>
          </p:cNvSpPr>
          <p:nvPr/>
        </p:nvSpPr>
        <p:spPr>
          <a:xfrm xmlns:a="http://schemas.openxmlformats.org/drawingml/2006/main">
            <a:off x="400050" y="1866900"/>
            <a:ext cx="5238750" cy="1123950"/>
          </a:xfrm>
          <a:prstGeom xmlns:a="http://schemas.openxmlformats.org/drawingml/2006/main" prst="roundRect">
            <a:avLst>
              <a:gd name="adj" fmla="val 6780"/>
            </a:avLst>
          </a:prstGeom>
          <a:solidFill xmlns:a="http://schemas.openxmlformats.org/drawingml/2006/main">
            <a:srgbClr val="EDF8F5"/>
          </a:solidFill>
          <a:ln xmlns:a="http://schemas.openxmlformats.org/drawingml/2006/main" w="0">
            <a:solidFill>
              <a:srgbClr val="EDF8F5"/>
            </a:solidFill>
            <a:prstDash val="solid"/>
          </a:ln>
        </p:spPr>
      </p:sp>
      <p:sp>
        <p:nvSpPr>
          <p:cNvPr id="7" name="">
            <a:extLst xmlns:a="http://schemas.openxmlformats.org/drawingml/2006/main">
              <a:ext uri="{FF2B5EF4-FFF2-40B4-BE49-F238E27FC236}">
                <a16:creationId xmlns:a16="http://schemas.microsoft.com/office/drawing/2014/main" id="{BEE6CF7D-A9DE-48A7-94DC-F8CD4E099C3A}"/>
              </a:ext>
            </a:extLst>
          </p:cNvPr>
          <p:cNvSpPr>
            <a:spLocks xmlns:a="http://schemas.openxmlformats.org/drawingml/2006/main" noGrp="1"/>
          </p:cNvSpPr>
          <p:nvPr/>
        </p:nvSpPr>
        <p:spPr>
          <a:xfrm xmlns:a="http://schemas.openxmlformats.org/drawingml/2006/main">
            <a:off x="400050" y="1866900"/>
            <a:ext cx="76200" cy="112395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8" name="">
            <a:extLst xmlns:a="http://schemas.openxmlformats.org/drawingml/2006/main">
              <a:ext uri="{FF2B5EF4-FFF2-40B4-BE49-F238E27FC236}">
                <a16:creationId xmlns:a16="http://schemas.microsoft.com/office/drawing/2014/main" id="{EFAC5364-8690-4D05-893E-FE16B0BC4BF1}"/>
              </a:ext>
            </a:extLst>
          </p:cNvPr>
          <p:cNvSpPr>
            <a:spLocks xmlns:a="http://schemas.openxmlformats.org/drawingml/2006/main" noGrp="1"/>
          </p:cNvSpPr>
          <p:nvPr/>
        </p:nvSpPr>
        <p:spPr>
          <a:xfrm xmlns:a="http://schemas.openxmlformats.org/drawingml/2006/main">
            <a:off x="647700" y="2057400"/>
            <a:ext cx="47434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t>Reproducible experimental contract</a:t>
            </a:r>
          </a:p>
        </p:txBody>
      </p:sp>
      <p:sp>
        <p:nvSpPr>
          <p:cNvPr id="9" name="">
            <a:extLst xmlns:a="http://schemas.openxmlformats.org/drawingml/2006/main">
              <a:ext uri="{FF2B5EF4-FFF2-40B4-BE49-F238E27FC236}">
                <a16:creationId xmlns:a16="http://schemas.microsoft.com/office/drawing/2014/main" id="{5FDEDE95-8C5D-4023-9CCC-B3E5C6548B4B}"/>
              </a:ext>
            </a:extLst>
          </p:cNvPr>
          <p:cNvSpPr>
            <a:spLocks xmlns:a="http://schemas.openxmlformats.org/drawingml/2006/main" noGrp="1"/>
          </p:cNvSpPr>
          <p:nvPr/>
        </p:nvSpPr>
        <p:spPr>
          <a:xfrm xmlns:a="http://schemas.openxmlformats.org/drawingml/2006/main">
            <a:off x="647700" y="2514600"/>
            <a:ext cx="47434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Frozen inputs, hashes, revisions, seed, row traces, and scorer status.</a:t>
            </a:r>
          </a:p>
        </p:txBody>
      </p:sp>
      <p:sp>
        <p:nvSpPr>
          <p:cNvPr id="10" name="">
            <a:extLst xmlns:a="http://schemas.openxmlformats.org/drawingml/2006/main">
              <a:ext uri="{FF2B5EF4-FFF2-40B4-BE49-F238E27FC236}">
                <a16:creationId xmlns:a16="http://schemas.microsoft.com/office/drawing/2014/main" id="{D34709E1-1667-4641-A522-69D2DD4ED8E4}"/>
              </a:ext>
            </a:extLst>
          </p:cNvPr>
          <p:cNvSpPr>
            <a:spLocks xmlns:a="http://schemas.openxmlformats.org/drawingml/2006/main" noGrp="1"/>
          </p:cNvSpPr>
          <p:nvPr/>
        </p:nvSpPr>
        <p:spPr>
          <a:xfrm xmlns:a="http://schemas.openxmlformats.org/drawingml/2006/main">
            <a:off x="400050" y="3143250"/>
            <a:ext cx="5238750" cy="1123950"/>
          </a:xfrm>
          <a:prstGeom xmlns:a="http://schemas.openxmlformats.org/drawingml/2006/main" prst="roundRect">
            <a:avLst>
              <a:gd name="adj" fmla="val 6780"/>
            </a:avLst>
          </a:prstGeom>
          <a:solidFill xmlns:a="http://schemas.openxmlformats.org/drawingml/2006/main">
            <a:srgbClr val="EDF8F5"/>
          </a:solidFill>
          <a:ln xmlns:a="http://schemas.openxmlformats.org/drawingml/2006/main" w="0">
            <a:solidFill>
              <a:srgbClr val="EDF8F5"/>
            </a:solidFill>
            <a:prstDash val="solid"/>
          </a:ln>
        </p:spPr>
      </p:sp>
      <p:sp>
        <p:nvSpPr>
          <p:cNvPr id="11" name="">
            <a:extLst xmlns:a="http://schemas.openxmlformats.org/drawingml/2006/main">
              <a:ext uri="{FF2B5EF4-FFF2-40B4-BE49-F238E27FC236}">
                <a16:creationId xmlns:a16="http://schemas.microsoft.com/office/drawing/2014/main" id="{FD9DEB08-1A6C-4A5F-960B-4CBCC13DB021}"/>
              </a:ext>
            </a:extLst>
          </p:cNvPr>
          <p:cNvSpPr>
            <a:spLocks xmlns:a="http://schemas.openxmlformats.org/drawingml/2006/main" noGrp="1"/>
          </p:cNvSpPr>
          <p:nvPr/>
        </p:nvSpPr>
        <p:spPr>
          <a:xfrm xmlns:a="http://schemas.openxmlformats.org/drawingml/2006/main">
            <a:off x="400050" y="3143250"/>
            <a:ext cx="76200" cy="112395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12" name="">
            <a:extLst xmlns:a="http://schemas.openxmlformats.org/drawingml/2006/main">
              <a:ext uri="{FF2B5EF4-FFF2-40B4-BE49-F238E27FC236}">
                <a16:creationId xmlns:a16="http://schemas.microsoft.com/office/drawing/2014/main" id="{7366D366-636B-40B1-B20F-2AF4AB4198D5}"/>
              </a:ext>
            </a:extLst>
          </p:cNvPr>
          <p:cNvSpPr>
            <a:spLocks xmlns:a="http://schemas.openxmlformats.org/drawingml/2006/main" noGrp="1"/>
          </p:cNvSpPr>
          <p:nvPr/>
        </p:nvSpPr>
        <p:spPr>
          <a:xfrm xmlns:a="http://schemas.openxmlformats.org/drawingml/2006/main">
            <a:off x="647700" y="3333750"/>
            <a:ext cx="47434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t>Conditional RAG decision</a:t>
            </a:r>
          </a:p>
        </p:txBody>
      </p:sp>
      <p:sp>
        <p:nvSpPr>
          <p:cNvPr id="13" name="">
            <a:extLst xmlns:a="http://schemas.openxmlformats.org/drawingml/2006/main">
              <a:ext uri="{FF2B5EF4-FFF2-40B4-BE49-F238E27FC236}">
                <a16:creationId xmlns:a16="http://schemas.microsoft.com/office/drawing/2014/main" id="{12119859-356D-4A6F-BFD0-21F85C85AF83}"/>
              </a:ext>
            </a:extLst>
          </p:cNvPr>
          <p:cNvSpPr>
            <a:spLocks xmlns:a="http://schemas.openxmlformats.org/drawingml/2006/main" noGrp="1"/>
          </p:cNvSpPr>
          <p:nvPr/>
        </p:nvSpPr>
        <p:spPr>
          <a:xfrm xmlns:a="http://schemas.openxmlformats.org/drawingml/2006/main">
            <a:off x="647700" y="3790950"/>
            <a:ext cx="47434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Three Pareto cells; the balanced choice is conditional on this stack and A40.</a:t>
            </a:r>
          </a:p>
        </p:txBody>
      </p:sp>
      <p:sp>
        <p:nvSpPr>
          <p:cNvPr id="14" name="">
            <a:extLst xmlns:a="http://schemas.openxmlformats.org/drawingml/2006/main">
              <a:ext uri="{FF2B5EF4-FFF2-40B4-BE49-F238E27FC236}">
                <a16:creationId xmlns:a16="http://schemas.microsoft.com/office/drawing/2014/main" id="{E5F71BB3-A226-45ED-BBFB-B45FF5B8FB05}"/>
              </a:ext>
            </a:extLst>
          </p:cNvPr>
          <p:cNvSpPr>
            <a:spLocks xmlns:a="http://schemas.openxmlformats.org/drawingml/2006/main" noGrp="1"/>
          </p:cNvSpPr>
          <p:nvPr/>
        </p:nvSpPr>
        <p:spPr>
          <a:xfrm xmlns:a="http://schemas.openxmlformats.org/drawingml/2006/main">
            <a:off x="400050" y="4419600"/>
            <a:ext cx="5238750" cy="1123950"/>
          </a:xfrm>
          <a:prstGeom xmlns:a="http://schemas.openxmlformats.org/drawingml/2006/main" prst="roundRect">
            <a:avLst>
              <a:gd name="adj" fmla="val 6780"/>
            </a:avLst>
          </a:prstGeom>
          <a:solidFill xmlns:a="http://schemas.openxmlformats.org/drawingml/2006/main">
            <a:srgbClr val="EDF8F5"/>
          </a:solidFill>
          <a:ln xmlns:a="http://schemas.openxmlformats.org/drawingml/2006/main" w="0">
            <a:solidFill>
              <a:srgbClr val="EDF8F5"/>
            </a:solidFill>
            <a:prstDash val="solid"/>
          </a:ln>
        </p:spPr>
      </p:sp>
      <p:sp>
        <p:nvSpPr>
          <p:cNvPr id="15" name="">
            <a:extLst xmlns:a="http://schemas.openxmlformats.org/drawingml/2006/main">
              <a:ext uri="{FF2B5EF4-FFF2-40B4-BE49-F238E27FC236}">
                <a16:creationId xmlns:a16="http://schemas.microsoft.com/office/drawing/2014/main" id="{ED0F6899-CA3E-4590-A97D-7478CD36510C}"/>
              </a:ext>
            </a:extLst>
          </p:cNvPr>
          <p:cNvSpPr>
            <a:spLocks xmlns:a="http://schemas.openxmlformats.org/drawingml/2006/main" noGrp="1"/>
          </p:cNvSpPr>
          <p:nvPr/>
        </p:nvSpPr>
        <p:spPr>
          <a:xfrm xmlns:a="http://schemas.openxmlformats.org/drawingml/2006/main">
            <a:off x="400050" y="4419600"/>
            <a:ext cx="76200" cy="1123950"/>
          </a:xfrm>
          <a:prstGeom xmlns:a="http://schemas.openxmlformats.org/drawingml/2006/main" prst="rect">
            <a:avLst/>
          </a:prstGeom>
          <a:solidFill xmlns:a="http://schemas.openxmlformats.org/drawingml/2006/main">
            <a:srgbClr val="0F9D8A"/>
          </a:solidFill>
          <a:ln xmlns:a="http://schemas.openxmlformats.org/drawingml/2006/main" w="0">
            <a:solidFill>
              <a:srgbClr val="0F9D8A"/>
            </a:solidFill>
            <a:prstDash val="solid"/>
          </a:ln>
        </p:spPr>
      </p:sp>
      <p:sp>
        <p:nvSpPr>
          <p:cNvPr id="16" name="">
            <a:extLst xmlns:a="http://schemas.openxmlformats.org/drawingml/2006/main">
              <a:ext uri="{FF2B5EF4-FFF2-40B4-BE49-F238E27FC236}">
                <a16:creationId xmlns:a16="http://schemas.microsoft.com/office/drawing/2014/main" id="{B88FD2CA-138D-4B15-BE8B-C24DF816E80F}"/>
              </a:ext>
            </a:extLst>
          </p:cNvPr>
          <p:cNvSpPr>
            <a:spLocks xmlns:a="http://schemas.openxmlformats.org/drawingml/2006/main" noGrp="1"/>
          </p:cNvSpPr>
          <p:nvPr/>
        </p:nvSpPr>
        <p:spPr>
          <a:xfrm xmlns:a="http://schemas.openxmlformats.org/drawingml/2006/main">
            <a:off x="647700" y="4610100"/>
            <a:ext cx="47434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t>PIC evaluation handoff</a:t>
            </a:r>
          </a:p>
        </p:txBody>
      </p:sp>
      <p:sp>
        <p:nvSpPr>
          <p:cNvPr id="17" name="">
            <a:extLst xmlns:a="http://schemas.openxmlformats.org/drawingml/2006/main">
              <a:ext uri="{FF2B5EF4-FFF2-40B4-BE49-F238E27FC236}">
                <a16:creationId xmlns:a16="http://schemas.microsoft.com/office/drawing/2014/main" id="{3A363751-517B-4DE2-A7D5-D7A490ED9B4E}"/>
              </a:ext>
            </a:extLst>
          </p:cNvPr>
          <p:cNvSpPr>
            <a:spLocks xmlns:a="http://schemas.openxmlformats.org/drawingml/2006/main" noGrp="1"/>
          </p:cNvSpPr>
          <p:nvPr/>
        </p:nvSpPr>
        <p:spPr>
          <a:xfrm xmlns:a="http://schemas.openxmlformats.org/drawingml/2006/main">
            <a:off x="647700" y="5067300"/>
            <a:ext cx="47434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Six readiness metrics plus an explicit PIC evidence-gap map.</a:t>
            </a:r>
          </a:p>
        </p:txBody>
      </p:sp>
      <p:sp>
        <p:nvSpPr>
          <p:cNvPr id="18" name="">
            <a:extLst xmlns:a="http://schemas.openxmlformats.org/drawingml/2006/main">
              <a:ext uri="{FF2B5EF4-FFF2-40B4-BE49-F238E27FC236}">
                <a16:creationId xmlns:a16="http://schemas.microsoft.com/office/drawing/2014/main" id="{E8E11528-DEE7-4B45-8D13-C1DFB251CF99}"/>
              </a:ext>
            </a:extLst>
          </p:cNvPr>
          <p:cNvSpPr>
            <a:spLocks xmlns:a="http://schemas.openxmlformats.org/drawingml/2006/main" noGrp="1"/>
          </p:cNvSpPr>
          <p:nvPr/>
        </p:nvSpPr>
        <p:spPr>
          <a:xfrm xmlns:a="http://schemas.openxmlformats.org/drawingml/2006/main">
            <a:off x="6153150" y="1476375"/>
            <a:ext cx="56388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563EB"/>
                </a:solidFill>
                <a:latin typeface="Aptos"/>
                <a:ea typeface="Aptos"/>
                <a:cs typeface="Aptos"/>
              </a:defRPr>
            </a:pPr>
            <a:r>
              <a:t>NEXT PRIORITIES</a:t>
            </a:r>
          </a:p>
        </p:txBody>
      </p:sp>
      <p:sp>
        <p:nvSpPr>
          <p:cNvPr id="19" name="">
            <a:extLst xmlns:a="http://schemas.openxmlformats.org/drawingml/2006/main">
              <a:ext uri="{FF2B5EF4-FFF2-40B4-BE49-F238E27FC236}">
                <a16:creationId xmlns:a16="http://schemas.microsoft.com/office/drawing/2014/main" id="{7E9354C7-E7D1-41D1-85FF-3B628F0BA19F}"/>
              </a:ext>
            </a:extLst>
          </p:cNvPr>
          <p:cNvSpPr>
            <a:spLocks xmlns:a="http://schemas.openxmlformats.org/drawingml/2006/main" noGrp="1"/>
          </p:cNvSpPr>
          <p:nvPr/>
        </p:nvSpPr>
        <p:spPr>
          <a:xfrm xmlns:a="http://schemas.openxmlformats.org/drawingml/2006/main">
            <a:off x="6153150" y="1866900"/>
            <a:ext cx="5638800" cy="1123950"/>
          </a:xfrm>
          <a:prstGeom xmlns:a="http://schemas.openxmlformats.org/drawingml/2006/main" prst="roundRect">
            <a:avLst>
              <a:gd name="adj" fmla="val 6780"/>
            </a:avLst>
          </a:prstGeom>
          <a:solidFill xmlns:a="http://schemas.openxmlformats.org/drawingml/2006/main">
            <a:srgbClr val="F3F5F7"/>
          </a:solidFill>
          <a:ln xmlns:a="http://schemas.openxmlformats.org/drawingml/2006/main" w="0">
            <a:solidFill>
              <a:srgbClr val="F3F5F7"/>
            </a:solidFill>
            <a:prstDash val="solid"/>
          </a:ln>
        </p:spPr>
      </p:sp>
      <p:sp>
        <p:nvSpPr>
          <p:cNvPr id="20" name="">
            <a:extLst xmlns:a="http://schemas.openxmlformats.org/drawingml/2006/main">
              <a:ext uri="{FF2B5EF4-FFF2-40B4-BE49-F238E27FC236}">
                <a16:creationId xmlns:a16="http://schemas.microsoft.com/office/drawing/2014/main" id="{9A98C457-B055-417B-B0D8-AD7D3CBC10B0}"/>
              </a:ext>
            </a:extLst>
          </p:cNvPr>
          <p:cNvSpPr>
            <a:spLocks xmlns:a="http://schemas.openxmlformats.org/drawingml/2006/main" noGrp="1"/>
          </p:cNvSpPr>
          <p:nvPr/>
        </p:nvSpPr>
        <p:spPr>
          <a:xfrm xmlns:a="http://schemas.openxmlformats.org/drawingml/2006/main">
            <a:off x="6153150" y="1866900"/>
            <a:ext cx="76200" cy="1123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1" name="">
            <a:extLst xmlns:a="http://schemas.openxmlformats.org/drawingml/2006/main">
              <a:ext uri="{FF2B5EF4-FFF2-40B4-BE49-F238E27FC236}">
                <a16:creationId xmlns:a16="http://schemas.microsoft.com/office/drawing/2014/main" id="{EFBBEA39-19EE-42AC-8538-C99302982CC7}"/>
              </a:ext>
            </a:extLst>
          </p:cNvPr>
          <p:cNvSpPr>
            <a:spLocks xmlns:a="http://schemas.openxmlformats.org/drawingml/2006/main" noGrp="1"/>
          </p:cNvSpPr>
          <p:nvPr/>
        </p:nvSpPr>
        <p:spPr>
          <a:xfrm xmlns:a="http://schemas.openxmlformats.org/drawingml/2006/main">
            <a:off x="6400800" y="2057400"/>
            <a:ext cx="5143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563EB"/>
                </a:solidFill>
                <a:latin typeface="Aptos"/>
                <a:ea typeface="Aptos"/>
                <a:cs typeface="Aptos"/>
              </a:defRPr>
            </a:pPr>
            <a:r>
              <a:t>1</a:t>
            </a:r>
          </a:p>
        </p:txBody>
      </p:sp>
      <p:sp>
        <p:nvSpPr>
          <p:cNvPr id="22" name="">
            <a:extLst xmlns:a="http://schemas.openxmlformats.org/drawingml/2006/main">
              <a:ext uri="{FF2B5EF4-FFF2-40B4-BE49-F238E27FC236}">
                <a16:creationId xmlns:a16="http://schemas.microsoft.com/office/drawing/2014/main" id="{8DAEAFC8-4238-4DE7-8305-ECAC1D872A1B}"/>
              </a:ext>
            </a:extLst>
          </p:cNvPr>
          <p:cNvSpPr>
            <a:spLocks xmlns:a="http://schemas.openxmlformats.org/drawingml/2006/main" noGrp="1"/>
          </p:cNvSpPr>
          <p:nvPr/>
        </p:nvSpPr>
        <p:spPr>
          <a:xfrm xmlns:a="http://schemas.openxmlformats.org/drawingml/2006/main">
            <a:off x="6972300" y="2057400"/>
            <a:ext cx="45720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t>Calibrate with domain experts</a:t>
            </a:r>
          </a:p>
        </p:txBody>
      </p:sp>
      <p:sp>
        <p:nvSpPr>
          <p:cNvPr id="23" name="">
            <a:extLst xmlns:a="http://schemas.openxmlformats.org/drawingml/2006/main">
              <a:ext uri="{FF2B5EF4-FFF2-40B4-BE49-F238E27FC236}">
                <a16:creationId xmlns:a16="http://schemas.microsoft.com/office/drawing/2014/main" id="{A43C01BF-6593-4463-960B-B46891D847C6}"/>
              </a:ext>
            </a:extLst>
          </p:cNvPr>
          <p:cNvSpPr>
            <a:spLocks xmlns:a="http://schemas.openxmlformats.org/drawingml/2006/main" noGrp="1"/>
          </p:cNvSpPr>
          <p:nvPr/>
        </p:nvSpPr>
        <p:spPr>
          <a:xfrm xmlns:a="http://schemas.openxmlformats.org/drawingml/2006/main">
            <a:off x="6400800" y="2514600"/>
            <a:ext cx="5143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Model-blind reviewers; mandatory review for every severity-5 case.</a:t>
            </a:r>
          </a:p>
        </p:txBody>
      </p:sp>
      <p:sp>
        <p:nvSpPr>
          <p:cNvPr id="24" name="">
            <a:extLst xmlns:a="http://schemas.openxmlformats.org/drawingml/2006/main">
              <a:ext uri="{FF2B5EF4-FFF2-40B4-BE49-F238E27FC236}">
                <a16:creationId xmlns:a16="http://schemas.microsoft.com/office/drawing/2014/main" id="{DE0310CA-9C08-421C-AE02-0C37649CC09D}"/>
              </a:ext>
            </a:extLst>
          </p:cNvPr>
          <p:cNvSpPr>
            <a:spLocks xmlns:a="http://schemas.openxmlformats.org/drawingml/2006/main" noGrp="1"/>
          </p:cNvSpPr>
          <p:nvPr/>
        </p:nvSpPr>
        <p:spPr>
          <a:xfrm xmlns:a="http://schemas.openxmlformats.org/drawingml/2006/main">
            <a:off x="6153150" y="3143250"/>
            <a:ext cx="5638800" cy="1123950"/>
          </a:xfrm>
          <a:prstGeom xmlns:a="http://schemas.openxmlformats.org/drawingml/2006/main" prst="roundRect">
            <a:avLst>
              <a:gd name="adj" fmla="val 6780"/>
            </a:avLst>
          </a:prstGeom>
          <a:solidFill xmlns:a="http://schemas.openxmlformats.org/drawingml/2006/main">
            <a:srgbClr val="F3F5F7"/>
          </a:solidFill>
          <a:ln xmlns:a="http://schemas.openxmlformats.org/drawingml/2006/main" w="0">
            <a:solidFill>
              <a:srgbClr val="F3F5F7"/>
            </a:solidFill>
            <a:prstDash val="solid"/>
          </a:ln>
        </p:spPr>
      </p:sp>
      <p:sp>
        <p:nvSpPr>
          <p:cNvPr id="25" name="">
            <a:extLst xmlns:a="http://schemas.openxmlformats.org/drawingml/2006/main">
              <a:ext uri="{FF2B5EF4-FFF2-40B4-BE49-F238E27FC236}">
                <a16:creationId xmlns:a16="http://schemas.microsoft.com/office/drawing/2014/main" id="{7CA4B215-9256-4267-9FC7-96E472569709}"/>
              </a:ext>
            </a:extLst>
          </p:cNvPr>
          <p:cNvSpPr>
            <a:spLocks xmlns:a="http://schemas.openxmlformats.org/drawingml/2006/main" noGrp="1"/>
          </p:cNvSpPr>
          <p:nvPr/>
        </p:nvSpPr>
        <p:spPr>
          <a:xfrm xmlns:a="http://schemas.openxmlformats.org/drawingml/2006/main">
            <a:off x="6153150" y="3143250"/>
            <a:ext cx="76200" cy="1123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6" name="">
            <a:extLst xmlns:a="http://schemas.openxmlformats.org/drawingml/2006/main">
              <a:ext uri="{FF2B5EF4-FFF2-40B4-BE49-F238E27FC236}">
                <a16:creationId xmlns:a16="http://schemas.microsoft.com/office/drawing/2014/main" id="{FE73CCDC-FFE6-4939-9AA7-DDF9AACC7A1D}"/>
              </a:ext>
            </a:extLst>
          </p:cNvPr>
          <p:cNvSpPr>
            <a:spLocks xmlns:a="http://schemas.openxmlformats.org/drawingml/2006/main" noGrp="1"/>
          </p:cNvSpPr>
          <p:nvPr/>
        </p:nvSpPr>
        <p:spPr>
          <a:xfrm xmlns:a="http://schemas.openxmlformats.org/drawingml/2006/main">
            <a:off x="6400800" y="3333750"/>
            <a:ext cx="5143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563EB"/>
                </a:solidFill>
                <a:latin typeface="Aptos"/>
                <a:ea typeface="Aptos"/>
                <a:cs typeface="Aptos"/>
              </a:defRPr>
            </a:pPr>
            <a:r>
              <a:t>2</a:t>
            </a:r>
          </a:p>
        </p:txBody>
      </p:sp>
      <p:sp>
        <p:nvSpPr>
          <p:cNvPr id="27" name="">
            <a:extLst xmlns:a="http://schemas.openxmlformats.org/drawingml/2006/main">
              <a:ext uri="{FF2B5EF4-FFF2-40B4-BE49-F238E27FC236}">
                <a16:creationId xmlns:a16="http://schemas.microsoft.com/office/drawing/2014/main" id="{01C9FA7E-49BD-4E60-B38A-1BFE51069A5A}"/>
              </a:ext>
            </a:extLst>
          </p:cNvPr>
          <p:cNvSpPr>
            <a:spLocks xmlns:a="http://schemas.openxmlformats.org/drawingml/2006/main" noGrp="1"/>
          </p:cNvSpPr>
          <p:nvPr/>
        </p:nvSpPr>
        <p:spPr>
          <a:xfrm xmlns:a="http://schemas.openxmlformats.org/drawingml/2006/main">
            <a:off x="6972300" y="3333750"/>
            <a:ext cx="45720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t>Move to closed loop</a:t>
            </a:r>
          </a:p>
        </p:txBody>
      </p:sp>
      <p:sp>
        <p:nvSpPr>
          <p:cNvPr id="28" name="">
            <a:extLst xmlns:a="http://schemas.openxmlformats.org/drawingml/2006/main">
              <a:ext uri="{FF2B5EF4-FFF2-40B4-BE49-F238E27FC236}">
                <a16:creationId xmlns:a16="http://schemas.microsoft.com/office/drawing/2014/main" id="{E6660F45-4ACE-42F3-8046-B640640E18BD}"/>
              </a:ext>
            </a:extLst>
          </p:cNvPr>
          <p:cNvSpPr>
            <a:spLocks xmlns:a="http://schemas.openxmlformats.org/drawingml/2006/main" noGrp="1"/>
          </p:cNvSpPr>
          <p:nvPr/>
        </p:nvSpPr>
        <p:spPr>
          <a:xfrm xmlns:a="http://schemas.openxmlformats.org/drawingml/2006/main">
            <a:off x="6400800" y="3790950"/>
            <a:ext cx="5143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Replay sensor dropout; measure unsafe actions, recovery, and safe-state time.</a:t>
            </a:r>
          </a:p>
        </p:txBody>
      </p:sp>
      <p:sp>
        <p:nvSpPr>
          <p:cNvPr id="29" name="">
            <a:extLst xmlns:a="http://schemas.openxmlformats.org/drawingml/2006/main">
              <a:ext uri="{FF2B5EF4-FFF2-40B4-BE49-F238E27FC236}">
                <a16:creationId xmlns:a16="http://schemas.microsoft.com/office/drawing/2014/main" id="{2E49D96F-0CA6-4FF8-B41A-3907019A47C5}"/>
              </a:ext>
            </a:extLst>
          </p:cNvPr>
          <p:cNvSpPr>
            <a:spLocks xmlns:a="http://schemas.openxmlformats.org/drawingml/2006/main" noGrp="1"/>
          </p:cNvSpPr>
          <p:nvPr/>
        </p:nvSpPr>
        <p:spPr>
          <a:xfrm xmlns:a="http://schemas.openxmlformats.org/drawingml/2006/main">
            <a:off x="6153150" y="4419600"/>
            <a:ext cx="5638800" cy="1123950"/>
          </a:xfrm>
          <a:prstGeom xmlns:a="http://schemas.openxmlformats.org/drawingml/2006/main" prst="roundRect">
            <a:avLst>
              <a:gd name="adj" fmla="val 6780"/>
            </a:avLst>
          </a:prstGeom>
          <a:solidFill xmlns:a="http://schemas.openxmlformats.org/drawingml/2006/main">
            <a:srgbClr val="F3F5F7"/>
          </a:solidFill>
          <a:ln xmlns:a="http://schemas.openxmlformats.org/drawingml/2006/main" w="0">
            <a:solidFill>
              <a:srgbClr val="F3F5F7"/>
            </a:solidFill>
            <a:prstDash val="solid"/>
          </a:ln>
        </p:spPr>
      </p:sp>
      <p:sp>
        <p:nvSpPr>
          <p:cNvPr id="30" name="">
            <a:extLst xmlns:a="http://schemas.openxmlformats.org/drawingml/2006/main">
              <a:ext uri="{FF2B5EF4-FFF2-40B4-BE49-F238E27FC236}">
                <a16:creationId xmlns:a16="http://schemas.microsoft.com/office/drawing/2014/main" id="{BBA790E9-8DF4-4BB5-B968-CBF122958787}"/>
              </a:ext>
            </a:extLst>
          </p:cNvPr>
          <p:cNvSpPr>
            <a:spLocks xmlns:a="http://schemas.openxmlformats.org/drawingml/2006/main" noGrp="1"/>
          </p:cNvSpPr>
          <p:nvPr/>
        </p:nvSpPr>
        <p:spPr>
          <a:xfrm xmlns:a="http://schemas.openxmlformats.org/drawingml/2006/main">
            <a:off x="6153150" y="4419600"/>
            <a:ext cx="76200" cy="1123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31" name="">
            <a:extLst xmlns:a="http://schemas.openxmlformats.org/drawingml/2006/main">
              <a:ext uri="{FF2B5EF4-FFF2-40B4-BE49-F238E27FC236}">
                <a16:creationId xmlns:a16="http://schemas.microsoft.com/office/drawing/2014/main" id="{5B90D1B7-0B2E-46ED-BD82-76ABA16A25F6}"/>
              </a:ext>
            </a:extLst>
          </p:cNvPr>
          <p:cNvSpPr>
            <a:spLocks xmlns:a="http://schemas.openxmlformats.org/drawingml/2006/main" noGrp="1"/>
          </p:cNvSpPr>
          <p:nvPr/>
        </p:nvSpPr>
        <p:spPr>
          <a:xfrm xmlns:a="http://schemas.openxmlformats.org/drawingml/2006/main">
            <a:off x="6400800" y="4610100"/>
            <a:ext cx="5143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563EB"/>
                </a:solidFill>
                <a:latin typeface="Aptos"/>
                <a:ea typeface="Aptos"/>
                <a:cs typeface="Aptos"/>
              </a:defRPr>
            </a:pPr>
            <a:r>
              <a:t>3</a:t>
            </a:r>
          </a:p>
        </p:txBody>
      </p:sp>
      <p:sp>
        <p:nvSpPr>
          <p:cNvPr id="32" name="">
            <a:extLst xmlns:a="http://schemas.openxmlformats.org/drawingml/2006/main">
              <a:ext uri="{FF2B5EF4-FFF2-40B4-BE49-F238E27FC236}">
                <a16:creationId xmlns:a16="http://schemas.microsoft.com/office/drawing/2014/main" id="{CDE133DF-D795-419D-85A9-D944B8B35C3A}"/>
              </a:ext>
            </a:extLst>
          </p:cNvPr>
          <p:cNvSpPr>
            <a:spLocks xmlns:a="http://schemas.openxmlformats.org/drawingml/2006/main" noGrp="1"/>
          </p:cNvSpPr>
          <p:nvPr/>
        </p:nvSpPr>
        <p:spPr>
          <a:xfrm xmlns:a="http://schemas.openxmlformats.org/drawingml/2006/main">
            <a:off x="6972300" y="4610100"/>
            <a:ext cx="45720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t>Test product-realistic RAG</a:t>
            </a:r>
          </a:p>
        </p:txBody>
      </p:sp>
      <p:sp>
        <p:nvSpPr>
          <p:cNvPr id="33" name="">
            <a:extLst xmlns:a="http://schemas.openxmlformats.org/drawingml/2006/main">
              <a:ext uri="{FF2B5EF4-FFF2-40B4-BE49-F238E27FC236}">
                <a16:creationId xmlns:a16="http://schemas.microsoft.com/office/drawing/2014/main" id="{B6341A9A-5FAF-40BD-998D-DBB552386CB0}"/>
              </a:ext>
            </a:extLst>
          </p:cNvPr>
          <p:cNvSpPr>
            <a:spLocks xmlns:a="http://schemas.openxmlformats.org/drawingml/2006/main" noGrp="1"/>
          </p:cNvSpPr>
          <p:nvPr/>
        </p:nvSpPr>
        <p:spPr>
          <a:xfrm xmlns:a="http://schemas.openxmlformats.org/drawingml/2006/main">
            <a:off x="6400800" y="5067300"/>
            <a:ext cx="5143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B6472"/>
                </a:solidFill>
                <a:latin typeface="Aptos"/>
                <a:ea typeface="Aptos"/>
                <a:cs typeface="Aptos"/>
              </a:defRPr>
            </a:pPr>
            <a:r>
              <a:t>Add permissions, corpus drift, adversarial sources, and multi-turn use.</a:t>
            </a:r>
          </a:p>
        </p:txBody>
      </p:sp>
      <p:sp>
        <p:nvSpPr>
          <p:cNvPr id="34" name="">
            <a:extLst xmlns:a="http://schemas.openxmlformats.org/drawingml/2006/main">
              <a:ext uri="{FF2B5EF4-FFF2-40B4-BE49-F238E27FC236}">
                <a16:creationId xmlns:a16="http://schemas.microsoft.com/office/drawing/2014/main" id="{D470AA1D-E320-4FA8-AEC2-4C884C136B76}"/>
              </a:ext>
            </a:extLst>
          </p:cNvPr>
          <p:cNvSpPr>
            <a:spLocks xmlns:a="http://schemas.openxmlformats.org/drawingml/2006/main" noGrp="1"/>
          </p:cNvSpPr>
          <p:nvPr/>
        </p:nvSpPr>
        <p:spPr>
          <a:xfrm xmlns:a="http://schemas.openxmlformats.org/drawingml/2006/main">
            <a:off x="400050" y="5829300"/>
            <a:ext cx="11391900" cy="342900"/>
          </a:xfrm>
          <a:prstGeom xmlns:a="http://schemas.openxmlformats.org/drawingml/2006/main" prst="roundRect">
            <a:avLst>
              <a:gd name="adj" fmla="val 22222"/>
            </a:avLst>
          </a:prstGeom>
          <a:solidFill xmlns:a="http://schemas.openxmlformats.org/drawingml/2006/main">
            <a:srgbClr val="0B1220"/>
          </a:solidFill>
          <a:ln xmlns:a="http://schemas.openxmlformats.org/drawingml/2006/main" w="0">
            <a:solidFill>
              <a:srgbClr val="0B1220"/>
            </a:solidFill>
            <a:prstDash val="solid"/>
          </a:ln>
        </p:spPr>
      </p:sp>
      <p:sp>
        <p:nvSpPr>
          <p:cNvPr id="35" name="">
            <a:extLst xmlns:a="http://schemas.openxmlformats.org/drawingml/2006/main">
              <a:ext uri="{FF2B5EF4-FFF2-40B4-BE49-F238E27FC236}">
                <a16:creationId xmlns:a16="http://schemas.microsoft.com/office/drawing/2014/main" id="{559BD997-B454-407F-945D-A7B19D8A2DBA}"/>
              </a:ext>
            </a:extLst>
          </p:cNvPr>
          <p:cNvSpPr>
            <a:spLocks xmlns:a="http://schemas.openxmlformats.org/drawingml/2006/main" noGrp="1"/>
          </p:cNvSpPr>
          <p:nvPr/>
        </p:nvSpPr>
        <p:spPr>
          <a:xfrm xmlns:a="http://schemas.openxmlformats.org/drawingml/2006/main">
            <a:off x="590550" y="5895975"/>
            <a:ext cx="110109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FFFFFF"/>
                </a:solidFill>
                <a:latin typeface="Aptos"/>
                <a:ea typeface="Aptos"/>
                <a:cs typeface="Aptos"/>
              </a:defRPr>
            </a:pPr>
            <a:r>
              <a:t>Takeaway: the work is ready to guide the next evaluation — not yet to certify deployment readiness.</a:t>
            </a:r>
          </a:p>
        </p:txBody>
      </p:sp>
    </p:spTree>
    <p:extLst>
      <p:ext uri="{BB962C8B-B14F-4D97-AF65-F5344CB8AC3E}">
        <p14:creationId xmlns:p14="http://schemas.microsoft.com/office/powerpoint/2010/main" val="3855477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2026-08-14T12:27:30.8180000Z</dcterms:created>
  <dcterms:modified xsi:type="dcterms:W3CDTF">2026-08-14T12:27:30.8180000Z</dcterms:modified>
</coreProperties>
</file>