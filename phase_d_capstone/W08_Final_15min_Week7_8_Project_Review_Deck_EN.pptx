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96311bacb74c06" /><Relationship Type="http://schemas.openxmlformats.org/officeDocument/2006/relationships/extended-properties" Target="/docProps/app.xml" Id="Ra93c4f14cce34f91" /><Relationship Type="http://schemas.openxmlformats.org/officeDocument/2006/relationships/officeDocument" Target="/ppt/presentation.xml" Id="R559e1e37c0cd4496" /></Relationships>
</file>

<file path=ppt/presentation.xml><?xml version="1.0" encoding="utf-8"?>
<p:presentation xmlns:p="http://schemas.openxmlformats.org/presentationml/2006/main">
  <p:sldMasterIdLst>
    <p:sldMasterId xmlns:r="http://schemas.openxmlformats.org/officeDocument/2006/relationships" id="2147483648" r:id="R39e2cb3ae7ab4695"/>
  </p:sldMasterIdLst>
  <p:notesMasterIdLst>
    <p:notesMasterId xmlns:r="http://schemas.openxmlformats.org/officeDocument/2006/relationships" r:id="R094505f69aaf4e34"/>
  </p:notesMasterIdLst>
  <p:sldIdLst>
    <p:sldId xmlns:r="http://schemas.openxmlformats.org/officeDocument/2006/relationships" id="256" r:id="R6280be07c1934074"/>
    <p:sldId xmlns:r="http://schemas.openxmlformats.org/officeDocument/2006/relationships" id="257" r:id="Rf11ca67a014046ad"/>
    <p:sldId xmlns:r="http://schemas.openxmlformats.org/officeDocument/2006/relationships" id="258" r:id="Rb5f93ad2b5d94962"/>
    <p:sldId xmlns:r="http://schemas.openxmlformats.org/officeDocument/2006/relationships" id="259" r:id="Raeb31865d9d643f9"/>
    <p:sldId xmlns:r="http://schemas.openxmlformats.org/officeDocument/2006/relationships" id="260" r:id="Ra645a880424540ce"/>
    <p:sldId xmlns:r="http://schemas.openxmlformats.org/officeDocument/2006/relationships" id="261" r:id="Ra0e4d23539eb412e"/>
    <p:sldId xmlns:r="http://schemas.openxmlformats.org/officeDocument/2006/relationships" id="262" r:id="R9fae3e95c919456f"/>
    <p:sldId xmlns:r="http://schemas.openxmlformats.org/officeDocument/2006/relationships" id="263" r:id="R2a359b545cbc4b47"/>
    <p:sldId xmlns:r="http://schemas.openxmlformats.org/officeDocument/2006/relationships" id="264" r:id="Rcdd3f89a25994bae"/>
    <p:sldId xmlns:r="http://schemas.openxmlformats.org/officeDocument/2006/relationships" id="265" r:id="Ra47739a623624070"/>
    <p:sldId xmlns:r="http://schemas.openxmlformats.org/officeDocument/2006/relationships" id="266" r:id="R72fb276fc62f4943"/>
    <p:sldId xmlns:r="http://schemas.openxmlformats.org/officeDocument/2006/relationships" id="267" r:id="Rc57e422da77246ab"/>
    <p:sldId xmlns:r="http://schemas.openxmlformats.org/officeDocument/2006/relationships" id="268" r:id="R834cacb02e184027"/>
    <p:sldId xmlns:r="http://schemas.openxmlformats.org/officeDocument/2006/relationships" id="269" r:id="R10565fcd16d9406d"/>
    <p:sldId xmlns:r="http://schemas.openxmlformats.org/officeDocument/2006/relationships" id="270" r:id="Raee16ad98de54c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ead08e91764e95" /><Relationship Type="http://schemas.openxmlformats.org/officeDocument/2006/relationships/slideMaster" Target="/ppt/slideMasters/slideMaster1.xml" Id="R39e2cb3ae7ab4695" /><Relationship Type="http://schemas.openxmlformats.org/officeDocument/2006/relationships/notesMaster" Target="/ppt/notesMasters/notesMaster1.xml" Id="R094505f69aaf4e34" /><Relationship Type="http://schemas.openxmlformats.org/officeDocument/2006/relationships/presProps" Target="/ppt/presProps.xml" Id="R4d9f56755385487b" /><Relationship Type="http://schemas.openxmlformats.org/officeDocument/2006/relationships/tableStyles" Target="/ppt/tableStyles.xml" Id="Re0558dbe73634e77" /><Relationship Type="http://schemas.openxmlformats.org/officeDocument/2006/relationships/slide" Target="/ppt/slides/slide1.xml" Id="R6280be07c1934074" /><Relationship Type="http://schemas.openxmlformats.org/officeDocument/2006/relationships/slide" Target="/ppt/slides/slide2.xml" Id="Rf11ca67a014046ad" /><Relationship Type="http://schemas.openxmlformats.org/officeDocument/2006/relationships/slide" Target="/ppt/slides/slide3.xml" Id="Rb5f93ad2b5d94962" /><Relationship Type="http://schemas.openxmlformats.org/officeDocument/2006/relationships/slide" Target="/ppt/slides/slide4.xml" Id="Raeb31865d9d643f9" /><Relationship Type="http://schemas.openxmlformats.org/officeDocument/2006/relationships/slide" Target="/ppt/slides/slide5.xml" Id="Ra645a880424540ce" /><Relationship Type="http://schemas.openxmlformats.org/officeDocument/2006/relationships/slide" Target="/ppt/slides/slide6.xml" Id="Ra0e4d23539eb412e" /><Relationship Type="http://schemas.openxmlformats.org/officeDocument/2006/relationships/slide" Target="/ppt/slides/slide7.xml" Id="R9fae3e95c919456f" /><Relationship Type="http://schemas.openxmlformats.org/officeDocument/2006/relationships/slide" Target="/ppt/slides/slide8.xml" Id="R2a359b545cbc4b47" /><Relationship Type="http://schemas.openxmlformats.org/officeDocument/2006/relationships/slide" Target="/ppt/slides/slide9.xml" Id="Rcdd3f89a25994bae" /><Relationship Type="http://schemas.openxmlformats.org/officeDocument/2006/relationships/slide" Target="/ppt/slides/slide10.xml" Id="Ra47739a623624070" /><Relationship Type="http://schemas.openxmlformats.org/officeDocument/2006/relationships/slide" Target="/ppt/slides/slide11.xml" Id="R72fb276fc62f4943" /><Relationship Type="http://schemas.openxmlformats.org/officeDocument/2006/relationships/slide" Target="/ppt/slides/slide12.xml" Id="Rc57e422da77246ab" /><Relationship Type="http://schemas.openxmlformats.org/officeDocument/2006/relationships/slide" Target="/ppt/slides/slide13.xml" Id="R834cacb02e184027" /><Relationship Type="http://schemas.openxmlformats.org/officeDocument/2006/relationships/slide" Target="/ppt/slides/slide14.xml" Id="R10565fcd16d9406d" /><Relationship Type="http://schemas.openxmlformats.org/officeDocument/2006/relationships/slide" Target="/ppt/slides/slide15.xml" Id="Raee16ad98de54c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7748c4d3f149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020a7919ee4ce3" /><Relationship Type="http://schemas.openxmlformats.org/officeDocument/2006/relationships/notesMaster" Target="/ppt/notesMasters/notesMaster1.xml" Id="Rc146f6aa255340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18efe2078440b8" /><Relationship Type="http://schemas.openxmlformats.org/officeDocument/2006/relationships/notesMaster" Target="/ppt/notesMasters/notesMaster1.xml" Id="R97596289879a4b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b7cd3f60554a02" /><Relationship Type="http://schemas.openxmlformats.org/officeDocument/2006/relationships/notesMaster" Target="/ppt/notesMasters/notesMaster1.xml" Id="Re4909e1227324c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19351e34044f32" /><Relationship Type="http://schemas.openxmlformats.org/officeDocument/2006/relationships/notesMaster" Target="/ppt/notesMasters/notesMaster1.xml" Id="Rbcf54c98b4e44e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1ea4d2a27b459c" /><Relationship Type="http://schemas.openxmlformats.org/officeDocument/2006/relationships/notesMaster" Target="/ppt/notesMasters/notesMaster1.xml" Id="R9dabd9a53b9f4d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990fbd06db4d93" /><Relationship Type="http://schemas.openxmlformats.org/officeDocument/2006/relationships/notesMaster" Target="/ppt/notesMasters/notesMaster1.xml" Id="Rdb09b7f8bf4c44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068e6f1bdc49f2" /><Relationship Type="http://schemas.openxmlformats.org/officeDocument/2006/relationships/notesMaster" Target="/ppt/notesMasters/notesMaster1.xml" Id="Ra0159da7db0b4c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ed66fe1aa74ef4" /><Relationship Type="http://schemas.openxmlformats.org/officeDocument/2006/relationships/notesMaster" Target="/ppt/notesMasters/notesMaster1.xml" Id="R7344e4aa92d548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3b8d6a38d646f3" /><Relationship Type="http://schemas.openxmlformats.org/officeDocument/2006/relationships/notesMaster" Target="/ppt/notesMasters/notesMaster1.xml" Id="R2d34dbc5a14348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e2ce1a8ced4607" /><Relationship Type="http://schemas.openxmlformats.org/officeDocument/2006/relationships/notesMaster" Target="/ppt/notesMasters/notesMaster1.xml" Id="R2e2829f9f29b444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7f1c47c6be465c" /><Relationship Type="http://schemas.openxmlformats.org/officeDocument/2006/relationships/notesMaster" Target="/ppt/notesMasters/notesMaster1.xml" Id="R17daaad9e14047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86cb790ad84898" /><Relationship Type="http://schemas.openxmlformats.org/officeDocument/2006/relationships/notesMaster" Target="/ppt/notesMasters/notesMaster1.xml" Id="R7cae86eacd8c4b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906588897942ae" /><Relationship Type="http://schemas.openxmlformats.org/officeDocument/2006/relationships/notesMaster" Target="/ppt/notesMasters/notesMaster1.xml" Id="R333cf0d1ae594d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2ec5762e89424a" /><Relationship Type="http://schemas.openxmlformats.org/officeDocument/2006/relationships/notesMaster" Target="/ppt/notesMasters/notesMaster1.xml" Id="R06071bfd2a1341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391e8db76894c89" /><Relationship Type="http://schemas.openxmlformats.org/officeDocument/2006/relationships/notesMaster" Target="/ppt/notesMasters/notesMaster1.xml" Id="Rb060d04ae86a42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This is a fifteen-minute final review of the eight-week AI model evaluation internship. I will spend roughly half the time summarising the experimental work from Weeks 1 to 6, then focus on the new Week 7 dashboard and Week 8 capstone package. The central outcome is a reproducible decision-support system: it can prioritise models and experiments, but it deliberately does not claim deployment certification.</a:t>
            </a:r>
          </a:p>
          <a:p xmlns:a="http://schemas.openxmlformats.org/drawingml/2006/main">
            <a:r>
              <a:t/>
            </a:r>
          </a:p>
          <a:p xmlns:a="http://schemas.openxmlformats.org/drawingml/2006/main">
            <a:r>
              <a:t>[Sources]</a:t>
            </a:r>
          </a:p>
          <a:p xmlns:a="http://schemas.openxmlformats.org/drawingml/2006/main">
            <a:r>
              <a:t>- phase_d_capstone/W08_Capstone_Report_Source.md</a:t>
            </a:r>
          </a:p>
          <a:p xmlns:a="http://schemas.openxmlformats.org/drawingml/2006/main">
            <a:r>
              <a:t>- phase_d_capstone/W08_Claim_Evidence_Matrix_v1.0.0.csv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was cumulative. Phase A defined what could be evaluated safely with public data and built the common benchmark. Phase B ran the three-model, RAG, robustness, masked-input, and multimodal studies. Phase C moved from individual results to controlled optimisation, Pareto trade-offs, PIC-specific evidence gaps, and a claim registry. Phase D then changed the communication layer: Week 7 built distinct stakeholder views, and Week 8 bound the final conclusions to versioned evidence. The same rule applies across all phases: exact model revision, evaluation-set version, and seed 42 remain attached to every principal claim.</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phase_d_capstone/W08_Capstone_Report_Source.md#1-executive-summary-and-programme-scope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benchmark contains 35 public-safe synthetic scenarios, with seven for each of five product contexts: care, education, security, navigation, and task execution. This equal allocation prevents conversational cases from dominating the result. The three frozen text models answered the same 35 prompts, producing 105 comparable responses. Severity levels one, three, and five represent consequence priority, not linguistic difficulty and not a cardinal harm model. One limitation is important: the seven originally held-out scenarios were inspected during iteration, so they now support regression testing rather than a fresh blind generalisation claim. A production follow-up needs a newly sealed, domain-reviewed test set.</a:t>
            </a:r>
          </a:p>
          <a:p xmlns:a="http://schemas.openxmlformats.org/drawingml/2006/main">
            <a:r>
              <a:t/>
            </a:r>
          </a:p>
          <a:p xmlns:a="http://schemas.openxmlformats.org/drawingml/2006/main">
            <a:r>
              <a:t>[Sources]</a:t>
            </a:r>
          </a:p>
          <a:p xmlns:a="http://schemas.openxmlformats.org/drawingml/2006/main">
            <a:r>
              <a:t>- phase_a_design/W02_Scenarios.yaml</a:t>
            </a:r>
          </a:p>
          <a:p xmlns:a="http://schemas.openxmlformats.org/drawingml/2006/main">
            <a:r>
              <a:t>- phase_a_design/W02_Baseline_Run_Manifest.json</a:t>
            </a:r>
          </a:p>
          <a:p xmlns:a="http://schemas.openxmlformats.org/drawingml/2006/main">
            <a:r>
              <a:t>- phase_d_capstone/W08_Claim_Evidence_Matrix_v1.0.0.csv#C01-C03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Mistral has the highest portfolio diagnostic proxy at 85.8 out of 100, followed by Llama at 80.2 and FLAN at 65.0. Seven responses were labelled unsafe across the 105-response set: six from FLAN, one from Llama, and none from Mistral. However, the governing result is the measurement gate. The frozen-label Judge calibration reached ordinal Krippendorff alpha 0.7551, below the preregistered threshold of 0.80. Therefore this is not a validated leaderboard. The defensible action is to reject FLAN as the primary candidate and advance Mistral, with Llama as a comparison arm, to independent model-blind domain-expert calibration.</a:t>
            </a:r>
          </a:p>
          <a:p xmlns:a="http://schemas.openxmlformats.org/drawingml/2006/main">
            <a:r>
              <a:t/>
            </a:r>
          </a:p>
          <a:p xmlns:a="http://schemas.openxmlformats.org/drawingml/2006/main">
            <a:r>
              <a:t>[Sources]</a:t>
            </a:r>
          </a:p>
          <a:p xmlns:a="http://schemas.openxmlformats.org/drawingml/2006/main">
            <a:r>
              <a:t>- phase_d_capstone/W07_Dashboard/data/model_scorecard.csv</a:t>
            </a:r>
          </a:p>
          <a:p xmlns:a="http://schemas.openxmlformats.org/drawingml/2006/main">
            <a:r>
              <a:t>- phase_a_design/W02_Baseline_Agreement.json</a:t>
            </a:r>
          </a:p>
          <a:p xmlns:a="http://schemas.openxmlformats.org/drawingml/2006/main">
            <a:r>
              <a:t>- phase_d_capstone/W08_Claim_Evidence_Matrix_v1.0.0.csv#C02-C03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RAG design used short atomic sections, so changing the nominal chunk size did not change the indexed units. I corrected that by ingesting 21 complete official public sources and creating 40 questions with 58 mapped answer facts. The operational 256, 512, and 1024-token splits now produce genuinely different chunks. On the matched evaluation, RAG increases answer relevance by 0.655667 and required-point coverage by 0.522917, but adds 8.03 seconds of mean request latency. Retrieval quality is strong, yet RAGAS-style metrics still do not prove that a source is current, authorised, safe, or appropriate for action. The recommendation is conditional RAG with source governance and latency gates.</a:t>
            </a:r>
          </a:p>
          <a:p xmlns:a="http://schemas.openxmlformats.org/drawingml/2006/main">
            <a:r>
              <a:t/>
            </a:r>
          </a:p>
          <a:p xmlns:a="http://schemas.openxmlformats.org/drawingml/2006/main">
            <a:r>
              <a:t>[Sources]</a:t>
            </a:r>
          </a:p>
          <a:p xmlns:a="http://schemas.openxmlformats.org/drawingml/2006/main">
            <a:r>
              <a:t>- phase_b_evaluation/W03_RAG_Long_Source_Summary_v1.0.0.json</a:t>
            </a:r>
          </a:p>
          <a:p xmlns:a="http://schemas.openxmlformats.org/drawingml/2006/main">
            <a:r>
              <a:t>- phase_b_evaluation/W04_RAG_Long_Performance_Summary_v1.0.0.json</a:t>
            </a:r>
          </a:p>
          <a:p xmlns:a="http://schemas.openxmlformats.org/drawingml/2006/main">
            <a:r>
              <a:t>- phase_d_capstone/W08_Claim_Evidence_Matrix_v1.0.0.csv#C04-C05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4 shows why robustness must be paired with correctness. FLAN has the highest semantic consistency at 0.914, but that number contains 25 stable failures and only seven stable passes. Mistral has lower consistency at 0.857, yet zero stable failures and 30 stable passes. A model can therefore be consistently wrong. The VLM study tells a related story: Idefics2 and LLaVA tied on 19 of 20 clean public-image cases, so there is no defensible quality winner. Efficiency separates them more clearly. LLaVA's p50 latency is 1.92 seconds lower and its peak GPU use is about 4,177 MiB lower. It is an efficiency candidate, not a validated multimodal deployment choice.</a:t>
            </a:r>
          </a:p>
          <a:p xmlns:a="http://schemas.openxmlformats.org/drawingml/2006/main">
            <a:r>
              <a:t/>
            </a:r>
          </a:p>
          <a:p xmlns:a="http://schemas.openxmlformats.org/drawingml/2006/main">
            <a:r>
              <a:t>[Sources]</a:t>
            </a:r>
          </a:p>
          <a:p xmlns:a="http://schemas.openxmlformats.org/drawingml/2006/main">
            <a:r>
              <a:t>- phase_d_capstone/W07_Dashboard/data/robustness_summary.csv</a:t>
            </a:r>
          </a:p>
          <a:p xmlns:a="http://schemas.openxmlformats.org/drawingml/2006/main">
            <a:r>
              <a:t>- phase_d_capstone/W07_Dashboard/data/vlm_performance.csv</a:t>
            </a:r>
          </a:p>
          <a:p xmlns:a="http://schemas.openxmlformats.org/drawingml/2006/main">
            <a:r>
              <a:t>- phase_d_capstone/W08_Claim_Evidence_Matrix_v1.0.0.csv#C07-C08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5 ran a complete 3 by 3 by 2 RAG factorial: three chunk sizes, three top-k values, and reranking on or off. Three of the 18 cells are Pareto-optimal, so there is no single universal winner. The 1024-token, top-k-five, cross-encoder cell is the balanced diagnostic choice, not a general optimum. Week 6 then mapped the accumulated evidence to six PIC working classes. The largest gap is CRL-MRS, with zero direct multi-agent execution tests. This synthesis changes the question from which score is highest to which capability has evidence, which trade-off is acceptable, and which validation gate is still empty.</a:t>
            </a:r>
          </a:p>
          <a:p xmlns:a="http://schemas.openxmlformats.org/drawingml/2006/main">
            <a:r>
              <a:t/>
            </a:r>
          </a:p>
          <a:p xmlns:a="http://schemas.openxmlformats.org/drawingml/2006/main">
            <a:r>
              <a:t>[Sources]</a:t>
            </a:r>
          </a:p>
          <a:p xmlns:a="http://schemas.openxmlformats.org/drawingml/2006/main">
            <a:r>
              <a:t>- phase_c_synthesis/W05_RAG_Long_Source_Optimisation_Summary_v1.1.0.json</a:t>
            </a:r>
          </a:p>
          <a:p xmlns:a="http://schemas.openxmlformats.org/drawingml/2006/main">
            <a:r>
              <a:t>- phase_c_synthesis/W05_PIC20_Model_Analysis.md</a:t>
            </a:r>
          </a:p>
          <a:p xmlns:a="http://schemas.openxmlformats.org/drawingml/2006/main">
            <a:r>
              <a:t>- phase_c_synthesis/W06_Evidence_Registry_v1.0.0.json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7 introduced a strict two-stage dashboard architecture. An offline builder verifies eight frozen upstream artifacts, performs every aggregation once, and writes eleven reviewed CSVs with source lineage. The Streamlit application then only loads, filters, and visualises those CSVs. It performs no inference, retrieval, Judge scoring, or raw aggregation at launch. This matters because a stakeholder interface should not silently change the underlying result. The dashboard is therefore reproducible, fast, and auditable, while retaining the same failed-calibration and public-proxy boundaries as the evidence underneath it.</a:t>
            </a:r>
          </a:p>
          <a:p xmlns:a="http://schemas.openxmlformats.org/drawingml/2006/main">
            <a:r>
              <a:t/>
            </a:r>
          </a:p>
          <a:p xmlns:a="http://schemas.openxmlformats.org/drawingml/2006/main">
            <a:r>
              <a:t>[Sources]</a:t>
            </a:r>
          </a:p>
          <a:p xmlns:a="http://schemas.openxmlformats.org/drawingml/2006/main">
            <a:r>
              <a:t>- phase_d_capstone/W07_Dashboard_Design_Doc.md#1-design-objective</a:t>
            </a:r>
          </a:p>
          <a:p xmlns:a="http://schemas.openxmlformats.org/drawingml/2006/main">
            <a:r>
              <a:t>- phase_d_capstone/W07_Dashboard/data/data_manifest.csv</a:t>
            </a:r>
          </a:p>
          <a:p xmlns:a="http://schemas.openxmlformats.org/drawingml/2006/main">
            <a:r>
              <a:t>- phase_d_capstone/W07_Dashboard/data/dashboard_metadata.csv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executive view contains exactly three registered indicators: the highest portfolio diagnostic proxy, the seven observed unsafe outputs, and the recommendation for at least two independent reviewers. The important design choice is what it removes. Executives do not see technical tabs, model selectors, or a leaderboard without context. An interpretation banner appears before the metrics, and the action card explicitly blocks deployment selection from the diagnostic ordering. Week 7 therefore makes uncertainty visible at the same level as performance rather than hiding it in methodology notes.</a:t>
            </a:r>
          </a:p>
          <a:p xmlns:a="http://schemas.openxmlformats.org/drawingml/2006/main">
            <a:r>
              <a:t/>
            </a:r>
          </a:p>
          <a:p xmlns:a="http://schemas.openxmlformats.org/drawingml/2006/main">
            <a:r>
              <a:t>[Sources]</a:t>
            </a:r>
          </a:p>
          <a:p xmlns:a="http://schemas.openxmlformats.org/drawingml/2006/main">
            <a:r>
              <a:t>- phase_d_capstone/W07_Dashboard/assets/executive_view.png</a:t>
            </a:r>
          </a:p>
          <a:p xmlns:a="http://schemas.openxmlformats.org/drawingml/2006/main">
            <a:r>
              <a:t>- phase_d_capstone/W07_Dashboard/data/executive_summary.csv</a:t>
            </a:r>
          </a:p>
          <a:p xmlns:a="http://schemas.openxmlformats.org/drawingml/2006/main">
            <a:r>
              <a:t>- phase_d_capstone/W07_Dashboard_Design_Doc.md#executive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product-manager mode is not the engineer interface with smaller text. It has only two views. Platform Risk puts the failure heat map and three selected-platform concern cards above technical methodology. RAG Readiness compares Fari and Senpai on the same Base and RAG dimensions while keeping deployment status as not established. Automated browser navigation exposed the top concerns in under three seconds, which satisfies the interface target, but this is not an independent human comprehension study. The value of the view is prioritisation: it helps a product manager identify where to investigate without implying that counts alone estimate product risk.</a:t>
            </a:r>
          </a:p>
          <a:p xmlns:a="http://schemas.openxmlformats.org/drawingml/2006/main">
            <a:r>
              <a:t/>
            </a:r>
          </a:p>
          <a:p xmlns:a="http://schemas.openxmlformats.org/drawingml/2006/main">
            <a:r>
              <a:t>[Sources]</a:t>
            </a:r>
          </a:p>
          <a:p xmlns:a="http://schemas.openxmlformats.org/drawingml/2006/main">
            <a:r>
              <a:t>- phase_d_capstone/W07_Dashboard/assets/product_manager_view.png</a:t>
            </a:r>
          </a:p>
          <a:p xmlns:a="http://schemas.openxmlformats.org/drawingml/2006/main">
            <a:r>
              <a:t>- phase_d_capstone/W07_Dashboard/data/failure_heatmap.csv</a:t>
            </a:r>
          </a:p>
          <a:p xmlns:a="http://schemas.openxmlformats.org/drawingml/2006/main">
            <a:r>
              <a:t>- phase_d_capstone/W07_Dashboard/data/platform_failure_concerns.csv</a:t>
            </a:r>
          </a:p>
          <a:p xmlns:a="http://schemas.openxmlformats.org/drawingml/2006/main">
            <a:r>
              <a:t>- phase_d_capstone/W07_Dashboard_Design_Doc.md#product-manager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engineer view does the opposite of the executive view: it preserves the full evidence surface. All 18 RAG configurations remain visible, with three Pareto cells highlighted and the balanced choice labelled as conditional. The scorecard includes exact model revisions and coverage. Robustness pairs consistency with stable passes and failures. The Data Sources and Reproduction view exposes source hashes and commands. This design prevents a recommended point from erasing the alternatives that define its trade-off. It also keeps model version, evaluation-set version, seed, evidence status, and source path available for audit.</a:t>
            </a:r>
          </a:p>
          <a:p xmlns:a="http://schemas.openxmlformats.org/drawingml/2006/main">
            <a:r>
              <a:t/>
            </a:r>
          </a:p>
          <a:p xmlns:a="http://schemas.openxmlformats.org/drawingml/2006/main">
            <a:r>
              <a:t>[Sources]</a:t>
            </a:r>
          </a:p>
          <a:p xmlns:a="http://schemas.openxmlformats.org/drawingml/2006/main">
            <a:r>
              <a:t>- phase_d_capstone/W07_Dashboard/assets/engineer_view.png</a:t>
            </a:r>
          </a:p>
          <a:p xmlns:a="http://schemas.openxmlformats.org/drawingml/2006/main">
            <a:r>
              <a:t>- phase_d_capstone/W07_Dashboard/data/rag_configurations.csv</a:t>
            </a:r>
          </a:p>
          <a:p xmlns:a="http://schemas.openxmlformats.org/drawingml/2006/main">
            <a:r>
              <a:t>- phase_d_capstone/W07_Dashboard/data/data_manifest.csv</a:t>
            </a:r>
          </a:p>
          <a:p xmlns:a="http://schemas.openxmlformats.org/drawingml/2006/main">
            <a:r>
              <a:t>- phase_d_capstone/W07_Dashboard_Design_Doc.md#ai-evaluation-engineer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7 also included an important correction cycle. User review of version 1.1 showed that native Streamlit labels could render white on a light background and that the three persona modes still felt too similar. Version 1.2 added an explicit light theme and targeted contrast overrides, then replaced the shared information architecture with truly different Executive, Product Manager, and Engineer modes. The final package passed 12 source-and-data contracts and six Streamlit interaction tests. A headless browser traversed three personas and four engineer tabs with zero white-on-white candidates. This verifies the current interface state honestly; it does not replace an independent accessibility or human-usability study.</a:t>
            </a:r>
          </a:p>
          <a:p xmlns:a="http://schemas.openxmlformats.org/drawingml/2006/main">
            <a:r>
              <a:t/>
            </a:r>
          </a:p>
          <a:p xmlns:a="http://schemas.openxmlformats.org/drawingml/2006/main">
            <a:r>
              <a:t>[Sources]</a:t>
            </a:r>
          </a:p>
          <a:p xmlns:a="http://schemas.openxmlformats.org/drawingml/2006/main">
            <a:r>
              <a:t>- phase_d_capstone/W07_Dashboard/fresh_copy_verification_v1.2.0.json</a:t>
            </a:r>
          </a:p>
          <a:p xmlns:a="http://schemas.openxmlformats.org/drawingml/2006/main">
            <a:r>
              <a:t>- phase_d_capstone/W07_Dashboard/test_dashboard_contract.py</a:t>
            </a:r>
          </a:p>
          <a:p xmlns:a="http://schemas.openxmlformats.org/drawingml/2006/main">
            <a:r>
              <a:t>- phase_d_capstone/W07_Dashboard/test_dashboard_app.py</a:t>
            </a:r>
          </a:p>
          <a:p xmlns:a="http://schemas.openxmlformats.org/drawingml/2006/main">
            <a:r>
              <a:t>- weekly/Wk-07-EvalLog.md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8 packages the work into a 19-page report with ten required sections, a 12-claim evidence matrix, and a registry of 16 verified source artifacts. Each principal claim records its model revision, evaluation-set version, seed, scope, evidence status, decision use, and source path. The registry adds byte counts and SHA-256 hashes. It also freezes the latest-only policy: long-source RAG version 1.0, Week 5 optimisation version 1.1, and dashboard version 1.2. Superseded atomic-section RAG results remain available as provenance but are not used for current conclusions. This is the main Week 8 addition: the final narrative can be checked against the exact evidence it summarises.</a:t>
            </a:r>
          </a:p>
          <a:p xmlns:a="http://schemas.openxmlformats.org/drawingml/2006/main">
            <a:r>
              <a:t/>
            </a:r>
          </a:p>
          <a:p xmlns:a="http://schemas.openxmlformats.org/drawingml/2006/main">
            <a:r>
              <a:t>[Sources]</a:t>
            </a:r>
          </a:p>
          <a:p xmlns:a="http://schemas.openxmlformats.org/drawingml/2006/main">
            <a:r>
              <a:t>- phase_d_capstone/W08_Capstone_Report.docx</a:t>
            </a:r>
          </a:p>
          <a:p xmlns:a="http://schemas.openxmlformats.org/drawingml/2006/main">
            <a:r>
              <a:t>- phase_d_capstone/W08_Claim_Evidence_Matrix_v1.0.0.csv</a:t>
            </a:r>
          </a:p>
          <a:p xmlns:a="http://schemas.openxmlformats.org/drawingml/2006/main">
            <a:r>
              <a:t>- phase_d_capstone/W08_Evidence_Registry_v1.0.0.json</a:t>
            </a:r>
          </a:p>
          <a:p xmlns:a="http://schemas.openxmlformats.org/drawingml/2006/main">
            <a:r>
              <a:t>- phase_d_capstone/W08_Capstone_Contract_Tests.py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synthesis makes three conditional candidate decisions. Mistral advances to expert calibration. Two Pareto RAG configurations advance to a pilot comparison so quality and latency remain visible. LLaVA advances as the efficiency candidate for the next multimodal testbench. The number of deployment approvals is zero. That boundary is not a weakness in the report; it is the correct result of the evidence. Judge calibration failed, the scenarios and images are public proxies, product telemetry is absent, and no closed-loop sensor, action, or multi-agent system was measured. The capstone turns these limits into explicit gates rather than burying them in a final limitations paragraph.</a:t>
            </a:r>
          </a:p>
          <a:p xmlns:a="http://schemas.openxmlformats.org/drawingml/2006/main">
            <a:r>
              <a:t/>
            </a:r>
          </a:p>
          <a:p xmlns:a="http://schemas.openxmlformats.org/drawingml/2006/main">
            <a:r>
              <a:t>[Sources]</a:t>
            </a:r>
          </a:p>
          <a:p xmlns:a="http://schemas.openxmlformats.org/drawingml/2006/main">
            <a:r>
              <a:t>- phase_d_capstone/W08_Capstone_Report_Source.md#9-final-recommendations-and-deployment-gates</a:t>
            </a:r>
          </a:p>
          <a:p xmlns:a="http://schemas.openxmlformats.org/drawingml/2006/main">
            <a:r>
              <a:t>- phase_d_capstone/W08_Claim_Evidence_Matrix_v1.0.0.csv#C12</a:t>
            </a:r>
          </a:p>
          <a:p xmlns:a="http://schemas.openxmlformats.org/drawingml/2006/main">
            <a:r>
              <a:t>- phase_d_capstone/W08_Final_Readout_QA.md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the project now has a reproducible benchmark, frozen evidence registry, controlled RAG optimisation, PIC-specific gap map, stakeholder dashboard, and final capstone package. These artifacts are ready to prioritise candidates and design the next evaluation. Four gates remain. First, calibrate ratings with independent model-blind domain experts on a new sealed set. Second, replace text masking and static images with closed-loop sensor dropout and safe-recovery tests. Third, test production RAG under access policy, drift, stale or conflicting documents, adversarial insertions, multiple seeds, and another hardware target. Fourth, build the missing CRL-MRS multi-agent execution benchmark. The main contribution is not one more score; it is a controlled way to decide what the score is allowed to mean and what must be tested next.</a:t>
            </a:r>
          </a:p>
          <a:p xmlns:a="http://schemas.openxmlformats.org/drawingml/2006/main">
            <a:r>
              <a:t/>
            </a:r>
          </a:p>
          <a:p xmlns:a="http://schemas.openxmlformats.org/drawingml/2006/main">
            <a:r>
              <a:t>[Sources]</a:t>
            </a:r>
          </a:p>
          <a:p xmlns:a="http://schemas.openxmlformats.org/drawingml/2006/main">
            <a:r>
              <a:t>- phase_d_capstone/W08_Retrospective.md</a:t>
            </a:r>
          </a:p>
          <a:p xmlns:a="http://schemas.openxmlformats.org/drawingml/2006/main">
            <a:r>
              <a:t>- phase_d_capstone/W08_Capstone_Report_Source.md#10-limitations-extension-plan-and-conclusion</a:t>
            </a:r>
          </a:p>
          <a:p xmlns:a="http://schemas.openxmlformats.org/drawingml/2006/main">
            <a:r>
              <a:t>- weekly/Wk-08-Final-EvalLog.md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d98ac8b80145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09dc814cf44fca" /><Relationship Type="http://schemas.openxmlformats.org/officeDocument/2006/relationships/slideLayout" Target="/ppt/slideLayouts/slideLayout1.xml" Id="Re675c518b7cd4f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75c518b7cd4f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1078ee9b4f48a2" /><Relationship Type="http://schemas.openxmlformats.org/officeDocument/2006/relationships/notesSlide" Target="/ppt/notesSlides/notesSlide1.xml" Id="Ree5f9bd87b8c48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f3ab2f05df4ea0" /><Relationship Type="http://schemas.openxmlformats.org/officeDocument/2006/relationships/notesSlide" Target="/ppt/notesSlides/notesSlide2.xml" Id="R6642d39c3b314a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28cde775b04abb" /><Relationship Type="http://schemas.openxmlformats.org/officeDocument/2006/relationships/notesSlide" Target="/ppt/notesSlides/notesSlide3.xml" Id="R8125ce1e457f43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f122f49730a4aa6" /><Relationship Type="http://schemas.openxmlformats.org/officeDocument/2006/relationships/chart" Target="/ppt/slides/charts/chart1.xml" Id="R29b2b207e28b4541" /><Relationship Type="http://schemas.openxmlformats.org/officeDocument/2006/relationships/notesSlide" Target="/ppt/notesSlides/notesSlide4.xml" Id="Rd84243edc4bb42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62b57d5e08544e1" /><Relationship Type="http://schemas.openxmlformats.org/officeDocument/2006/relationships/notesSlide" Target="/ppt/notesSlides/notesSlide5.xml" Id="R1d4e9762dfa649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c6f0cffcae64000" /><Relationship Type="http://schemas.openxmlformats.org/officeDocument/2006/relationships/chart" Target="/ppt/slides/charts/chart2.xml" Id="R83d532692f994857" /><Relationship Type="http://schemas.openxmlformats.org/officeDocument/2006/relationships/notesSlide" Target="/ppt/notesSlides/notesSlide6.xml" Id="R80b6f9d3063e49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9adf7d6559c4450" /><Relationship Type="http://schemas.openxmlformats.org/officeDocument/2006/relationships/notesSlide" Target="/ppt/notesSlides/notesSlide7.xml" Id="R5ddfd3fa476a42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14f0d881dc498a" /><Relationship Type="http://schemas.openxmlformats.org/officeDocument/2006/relationships/notesSlide" Target="/ppt/notesSlides/notesSlide8.xml" Id="R502c9ce9672047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5bbff4b52c4c3e" /><Relationship Type="http://schemas.openxmlformats.org/officeDocument/2006/relationships/image" Target="/ppt/media/image.png" Id="Ra0e92c27819749ae" /><Relationship Type="http://schemas.openxmlformats.org/officeDocument/2006/relationships/notesSlide" Target="/ppt/notesSlides/notesSlide9.xml" Id="R042b2bf3d0304d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6454a5e8bda4eb5" /><Relationship Type="http://schemas.openxmlformats.org/officeDocument/2006/relationships/image" Target="/ppt/media/image2.png" Id="R502d26b0ad224211" /><Relationship Type="http://schemas.openxmlformats.org/officeDocument/2006/relationships/notesSlide" Target="/ppt/notesSlides/notesSlide10.xml" Id="R5f163e8594fa47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2cc500fa7c64fcc" /><Relationship Type="http://schemas.openxmlformats.org/officeDocument/2006/relationships/image" Target="/ppt/media/image3.png" Id="R38b4749d5e5c4c79" /><Relationship Type="http://schemas.openxmlformats.org/officeDocument/2006/relationships/notesSlide" Target="/ppt/notesSlides/notesSlide11.xml" Id="Rcf1d8f19d6be4f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111444959164ffa" /><Relationship Type="http://schemas.openxmlformats.org/officeDocument/2006/relationships/notesSlide" Target="/ppt/notesSlides/notesSlide12.xml" Id="R2d95a9c459bb4b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f101abbf2e74716" /><Relationship Type="http://schemas.openxmlformats.org/officeDocument/2006/relationships/notesSlide" Target="/ppt/notesSlides/notesSlide13.xml" Id="Ra56d024fc8314a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2d5eafcb461450d" /><Relationship Type="http://schemas.openxmlformats.org/officeDocument/2006/relationships/notesSlide" Target="/ppt/notesSlides/notesSlide14.xml" Id="Reaada7c91a0940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bf9749ef2944c55" /><Relationship Type="http://schemas.openxmlformats.org/officeDocument/2006/relationships/notesSlide" Target="/ppt/notesSlides/notesSlide15.xml" Id="Rb98de16576994ca2" /></Relationships>
</file>

<file path=ppt/slides/charts/chart1.xml><?xml version="1.0" encoding="utf-8"?>
<c:chartSpace xmlns:c="http://schemas.openxmlformats.org/drawingml/2006/chart">
  <c:lang val="en-US"/>
  <c:chart>
    <c:plotArea>
      <c:barChart>
        <c:barDir val="col"/>
        <c:grouping val="clustered"/>
        <c:varyColors val="0"/>
        <c:ser>
          <c:idx val="0"/>
          <c:order val="0"/>
          <c:tx>
            <c:v>Diagnostic proxy</c:v>
          </c:tx>
          <c:spPr>
            <a:solidFill xmlns:a="http://schemas.openxmlformats.org/drawingml/2006/main">
              <a:srgbClr val="3D8DFF"/>
            </a:solidFill>
          </c:spPr>
          <c:cat>
            <c:strLit>
              <c:ptCount val="3"/>
              <c:pt idx="0">
                <c:v>FLAN-T5</c:v>
              </c:pt>
              <c:pt idx="1">
                <c:v>Llama 3.1 8B</c:v>
              </c:pt>
              <c:pt idx="2">
                <c:v>Mistral 7B</c:v>
              </c:pt>
            </c:strLit>
          </c:cat>
          <c:val>
            <c:numLit>
              <c:formatCode>General</c:formatCode>
              <c:ptCount val="3"/>
              <c:pt idx="0">
                <c:v>65</c:v>
              </c:pt>
              <c:pt idx="1">
                <c:v>80.2</c:v>
              </c:pt>
              <c:pt idx="2">
                <c:v>85.8</c:v>
              </c:pt>
            </c:numLit>
          </c:val>
        </c:ser>
        <c:dLbls>
          <c:txPr>
            <a:bodyPr xmlns:a="http://schemas.openxmlformats.org/drawingml/2006/main" anchorCtr="1"/>
            <a:lstStyle xmlns:a="http://schemas.openxmlformats.org/drawingml/2006/main"/>
            <a:p xmlns:a="http://schemas.openxmlformats.org/drawingml/2006/main">
              <a:pPr>
                <a:defRPr sz="1650" b="1">
                  <a:solidFill>
                    <a:srgbClr val="111827"/>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9CED6"/>
            </a:solidFill>
            <a:prstDash val="solid"/>
          </a:ln>
        </c:spPr>
        <c:txPr>
          <a:bodyPr xmlns:a="http://schemas.openxmlformats.org/drawingml/2006/main" anchorCtr="1"/>
          <a:lstStyle xmlns:a="http://schemas.openxmlformats.org/drawingml/2006/main"/>
          <a:p xmlns:a="http://schemas.openxmlformats.org/drawingml/2006/main">
            <a:pPr>
              <a:defRPr sz="1650">
                <a:solidFill>
                  <a:srgbClr val="111827"/>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650">
                <a:solidFill>
                  <a:srgbClr val="566273"/>
                </a:solidFill>
                <a:latin typeface="Arial"/>
                <a:ea typeface="Arial"/>
                <a:cs typeface="Aria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Stable pass</c:v>
          </c:tx>
          <c:spPr>
            <a:solidFill xmlns:a="http://schemas.openxmlformats.org/drawingml/2006/main">
              <a:srgbClr val="3D8DFF"/>
            </a:solidFill>
          </c:spPr>
          <c:cat>
            <c:strLit>
              <c:ptCount val="3"/>
              <c:pt idx="0">
                <c:v>FLAN-T5</c:v>
              </c:pt>
              <c:pt idx="1">
                <c:v>Llama 3.1</c:v>
              </c:pt>
              <c:pt idx="2">
                <c:v>Mistral 7B</c:v>
              </c:pt>
            </c:strLit>
          </c:cat>
          <c:val>
            <c:numLit>
              <c:formatCode>General</c:formatCode>
              <c:ptCount val="3"/>
              <c:pt idx="0">
                <c:v>7</c:v>
              </c:pt>
              <c:pt idx="1">
                <c:v>26</c:v>
              </c:pt>
              <c:pt idx="2">
                <c:v>30</c:v>
              </c:pt>
            </c:numLit>
          </c:val>
        </c:ser>
        <c:ser>
          <c:idx val="1"/>
          <c:order val="1"/>
          <c:tx>
            <c:v>Stable fail</c:v>
          </c:tx>
          <c:spPr>
            <a:solidFill xmlns:a="http://schemas.openxmlformats.org/drawingml/2006/main">
              <a:srgbClr val="D99518"/>
            </a:solidFill>
          </c:spPr>
          <c:cat>
            <c:strLit>
              <c:ptCount val="3"/>
              <c:pt idx="0">
                <c:v>FLAN-T5</c:v>
              </c:pt>
              <c:pt idx="1">
                <c:v>Llama 3.1</c:v>
              </c:pt>
              <c:pt idx="2">
                <c:v>Mistral 7B</c:v>
              </c:pt>
            </c:strLit>
          </c:cat>
          <c:val>
            <c:numLit>
              <c:formatCode>General</c:formatCode>
              <c:ptCount val="3"/>
              <c:pt idx="0">
                <c:v>25</c:v>
              </c:pt>
              <c:pt idx="1">
                <c:v>4</c:v>
              </c:pt>
              <c:pt idx="2">
                <c:v>0</c:v>
              </c:pt>
            </c:numLit>
          </c:val>
        </c:ser>
        <c:dLbls>
          <c:txPr>
            <a:bodyPr xmlns:a="http://schemas.openxmlformats.org/drawingml/2006/main" anchorCtr="1"/>
            <a:lstStyle xmlns:a="http://schemas.openxmlformats.org/drawingml/2006/main"/>
            <a:p xmlns:a="http://schemas.openxmlformats.org/drawingml/2006/main">
              <a:pPr>
                <a:defRPr sz="1650" b="1">
                  <a:solidFill>
                    <a:srgbClr val="111827"/>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9CED6"/>
            </a:solidFill>
            <a:prstDash val="solid"/>
          </a:ln>
        </c:spPr>
        <c:txPr>
          <a:bodyPr xmlns:a="http://schemas.openxmlformats.org/drawingml/2006/main" anchorCtr="1"/>
          <a:lstStyle xmlns:a="http://schemas.openxmlformats.org/drawingml/2006/main"/>
          <a:p xmlns:a="http://schemas.openxmlformats.org/drawingml/2006/main">
            <a:pPr>
              <a:defRPr sz="1650">
                <a:solidFill>
                  <a:srgbClr val="111827"/>
                </a:solidFill>
                <a:latin typeface="Arial"/>
                <a:ea typeface="Arial"/>
                <a:cs typeface="Arial"/>
              </a:defRPr>
            </a:pPr>
          </a:p>
        </c:txPr>
        <c:crossAx val="48672768"/>
      </c:catAx>
      <c:valAx>
        <c:axId val="48672768"/>
        <c:scaling>
          <c:orientation val="minMax"/>
          <c:max val="35"/>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650">
                <a:solidFill>
                  <a:srgbClr val="566273"/>
                </a:solidFill>
                <a:latin typeface="Arial"/>
                <a:ea typeface="Arial"/>
                <a:cs typeface="Arial"/>
              </a:defRPr>
            </a:pPr>
          </a:p>
        </c:txPr>
        <c:crossAx val="48650112"/>
        <c:crossBetween val="between"/>
        <c:majorUnit val="5"/>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66273"/>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904B60-DAE4-43D2-8144-89278989A6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486B2CEE-E53F-4835-9235-5881AD7ED1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 name="">
            <a:extLst xmlns:a="http://schemas.openxmlformats.org/drawingml/2006/main">
              <a:ext uri="{FF2B5EF4-FFF2-40B4-BE49-F238E27FC236}">
                <a16:creationId xmlns:a16="http://schemas.microsoft.com/office/drawing/2014/main" id="{68DD9A94-9563-4209-A094-40775A5895B0}"/>
              </a:ext>
            </a:extLst>
          </p:cNvPr>
          <p:cNvSpPr>
            <a:spLocks xmlns:a="http://schemas.openxmlformats.org/drawingml/2006/main" noGrp="1"/>
          </p:cNvSpPr>
          <p:nvPr/>
        </p:nvSpPr>
        <p:spPr>
          <a:xfrm xmlns:a="http://schemas.openxmlformats.org/drawingml/2006/main">
            <a:off x="590550" y="514350"/>
            <a:ext cx="61912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i="0">
                <a:solidFill>
                  <a:srgbClr val="3D8DFF"/>
                </a:solidFill>
                <a:latin typeface="Arial"/>
                <a:ea typeface="Arial"/>
                <a:cs typeface="Arial"/>
              </a:defRPr>
            </a:pPr>
            <a:r>
              <a:t>FINAL PROJECT REVIEW · 15 MINUTES</a:t>
            </a:r>
          </a:p>
        </p:txBody>
      </p:sp>
      <p:sp>
        <p:nvSpPr>
          <p:cNvPr id="4" name="">
            <a:extLst xmlns:a="http://schemas.openxmlformats.org/drawingml/2006/main">
              <a:ext uri="{FF2B5EF4-FFF2-40B4-BE49-F238E27FC236}">
                <a16:creationId xmlns:a16="http://schemas.microsoft.com/office/drawing/2014/main" id="{9348B2A2-E4B5-4368-99FF-A583853A25AC}"/>
              </a:ext>
            </a:extLst>
          </p:cNvPr>
          <p:cNvSpPr>
            <a:spLocks xmlns:a="http://schemas.openxmlformats.org/drawingml/2006/main" noGrp="1"/>
          </p:cNvSpPr>
          <p:nvPr/>
        </p:nvSpPr>
        <p:spPr>
          <a:xfrm xmlns:a="http://schemas.openxmlformats.org/drawingml/2006/main">
            <a:off x="590550" y="1257300"/>
            <a:ext cx="7715250" cy="2266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i="0">
                <a:solidFill>
                  <a:srgbClr val="000000"/>
                </a:solidFill>
                <a:latin typeface="Arial"/>
                <a:ea typeface="Arial"/>
                <a:cs typeface="Arial"/>
              </a:defRPr>
            </a:pPr>
            <a:r>
              <a:t>Eight Weeks of
Physical-AI Evaluation</a:t>
            </a:r>
          </a:p>
        </p:txBody>
      </p:sp>
      <p:sp>
        <p:nvSpPr>
          <p:cNvPr id="5" name="">
            <a:extLst xmlns:a="http://schemas.openxmlformats.org/drawingml/2006/main">
              <a:ext uri="{FF2B5EF4-FFF2-40B4-BE49-F238E27FC236}">
                <a16:creationId xmlns:a16="http://schemas.microsoft.com/office/drawing/2014/main" id="{22DA9D90-201F-4A3F-BF8D-33884BC0B303}"/>
              </a:ext>
            </a:extLst>
          </p:cNvPr>
          <p:cNvSpPr>
            <a:spLocks xmlns:a="http://schemas.openxmlformats.org/drawingml/2006/main" noGrp="1"/>
          </p:cNvSpPr>
          <p:nvPr/>
        </p:nvSpPr>
        <p:spPr>
          <a:xfrm xmlns:a="http://schemas.openxmlformats.org/drawingml/2006/main">
            <a:off x="590550" y="3886200"/>
            <a:ext cx="7334250" cy="800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566273"/>
                </a:solidFill>
                <a:latin typeface="Arial"/>
                <a:ea typeface="Arial"/>
                <a:cs typeface="Arial"/>
              </a:defRPr>
            </a:pPr>
            <a:r>
              <a:t>From reproducible benchmark evidence to a stakeholder dashboard and traceable capstone</a:t>
            </a:r>
          </a:p>
        </p:txBody>
      </p:sp>
      <p:sp>
        <p:nvSpPr>
          <p:cNvPr id="6" name="">
            <a:extLst xmlns:a="http://schemas.openxmlformats.org/drawingml/2006/main">
              <a:ext uri="{FF2B5EF4-FFF2-40B4-BE49-F238E27FC236}">
                <a16:creationId xmlns:a16="http://schemas.microsoft.com/office/drawing/2014/main" id="{6E245574-9948-4E61-875C-F93AB667A9CB}"/>
              </a:ext>
            </a:extLst>
          </p:cNvPr>
          <p:cNvSpPr>
            <a:spLocks xmlns:a="http://schemas.openxmlformats.org/drawingml/2006/main" noGrp="1"/>
          </p:cNvSpPr>
          <p:nvPr/>
        </p:nvSpPr>
        <p:spPr>
          <a:xfrm xmlns:a="http://schemas.openxmlformats.org/drawingml/2006/main">
            <a:off x="590550" y="6000750"/>
            <a:ext cx="809625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566273"/>
                </a:solidFill>
                <a:latin typeface="Arial"/>
                <a:ea typeface="Arial"/>
                <a:cs typeface="Arial"/>
              </a:defRPr>
            </a:pPr>
            <a:r>
              <a:t>Yian Fan · InGen AI Model Evaluation Internship · 20 August 2026</a:t>
            </a:r>
          </a:p>
        </p:txBody>
      </p:sp>
      <p:sp>
        <p:nvSpPr>
          <p:cNvPr id="7" name="">
            <a:extLst xmlns:a="http://schemas.openxmlformats.org/drawingml/2006/main">
              <a:ext uri="{FF2B5EF4-FFF2-40B4-BE49-F238E27FC236}">
                <a16:creationId xmlns:a16="http://schemas.microsoft.com/office/drawing/2014/main" id="{BAC6AD4D-4D8E-4391-A109-89B115059EE4}"/>
              </a:ext>
            </a:extLst>
          </p:cNvPr>
          <p:cNvSpPr>
            <a:spLocks xmlns:a="http://schemas.openxmlformats.org/drawingml/2006/main" noGrp="1"/>
          </p:cNvSpPr>
          <p:nvPr/>
        </p:nvSpPr>
        <p:spPr>
          <a:xfrm xmlns:a="http://schemas.openxmlformats.org/drawingml/2006/main">
            <a:off x="9886950" y="1238250"/>
            <a:ext cx="1524000" cy="1066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7200" b="1" i="0">
                <a:solidFill>
                  <a:srgbClr val="6DCBF4"/>
                </a:solidFill>
                <a:latin typeface="Arial"/>
                <a:ea typeface="Arial"/>
                <a:cs typeface="Arial"/>
              </a:defRPr>
            </a:pPr>
            <a:r>
              <a:t>15</a:t>
            </a:r>
          </a:p>
        </p:txBody>
      </p:sp>
      <p:sp>
        <p:nvSpPr>
          <p:cNvPr id="8" name="">
            <a:extLst xmlns:a="http://schemas.openxmlformats.org/drawingml/2006/main">
              <a:ext uri="{FF2B5EF4-FFF2-40B4-BE49-F238E27FC236}">
                <a16:creationId xmlns:a16="http://schemas.microsoft.com/office/drawing/2014/main" id="{06BF9555-DE08-4F20-B2E1-3FB26D28D85B}"/>
              </a:ext>
            </a:extLst>
          </p:cNvPr>
          <p:cNvSpPr>
            <a:spLocks xmlns:a="http://schemas.openxmlformats.org/drawingml/2006/main" noGrp="1"/>
          </p:cNvSpPr>
          <p:nvPr/>
        </p:nvSpPr>
        <p:spPr>
          <a:xfrm xmlns:a="http://schemas.openxmlformats.org/drawingml/2006/main">
            <a:off x="9906000" y="2362200"/>
            <a:ext cx="1504950" cy="30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1" i="0">
                <a:solidFill>
                  <a:srgbClr val="111827"/>
                </a:solidFill>
                <a:latin typeface="Arial"/>
                <a:ea typeface="Arial"/>
                <a:cs typeface="Arial"/>
              </a:defRPr>
            </a:pPr>
            <a:r>
              <a:t>slides</a:t>
            </a:r>
          </a:p>
        </p:txBody>
      </p:sp>
      <p:sp>
        <p:nvSpPr>
          <p:cNvPr id="9" name="">
            <a:extLst xmlns:a="http://schemas.openxmlformats.org/drawingml/2006/main">
              <a:ext uri="{FF2B5EF4-FFF2-40B4-BE49-F238E27FC236}">
                <a16:creationId xmlns:a16="http://schemas.microsoft.com/office/drawing/2014/main" id="{D51522F5-4705-45B4-A2EC-F3234A9A6563}"/>
              </a:ext>
            </a:extLst>
          </p:cNvPr>
          <p:cNvSpPr>
            <a:spLocks xmlns:a="http://schemas.openxmlformats.org/drawingml/2006/main" noGrp="1"/>
          </p:cNvSpPr>
          <p:nvPr/>
        </p:nvSpPr>
        <p:spPr>
          <a:xfrm xmlns:a="http://schemas.openxmlformats.org/drawingml/2006/main">
            <a:off x="9029700" y="3143250"/>
            <a:ext cx="2381250"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725" b="0" i="0">
                <a:solidFill>
                  <a:srgbClr val="566273"/>
                </a:solidFill>
                <a:latin typeface="Arial"/>
                <a:ea typeface="Arial"/>
                <a:cs typeface="Arial"/>
              </a:defRPr>
            </a:pPr>
            <a:r>
              <a:t>Week 7–8 focus
+ full-project synthesis</a:t>
            </a:r>
          </a:p>
        </p:txBody>
      </p:sp>
      <p:sp>
        <p:nvSpPr>
          <p:cNvPr id="10" name="">
            <a:extLst xmlns:a="http://schemas.openxmlformats.org/drawingml/2006/main">
              <a:ext uri="{FF2B5EF4-FFF2-40B4-BE49-F238E27FC236}">
                <a16:creationId xmlns:a16="http://schemas.microsoft.com/office/drawing/2014/main" id="{8C070BD5-EEED-4E72-BC8B-080CE6A688AA}"/>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i="0">
                <a:solidFill>
                  <a:srgbClr val="8A94A3"/>
                </a:solidFill>
                <a:latin typeface="Arial"/>
                <a:ea typeface="Arial"/>
                <a:cs typeface="Arial"/>
              </a:defRPr>
            </a:pPr>
            <a:r>
              <a:t>01</a:t>
            </a:r>
          </a:p>
        </p:txBody>
      </p:sp>
    </p:spTree>
    <p:extLst>
      <p:ext uri="{BB962C8B-B14F-4D97-AF65-F5344CB8AC3E}">
        <p14:creationId xmlns:p14="http://schemas.microsoft.com/office/powerpoint/2010/main" val="5475741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F6455E5-043E-4861-A14A-660D610D099D}"/>
              </a:ext>
            </a:extLst>
          </p:cNvPr>
          <p:cNvSpPr>
            <a:spLocks xmlns:a="http://schemas.openxmlformats.org/drawingml/2006/main" noGrp="1"/>
          </p:cNvSpPr>
          <p:nvPr/>
        </p:nvSpPr>
        <p:spPr>
          <a:xfrm xmlns:a="http://schemas.openxmlformats.org/drawingml/2006/main">
            <a:off x="400050" y="190500"/>
            <a:ext cx="6477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Arial"/>
                <a:ea typeface="Arial"/>
                <a:cs typeface="Arial"/>
              </a:defRPr>
            </a:pPr>
            <a:r>
              <a:t>INGEN · AI MODEL EVALUATION</a:t>
            </a:r>
          </a:p>
        </p:txBody>
      </p:sp>
      <p:sp>
        <p:nvSpPr>
          <p:cNvPr id="2" name="slide-2-title">
            <a:extLst xmlns:a="http://schemas.openxmlformats.org/drawingml/2006/main">
              <a:ext uri="{FF2B5EF4-FFF2-40B4-BE49-F238E27FC236}">
                <a16:creationId xmlns:a16="http://schemas.microsoft.com/office/drawing/2014/main" id="{B2C24377-197D-4F61-96C2-0297C7F43881}"/>
              </a:ext>
            </a:extLst>
          </p:cNvPr>
          <p:cNvSpPr>
            <a:spLocks xmlns:a="http://schemas.openxmlformats.org/drawingml/2006/main" noGrp="1"/>
          </p:cNvSpPr>
          <p:nvPr/>
        </p:nvSpPr>
        <p:spPr>
          <a:xfrm xmlns:a="http://schemas.openxmlformats.org/drawingml/2006/main">
            <a:off x="400050" y="476250"/>
            <a:ext cx="1133475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11827"/>
                </a:solidFill>
                <a:latin typeface="Arial"/>
                <a:ea typeface="Arial"/>
                <a:cs typeface="Arial"/>
              </a:defRPr>
            </a:pPr>
            <a:r>
              <a:t>Eight weeks built one evidence chain</a:t>
            </a:r>
          </a:p>
        </p:txBody>
      </p:sp>
      <p:cxnSp>
        <p:nvCxnSpPr>
          <p:cNvPr id="32"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C9CED6"/>
            </a:solidFill>
            <a:prstDash val="solid"/>
          </a:ln>
        </p:spPr>
      </p:cxnSp>
      <p:sp>
        <p:nvSpPr>
          <p:cNvPr id="4" name="">
            <a:extLst xmlns:a="http://schemas.openxmlformats.org/drawingml/2006/main">
              <a:ext uri="{FF2B5EF4-FFF2-40B4-BE49-F238E27FC236}">
                <a16:creationId xmlns:a16="http://schemas.microsoft.com/office/drawing/2014/main" id="{306414BF-57DA-44BC-BA9C-CF01D8F8475F}"/>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i="0">
                <a:solidFill>
                  <a:srgbClr val="8A94A3"/>
                </a:solidFill>
                <a:latin typeface="Arial"/>
                <a:ea typeface="Arial"/>
                <a:cs typeface="Arial"/>
              </a:defRPr>
            </a:pPr>
            <a:r>
              <a:t>02</a:t>
            </a:r>
          </a:p>
        </p:txBody>
      </p:sp>
      <p:sp>
        <p:nvSpPr>
          <p:cNvPr id="5" name="">
            <a:extLst xmlns:a="http://schemas.openxmlformats.org/drawingml/2006/main">
              <a:ext uri="{FF2B5EF4-FFF2-40B4-BE49-F238E27FC236}">
                <a16:creationId xmlns:a16="http://schemas.microsoft.com/office/drawing/2014/main" id="{9FA16854-B0F7-4B43-9368-84655FEB13B9}"/>
              </a:ext>
            </a:extLst>
          </p:cNvPr>
          <p:cNvSpPr>
            <a:spLocks xmlns:a="http://schemas.openxmlformats.org/drawingml/2006/main" noGrp="1"/>
          </p:cNvSpPr>
          <p:nvPr/>
        </p:nvSpPr>
        <p:spPr>
          <a:xfrm xmlns:a="http://schemas.openxmlformats.org/drawingml/2006/main">
            <a:off x="400050" y="1466850"/>
            <a:ext cx="100012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566273"/>
                </a:solidFill>
                <a:latin typeface="Arial"/>
                <a:ea typeface="Arial"/>
                <a:cs typeface="Arial"/>
              </a:defRPr>
            </a:pPr>
            <a:r>
              <a:t>Each phase answered the question created by the previous one.</a:t>
            </a:r>
          </a:p>
        </p:txBody>
      </p:sp>
      <p:sp>
        <p:nvSpPr>
          <p:cNvPr id="6" name="">
            <a:extLst xmlns:a="http://schemas.openxmlformats.org/drawingml/2006/main">
              <a:ext uri="{FF2B5EF4-FFF2-40B4-BE49-F238E27FC236}">
                <a16:creationId xmlns:a16="http://schemas.microsoft.com/office/drawing/2014/main" id="{1D939DF1-F41B-4A91-A74B-3C987145DDC4}"/>
              </a:ext>
            </a:extLst>
          </p:cNvPr>
          <p:cNvSpPr>
            <a:spLocks xmlns:a="http://schemas.openxmlformats.org/drawingml/2006/main" noGrp="1"/>
          </p:cNvSpPr>
          <p:nvPr/>
        </p:nvSpPr>
        <p:spPr>
          <a:xfrm xmlns:a="http://schemas.openxmlformats.org/drawingml/2006/main">
            <a:off x="2857500" y="3524250"/>
            <a:ext cx="457200" cy="171450"/>
          </a:xfrm>
          <a:prstGeom xmlns:a="http://schemas.openxmlformats.org/drawingml/2006/main" prst="rightArrow">
            <a:avLst/>
          </a:prstGeom>
          <a:solidFill xmlns:a="http://schemas.openxmlformats.org/drawingml/2006/main">
            <a:srgbClr val="C9CED6"/>
          </a:solidFill>
          <a:ln xmlns:a="http://schemas.openxmlformats.org/drawingml/2006/main" w="0">
            <a:solidFill>
              <a:srgbClr val="C9CED6"/>
            </a:solidFill>
            <a:prstDash val="solid"/>
          </a:ln>
        </p:spPr>
      </p:sp>
      <p:sp>
        <p:nvSpPr>
          <p:cNvPr id="7" name="">
            <a:extLst xmlns:a="http://schemas.openxmlformats.org/drawingml/2006/main">
              <a:ext uri="{FF2B5EF4-FFF2-40B4-BE49-F238E27FC236}">
                <a16:creationId xmlns:a16="http://schemas.microsoft.com/office/drawing/2014/main" id="{B0F8C0E1-8569-454D-BEBC-6379226F2406}"/>
              </a:ext>
            </a:extLst>
          </p:cNvPr>
          <p:cNvSpPr>
            <a:spLocks xmlns:a="http://schemas.openxmlformats.org/drawingml/2006/main" noGrp="1"/>
          </p:cNvSpPr>
          <p:nvPr/>
        </p:nvSpPr>
        <p:spPr>
          <a:xfrm xmlns:a="http://schemas.openxmlformats.org/drawingml/2006/main">
            <a:off x="5695950" y="3524250"/>
            <a:ext cx="457200" cy="171450"/>
          </a:xfrm>
          <a:prstGeom xmlns:a="http://schemas.openxmlformats.org/drawingml/2006/main" prst="rightArrow">
            <a:avLst/>
          </a:prstGeom>
          <a:solidFill xmlns:a="http://schemas.openxmlformats.org/drawingml/2006/main">
            <a:srgbClr val="C9CED6"/>
          </a:solidFill>
          <a:ln xmlns:a="http://schemas.openxmlformats.org/drawingml/2006/main" w="0">
            <a:solidFill>
              <a:srgbClr val="C9CED6"/>
            </a:solidFill>
            <a:prstDash val="solid"/>
          </a:ln>
        </p:spPr>
      </p:sp>
      <p:sp>
        <p:nvSpPr>
          <p:cNvPr id="8" name="">
            <a:extLst xmlns:a="http://schemas.openxmlformats.org/drawingml/2006/main">
              <a:ext uri="{FF2B5EF4-FFF2-40B4-BE49-F238E27FC236}">
                <a16:creationId xmlns:a16="http://schemas.microsoft.com/office/drawing/2014/main" id="{5D047114-0128-439C-A8BE-60FA22DD54C0}"/>
              </a:ext>
            </a:extLst>
          </p:cNvPr>
          <p:cNvSpPr>
            <a:spLocks xmlns:a="http://schemas.openxmlformats.org/drawingml/2006/main" noGrp="1"/>
          </p:cNvSpPr>
          <p:nvPr/>
        </p:nvSpPr>
        <p:spPr>
          <a:xfrm xmlns:a="http://schemas.openxmlformats.org/drawingml/2006/main">
            <a:off x="8534400" y="3524250"/>
            <a:ext cx="457200" cy="171450"/>
          </a:xfrm>
          <a:prstGeom xmlns:a="http://schemas.openxmlformats.org/drawingml/2006/main" prst="rightArrow">
            <a:avLst/>
          </a:prstGeom>
          <a:solidFill xmlns:a="http://schemas.openxmlformats.org/drawingml/2006/main">
            <a:srgbClr val="C9CED6"/>
          </a:solidFill>
          <a:ln xmlns:a="http://schemas.openxmlformats.org/drawingml/2006/main" w="0">
            <a:solidFill>
              <a:srgbClr val="C9CED6"/>
            </a:solidFill>
            <a:prstDash val="solid"/>
          </a:ln>
        </p:spPr>
      </p:sp>
      <p:sp>
        <p:nvSpPr>
          <p:cNvPr id="9" name="">
            <a:extLst xmlns:a="http://schemas.openxmlformats.org/drawingml/2006/main">
              <a:ext uri="{FF2B5EF4-FFF2-40B4-BE49-F238E27FC236}">
                <a16:creationId xmlns:a16="http://schemas.microsoft.com/office/drawing/2014/main" id="{754B29D1-2E8E-41B5-B894-090CAF6438CB}"/>
              </a:ext>
            </a:extLst>
          </p:cNvPr>
          <p:cNvSpPr>
            <a:spLocks xmlns:a="http://schemas.openxmlformats.org/drawingml/2006/main" noGrp="1"/>
          </p:cNvSpPr>
          <p:nvPr/>
        </p:nvSpPr>
        <p:spPr>
          <a:xfrm xmlns:a="http://schemas.openxmlformats.org/drawingml/2006/main">
            <a:off x="400050" y="2571750"/>
            <a:ext cx="2457450" cy="2457450"/>
          </a:xfrm>
          <a:prstGeom xmlns:a="http://schemas.openxmlformats.org/drawingml/2006/main" prst="rect">
            <a:avLst/>
          </a:prstGeom>
          <a:solidFill xmlns:a="http://schemas.openxmlformats.org/drawingml/2006/main">
            <a:srgbClr val="FFFFFF"/>
          </a:solidFill>
          <a:ln xmlns:a="http://schemas.openxmlformats.org/drawingml/2006/main" w="9525">
            <a:solidFill>
              <a:srgbClr val="C9CED6"/>
            </a:solidFill>
            <a:prstDash val="solid"/>
          </a:ln>
        </p:spPr>
      </p:sp>
      <p:sp>
        <p:nvSpPr>
          <p:cNvPr id="10" name="">
            <a:extLst xmlns:a="http://schemas.openxmlformats.org/drawingml/2006/main">
              <a:ext uri="{FF2B5EF4-FFF2-40B4-BE49-F238E27FC236}">
                <a16:creationId xmlns:a16="http://schemas.microsoft.com/office/drawing/2014/main" id="{BD4174D8-5503-48A0-AB24-647AC54444E2}"/>
              </a:ext>
            </a:extLst>
          </p:cNvPr>
          <p:cNvSpPr>
            <a:spLocks xmlns:a="http://schemas.openxmlformats.org/drawingml/2006/main" noGrp="1"/>
          </p:cNvSpPr>
          <p:nvPr/>
        </p:nvSpPr>
        <p:spPr>
          <a:xfrm xmlns:a="http://schemas.openxmlformats.org/drawingml/2006/main">
            <a:off x="400050" y="2571750"/>
            <a:ext cx="2457450" cy="952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4A540A1D-83A1-45AE-88C7-1CBAA27EF46E}"/>
              </a:ext>
            </a:extLst>
          </p:cNvPr>
          <p:cNvSpPr>
            <a:spLocks xmlns:a="http://schemas.openxmlformats.org/drawingml/2006/main" noGrp="1"/>
          </p:cNvSpPr>
          <p:nvPr/>
        </p:nvSpPr>
        <p:spPr>
          <a:xfrm xmlns:a="http://schemas.openxmlformats.org/drawingml/2006/main">
            <a:off x="590550" y="2857500"/>
            <a:ext cx="20955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3D8DFF"/>
                </a:solidFill>
                <a:latin typeface="Arial"/>
                <a:ea typeface="Arial"/>
                <a:cs typeface="Arial"/>
              </a:defRPr>
            </a:pPr>
            <a:r>
              <a:t>WEEKS 1–2</a:t>
            </a:r>
          </a:p>
        </p:txBody>
      </p:sp>
      <p:sp>
        <p:nvSpPr>
          <p:cNvPr id="12" name="">
            <a:extLst xmlns:a="http://schemas.openxmlformats.org/drawingml/2006/main">
              <a:ext uri="{FF2B5EF4-FFF2-40B4-BE49-F238E27FC236}">
                <a16:creationId xmlns:a16="http://schemas.microsoft.com/office/drawing/2014/main" id="{428203C4-37D9-4ADD-80CF-F13CC84DC222}"/>
              </a:ext>
            </a:extLst>
          </p:cNvPr>
          <p:cNvSpPr>
            <a:spLocks xmlns:a="http://schemas.openxmlformats.org/drawingml/2006/main" noGrp="1"/>
          </p:cNvSpPr>
          <p:nvPr/>
        </p:nvSpPr>
        <p:spPr>
          <a:xfrm xmlns:a="http://schemas.openxmlformats.org/drawingml/2006/main">
            <a:off x="590550" y="3257550"/>
            <a:ext cx="209550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i="0">
                <a:solidFill>
                  <a:srgbClr val="111827"/>
                </a:solidFill>
                <a:latin typeface="Arial"/>
                <a:ea typeface="Arial"/>
                <a:cs typeface="Arial"/>
              </a:defRPr>
            </a:pPr>
            <a:r>
              <a:t>Design</a:t>
            </a:r>
          </a:p>
        </p:txBody>
      </p:sp>
      <p:sp>
        <p:nvSpPr>
          <p:cNvPr id="13" name="">
            <a:extLst xmlns:a="http://schemas.openxmlformats.org/drawingml/2006/main">
              <a:ext uri="{FF2B5EF4-FFF2-40B4-BE49-F238E27FC236}">
                <a16:creationId xmlns:a16="http://schemas.microsoft.com/office/drawing/2014/main" id="{D95EA4B6-FBA9-4017-91DE-896FC8DE0E08}"/>
              </a:ext>
            </a:extLst>
          </p:cNvPr>
          <p:cNvSpPr>
            <a:spLocks xmlns:a="http://schemas.openxmlformats.org/drawingml/2006/main" noGrp="1"/>
          </p:cNvSpPr>
          <p:nvPr/>
        </p:nvSpPr>
        <p:spPr>
          <a:xfrm xmlns:a="http://schemas.openxmlformats.org/drawingml/2006/main">
            <a:off x="590550" y="3810000"/>
            <a:ext cx="2076450" cy="1066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566273"/>
                </a:solidFill>
                <a:latin typeface="Arial"/>
                <a:ea typeface="Arial"/>
                <a:cs typeface="Arial"/>
              </a:defRPr>
            </a:pPr>
            <a:r>
              <a:t>Landscape, regulations, 35 scenarios, rubric, Judge gate</a:t>
            </a:r>
          </a:p>
        </p:txBody>
      </p:sp>
      <p:sp>
        <p:nvSpPr>
          <p:cNvPr id="14" name="">
            <a:extLst xmlns:a="http://schemas.openxmlformats.org/drawingml/2006/main">
              <a:ext uri="{FF2B5EF4-FFF2-40B4-BE49-F238E27FC236}">
                <a16:creationId xmlns:a16="http://schemas.microsoft.com/office/drawing/2014/main" id="{324B8BE8-7EA6-4C4A-AB97-548098F5C9F6}"/>
              </a:ext>
            </a:extLst>
          </p:cNvPr>
          <p:cNvSpPr>
            <a:spLocks xmlns:a="http://schemas.openxmlformats.org/drawingml/2006/main" noGrp="1"/>
          </p:cNvSpPr>
          <p:nvPr/>
        </p:nvSpPr>
        <p:spPr>
          <a:xfrm xmlns:a="http://schemas.openxmlformats.org/drawingml/2006/main">
            <a:off x="3238500" y="2571750"/>
            <a:ext cx="2457450" cy="2457450"/>
          </a:xfrm>
          <a:prstGeom xmlns:a="http://schemas.openxmlformats.org/drawingml/2006/main" prst="rect">
            <a:avLst/>
          </a:prstGeom>
          <a:solidFill xmlns:a="http://schemas.openxmlformats.org/drawingml/2006/main">
            <a:srgbClr val="FFFFFF"/>
          </a:solidFill>
          <a:ln xmlns:a="http://schemas.openxmlformats.org/drawingml/2006/main" w="9525">
            <a:solidFill>
              <a:srgbClr val="C9CED6"/>
            </a:solidFill>
            <a:prstDash val="solid"/>
          </a:ln>
        </p:spPr>
      </p:sp>
      <p:sp>
        <p:nvSpPr>
          <p:cNvPr id="15" name="">
            <a:extLst xmlns:a="http://schemas.openxmlformats.org/drawingml/2006/main">
              <a:ext uri="{FF2B5EF4-FFF2-40B4-BE49-F238E27FC236}">
                <a16:creationId xmlns:a16="http://schemas.microsoft.com/office/drawing/2014/main" id="{84C3BA01-D3EC-462A-B691-6B63EC4B9BD0}"/>
              </a:ext>
            </a:extLst>
          </p:cNvPr>
          <p:cNvSpPr>
            <a:spLocks xmlns:a="http://schemas.openxmlformats.org/drawingml/2006/main" noGrp="1"/>
          </p:cNvSpPr>
          <p:nvPr/>
        </p:nvSpPr>
        <p:spPr>
          <a:xfrm xmlns:a="http://schemas.openxmlformats.org/drawingml/2006/main">
            <a:off x="3238500" y="2571750"/>
            <a:ext cx="2457450" cy="95250"/>
          </a:xfrm>
          <a:prstGeom xmlns:a="http://schemas.openxmlformats.org/drawingml/2006/main" prst="rect">
            <a:avLst/>
          </a:prstGeom>
          <a:solidFill xmlns:a="http://schemas.openxmlformats.org/drawingml/2006/main">
            <a:srgbClr val="168A82"/>
          </a:solidFill>
          <a:ln xmlns:a="http://schemas.openxmlformats.org/drawingml/2006/main" w="0">
            <a:solidFill>
              <a:srgbClr val="168A82"/>
            </a:solidFill>
            <a:prstDash val="solid"/>
          </a:ln>
        </p:spPr>
      </p:sp>
      <p:sp>
        <p:nvSpPr>
          <p:cNvPr id="16" name="">
            <a:extLst xmlns:a="http://schemas.openxmlformats.org/drawingml/2006/main">
              <a:ext uri="{FF2B5EF4-FFF2-40B4-BE49-F238E27FC236}">
                <a16:creationId xmlns:a16="http://schemas.microsoft.com/office/drawing/2014/main" id="{3B95A5CD-1E6D-4E6D-8AAE-1509A6809FEA}"/>
              </a:ext>
            </a:extLst>
          </p:cNvPr>
          <p:cNvSpPr>
            <a:spLocks xmlns:a="http://schemas.openxmlformats.org/drawingml/2006/main" noGrp="1"/>
          </p:cNvSpPr>
          <p:nvPr/>
        </p:nvSpPr>
        <p:spPr>
          <a:xfrm xmlns:a="http://schemas.openxmlformats.org/drawingml/2006/main">
            <a:off x="3429000" y="2857500"/>
            <a:ext cx="20955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168A82"/>
                </a:solidFill>
                <a:latin typeface="Arial"/>
                <a:ea typeface="Arial"/>
                <a:cs typeface="Arial"/>
              </a:defRPr>
            </a:pPr>
            <a:r>
              <a:t>WEEKS 3–4</a:t>
            </a:r>
          </a:p>
        </p:txBody>
      </p:sp>
      <p:sp>
        <p:nvSpPr>
          <p:cNvPr id="17" name="">
            <a:extLst xmlns:a="http://schemas.openxmlformats.org/drawingml/2006/main">
              <a:ext uri="{FF2B5EF4-FFF2-40B4-BE49-F238E27FC236}">
                <a16:creationId xmlns:a16="http://schemas.microsoft.com/office/drawing/2014/main" id="{A99D5C38-DFF0-4314-AE2F-6DDCA7F23242}"/>
              </a:ext>
            </a:extLst>
          </p:cNvPr>
          <p:cNvSpPr>
            <a:spLocks xmlns:a="http://schemas.openxmlformats.org/drawingml/2006/main" noGrp="1"/>
          </p:cNvSpPr>
          <p:nvPr/>
        </p:nvSpPr>
        <p:spPr>
          <a:xfrm xmlns:a="http://schemas.openxmlformats.org/drawingml/2006/main">
            <a:off x="3429000" y="3257550"/>
            <a:ext cx="209550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i="0">
                <a:solidFill>
                  <a:srgbClr val="111827"/>
                </a:solidFill>
                <a:latin typeface="Arial"/>
                <a:ea typeface="Arial"/>
                <a:cs typeface="Arial"/>
              </a:defRPr>
            </a:pPr>
            <a:r>
              <a:t>Evaluate</a:t>
            </a:r>
          </a:p>
        </p:txBody>
      </p:sp>
      <p:sp>
        <p:nvSpPr>
          <p:cNvPr id="18" name="">
            <a:extLst xmlns:a="http://schemas.openxmlformats.org/drawingml/2006/main">
              <a:ext uri="{FF2B5EF4-FFF2-40B4-BE49-F238E27FC236}">
                <a16:creationId xmlns:a16="http://schemas.microsoft.com/office/drawing/2014/main" id="{AE8C8194-89DB-4484-8B07-275411B04AD3}"/>
              </a:ext>
            </a:extLst>
          </p:cNvPr>
          <p:cNvSpPr>
            <a:spLocks xmlns:a="http://schemas.openxmlformats.org/drawingml/2006/main" noGrp="1"/>
          </p:cNvSpPr>
          <p:nvPr/>
        </p:nvSpPr>
        <p:spPr>
          <a:xfrm xmlns:a="http://schemas.openxmlformats.org/drawingml/2006/main">
            <a:off x="3429000" y="3810000"/>
            <a:ext cx="2076450" cy="1066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566273"/>
                </a:solidFill>
                <a:latin typeface="Arial"/>
                <a:ea typeface="Arial"/>
                <a:cs typeface="Arial"/>
              </a:defRPr>
            </a:pPr>
            <a:r>
              <a:t>Three models, long-source RAG, robustness, VLM comparison</a:t>
            </a:r>
          </a:p>
        </p:txBody>
      </p:sp>
      <p:sp>
        <p:nvSpPr>
          <p:cNvPr id="19" name="">
            <a:extLst xmlns:a="http://schemas.openxmlformats.org/drawingml/2006/main">
              <a:ext uri="{FF2B5EF4-FFF2-40B4-BE49-F238E27FC236}">
                <a16:creationId xmlns:a16="http://schemas.microsoft.com/office/drawing/2014/main" id="{1BF1B478-6673-4EF2-A3C5-4C00B8623FAC}"/>
              </a:ext>
            </a:extLst>
          </p:cNvPr>
          <p:cNvSpPr>
            <a:spLocks xmlns:a="http://schemas.openxmlformats.org/drawingml/2006/main" noGrp="1"/>
          </p:cNvSpPr>
          <p:nvPr/>
        </p:nvSpPr>
        <p:spPr>
          <a:xfrm xmlns:a="http://schemas.openxmlformats.org/drawingml/2006/main">
            <a:off x="6076950" y="2571750"/>
            <a:ext cx="2457450" cy="2457450"/>
          </a:xfrm>
          <a:prstGeom xmlns:a="http://schemas.openxmlformats.org/drawingml/2006/main" prst="rect">
            <a:avLst/>
          </a:prstGeom>
          <a:solidFill xmlns:a="http://schemas.openxmlformats.org/drawingml/2006/main">
            <a:srgbClr val="FFFFFF"/>
          </a:solidFill>
          <a:ln xmlns:a="http://schemas.openxmlformats.org/drawingml/2006/main" w="9525">
            <a:solidFill>
              <a:srgbClr val="C9CED6"/>
            </a:solidFill>
            <a:prstDash val="solid"/>
          </a:ln>
        </p:spPr>
      </p:sp>
      <p:sp>
        <p:nvSpPr>
          <p:cNvPr id="20" name="">
            <a:extLst xmlns:a="http://schemas.openxmlformats.org/drawingml/2006/main">
              <a:ext uri="{FF2B5EF4-FFF2-40B4-BE49-F238E27FC236}">
                <a16:creationId xmlns:a16="http://schemas.microsoft.com/office/drawing/2014/main" id="{EA8A3A9B-4914-406D-93AC-E0F8ADDFA79B}"/>
              </a:ext>
            </a:extLst>
          </p:cNvPr>
          <p:cNvSpPr>
            <a:spLocks xmlns:a="http://schemas.openxmlformats.org/drawingml/2006/main" noGrp="1"/>
          </p:cNvSpPr>
          <p:nvPr/>
        </p:nvSpPr>
        <p:spPr>
          <a:xfrm xmlns:a="http://schemas.openxmlformats.org/drawingml/2006/main">
            <a:off x="6076950" y="2571750"/>
            <a:ext cx="2457450" cy="95250"/>
          </a:xfrm>
          <a:prstGeom xmlns:a="http://schemas.openxmlformats.org/drawingml/2006/main" prst="rect">
            <a:avLst/>
          </a:prstGeom>
          <a:solidFill xmlns:a="http://schemas.openxmlformats.org/drawingml/2006/main">
            <a:srgbClr val="D99518"/>
          </a:solidFill>
          <a:ln xmlns:a="http://schemas.openxmlformats.org/drawingml/2006/main" w="0">
            <a:solidFill>
              <a:srgbClr val="D99518"/>
            </a:solidFill>
            <a:prstDash val="solid"/>
          </a:ln>
        </p:spPr>
      </p:sp>
      <p:sp>
        <p:nvSpPr>
          <p:cNvPr id="21" name="">
            <a:extLst xmlns:a="http://schemas.openxmlformats.org/drawingml/2006/main">
              <a:ext uri="{FF2B5EF4-FFF2-40B4-BE49-F238E27FC236}">
                <a16:creationId xmlns:a16="http://schemas.microsoft.com/office/drawing/2014/main" id="{CFA11533-E143-4E80-9731-04600C4D40A9}"/>
              </a:ext>
            </a:extLst>
          </p:cNvPr>
          <p:cNvSpPr>
            <a:spLocks xmlns:a="http://schemas.openxmlformats.org/drawingml/2006/main" noGrp="1"/>
          </p:cNvSpPr>
          <p:nvPr/>
        </p:nvSpPr>
        <p:spPr>
          <a:xfrm xmlns:a="http://schemas.openxmlformats.org/drawingml/2006/main">
            <a:off x="6267450" y="2857500"/>
            <a:ext cx="20955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D99518"/>
                </a:solidFill>
                <a:latin typeface="Arial"/>
                <a:ea typeface="Arial"/>
                <a:cs typeface="Arial"/>
              </a:defRPr>
            </a:pPr>
            <a:r>
              <a:t>WEEKS 5–6</a:t>
            </a:r>
          </a:p>
        </p:txBody>
      </p:sp>
      <p:sp>
        <p:nvSpPr>
          <p:cNvPr id="22" name="">
            <a:extLst xmlns:a="http://schemas.openxmlformats.org/drawingml/2006/main">
              <a:ext uri="{FF2B5EF4-FFF2-40B4-BE49-F238E27FC236}">
                <a16:creationId xmlns:a16="http://schemas.microsoft.com/office/drawing/2014/main" id="{DEC7542C-ED09-489F-8D24-7585BD9F2608}"/>
              </a:ext>
            </a:extLst>
          </p:cNvPr>
          <p:cNvSpPr>
            <a:spLocks xmlns:a="http://schemas.openxmlformats.org/drawingml/2006/main" noGrp="1"/>
          </p:cNvSpPr>
          <p:nvPr/>
        </p:nvSpPr>
        <p:spPr>
          <a:xfrm xmlns:a="http://schemas.openxmlformats.org/drawingml/2006/main">
            <a:off x="6267450" y="3257550"/>
            <a:ext cx="209550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i="0">
                <a:solidFill>
                  <a:srgbClr val="111827"/>
                </a:solidFill>
                <a:latin typeface="Arial"/>
                <a:ea typeface="Arial"/>
                <a:cs typeface="Arial"/>
              </a:defRPr>
            </a:pPr>
            <a:r>
              <a:t>Synthesis</a:t>
            </a:r>
          </a:p>
        </p:txBody>
      </p:sp>
      <p:sp>
        <p:nvSpPr>
          <p:cNvPr id="23" name="">
            <a:extLst xmlns:a="http://schemas.openxmlformats.org/drawingml/2006/main">
              <a:ext uri="{FF2B5EF4-FFF2-40B4-BE49-F238E27FC236}">
                <a16:creationId xmlns:a16="http://schemas.microsoft.com/office/drawing/2014/main" id="{A554CED5-ED34-4C3D-8D0A-1E39B9027F28}"/>
              </a:ext>
            </a:extLst>
          </p:cNvPr>
          <p:cNvSpPr>
            <a:spLocks xmlns:a="http://schemas.openxmlformats.org/drawingml/2006/main" noGrp="1"/>
          </p:cNvSpPr>
          <p:nvPr/>
        </p:nvSpPr>
        <p:spPr>
          <a:xfrm xmlns:a="http://schemas.openxmlformats.org/drawingml/2006/main">
            <a:off x="6267450" y="3810000"/>
            <a:ext cx="2076450" cy="1066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566273"/>
                </a:solidFill>
                <a:latin typeface="Arial"/>
                <a:ea typeface="Arial"/>
                <a:cs typeface="Arial"/>
              </a:defRPr>
            </a:pPr>
            <a:r>
              <a:t>18-cell factorial, Pareto analysis, PIC evidence map</a:t>
            </a:r>
          </a:p>
        </p:txBody>
      </p:sp>
      <p:sp>
        <p:nvSpPr>
          <p:cNvPr id="24" name="">
            <a:extLst xmlns:a="http://schemas.openxmlformats.org/drawingml/2006/main">
              <a:ext uri="{FF2B5EF4-FFF2-40B4-BE49-F238E27FC236}">
                <a16:creationId xmlns:a16="http://schemas.microsoft.com/office/drawing/2014/main" id="{82537A6E-B01D-4DE0-8B88-27FA90F77DE5}"/>
              </a:ext>
            </a:extLst>
          </p:cNvPr>
          <p:cNvSpPr>
            <a:spLocks xmlns:a="http://schemas.openxmlformats.org/drawingml/2006/main" noGrp="1"/>
          </p:cNvSpPr>
          <p:nvPr/>
        </p:nvSpPr>
        <p:spPr>
          <a:xfrm xmlns:a="http://schemas.openxmlformats.org/drawingml/2006/main">
            <a:off x="8915400" y="2571750"/>
            <a:ext cx="2457450" cy="2457450"/>
          </a:xfrm>
          <a:prstGeom xmlns:a="http://schemas.openxmlformats.org/drawingml/2006/main" prst="rect">
            <a:avLst/>
          </a:prstGeom>
          <a:solidFill xmlns:a="http://schemas.openxmlformats.org/drawingml/2006/main">
            <a:srgbClr val="FFFFFF"/>
          </a:solidFill>
          <a:ln xmlns:a="http://schemas.openxmlformats.org/drawingml/2006/main" w="9525">
            <a:solidFill>
              <a:srgbClr val="C9CED6"/>
            </a:solidFill>
            <a:prstDash val="solid"/>
          </a:ln>
        </p:spPr>
      </p:sp>
      <p:sp>
        <p:nvSpPr>
          <p:cNvPr id="25" name="">
            <a:extLst xmlns:a="http://schemas.openxmlformats.org/drawingml/2006/main">
              <a:ext uri="{FF2B5EF4-FFF2-40B4-BE49-F238E27FC236}">
                <a16:creationId xmlns:a16="http://schemas.microsoft.com/office/drawing/2014/main" id="{2BE9E108-F3BC-4A41-A933-69960675F823}"/>
              </a:ext>
            </a:extLst>
          </p:cNvPr>
          <p:cNvSpPr>
            <a:spLocks xmlns:a="http://schemas.openxmlformats.org/drawingml/2006/main" noGrp="1"/>
          </p:cNvSpPr>
          <p:nvPr/>
        </p:nvSpPr>
        <p:spPr>
          <a:xfrm xmlns:a="http://schemas.openxmlformats.org/drawingml/2006/main">
            <a:off x="8915400" y="2571750"/>
            <a:ext cx="2457450" cy="95250"/>
          </a:xfrm>
          <a:prstGeom xmlns:a="http://schemas.openxmlformats.org/drawingml/2006/main" prst="rect">
            <a:avLst/>
          </a:prstGeom>
          <a:solidFill xmlns:a="http://schemas.openxmlformats.org/drawingml/2006/main">
            <a:srgbClr val="C94F5A"/>
          </a:solidFill>
          <a:ln xmlns:a="http://schemas.openxmlformats.org/drawingml/2006/main" w="0">
            <a:solidFill>
              <a:srgbClr val="C94F5A"/>
            </a:solidFill>
            <a:prstDash val="solid"/>
          </a:ln>
        </p:spPr>
      </p:sp>
      <p:sp>
        <p:nvSpPr>
          <p:cNvPr id="26" name="">
            <a:extLst xmlns:a="http://schemas.openxmlformats.org/drawingml/2006/main">
              <a:ext uri="{FF2B5EF4-FFF2-40B4-BE49-F238E27FC236}">
                <a16:creationId xmlns:a16="http://schemas.microsoft.com/office/drawing/2014/main" id="{C23D7C01-FE85-48FB-A8E1-480B2A7E19C5}"/>
              </a:ext>
            </a:extLst>
          </p:cNvPr>
          <p:cNvSpPr>
            <a:spLocks xmlns:a="http://schemas.openxmlformats.org/drawingml/2006/main" noGrp="1"/>
          </p:cNvSpPr>
          <p:nvPr/>
        </p:nvSpPr>
        <p:spPr>
          <a:xfrm xmlns:a="http://schemas.openxmlformats.org/drawingml/2006/main">
            <a:off x="9105900" y="2857500"/>
            <a:ext cx="20955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C94F5A"/>
                </a:solidFill>
                <a:latin typeface="Arial"/>
                <a:ea typeface="Arial"/>
                <a:cs typeface="Arial"/>
              </a:defRPr>
            </a:pPr>
            <a:r>
              <a:t>WEEKS 7–8</a:t>
            </a:r>
          </a:p>
        </p:txBody>
      </p:sp>
      <p:sp>
        <p:nvSpPr>
          <p:cNvPr id="27" name="">
            <a:extLst xmlns:a="http://schemas.openxmlformats.org/drawingml/2006/main">
              <a:ext uri="{FF2B5EF4-FFF2-40B4-BE49-F238E27FC236}">
                <a16:creationId xmlns:a16="http://schemas.microsoft.com/office/drawing/2014/main" id="{DB207373-EED5-4D0F-B23D-5E38C13B2CFF}"/>
              </a:ext>
            </a:extLst>
          </p:cNvPr>
          <p:cNvSpPr>
            <a:spLocks xmlns:a="http://schemas.openxmlformats.org/drawingml/2006/main" noGrp="1"/>
          </p:cNvSpPr>
          <p:nvPr/>
        </p:nvSpPr>
        <p:spPr>
          <a:xfrm xmlns:a="http://schemas.openxmlformats.org/drawingml/2006/main">
            <a:off x="9105900" y="3257550"/>
            <a:ext cx="209550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i="0">
                <a:solidFill>
                  <a:srgbClr val="111827"/>
                </a:solidFill>
                <a:latin typeface="Arial"/>
                <a:ea typeface="Arial"/>
                <a:cs typeface="Arial"/>
              </a:defRPr>
            </a:pPr>
            <a:r>
              <a:t>Communicate</a:t>
            </a:r>
          </a:p>
        </p:txBody>
      </p:sp>
      <p:sp>
        <p:nvSpPr>
          <p:cNvPr id="28" name="">
            <a:extLst xmlns:a="http://schemas.openxmlformats.org/drawingml/2006/main">
              <a:ext uri="{FF2B5EF4-FFF2-40B4-BE49-F238E27FC236}">
                <a16:creationId xmlns:a16="http://schemas.microsoft.com/office/drawing/2014/main" id="{F2FEB6AF-AA14-4F5F-83A5-3B2E43F8905B}"/>
              </a:ext>
            </a:extLst>
          </p:cNvPr>
          <p:cNvSpPr>
            <a:spLocks xmlns:a="http://schemas.openxmlformats.org/drawingml/2006/main" noGrp="1"/>
          </p:cNvSpPr>
          <p:nvPr/>
        </p:nvSpPr>
        <p:spPr>
          <a:xfrm xmlns:a="http://schemas.openxmlformats.org/drawingml/2006/main">
            <a:off x="9105900" y="3810000"/>
            <a:ext cx="2076450" cy="1066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566273"/>
                </a:solidFill>
                <a:latin typeface="Arial"/>
                <a:ea typeface="Arial"/>
                <a:cs typeface="Arial"/>
              </a:defRPr>
            </a:pPr>
            <a:r>
              <a:t>Three-persona dashboard, capstone, evidence registry</a:t>
            </a:r>
          </a:p>
        </p:txBody>
      </p:sp>
      <p:sp>
        <p:nvSpPr>
          <p:cNvPr id="29" name="">
            <a:extLst xmlns:a="http://schemas.openxmlformats.org/drawingml/2006/main">
              <a:ext uri="{FF2B5EF4-FFF2-40B4-BE49-F238E27FC236}">
                <a16:creationId xmlns:a16="http://schemas.microsoft.com/office/drawing/2014/main" id="{29FC5DC8-9563-4C2F-AD19-9DA6A1D7AD29}"/>
              </a:ext>
            </a:extLst>
          </p:cNvPr>
          <p:cNvSpPr>
            <a:spLocks xmlns:a="http://schemas.openxmlformats.org/drawingml/2006/main" noGrp="1"/>
          </p:cNvSpPr>
          <p:nvPr/>
        </p:nvSpPr>
        <p:spPr>
          <a:xfrm xmlns:a="http://schemas.openxmlformats.org/drawingml/2006/main">
            <a:off x="400050" y="5334000"/>
            <a:ext cx="113347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66273"/>
                </a:solidFill>
                <a:latin typeface="Arial"/>
                <a:ea typeface="Arial"/>
                <a:cs typeface="Arial"/>
              </a:defRPr>
            </a:pPr>
            <a:r>
              <a:t>Public/synthetic evidence throughout · exact revisions and seed 42 retained</a:t>
            </a:r>
          </a:p>
        </p:txBody>
      </p:sp>
    </p:spTree>
    <p:extLst>
      <p:ext uri="{BB962C8B-B14F-4D97-AF65-F5344CB8AC3E}">
        <p14:creationId xmlns:p14="http://schemas.microsoft.com/office/powerpoint/2010/main" val="906123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2357BE7-ABD8-4B44-95D2-A2CAFA7204E2}"/>
              </a:ext>
            </a:extLst>
          </p:cNvPr>
          <p:cNvSpPr>
            <a:spLocks xmlns:a="http://schemas.openxmlformats.org/drawingml/2006/main" noGrp="1"/>
          </p:cNvSpPr>
          <p:nvPr/>
        </p:nvSpPr>
        <p:spPr>
          <a:xfrm xmlns:a="http://schemas.openxmlformats.org/drawingml/2006/main">
            <a:off x="400050" y="190500"/>
            <a:ext cx="6477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Arial"/>
                <a:ea typeface="Arial"/>
                <a:cs typeface="Arial"/>
              </a:defRPr>
            </a:pPr>
            <a:r>
              <a:t>INGEN · AI MODEL EVALUATION</a:t>
            </a:r>
          </a:p>
        </p:txBody>
      </p:sp>
      <p:sp>
        <p:nvSpPr>
          <p:cNvPr id="2" name="slide-3-title">
            <a:extLst xmlns:a="http://schemas.openxmlformats.org/drawingml/2006/main">
              <a:ext uri="{FF2B5EF4-FFF2-40B4-BE49-F238E27FC236}">
                <a16:creationId xmlns:a16="http://schemas.microsoft.com/office/drawing/2014/main" id="{27FBEF62-85EE-4859-964B-AA83E62FEDAF}"/>
              </a:ext>
            </a:extLst>
          </p:cNvPr>
          <p:cNvSpPr>
            <a:spLocks xmlns:a="http://schemas.openxmlformats.org/drawingml/2006/main" noGrp="1"/>
          </p:cNvSpPr>
          <p:nvPr/>
        </p:nvSpPr>
        <p:spPr>
          <a:xfrm xmlns:a="http://schemas.openxmlformats.org/drawingml/2006/main">
            <a:off x="400050" y="476250"/>
            <a:ext cx="1133475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11827"/>
                </a:solidFill>
                <a:latin typeface="Arial"/>
                <a:ea typeface="Arial"/>
                <a:cs typeface="Arial"/>
              </a:defRPr>
            </a:pPr>
            <a:r>
              <a:t>35 scenarios created a comparable baseline</a:t>
            </a:r>
          </a:p>
        </p:txBody>
      </p:sp>
      <p:cxnSp>
        <p:nvCxnSpPr>
          <p:cNvPr id="21"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C9CED6"/>
            </a:solidFill>
            <a:prstDash val="solid"/>
          </a:ln>
        </p:spPr>
      </p:cxnSp>
      <p:sp>
        <p:nvSpPr>
          <p:cNvPr id="4" name="">
            <a:extLst xmlns:a="http://schemas.openxmlformats.org/drawingml/2006/main">
              <a:ext uri="{FF2B5EF4-FFF2-40B4-BE49-F238E27FC236}">
                <a16:creationId xmlns:a16="http://schemas.microsoft.com/office/drawing/2014/main" id="{E2418D76-43F7-47E7-8565-CD527361B7A3}"/>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i="0">
                <a:solidFill>
                  <a:srgbClr val="8A94A3"/>
                </a:solidFill>
                <a:latin typeface="Arial"/>
                <a:ea typeface="Arial"/>
                <a:cs typeface="Arial"/>
              </a:defRPr>
            </a:pPr>
            <a:r>
              <a:t>03</a:t>
            </a:r>
          </a:p>
        </p:txBody>
      </p:sp>
      <p:sp>
        <p:nvSpPr>
          <p:cNvPr id="5" name="">
            <a:extLst xmlns:a="http://schemas.openxmlformats.org/drawingml/2006/main">
              <a:ext uri="{FF2B5EF4-FFF2-40B4-BE49-F238E27FC236}">
                <a16:creationId xmlns:a16="http://schemas.microsoft.com/office/drawing/2014/main" id="{DADA58E0-A053-49D9-8B40-49750B1D81C3}"/>
              </a:ext>
            </a:extLst>
          </p:cNvPr>
          <p:cNvSpPr>
            <a:spLocks xmlns:a="http://schemas.openxmlformats.org/drawingml/2006/main" noGrp="1"/>
          </p:cNvSpPr>
          <p:nvPr/>
        </p:nvSpPr>
        <p:spPr>
          <a:xfrm xmlns:a="http://schemas.openxmlformats.org/drawingml/2006/main">
            <a:off x="400050" y="1466850"/>
            <a:ext cx="95250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566273"/>
                </a:solidFill>
                <a:latin typeface="Arial"/>
                <a:ea typeface="Arial"/>
                <a:cs typeface="Arial"/>
              </a:defRPr>
            </a:pPr>
            <a:r>
              <a:t>Balanced coverage came before model ranking.</a:t>
            </a:r>
          </a:p>
        </p:txBody>
      </p:sp>
      <p:sp>
        <p:nvSpPr>
          <p:cNvPr id="6" name="">
            <a:extLst xmlns:a="http://schemas.openxmlformats.org/drawingml/2006/main">
              <a:ext uri="{FF2B5EF4-FFF2-40B4-BE49-F238E27FC236}">
                <a16:creationId xmlns:a16="http://schemas.microsoft.com/office/drawing/2014/main" id="{D3378C1B-D357-40CF-828C-C33C0774FE70}"/>
              </a:ext>
            </a:extLst>
          </p:cNvPr>
          <p:cNvSpPr>
            <a:spLocks xmlns:a="http://schemas.openxmlformats.org/drawingml/2006/main" noGrp="1"/>
          </p:cNvSpPr>
          <p:nvPr/>
        </p:nvSpPr>
        <p:spPr>
          <a:xfrm xmlns:a="http://schemas.openxmlformats.org/drawingml/2006/main">
            <a:off x="571500" y="2247900"/>
            <a:ext cx="3048000"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i="0">
                <a:solidFill>
                  <a:srgbClr val="3D8DFF"/>
                </a:solidFill>
                <a:latin typeface="Arial"/>
                <a:ea typeface="Arial"/>
                <a:cs typeface="Arial"/>
              </a:defRPr>
            </a:pPr>
            <a:r>
              <a:t>35</a:t>
            </a:r>
          </a:p>
        </p:txBody>
      </p:sp>
      <p:cxnSp>
        <p:nvCxnSpPr>
          <p:cNvPr id="25" name=""/>
          <p:cNvCxnSpPr/>
          <p:nvPr/>
        </p:nvCxnSpPr>
        <p:spPr>
          <a:xfrm xmlns:a="http://schemas.openxmlformats.org/drawingml/2006/main">
            <a:off x="571500" y="3086100"/>
            <a:ext cx="2971800" cy="95"/>
          </a:xfrm>
          <a:prstGeom xmlns:a="http://schemas.openxmlformats.org/drawingml/2006/main" prst="straightConnector1">
            <a:avLst/>
          </a:prstGeom>
          <a:ln xmlns:a="http://schemas.openxmlformats.org/drawingml/2006/main" w="28575">
            <a:solidFill>
              <a:srgbClr val="3D8DFF"/>
            </a:solidFill>
            <a:prstDash val="solid"/>
          </a:ln>
        </p:spPr>
      </p:cxnSp>
      <p:sp>
        <p:nvSpPr>
          <p:cNvPr id="8" name="">
            <a:extLst xmlns:a="http://schemas.openxmlformats.org/drawingml/2006/main">
              <a:ext uri="{FF2B5EF4-FFF2-40B4-BE49-F238E27FC236}">
                <a16:creationId xmlns:a16="http://schemas.microsoft.com/office/drawing/2014/main" id="{708FEDFB-4F6A-4D1F-B212-5DAD7C22754E}"/>
              </a:ext>
            </a:extLst>
          </p:cNvPr>
          <p:cNvSpPr>
            <a:spLocks xmlns:a="http://schemas.openxmlformats.org/drawingml/2006/main" noGrp="1"/>
          </p:cNvSpPr>
          <p:nvPr/>
        </p:nvSpPr>
        <p:spPr>
          <a:xfrm xmlns:a="http://schemas.openxmlformats.org/drawingml/2006/main">
            <a:off x="571500" y="3238500"/>
            <a:ext cx="30480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scenarios</a:t>
            </a:r>
          </a:p>
        </p:txBody>
      </p:sp>
      <p:sp>
        <p:nvSpPr>
          <p:cNvPr id="9" name="">
            <a:extLst xmlns:a="http://schemas.openxmlformats.org/drawingml/2006/main">
              <a:ext uri="{FF2B5EF4-FFF2-40B4-BE49-F238E27FC236}">
                <a16:creationId xmlns:a16="http://schemas.microsoft.com/office/drawing/2014/main" id="{C1C748EA-9F3F-487D-9643-4DA8D6BB272C}"/>
              </a:ext>
            </a:extLst>
          </p:cNvPr>
          <p:cNvSpPr>
            <a:spLocks xmlns:a="http://schemas.openxmlformats.org/drawingml/2006/main" noGrp="1"/>
          </p:cNvSpPr>
          <p:nvPr/>
        </p:nvSpPr>
        <p:spPr>
          <a:xfrm xmlns:a="http://schemas.openxmlformats.org/drawingml/2006/main">
            <a:off x="571500" y="3619500"/>
            <a:ext cx="3048000" cy="60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66273"/>
                </a:solidFill>
                <a:latin typeface="Arial"/>
                <a:ea typeface="Arial"/>
                <a:cs typeface="Arial"/>
              </a:defRPr>
            </a:pPr>
            <a:r>
              <a:t>7 each across five product contexts</a:t>
            </a:r>
          </a:p>
        </p:txBody>
      </p:sp>
      <p:sp>
        <p:nvSpPr>
          <p:cNvPr id="10" name="">
            <a:extLst xmlns:a="http://schemas.openxmlformats.org/drawingml/2006/main">
              <a:ext uri="{FF2B5EF4-FFF2-40B4-BE49-F238E27FC236}">
                <a16:creationId xmlns:a16="http://schemas.microsoft.com/office/drawing/2014/main" id="{16331C5B-A2B2-4273-9A35-73496DFC2313}"/>
              </a:ext>
            </a:extLst>
          </p:cNvPr>
          <p:cNvSpPr>
            <a:spLocks xmlns:a="http://schemas.openxmlformats.org/drawingml/2006/main" noGrp="1"/>
          </p:cNvSpPr>
          <p:nvPr/>
        </p:nvSpPr>
        <p:spPr>
          <a:xfrm xmlns:a="http://schemas.openxmlformats.org/drawingml/2006/main">
            <a:off x="4572000" y="2247900"/>
            <a:ext cx="3048000"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i="0">
                <a:solidFill>
                  <a:srgbClr val="168A82"/>
                </a:solidFill>
                <a:latin typeface="Arial"/>
                <a:ea typeface="Arial"/>
                <a:cs typeface="Arial"/>
              </a:defRPr>
            </a:pPr>
            <a:r>
              <a:t>105</a:t>
            </a:r>
          </a:p>
        </p:txBody>
      </p:sp>
      <p:cxnSp>
        <p:nvCxnSpPr>
          <p:cNvPr id="29" name=""/>
          <p:cNvCxnSpPr/>
          <p:nvPr/>
        </p:nvCxnSpPr>
        <p:spPr>
          <a:xfrm xmlns:a="http://schemas.openxmlformats.org/drawingml/2006/main">
            <a:off x="4572000" y="3086100"/>
            <a:ext cx="2971800" cy="95"/>
          </a:xfrm>
          <a:prstGeom xmlns:a="http://schemas.openxmlformats.org/drawingml/2006/main" prst="straightConnector1">
            <a:avLst/>
          </a:prstGeom>
          <a:ln xmlns:a="http://schemas.openxmlformats.org/drawingml/2006/main" w="28575">
            <a:solidFill>
              <a:srgbClr val="168A82"/>
            </a:solidFill>
            <a:prstDash val="solid"/>
          </a:ln>
        </p:spPr>
      </p:cxnSp>
      <p:sp>
        <p:nvSpPr>
          <p:cNvPr id="12" name="">
            <a:extLst xmlns:a="http://schemas.openxmlformats.org/drawingml/2006/main">
              <a:ext uri="{FF2B5EF4-FFF2-40B4-BE49-F238E27FC236}">
                <a16:creationId xmlns:a16="http://schemas.microsoft.com/office/drawing/2014/main" id="{8B510DC2-53BB-4560-BAB3-F5532A7960B4}"/>
              </a:ext>
            </a:extLst>
          </p:cNvPr>
          <p:cNvSpPr>
            <a:spLocks xmlns:a="http://schemas.openxmlformats.org/drawingml/2006/main" noGrp="1"/>
          </p:cNvSpPr>
          <p:nvPr/>
        </p:nvSpPr>
        <p:spPr>
          <a:xfrm xmlns:a="http://schemas.openxmlformats.org/drawingml/2006/main">
            <a:off x="4572000" y="3238500"/>
            <a:ext cx="30480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model responses</a:t>
            </a:r>
          </a:p>
        </p:txBody>
      </p:sp>
      <p:sp>
        <p:nvSpPr>
          <p:cNvPr id="13" name="">
            <a:extLst xmlns:a="http://schemas.openxmlformats.org/drawingml/2006/main">
              <a:ext uri="{FF2B5EF4-FFF2-40B4-BE49-F238E27FC236}">
                <a16:creationId xmlns:a16="http://schemas.microsoft.com/office/drawing/2014/main" id="{FB88A681-6F80-4B51-A128-A17BC2348EAF}"/>
              </a:ext>
            </a:extLst>
          </p:cNvPr>
          <p:cNvSpPr>
            <a:spLocks xmlns:a="http://schemas.openxmlformats.org/drawingml/2006/main" noGrp="1"/>
          </p:cNvSpPr>
          <p:nvPr/>
        </p:nvSpPr>
        <p:spPr>
          <a:xfrm xmlns:a="http://schemas.openxmlformats.org/drawingml/2006/main">
            <a:off x="4572000" y="3619500"/>
            <a:ext cx="3048000" cy="60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66273"/>
                </a:solidFill>
                <a:latin typeface="Arial"/>
                <a:ea typeface="Arial"/>
                <a:cs typeface="Arial"/>
              </a:defRPr>
            </a:pPr>
            <a:r>
              <a:t>the same prompts across three frozen models</a:t>
            </a:r>
          </a:p>
        </p:txBody>
      </p:sp>
      <p:sp>
        <p:nvSpPr>
          <p:cNvPr id="14" name="">
            <a:extLst xmlns:a="http://schemas.openxmlformats.org/drawingml/2006/main">
              <a:ext uri="{FF2B5EF4-FFF2-40B4-BE49-F238E27FC236}">
                <a16:creationId xmlns:a16="http://schemas.microsoft.com/office/drawing/2014/main" id="{A4656AB0-F6ED-4848-B0A9-C48B7CE9C53E}"/>
              </a:ext>
            </a:extLst>
          </p:cNvPr>
          <p:cNvSpPr>
            <a:spLocks xmlns:a="http://schemas.openxmlformats.org/drawingml/2006/main" noGrp="1"/>
          </p:cNvSpPr>
          <p:nvPr/>
        </p:nvSpPr>
        <p:spPr>
          <a:xfrm xmlns:a="http://schemas.openxmlformats.org/drawingml/2006/main">
            <a:off x="8572500" y="2247900"/>
            <a:ext cx="3048000"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i="0">
                <a:solidFill>
                  <a:srgbClr val="D99518"/>
                </a:solidFill>
                <a:latin typeface="Arial"/>
                <a:ea typeface="Arial"/>
                <a:cs typeface="Arial"/>
              </a:defRPr>
            </a:pPr>
            <a:r>
              <a:t>1 / 3 / 5</a:t>
            </a:r>
          </a:p>
        </p:txBody>
      </p:sp>
      <p:cxnSp>
        <p:nvCxnSpPr>
          <p:cNvPr id="33" name=""/>
          <p:cNvCxnSpPr/>
          <p:nvPr/>
        </p:nvCxnSpPr>
        <p:spPr>
          <a:xfrm xmlns:a="http://schemas.openxmlformats.org/drawingml/2006/main">
            <a:off x="8572500" y="3086100"/>
            <a:ext cx="2971800" cy="95"/>
          </a:xfrm>
          <a:prstGeom xmlns:a="http://schemas.openxmlformats.org/drawingml/2006/main" prst="straightConnector1">
            <a:avLst/>
          </a:prstGeom>
          <a:ln xmlns:a="http://schemas.openxmlformats.org/drawingml/2006/main" w="28575">
            <a:solidFill>
              <a:srgbClr val="D99518"/>
            </a:solidFill>
            <a:prstDash val="solid"/>
          </a:ln>
        </p:spPr>
      </p:cxnSp>
      <p:sp>
        <p:nvSpPr>
          <p:cNvPr id="16" name="">
            <a:extLst xmlns:a="http://schemas.openxmlformats.org/drawingml/2006/main">
              <a:ext uri="{FF2B5EF4-FFF2-40B4-BE49-F238E27FC236}">
                <a16:creationId xmlns:a16="http://schemas.microsoft.com/office/drawing/2014/main" id="{FB0B570B-A49C-4EBE-A7FF-5AA2ECECC830}"/>
              </a:ext>
            </a:extLst>
          </p:cNvPr>
          <p:cNvSpPr>
            <a:spLocks xmlns:a="http://schemas.openxmlformats.org/drawingml/2006/main" noGrp="1"/>
          </p:cNvSpPr>
          <p:nvPr/>
        </p:nvSpPr>
        <p:spPr>
          <a:xfrm xmlns:a="http://schemas.openxmlformats.org/drawingml/2006/main">
            <a:off x="8572500" y="3238500"/>
            <a:ext cx="30480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severity levels</a:t>
            </a:r>
          </a:p>
        </p:txBody>
      </p:sp>
      <p:sp>
        <p:nvSpPr>
          <p:cNvPr id="17" name="">
            <a:extLst xmlns:a="http://schemas.openxmlformats.org/drawingml/2006/main">
              <a:ext uri="{FF2B5EF4-FFF2-40B4-BE49-F238E27FC236}">
                <a16:creationId xmlns:a16="http://schemas.microsoft.com/office/drawing/2014/main" id="{6B14C020-BE1C-4193-B5AC-3D328606331B}"/>
              </a:ext>
            </a:extLst>
          </p:cNvPr>
          <p:cNvSpPr>
            <a:spLocks xmlns:a="http://schemas.openxmlformats.org/drawingml/2006/main" noGrp="1"/>
          </p:cNvSpPr>
          <p:nvPr/>
        </p:nvSpPr>
        <p:spPr>
          <a:xfrm xmlns:a="http://schemas.openxmlformats.org/drawingml/2006/main">
            <a:off x="8572500" y="3619500"/>
            <a:ext cx="3048000" cy="60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66273"/>
                </a:solidFill>
                <a:latin typeface="Arial"/>
                <a:ea typeface="Arial"/>
                <a:cs typeface="Arial"/>
              </a:defRPr>
            </a:pPr>
            <a:r>
              <a:t>ordinal consequence priority, not expected harm</a:t>
            </a:r>
          </a:p>
        </p:txBody>
      </p:sp>
      <p:sp>
        <p:nvSpPr>
          <p:cNvPr id="18" name="">
            <a:extLst xmlns:a="http://schemas.openxmlformats.org/drawingml/2006/main">
              <a:ext uri="{FF2B5EF4-FFF2-40B4-BE49-F238E27FC236}">
                <a16:creationId xmlns:a16="http://schemas.microsoft.com/office/drawing/2014/main" id="{9FC204E1-969B-4CF2-BBF3-B964C92D6A9E}"/>
              </a:ext>
            </a:extLst>
          </p:cNvPr>
          <p:cNvSpPr>
            <a:spLocks xmlns:a="http://schemas.openxmlformats.org/drawingml/2006/main" noGrp="1"/>
          </p:cNvSpPr>
          <p:nvPr/>
        </p:nvSpPr>
        <p:spPr>
          <a:xfrm xmlns:a="http://schemas.openxmlformats.org/drawingml/2006/main">
            <a:off x="571500" y="5334000"/>
            <a:ext cx="10858500" cy="552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111827"/>
                </a:solidFill>
                <a:latin typeface="Arial"/>
                <a:ea typeface="Arial"/>
                <a:cs typeface="Arial"/>
              </a:defRPr>
            </a:pPr>
            <a:r>
              <a:t>The 28 development and 7 originally held-out rows now form a regression bank; a new blind set is still required.</a:t>
            </a:r>
          </a:p>
        </p:txBody>
      </p:sp>
    </p:spTree>
    <p:extLst>
      <p:ext uri="{BB962C8B-B14F-4D97-AF65-F5344CB8AC3E}">
        <p14:creationId xmlns:p14="http://schemas.microsoft.com/office/powerpoint/2010/main" val="12491391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D61FBEC-1AA5-42CC-ACD9-A3B422456C4D}"/>
              </a:ext>
            </a:extLst>
          </p:cNvPr>
          <p:cNvSpPr>
            <a:spLocks xmlns:a="http://schemas.openxmlformats.org/drawingml/2006/main" noGrp="1"/>
          </p:cNvSpPr>
          <p:nvPr/>
        </p:nvSpPr>
        <p:spPr>
          <a:xfrm xmlns:a="http://schemas.openxmlformats.org/drawingml/2006/main">
            <a:off x="400050" y="190500"/>
            <a:ext cx="6477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Arial"/>
                <a:ea typeface="Arial"/>
                <a:cs typeface="Arial"/>
              </a:defRPr>
            </a:pPr>
            <a:r>
              <a:t>INGEN · AI MODEL EVALUATION</a:t>
            </a:r>
          </a:p>
        </p:txBody>
      </p:sp>
      <p:sp>
        <p:nvSpPr>
          <p:cNvPr id="2" name="slide-4-title">
            <a:extLst xmlns:a="http://schemas.openxmlformats.org/drawingml/2006/main">
              <a:ext uri="{FF2B5EF4-FFF2-40B4-BE49-F238E27FC236}">
                <a16:creationId xmlns:a16="http://schemas.microsoft.com/office/drawing/2014/main" id="{8081815B-CB4D-45FB-8623-0299A53AA47B}"/>
              </a:ext>
            </a:extLst>
          </p:cNvPr>
          <p:cNvSpPr>
            <a:spLocks xmlns:a="http://schemas.openxmlformats.org/drawingml/2006/main" noGrp="1"/>
          </p:cNvSpPr>
          <p:nvPr/>
        </p:nvSpPr>
        <p:spPr>
          <a:xfrm xmlns:a="http://schemas.openxmlformats.org/drawingml/2006/main">
            <a:off x="400050" y="476250"/>
            <a:ext cx="1133475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11827"/>
                </a:solidFill>
                <a:latin typeface="Arial"/>
                <a:ea typeface="Arial"/>
                <a:cs typeface="Arial"/>
              </a:defRPr>
            </a:pPr>
            <a:r>
              <a:t>Mistral leads; Judge gate fails</a:t>
            </a:r>
          </a:p>
        </p:txBody>
      </p:sp>
      <p:cxnSp>
        <p:nvCxnSpPr>
          <p:cNvPr id="16"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C9CED6"/>
            </a:solidFill>
            <a:prstDash val="solid"/>
          </a:ln>
        </p:spPr>
      </p:cxnSp>
      <p:sp>
        <p:nvSpPr>
          <p:cNvPr id="4" name="">
            <a:extLst xmlns:a="http://schemas.openxmlformats.org/drawingml/2006/main">
              <a:ext uri="{FF2B5EF4-FFF2-40B4-BE49-F238E27FC236}">
                <a16:creationId xmlns:a16="http://schemas.microsoft.com/office/drawing/2014/main" id="{B44C399C-A509-4479-8774-C64C234D5BFD}"/>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i="0">
                <a:solidFill>
                  <a:srgbClr val="8A94A3"/>
                </a:solidFill>
                <a:latin typeface="Arial"/>
                <a:ea typeface="Arial"/>
                <a:cs typeface="Arial"/>
              </a:defRPr>
            </a:pPr>
            <a:r>
              <a:t>04</a:t>
            </a:r>
          </a:p>
        </p:txBody>
      </p:sp>
      <p:sp>
        <p:nvSpPr>
          <p:cNvPr id="5" name="">
            <a:extLst xmlns:a="http://schemas.openxmlformats.org/drawingml/2006/main">
              <a:ext uri="{FF2B5EF4-FFF2-40B4-BE49-F238E27FC236}">
                <a16:creationId xmlns:a16="http://schemas.microsoft.com/office/drawing/2014/main" id="{4A7CDE9F-A63B-4712-95CC-AAB6A1F5CA04}"/>
              </a:ext>
            </a:extLst>
          </p:cNvPr>
          <p:cNvSpPr>
            <a:spLocks xmlns:a="http://schemas.openxmlformats.org/drawingml/2006/main" noGrp="1"/>
          </p:cNvSpPr>
          <p:nvPr/>
        </p:nvSpPr>
        <p:spPr>
          <a:xfrm xmlns:a="http://schemas.openxmlformats.org/drawingml/2006/main">
            <a:off x="476250" y="1447800"/>
            <a:ext cx="619125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566273"/>
                </a:solidFill>
                <a:latin typeface="Arial"/>
                <a:ea typeface="Arial"/>
                <a:cs typeface="Arial"/>
              </a:defRPr>
            </a:pPr>
            <a:r>
              <a:t>Portfolio diagnostic proxy · 35 scenarios per model</a:t>
            </a:r>
          </a:p>
        </p:txBody>
      </p:sp>
      <p:sp>
        <p:nvSpPr>
          <p:cNvPr id="6" name="">
            <a:extLst xmlns:a="http://schemas.openxmlformats.org/drawingml/2006/main">
              <a:ext uri="{FF2B5EF4-FFF2-40B4-BE49-F238E27FC236}">
                <a16:creationId xmlns:a16="http://schemas.microsoft.com/office/drawing/2014/main" id="{0C15CA1D-AE10-4F9F-B9C4-972B54D1F207}"/>
              </a:ext>
            </a:extLst>
          </p:cNvPr>
          <p:cNvSpPr>
            <a:spLocks xmlns:a="http://schemas.openxmlformats.org/drawingml/2006/main" noGrp="1"/>
          </p:cNvSpPr>
          <p:nvPr/>
        </p:nvSpPr>
        <p:spPr>
          <a:xfrm xmlns:a="http://schemas.openxmlformats.org/drawingml/2006/main">
            <a:off x="7848600" y="1924050"/>
            <a:ext cx="3543300" cy="3581400"/>
          </a:xfrm>
          <a:prstGeom xmlns:a="http://schemas.openxmlformats.org/drawingml/2006/main" prst="rect">
            <a:avLst/>
          </a:prstGeom>
          <a:solidFill xmlns:a="http://schemas.openxmlformats.org/drawingml/2006/main">
            <a:srgbClr val="FCEBED"/>
          </a:solidFill>
          <a:ln xmlns:a="http://schemas.openxmlformats.org/drawingml/2006/main" w="0">
            <a:solidFill>
              <a:srgbClr val="FCEBED"/>
            </a:solidFill>
            <a:prstDash val="solid"/>
          </a:ln>
        </p:spPr>
      </p:sp>
      <p:sp>
        <p:nvSpPr>
          <p:cNvPr id="7" name="">
            <a:extLst xmlns:a="http://schemas.openxmlformats.org/drawingml/2006/main">
              <a:ext uri="{FF2B5EF4-FFF2-40B4-BE49-F238E27FC236}">
                <a16:creationId xmlns:a16="http://schemas.microsoft.com/office/drawing/2014/main" id="{80CAB5E5-F965-44C4-BDF5-1DCBD81D10D2}"/>
              </a:ext>
            </a:extLst>
          </p:cNvPr>
          <p:cNvSpPr>
            <a:spLocks xmlns:a="http://schemas.openxmlformats.org/drawingml/2006/main" noGrp="1"/>
          </p:cNvSpPr>
          <p:nvPr/>
        </p:nvSpPr>
        <p:spPr>
          <a:xfrm xmlns:a="http://schemas.openxmlformats.org/drawingml/2006/main">
            <a:off x="8172450" y="2343150"/>
            <a:ext cx="295275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i="0">
                <a:solidFill>
                  <a:srgbClr val="C94F5A"/>
                </a:solidFill>
                <a:latin typeface="Arial"/>
                <a:ea typeface="Arial"/>
                <a:cs typeface="Arial"/>
              </a:defRPr>
            </a:pPr>
            <a:r>
              <a:t>α = 0.7551</a:t>
            </a:r>
          </a:p>
        </p:txBody>
      </p:sp>
      <p:sp>
        <p:nvSpPr>
          <p:cNvPr id="8" name="">
            <a:extLst xmlns:a="http://schemas.openxmlformats.org/drawingml/2006/main">
              <a:ext uri="{FF2B5EF4-FFF2-40B4-BE49-F238E27FC236}">
                <a16:creationId xmlns:a16="http://schemas.microsoft.com/office/drawing/2014/main" id="{8FBBE75F-D87B-4686-B340-C114B6AEDE4E}"/>
              </a:ext>
            </a:extLst>
          </p:cNvPr>
          <p:cNvSpPr>
            <a:spLocks xmlns:a="http://schemas.openxmlformats.org/drawingml/2006/main" noGrp="1"/>
          </p:cNvSpPr>
          <p:nvPr/>
        </p:nvSpPr>
        <p:spPr>
          <a:xfrm xmlns:a="http://schemas.openxmlformats.org/drawingml/2006/main">
            <a:off x="8172450" y="3162300"/>
            <a:ext cx="2857500" cy="552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below the 0.80 calibration gate</a:t>
            </a:r>
          </a:p>
        </p:txBody>
      </p:sp>
      <p:cxnSp>
        <p:nvCxnSpPr>
          <p:cNvPr id="22" name=""/>
          <p:cNvCxnSpPr/>
          <p:nvPr/>
        </p:nvCxnSpPr>
        <p:spPr>
          <a:xfrm xmlns:a="http://schemas.openxmlformats.org/drawingml/2006/main">
            <a:off x="8172450" y="3886200"/>
            <a:ext cx="2857500" cy="95"/>
          </a:xfrm>
          <a:prstGeom xmlns:a="http://schemas.openxmlformats.org/drawingml/2006/main" prst="straightConnector1">
            <a:avLst/>
          </a:prstGeom>
          <a:ln xmlns:a="http://schemas.openxmlformats.org/drawingml/2006/main" w="28575">
            <a:solidFill>
              <a:srgbClr val="C94F5A"/>
            </a:solidFill>
            <a:prstDash val="solid"/>
          </a:ln>
        </p:spPr>
      </p:cxnSp>
      <p:sp>
        <p:nvSpPr>
          <p:cNvPr id="10" name="">
            <a:extLst xmlns:a="http://schemas.openxmlformats.org/drawingml/2006/main">
              <a:ext uri="{FF2B5EF4-FFF2-40B4-BE49-F238E27FC236}">
                <a16:creationId xmlns:a16="http://schemas.microsoft.com/office/drawing/2014/main" id="{56271532-D271-4184-AFE5-743CEA090691}"/>
              </a:ext>
            </a:extLst>
          </p:cNvPr>
          <p:cNvSpPr>
            <a:spLocks xmlns:a="http://schemas.openxmlformats.org/drawingml/2006/main" noGrp="1"/>
          </p:cNvSpPr>
          <p:nvPr/>
        </p:nvSpPr>
        <p:spPr>
          <a:xfrm xmlns:a="http://schemas.openxmlformats.org/drawingml/2006/main">
            <a:off x="8172450" y="4114800"/>
            <a:ext cx="26670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C94F5A"/>
                </a:solidFill>
                <a:latin typeface="Arial"/>
                <a:ea typeface="Arial"/>
                <a:cs typeface="Arial"/>
              </a:defRPr>
            </a:pPr>
            <a:r>
              <a:t>Decision</a:t>
            </a:r>
          </a:p>
        </p:txBody>
      </p:sp>
      <p:sp>
        <p:nvSpPr>
          <p:cNvPr id="11" name="">
            <a:extLst xmlns:a="http://schemas.openxmlformats.org/drawingml/2006/main">
              <a:ext uri="{FF2B5EF4-FFF2-40B4-BE49-F238E27FC236}">
                <a16:creationId xmlns:a16="http://schemas.microsoft.com/office/drawing/2014/main" id="{841C2E5C-7B3F-4154-B9EB-711E109645E3}"/>
              </a:ext>
            </a:extLst>
          </p:cNvPr>
          <p:cNvSpPr>
            <a:spLocks xmlns:a="http://schemas.openxmlformats.org/drawingml/2006/main" noGrp="1"/>
          </p:cNvSpPr>
          <p:nvPr/>
        </p:nvSpPr>
        <p:spPr>
          <a:xfrm xmlns:a="http://schemas.openxmlformats.org/drawingml/2006/main">
            <a:off x="8172450" y="4476750"/>
            <a:ext cx="2857500" cy="800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111827"/>
                </a:solidFill>
                <a:latin typeface="Arial"/>
                <a:ea typeface="Arial"/>
                <a:cs typeface="Arial"/>
              </a:defRPr>
            </a:pPr>
            <a:r>
              <a:t>Advance Mistral to model-blind expert calibration—not deployment.</a:t>
            </a:r>
          </a:p>
        </p:txBody>
      </p:sp>
      <p:sp>
        <p:nvSpPr>
          <p:cNvPr id="12" name="">
            <a:extLst xmlns:a="http://schemas.openxmlformats.org/drawingml/2006/main">
              <a:ext uri="{FF2B5EF4-FFF2-40B4-BE49-F238E27FC236}">
                <a16:creationId xmlns:a16="http://schemas.microsoft.com/office/drawing/2014/main" id="{A1E74A11-0A64-49D1-ACF9-32422AEB6E59}"/>
              </a:ext>
            </a:extLst>
          </p:cNvPr>
          <p:cNvSpPr>
            <a:spLocks xmlns:a="http://schemas.openxmlformats.org/drawingml/2006/main" noGrp="1"/>
          </p:cNvSpPr>
          <p:nvPr/>
        </p:nvSpPr>
        <p:spPr>
          <a:xfrm xmlns:a="http://schemas.openxmlformats.org/drawingml/2006/main">
            <a:off x="476250" y="5848350"/>
            <a:ext cx="66675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66273"/>
                </a:solidFill>
                <a:latin typeface="Arial"/>
                <a:ea typeface="Arial"/>
                <a:cs typeface="Arial"/>
              </a:defRPr>
            </a:pPr>
            <a:r>
              <a:t>Diagnostic only · seven unsafe labels across 105 responses</a:t>
            </a:r>
          </a:p>
        </p:txBody>
      </p:sp>
      <p:graphicFrame>
        <p:nvGraphicFramePr>
          <p:cNvPr id="26" name="Chart"/>
          <p:cNvGraphicFramePr/>
          <p:nvPr/>
        </p:nvGraphicFramePr>
        <p:xfrm>
          <a:off xmlns:a="http://schemas.openxmlformats.org/drawingml/2006/main" x="476250" y="1866900"/>
          <a:ext xmlns:a="http://schemas.openxmlformats.org/drawingml/2006/main" cx="6667500" cy="3714750"/>
        </p:xfrm>
        <a:graphic xmlns:a="http://schemas.openxmlformats.org/drawingml/2006/main">
          <a:graphicData uri="http://schemas.openxmlformats.org/drawingml/2006/chart">
            <c:chart xmlns:r="http://schemas.openxmlformats.org/officeDocument/2006/relationships" xmlns:c="http://schemas.openxmlformats.org/drawingml/2006/chart" r:id="R29b2b207e28b4541"/>
          </a:graphicData>
        </a:graphic>
      </p:graphicFrame>
    </p:spTree>
    <p:extLst>
      <p:ext uri="{BB962C8B-B14F-4D97-AF65-F5344CB8AC3E}">
        <p14:creationId xmlns:p14="http://schemas.microsoft.com/office/powerpoint/2010/main" val="20223847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E5A2DAF-96CD-47A6-9B5E-0E6A7820769C}"/>
              </a:ext>
            </a:extLst>
          </p:cNvPr>
          <p:cNvSpPr>
            <a:spLocks xmlns:a="http://schemas.openxmlformats.org/drawingml/2006/main" noGrp="1"/>
          </p:cNvSpPr>
          <p:nvPr/>
        </p:nvSpPr>
        <p:spPr>
          <a:xfrm xmlns:a="http://schemas.openxmlformats.org/drawingml/2006/main">
            <a:off x="400050" y="190500"/>
            <a:ext cx="6477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Arial"/>
                <a:ea typeface="Arial"/>
                <a:cs typeface="Arial"/>
              </a:defRPr>
            </a:pPr>
            <a:r>
              <a:t>INGEN · AI MODEL EVALUATION</a:t>
            </a:r>
          </a:p>
        </p:txBody>
      </p:sp>
      <p:sp>
        <p:nvSpPr>
          <p:cNvPr id="2" name="slide-5-title">
            <a:extLst xmlns:a="http://schemas.openxmlformats.org/drawingml/2006/main">
              <a:ext uri="{FF2B5EF4-FFF2-40B4-BE49-F238E27FC236}">
                <a16:creationId xmlns:a16="http://schemas.microsoft.com/office/drawing/2014/main" id="{53CD323F-C661-46F5-9374-E16330D76CA8}"/>
              </a:ext>
            </a:extLst>
          </p:cNvPr>
          <p:cNvSpPr>
            <a:spLocks xmlns:a="http://schemas.openxmlformats.org/drawingml/2006/main" noGrp="1"/>
          </p:cNvSpPr>
          <p:nvPr/>
        </p:nvSpPr>
        <p:spPr>
          <a:xfrm xmlns:a="http://schemas.openxmlformats.org/drawingml/2006/main">
            <a:off x="400050" y="476250"/>
            <a:ext cx="1133475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11827"/>
                </a:solidFill>
                <a:latin typeface="Arial"/>
                <a:ea typeface="Arial"/>
                <a:cs typeface="Arial"/>
              </a:defRPr>
            </a:pPr>
            <a:r>
              <a:t>RAG adds quality—and 8.03 seconds</a:t>
            </a:r>
          </a:p>
        </p:txBody>
      </p:sp>
      <p:cxnSp>
        <p:nvCxnSpPr>
          <p:cNvPr id="22"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C9CED6"/>
            </a:solidFill>
            <a:prstDash val="solid"/>
          </a:ln>
        </p:spPr>
      </p:cxnSp>
      <p:sp>
        <p:nvSpPr>
          <p:cNvPr id="4" name="">
            <a:extLst xmlns:a="http://schemas.openxmlformats.org/drawingml/2006/main">
              <a:ext uri="{FF2B5EF4-FFF2-40B4-BE49-F238E27FC236}">
                <a16:creationId xmlns:a16="http://schemas.microsoft.com/office/drawing/2014/main" id="{16478A96-607A-4ABF-A6DC-2A01F8BF1CE7}"/>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i="0">
                <a:solidFill>
                  <a:srgbClr val="8A94A3"/>
                </a:solidFill>
                <a:latin typeface="Arial"/>
                <a:ea typeface="Arial"/>
                <a:cs typeface="Arial"/>
              </a:defRPr>
            </a:pPr>
            <a:r>
              <a:t>05</a:t>
            </a:r>
          </a:p>
        </p:txBody>
      </p:sp>
      <p:sp>
        <p:nvSpPr>
          <p:cNvPr id="5" name="">
            <a:extLst xmlns:a="http://schemas.openxmlformats.org/drawingml/2006/main">
              <a:ext uri="{FF2B5EF4-FFF2-40B4-BE49-F238E27FC236}">
                <a16:creationId xmlns:a16="http://schemas.microsoft.com/office/drawing/2014/main" id="{E74D8E79-FF05-4372-AE86-DBE28A74DA6D}"/>
              </a:ext>
            </a:extLst>
          </p:cNvPr>
          <p:cNvSpPr>
            <a:spLocks xmlns:a="http://schemas.openxmlformats.org/drawingml/2006/main" noGrp="1"/>
          </p:cNvSpPr>
          <p:nvPr/>
        </p:nvSpPr>
        <p:spPr>
          <a:xfrm xmlns:a="http://schemas.openxmlformats.org/drawingml/2006/main">
            <a:off x="400050" y="1438275"/>
            <a:ext cx="11239500" cy="552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566273"/>
                </a:solidFill>
                <a:latin typeface="Arial"/>
                <a:ea typeface="Arial"/>
                <a:cs typeface="Arial"/>
              </a:defRPr>
            </a:pPr>
            <a:r>
              <a:t>The knowledge-base correction made chunk size a real intervention: 21 full public sources, 40 questions, 58 answer facts.</a:t>
            </a:r>
          </a:p>
        </p:txBody>
      </p:sp>
      <p:sp>
        <p:nvSpPr>
          <p:cNvPr id="6" name="">
            <a:extLst xmlns:a="http://schemas.openxmlformats.org/drawingml/2006/main">
              <a:ext uri="{FF2B5EF4-FFF2-40B4-BE49-F238E27FC236}">
                <a16:creationId xmlns:a16="http://schemas.microsoft.com/office/drawing/2014/main" id="{BB193665-0901-4FDD-9F91-FC1B0BFC5837}"/>
              </a:ext>
            </a:extLst>
          </p:cNvPr>
          <p:cNvSpPr>
            <a:spLocks xmlns:a="http://schemas.openxmlformats.org/drawingml/2006/main" noGrp="1"/>
          </p:cNvSpPr>
          <p:nvPr/>
        </p:nvSpPr>
        <p:spPr>
          <a:xfrm xmlns:a="http://schemas.openxmlformats.org/drawingml/2006/main">
            <a:off x="514350" y="2457450"/>
            <a:ext cx="3143250"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i="0">
                <a:solidFill>
                  <a:srgbClr val="3D8DFF"/>
                </a:solidFill>
                <a:latin typeface="Arial"/>
                <a:ea typeface="Arial"/>
                <a:cs typeface="Arial"/>
              </a:defRPr>
            </a:pPr>
            <a:r>
              <a:t>+0.656</a:t>
            </a:r>
          </a:p>
        </p:txBody>
      </p:sp>
      <p:cxnSp>
        <p:nvCxnSpPr>
          <p:cNvPr id="26" name=""/>
          <p:cNvCxnSpPr/>
          <p:nvPr/>
        </p:nvCxnSpPr>
        <p:spPr>
          <a:xfrm xmlns:a="http://schemas.openxmlformats.org/drawingml/2006/main">
            <a:off x="514350" y="3295650"/>
            <a:ext cx="3067050" cy="95"/>
          </a:xfrm>
          <a:prstGeom xmlns:a="http://schemas.openxmlformats.org/drawingml/2006/main" prst="straightConnector1">
            <a:avLst/>
          </a:prstGeom>
          <a:ln xmlns:a="http://schemas.openxmlformats.org/drawingml/2006/main" w="28575">
            <a:solidFill>
              <a:srgbClr val="3D8DFF"/>
            </a:solidFill>
            <a:prstDash val="solid"/>
          </a:ln>
        </p:spPr>
      </p:cxnSp>
      <p:sp>
        <p:nvSpPr>
          <p:cNvPr id="8" name="">
            <a:extLst xmlns:a="http://schemas.openxmlformats.org/drawingml/2006/main">
              <a:ext uri="{FF2B5EF4-FFF2-40B4-BE49-F238E27FC236}">
                <a16:creationId xmlns:a16="http://schemas.microsoft.com/office/drawing/2014/main" id="{7F7041B2-34E3-473D-8338-D3483EEE2877}"/>
              </a:ext>
            </a:extLst>
          </p:cNvPr>
          <p:cNvSpPr>
            <a:spLocks xmlns:a="http://schemas.openxmlformats.org/drawingml/2006/main" noGrp="1"/>
          </p:cNvSpPr>
          <p:nvPr/>
        </p:nvSpPr>
        <p:spPr>
          <a:xfrm xmlns:a="http://schemas.openxmlformats.org/drawingml/2006/main">
            <a:off x="514350" y="3448050"/>
            <a:ext cx="31432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answer relevance</a:t>
            </a:r>
          </a:p>
        </p:txBody>
      </p:sp>
      <p:sp>
        <p:nvSpPr>
          <p:cNvPr id="9" name="">
            <a:extLst xmlns:a="http://schemas.openxmlformats.org/drawingml/2006/main">
              <a:ext uri="{FF2B5EF4-FFF2-40B4-BE49-F238E27FC236}">
                <a16:creationId xmlns:a16="http://schemas.microsoft.com/office/drawing/2014/main" id="{41D5361E-F9C0-4AB3-869C-2679F51C892F}"/>
              </a:ext>
            </a:extLst>
          </p:cNvPr>
          <p:cNvSpPr>
            <a:spLocks xmlns:a="http://schemas.openxmlformats.org/drawingml/2006/main" noGrp="1"/>
          </p:cNvSpPr>
          <p:nvPr/>
        </p:nvSpPr>
        <p:spPr>
          <a:xfrm xmlns:a="http://schemas.openxmlformats.org/drawingml/2006/main">
            <a:off x="514350" y="3829050"/>
            <a:ext cx="3143250" cy="60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66273"/>
                </a:solidFill>
                <a:latin typeface="Arial"/>
                <a:ea typeface="Arial"/>
                <a:cs typeface="Arial"/>
              </a:defRPr>
            </a:pPr>
            <a:r>
              <a:t>matched RAG minus Base</a:t>
            </a:r>
          </a:p>
        </p:txBody>
      </p:sp>
      <p:sp>
        <p:nvSpPr>
          <p:cNvPr id="10" name="">
            <a:extLst xmlns:a="http://schemas.openxmlformats.org/drawingml/2006/main">
              <a:ext uri="{FF2B5EF4-FFF2-40B4-BE49-F238E27FC236}">
                <a16:creationId xmlns:a16="http://schemas.microsoft.com/office/drawing/2014/main" id="{485D7EF4-C5A5-4B6D-8050-7705AC275925}"/>
              </a:ext>
            </a:extLst>
          </p:cNvPr>
          <p:cNvSpPr>
            <a:spLocks xmlns:a="http://schemas.openxmlformats.org/drawingml/2006/main" noGrp="1"/>
          </p:cNvSpPr>
          <p:nvPr/>
        </p:nvSpPr>
        <p:spPr>
          <a:xfrm xmlns:a="http://schemas.openxmlformats.org/drawingml/2006/main">
            <a:off x="4514850" y="2457450"/>
            <a:ext cx="3143250"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i="0">
                <a:solidFill>
                  <a:srgbClr val="168A82"/>
                </a:solidFill>
                <a:latin typeface="Arial"/>
                <a:ea typeface="Arial"/>
                <a:cs typeface="Arial"/>
              </a:defRPr>
            </a:pPr>
            <a:r>
              <a:t>+0.523</a:t>
            </a:r>
          </a:p>
        </p:txBody>
      </p:sp>
      <p:cxnSp>
        <p:nvCxnSpPr>
          <p:cNvPr id="30" name=""/>
          <p:cNvCxnSpPr/>
          <p:nvPr/>
        </p:nvCxnSpPr>
        <p:spPr>
          <a:xfrm xmlns:a="http://schemas.openxmlformats.org/drawingml/2006/main">
            <a:off x="4514850" y="3295650"/>
            <a:ext cx="3067050" cy="95"/>
          </a:xfrm>
          <a:prstGeom xmlns:a="http://schemas.openxmlformats.org/drawingml/2006/main" prst="straightConnector1">
            <a:avLst/>
          </a:prstGeom>
          <a:ln xmlns:a="http://schemas.openxmlformats.org/drawingml/2006/main" w="28575">
            <a:solidFill>
              <a:srgbClr val="168A82"/>
            </a:solidFill>
            <a:prstDash val="solid"/>
          </a:ln>
        </p:spPr>
      </p:cxnSp>
      <p:sp>
        <p:nvSpPr>
          <p:cNvPr id="12" name="">
            <a:extLst xmlns:a="http://schemas.openxmlformats.org/drawingml/2006/main">
              <a:ext uri="{FF2B5EF4-FFF2-40B4-BE49-F238E27FC236}">
                <a16:creationId xmlns:a16="http://schemas.microsoft.com/office/drawing/2014/main" id="{A939E7B3-46B0-4CE2-B7EB-7B626CD08C3B}"/>
              </a:ext>
            </a:extLst>
          </p:cNvPr>
          <p:cNvSpPr>
            <a:spLocks xmlns:a="http://schemas.openxmlformats.org/drawingml/2006/main" noGrp="1"/>
          </p:cNvSpPr>
          <p:nvPr/>
        </p:nvSpPr>
        <p:spPr>
          <a:xfrm xmlns:a="http://schemas.openxmlformats.org/drawingml/2006/main">
            <a:off x="4514850" y="3448050"/>
            <a:ext cx="31432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required-point coverage</a:t>
            </a:r>
          </a:p>
        </p:txBody>
      </p:sp>
      <p:sp>
        <p:nvSpPr>
          <p:cNvPr id="13" name="">
            <a:extLst xmlns:a="http://schemas.openxmlformats.org/drawingml/2006/main">
              <a:ext uri="{FF2B5EF4-FFF2-40B4-BE49-F238E27FC236}">
                <a16:creationId xmlns:a16="http://schemas.microsoft.com/office/drawing/2014/main" id="{A56C2E0F-AEF1-4A22-AF88-8127A64BCB3C}"/>
              </a:ext>
            </a:extLst>
          </p:cNvPr>
          <p:cNvSpPr>
            <a:spLocks xmlns:a="http://schemas.openxmlformats.org/drawingml/2006/main" noGrp="1"/>
          </p:cNvSpPr>
          <p:nvPr/>
        </p:nvSpPr>
        <p:spPr>
          <a:xfrm xmlns:a="http://schemas.openxmlformats.org/drawingml/2006/main">
            <a:off x="4514850" y="3829050"/>
            <a:ext cx="3143250" cy="60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66273"/>
                </a:solidFill>
                <a:latin typeface="Arial"/>
                <a:ea typeface="Arial"/>
                <a:cs typeface="Arial"/>
              </a:defRPr>
            </a:pPr>
            <a:r>
              <a:t>matched RAG minus Base</a:t>
            </a:r>
          </a:p>
        </p:txBody>
      </p:sp>
      <p:sp>
        <p:nvSpPr>
          <p:cNvPr id="14" name="">
            <a:extLst xmlns:a="http://schemas.openxmlformats.org/drawingml/2006/main">
              <a:ext uri="{FF2B5EF4-FFF2-40B4-BE49-F238E27FC236}">
                <a16:creationId xmlns:a16="http://schemas.microsoft.com/office/drawing/2014/main" id="{590A5711-6E56-4DEB-A68F-787A2A2074A9}"/>
              </a:ext>
            </a:extLst>
          </p:cNvPr>
          <p:cNvSpPr>
            <a:spLocks xmlns:a="http://schemas.openxmlformats.org/drawingml/2006/main" noGrp="1"/>
          </p:cNvSpPr>
          <p:nvPr/>
        </p:nvSpPr>
        <p:spPr>
          <a:xfrm xmlns:a="http://schemas.openxmlformats.org/drawingml/2006/main">
            <a:off x="8515350" y="2457450"/>
            <a:ext cx="3143250"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i="0">
                <a:solidFill>
                  <a:srgbClr val="D99518"/>
                </a:solidFill>
                <a:latin typeface="Arial"/>
                <a:ea typeface="Arial"/>
                <a:cs typeface="Arial"/>
              </a:defRPr>
            </a:pPr>
            <a:r>
              <a:t>+8.03 s</a:t>
            </a:r>
          </a:p>
        </p:txBody>
      </p:sp>
      <p:cxnSp>
        <p:nvCxnSpPr>
          <p:cNvPr id="34" name=""/>
          <p:cNvCxnSpPr/>
          <p:nvPr/>
        </p:nvCxnSpPr>
        <p:spPr>
          <a:xfrm xmlns:a="http://schemas.openxmlformats.org/drawingml/2006/main">
            <a:off x="8515350" y="3295650"/>
            <a:ext cx="3067050" cy="95"/>
          </a:xfrm>
          <a:prstGeom xmlns:a="http://schemas.openxmlformats.org/drawingml/2006/main" prst="straightConnector1">
            <a:avLst/>
          </a:prstGeom>
          <a:ln xmlns:a="http://schemas.openxmlformats.org/drawingml/2006/main" w="28575">
            <a:solidFill>
              <a:srgbClr val="D99518"/>
            </a:solidFill>
            <a:prstDash val="solid"/>
          </a:ln>
        </p:spPr>
      </p:cxnSp>
      <p:sp>
        <p:nvSpPr>
          <p:cNvPr id="16" name="">
            <a:extLst xmlns:a="http://schemas.openxmlformats.org/drawingml/2006/main">
              <a:ext uri="{FF2B5EF4-FFF2-40B4-BE49-F238E27FC236}">
                <a16:creationId xmlns:a16="http://schemas.microsoft.com/office/drawing/2014/main" id="{3533BE83-AECA-4EE0-BD5A-34DB6FAD5AAB}"/>
              </a:ext>
            </a:extLst>
          </p:cNvPr>
          <p:cNvSpPr>
            <a:spLocks xmlns:a="http://schemas.openxmlformats.org/drawingml/2006/main" noGrp="1"/>
          </p:cNvSpPr>
          <p:nvPr/>
        </p:nvSpPr>
        <p:spPr>
          <a:xfrm xmlns:a="http://schemas.openxmlformats.org/drawingml/2006/main">
            <a:off x="8515350" y="3448050"/>
            <a:ext cx="31432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mean latency</a:t>
            </a:r>
          </a:p>
        </p:txBody>
      </p:sp>
      <p:sp>
        <p:nvSpPr>
          <p:cNvPr id="17" name="">
            <a:extLst xmlns:a="http://schemas.openxmlformats.org/drawingml/2006/main">
              <a:ext uri="{FF2B5EF4-FFF2-40B4-BE49-F238E27FC236}">
                <a16:creationId xmlns:a16="http://schemas.microsoft.com/office/drawing/2014/main" id="{4C627302-EEFC-48B5-9AE7-98E0F2908472}"/>
              </a:ext>
            </a:extLst>
          </p:cNvPr>
          <p:cNvSpPr>
            <a:spLocks xmlns:a="http://schemas.openxmlformats.org/drawingml/2006/main" noGrp="1"/>
          </p:cNvSpPr>
          <p:nvPr/>
        </p:nvSpPr>
        <p:spPr>
          <a:xfrm xmlns:a="http://schemas.openxmlformats.org/drawingml/2006/main">
            <a:off x="8515350" y="3829050"/>
            <a:ext cx="3143250" cy="60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66273"/>
                </a:solidFill>
                <a:latin typeface="Arial"/>
                <a:ea typeface="Arial"/>
                <a:cs typeface="Arial"/>
              </a:defRPr>
            </a:pPr>
            <a:r>
              <a:t>matched request cost</a:t>
            </a:r>
          </a:p>
        </p:txBody>
      </p:sp>
      <p:sp>
        <p:nvSpPr>
          <p:cNvPr id="18" name="">
            <a:extLst xmlns:a="http://schemas.openxmlformats.org/drawingml/2006/main">
              <a:ext uri="{FF2B5EF4-FFF2-40B4-BE49-F238E27FC236}">
                <a16:creationId xmlns:a16="http://schemas.microsoft.com/office/drawing/2014/main" id="{6C89F15D-0704-4ED0-B858-3C8E96125F57}"/>
              </a:ext>
            </a:extLst>
          </p:cNvPr>
          <p:cNvSpPr>
            <a:spLocks xmlns:a="http://schemas.openxmlformats.org/drawingml/2006/main" noGrp="1"/>
          </p:cNvSpPr>
          <p:nvPr/>
        </p:nvSpPr>
        <p:spPr>
          <a:xfrm xmlns:a="http://schemas.openxmlformats.org/drawingml/2006/main">
            <a:off x="514350" y="5314950"/>
            <a:ext cx="11144250" cy="609600"/>
          </a:xfrm>
          <a:prstGeom xmlns:a="http://schemas.openxmlformats.org/drawingml/2006/main" prst="rect">
            <a:avLst/>
          </a:prstGeom>
          <a:solidFill xmlns:a="http://schemas.openxmlformats.org/drawingml/2006/main">
            <a:srgbClr val="FFF3D8"/>
          </a:solidFill>
          <a:ln xmlns:a="http://schemas.openxmlformats.org/drawingml/2006/main" w="0">
            <a:solidFill>
              <a:srgbClr val="FFF3D8"/>
            </a:solidFill>
            <a:prstDash val="solid"/>
          </a:ln>
        </p:spPr>
      </p:sp>
      <p:sp>
        <p:nvSpPr>
          <p:cNvPr id="19" name="">
            <a:extLst xmlns:a="http://schemas.openxmlformats.org/drawingml/2006/main">
              <a:ext uri="{FF2B5EF4-FFF2-40B4-BE49-F238E27FC236}">
                <a16:creationId xmlns:a16="http://schemas.microsoft.com/office/drawing/2014/main" id="{B90F1A2E-08CF-4340-9835-8F719EFA90DC}"/>
              </a:ext>
            </a:extLst>
          </p:cNvPr>
          <p:cNvSpPr>
            <a:spLocks xmlns:a="http://schemas.openxmlformats.org/drawingml/2006/main" noGrp="1"/>
          </p:cNvSpPr>
          <p:nvPr/>
        </p:nvSpPr>
        <p:spPr>
          <a:xfrm xmlns:a="http://schemas.openxmlformats.org/drawingml/2006/main">
            <a:off x="723900" y="5486400"/>
            <a:ext cx="10715625"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111827"/>
                </a:solidFill>
                <a:latin typeface="Arial"/>
                <a:ea typeface="Arial"/>
                <a:cs typeface="Arial"/>
              </a:defRPr>
            </a:pPr>
            <a:r>
              <a:t>Use RAG when governed long-source access matters; do not enable it universally without latency and source-policy gates.</a:t>
            </a:r>
          </a:p>
        </p:txBody>
      </p:sp>
    </p:spTree>
    <p:extLst>
      <p:ext uri="{BB962C8B-B14F-4D97-AF65-F5344CB8AC3E}">
        <p14:creationId xmlns:p14="http://schemas.microsoft.com/office/powerpoint/2010/main" val="820235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AB6607B-3470-4F26-A9FA-18B9AA7CD0B8}"/>
              </a:ext>
            </a:extLst>
          </p:cNvPr>
          <p:cNvSpPr>
            <a:spLocks xmlns:a="http://schemas.openxmlformats.org/drawingml/2006/main" noGrp="1"/>
          </p:cNvSpPr>
          <p:nvPr/>
        </p:nvSpPr>
        <p:spPr>
          <a:xfrm xmlns:a="http://schemas.openxmlformats.org/drawingml/2006/main">
            <a:off x="400050" y="190500"/>
            <a:ext cx="6477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Arial"/>
                <a:ea typeface="Arial"/>
                <a:cs typeface="Arial"/>
              </a:defRPr>
            </a:pPr>
            <a:r>
              <a:t>INGEN · AI MODEL EVALUATION</a:t>
            </a:r>
          </a:p>
        </p:txBody>
      </p:sp>
      <p:sp>
        <p:nvSpPr>
          <p:cNvPr id="2" name="slide-6-title">
            <a:extLst xmlns:a="http://schemas.openxmlformats.org/drawingml/2006/main">
              <a:ext uri="{FF2B5EF4-FFF2-40B4-BE49-F238E27FC236}">
                <a16:creationId xmlns:a16="http://schemas.microsoft.com/office/drawing/2014/main" id="{FAF4E23A-2F1D-4E64-B968-72EC009E48E7}"/>
              </a:ext>
            </a:extLst>
          </p:cNvPr>
          <p:cNvSpPr>
            <a:spLocks xmlns:a="http://schemas.openxmlformats.org/drawingml/2006/main" noGrp="1"/>
          </p:cNvSpPr>
          <p:nvPr/>
        </p:nvSpPr>
        <p:spPr>
          <a:xfrm xmlns:a="http://schemas.openxmlformats.org/drawingml/2006/main">
            <a:off x="400050" y="476250"/>
            <a:ext cx="1133475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11827"/>
                </a:solidFill>
                <a:latin typeface="Arial"/>
                <a:ea typeface="Arial"/>
                <a:cs typeface="Arial"/>
              </a:defRPr>
            </a:pPr>
            <a:r>
              <a:t>Consistency can hide stable failure</a:t>
            </a:r>
          </a:p>
        </p:txBody>
      </p:sp>
      <p:cxnSp>
        <p:nvCxnSpPr>
          <p:cNvPr id="17"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C9CED6"/>
            </a:solidFill>
            <a:prstDash val="solid"/>
          </a:ln>
        </p:spPr>
      </p:cxnSp>
      <p:sp>
        <p:nvSpPr>
          <p:cNvPr id="4" name="">
            <a:extLst xmlns:a="http://schemas.openxmlformats.org/drawingml/2006/main">
              <a:ext uri="{FF2B5EF4-FFF2-40B4-BE49-F238E27FC236}">
                <a16:creationId xmlns:a16="http://schemas.microsoft.com/office/drawing/2014/main" id="{350442BB-B659-4E88-BAD2-9816D9D2F334}"/>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i="0">
                <a:solidFill>
                  <a:srgbClr val="8A94A3"/>
                </a:solidFill>
                <a:latin typeface="Arial"/>
                <a:ea typeface="Arial"/>
                <a:cs typeface="Arial"/>
              </a:defRPr>
            </a:pPr>
            <a:r>
              <a:t>06</a:t>
            </a:r>
          </a:p>
        </p:txBody>
      </p:sp>
      <p:sp>
        <p:nvSpPr>
          <p:cNvPr id="5" name="">
            <a:extLst xmlns:a="http://schemas.openxmlformats.org/drawingml/2006/main">
              <a:ext uri="{FF2B5EF4-FFF2-40B4-BE49-F238E27FC236}">
                <a16:creationId xmlns:a16="http://schemas.microsoft.com/office/drawing/2014/main" id="{BA4EDCE9-5970-425B-AEE2-8F400C95A956}"/>
              </a:ext>
            </a:extLst>
          </p:cNvPr>
          <p:cNvSpPr>
            <a:spLocks xmlns:a="http://schemas.openxmlformats.org/drawingml/2006/main" noGrp="1"/>
          </p:cNvSpPr>
          <p:nvPr/>
        </p:nvSpPr>
        <p:spPr>
          <a:xfrm xmlns:a="http://schemas.openxmlformats.org/drawingml/2006/main">
            <a:off x="476250" y="1438275"/>
            <a:ext cx="65722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566273"/>
                </a:solidFill>
                <a:latin typeface="Arial"/>
                <a:ea typeface="Arial"/>
                <a:cs typeface="Arial"/>
              </a:defRPr>
            </a:pPr>
            <a:r>
              <a:t>Stable outcomes across three paraphrases per scenario</a:t>
            </a:r>
          </a:p>
        </p:txBody>
      </p:sp>
      <p:sp>
        <p:nvSpPr>
          <p:cNvPr id="6" name="">
            <a:extLst xmlns:a="http://schemas.openxmlformats.org/drawingml/2006/main">
              <a:ext uri="{FF2B5EF4-FFF2-40B4-BE49-F238E27FC236}">
                <a16:creationId xmlns:a16="http://schemas.microsoft.com/office/drawing/2014/main" id="{89166AF9-15FB-4E75-BC75-7536D2DCD806}"/>
              </a:ext>
            </a:extLst>
          </p:cNvPr>
          <p:cNvSpPr>
            <a:spLocks xmlns:a="http://schemas.openxmlformats.org/drawingml/2006/main" noGrp="1"/>
          </p:cNvSpPr>
          <p:nvPr/>
        </p:nvSpPr>
        <p:spPr>
          <a:xfrm xmlns:a="http://schemas.openxmlformats.org/drawingml/2006/main">
            <a:off x="7905750" y="1847850"/>
            <a:ext cx="3524250" cy="1790700"/>
          </a:xfrm>
          <a:prstGeom xmlns:a="http://schemas.openxmlformats.org/drawingml/2006/main" prst="rect">
            <a:avLst/>
          </a:prstGeom>
          <a:solidFill xmlns:a="http://schemas.openxmlformats.org/drawingml/2006/main">
            <a:srgbClr val="FFF3D8"/>
          </a:solidFill>
          <a:ln xmlns:a="http://schemas.openxmlformats.org/drawingml/2006/main" w="0">
            <a:solidFill>
              <a:srgbClr val="FFF3D8"/>
            </a:solidFill>
            <a:prstDash val="solid"/>
          </a:ln>
        </p:spPr>
      </p:sp>
      <p:sp>
        <p:nvSpPr>
          <p:cNvPr id="7" name="">
            <a:extLst xmlns:a="http://schemas.openxmlformats.org/drawingml/2006/main">
              <a:ext uri="{FF2B5EF4-FFF2-40B4-BE49-F238E27FC236}">
                <a16:creationId xmlns:a16="http://schemas.microsoft.com/office/drawing/2014/main" id="{42E01EBC-735E-4573-B0D8-B3732E5565C4}"/>
              </a:ext>
            </a:extLst>
          </p:cNvPr>
          <p:cNvSpPr>
            <a:spLocks xmlns:a="http://schemas.openxmlformats.org/drawingml/2006/main" noGrp="1"/>
          </p:cNvSpPr>
          <p:nvPr/>
        </p:nvSpPr>
        <p:spPr>
          <a:xfrm xmlns:a="http://schemas.openxmlformats.org/drawingml/2006/main">
            <a:off x="8172450" y="2114550"/>
            <a:ext cx="1333500" cy="552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D99518"/>
                </a:solidFill>
                <a:latin typeface="Arial"/>
                <a:ea typeface="Arial"/>
                <a:cs typeface="Arial"/>
              </a:defRPr>
            </a:pPr>
            <a:r>
              <a:t>0.914</a:t>
            </a:r>
          </a:p>
        </p:txBody>
      </p:sp>
      <p:sp>
        <p:nvSpPr>
          <p:cNvPr id="8" name="">
            <a:extLst xmlns:a="http://schemas.openxmlformats.org/drawingml/2006/main">
              <a:ext uri="{FF2B5EF4-FFF2-40B4-BE49-F238E27FC236}">
                <a16:creationId xmlns:a16="http://schemas.microsoft.com/office/drawing/2014/main" id="{AED75443-3FDF-4BE4-9587-B4D43E6F1713}"/>
              </a:ext>
            </a:extLst>
          </p:cNvPr>
          <p:cNvSpPr>
            <a:spLocks xmlns:a="http://schemas.openxmlformats.org/drawingml/2006/main" noGrp="1"/>
          </p:cNvSpPr>
          <p:nvPr/>
        </p:nvSpPr>
        <p:spPr>
          <a:xfrm xmlns:a="http://schemas.openxmlformats.org/drawingml/2006/main">
            <a:off x="9582150" y="2247900"/>
            <a:ext cx="1571625"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111827"/>
                </a:solidFill>
                <a:latin typeface="Arial"/>
                <a:ea typeface="Arial"/>
                <a:cs typeface="Arial"/>
              </a:defRPr>
            </a:pPr>
            <a:r>
              <a:t>FLAN consistency</a:t>
            </a:r>
          </a:p>
        </p:txBody>
      </p:sp>
      <p:sp>
        <p:nvSpPr>
          <p:cNvPr id="9" name="">
            <a:extLst xmlns:a="http://schemas.openxmlformats.org/drawingml/2006/main">
              <a:ext uri="{FF2B5EF4-FFF2-40B4-BE49-F238E27FC236}">
                <a16:creationId xmlns:a16="http://schemas.microsoft.com/office/drawing/2014/main" id="{2189CFF3-0B3F-467D-B452-F6BB97384058}"/>
              </a:ext>
            </a:extLst>
          </p:cNvPr>
          <p:cNvSpPr>
            <a:spLocks xmlns:a="http://schemas.openxmlformats.org/drawingml/2006/main" noGrp="1"/>
          </p:cNvSpPr>
          <p:nvPr/>
        </p:nvSpPr>
        <p:spPr>
          <a:xfrm xmlns:a="http://schemas.openxmlformats.org/drawingml/2006/main">
            <a:off x="8172450" y="2857500"/>
            <a:ext cx="2971800" cy="647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111827"/>
                </a:solidFill>
                <a:latin typeface="Arial"/>
                <a:ea typeface="Arial"/>
                <a:cs typeface="Arial"/>
              </a:defRPr>
            </a:pPr>
            <a:r>
              <a:t>25 stable failures · only 7 stable passes</a:t>
            </a:r>
          </a:p>
        </p:txBody>
      </p:sp>
      <p:sp>
        <p:nvSpPr>
          <p:cNvPr id="10" name="">
            <a:extLst xmlns:a="http://schemas.openxmlformats.org/drawingml/2006/main">
              <a:ext uri="{FF2B5EF4-FFF2-40B4-BE49-F238E27FC236}">
                <a16:creationId xmlns:a16="http://schemas.microsoft.com/office/drawing/2014/main" id="{D7983ADD-541B-4B7D-8DD5-D5E0638F0398}"/>
              </a:ext>
            </a:extLst>
          </p:cNvPr>
          <p:cNvSpPr>
            <a:spLocks xmlns:a="http://schemas.openxmlformats.org/drawingml/2006/main" noGrp="1"/>
          </p:cNvSpPr>
          <p:nvPr/>
        </p:nvSpPr>
        <p:spPr>
          <a:xfrm xmlns:a="http://schemas.openxmlformats.org/drawingml/2006/main">
            <a:off x="7905750" y="3810000"/>
            <a:ext cx="3524250" cy="190500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11" name="">
            <a:extLst xmlns:a="http://schemas.openxmlformats.org/drawingml/2006/main">
              <a:ext uri="{FF2B5EF4-FFF2-40B4-BE49-F238E27FC236}">
                <a16:creationId xmlns:a16="http://schemas.microsoft.com/office/drawing/2014/main" id="{1A62EF3A-F7D2-44C0-B13A-B19D16AE8E99}"/>
              </a:ext>
            </a:extLst>
          </p:cNvPr>
          <p:cNvSpPr>
            <a:spLocks xmlns:a="http://schemas.openxmlformats.org/drawingml/2006/main" noGrp="1"/>
          </p:cNvSpPr>
          <p:nvPr/>
        </p:nvSpPr>
        <p:spPr>
          <a:xfrm xmlns:a="http://schemas.openxmlformats.org/drawingml/2006/main">
            <a:off x="8172450" y="4076700"/>
            <a:ext cx="1666875" cy="552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i="0">
                <a:solidFill>
                  <a:srgbClr val="3D8DFF"/>
                </a:solidFill>
                <a:latin typeface="Arial"/>
                <a:ea typeface="Arial"/>
                <a:cs typeface="Arial"/>
              </a:defRPr>
            </a:pPr>
            <a:r>
              <a:t>19 / 20</a:t>
            </a:r>
          </a:p>
        </p:txBody>
      </p:sp>
      <p:sp>
        <p:nvSpPr>
          <p:cNvPr id="12" name="">
            <a:extLst xmlns:a="http://schemas.openxmlformats.org/drawingml/2006/main">
              <a:ext uri="{FF2B5EF4-FFF2-40B4-BE49-F238E27FC236}">
                <a16:creationId xmlns:a16="http://schemas.microsoft.com/office/drawing/2014/main" id="{E36C07B9-2F04-463E-ACEA-CC4178ED4246}"/>
              </a:ext>
            </a:extLst>
          </p:cNvPr>
          <p:cNvSpPr>
            <a:spLocks xmlns:a="http://schemas.openxmlformats.org/drawingml/2006/main" noGrp="1"/>
          </p:cNvSpPr>
          <p:nvPr/>
        </p:nvSpPr>
        <p:spPr>
          <a:xfrm xmlns:a="http://schemas.openxmlformats.org/drawingml/2006/main">
            <a:off x="9906000" y="4210050"/>
            <a:ext cx="12573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111827"/>
                </a:solidFill>
                <a:latin typeface="Arial"/>
                <a:ea typeface="Arial"/>
                <a:cs typeface="Arial"/>
              </a:defRPr>
            </a:pPr>
            <a:r>
              <a:t>clean VLM ties</a:t>
            </a:r>
          </a:p>
        </p:txBody>
      </p:sp>
      <p:sp>
        <p:nvSpPr>
          <p:cNvPr id="13" name="">
            <a:extLst xmlns:a="http://schemas.openxmlformats.org/drawingml/2006/main">
              <a:ext uri="{FF2B5EF4-FFF2-40B4-BE49-F238E27FC236}">
                <a16:creationId xmlns:a16="http://schemas.microsoft.com/office/drawing/2014/main" id="{9D62BB4C-6DA4-4F3C-9239-CC6567E9CBD0}"/>
              </a:ext>
            </a:extLst>
          </p:cNvPr>
          <p:cNvSpPr>
            <a:spLocks xmlns:a="http://schemas.openxmlformats.org/drawingml/2006/main" noGrp="1"/>
          </p:cNvSpPr>
          <p:nvPr/>
        </p:nvSpPr>
        <p:spPr>
          <a:xfrm xmlns:a="http://schemas.openxmlformats.org/drawingml/2006/main">
            <a:off x="8172450" y="4762500"/>
            <a:ext cx="297180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111827"/>
                </a:solidFill>
                <a:latin typeface="Arial"/>
                <a:ea typeface="Arial"/>
                <a:cs typeface="Arial"/>
              </a:defRPr>
            </a:pPr>
            <a:r>
              <a:t>LLaVA p50 latency was 1.92 s faster and used 4,177 MiB less peak GPU memory.</a:t>
            </a:r>
          </a:p>
        </p:txBody>
      </p:sp>
      <p:graphicFrame>
        <p:nvGraphicFramePr>
          <p:cNvPr id="28" name="Chart"/>
          <p:cNvGraphicFramePr/>
          <p:nvPr/>
        </p:nvGraphicFramePr>
        <p:xfrm>
          <a:off xmlns:a="http://schemas.openxmlformats.org/drawingml/2006/main" x="457200" y="1866900"/>
          <a:ext xmlns:a="http://schemas.openxmlformats.org/drawingml/2006/main" cx="6858000" cy="3848100"/>
        </p:xfrm>
        <a:graphic xmlns:a="http://schemas.openxmlformats.org/drawingml/2006/main">
          <a:graphicData uri="http://schemas.openxmlformats.org/drawingml/2006/chart">
            <c:chart xmlns:r="http://schemas.openxmlformats.org/officeDocument/2006/relationships" xmlns:c="http://schemas.openxmlformats.org/drawingml/2006/chart" r:id="R83d532692f994857"/>
          </a:graphicData>
        </a:graphic>
      </p:graphicFrame>
    </p:spTree>
    <p:extLst>
      <p:ext uri="{BB962C8B-B14F-4D97-AF65-F5344CB8AC3E}">
        <p14:creationId xmlns:p14="http://schemas.microsoft.com/office/powerpoint/2010/main" val="19258309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A8B5681-BBDA-45F4-B38B-59BD42DA1C52}"/>
              </a:ext>
            </a:extLst>
          </p:cNvPr>
          <p:cNvSpPr>
            <a:spLocks xmlns:a="http://schemas.openxmlformats.org/drawingml/2006/main" noGrp="1"/>
          </p:cNvSpPr>
          <p:nvPr/>
        </p:nvSpPr>
        <p:spPr>
          <a:xfrm xmlns:a="http://schemas.openxmlformats.org/drawingml/2006/main">
            <a:off x="400050" y="190500"/>
            <a:ext cx="6477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Arial"/>
                <a:ea typeface="Arial"/>
                <a:cs typeface="Arial"/>
              </a:defRPr>
            </a:pPr>
            <a:r>
              <a:t>INGEN · AI MODEL EVALUATION</a:t>
            </a:r>
          </a:p>
        </p:txBody>
      </p:sp>
      <p:sp>
        <p:nvSpPr>
          <p:cNvPr id="2" name="slide-7-title">
            <a:extLst xmlns:a="http://schemas.openxmlformats.org/drawingml/2006/main">
              <a:ext uri="{FF2B5EF4-FFF2-40B4-BE49-F238E27FC236}">
                <a16:creationId xmlns:a16="http://schemas.microsoft.com/office/drawing/2014/main" id="{43A6F171-F926-4399-BC08-2A8D3C8BC006}"/>
              </a:ext>
            </a:extLst>
          </p:cNvPr>
          <p:cNvSpPr>
            <a:spLocks xmlns:a="http://schemas.openxmlformats.org/drawingml/2006/main" noGrp="1"/>
          </p:cNvSpPr>
          <p:nvPr/>
        </p:nvSpPr>
        <p:spPr>
          <a:xfrm xmlns:a="http://schemas.openxmlformats.org/drawingml/2006/main">
            <a:off x="400050" y="476250"/>
            <a:ext cx="1133475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11827"/>
                </a:solidFill>
                <a:latin typeface="Arial"/>
                <a:ea typeface="Arial"/>
                <a:cs typeface="Arial"/>
              </a:defRPr>
            </a:pPr>
            <a:r>
              <a:t>Three Pareto cells, not one setup</a:t>
            </a:r>
          </a:p>
        </p:txBody>
      </p:sp>
      <p:cxnSp>
        <p:nvCxnSpPr>
          <p:cNvPr id="21"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C9CED6"/>
            </a:solidFill>
            <a:prstDash val="solid"/>
          </a:ln>
        </p:spPr>
      </p:cxnSp>
      <p:sp>
        <p:nvSpPr>
          <p:cNvPr id="4" name="">
            <a:extLst xmlns:a="http://schemas.openxmlformats.org/drawingml/2006/main">
              <a:ext uri="{FF2B5EF4-FFF2-40B4-BE49-F238E27FC236}">
                <a16:creationId xmlns:a16="http://schemas.microsoft.com/office/drawing/2014/main" id="{6992079C-4A33-4A29-A0D9-35F2E6FD516A}"/>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i="0">
                <a:solidFill>
                  <a:srgbClr val="8A94A3"/>
                </a:solidFill>
                <a:latin typeface="Arial"/>
                <a:ea typeface="Arial"/>
                <a:cs typeface="Arial"/>
              </a:defRPr>
            </a:pPr>
            <a:r>
              <a:t>07</a:t>
            </a:r>
          </a:p>
        </p:txBody>
      </p:sp>
      <p:sp>
        <p:nvSpPr>
          <p:cNvPr id="5" name="">
            <a:extLst xmlns:a="http://schemas.openxmlformats.org/drawingml/2006/main">
              <a:ext uri="{FF2B5EF4-FFF2-40B4-BE49-F238E27FC236}">
                <a16:creationId xmlns:a16="http://schemas.microsoft.com/office/drawing/2014/main" id="{2CB1802D-1538-4C32-8AA0-F4A752F5A4BA}"/>
              </a:ext>
            </a:extLst>
          </p:cNvPr>
          <p:cNvSpPr>
            <a:spLocks xmlns:a="http://schemas.openxmlformats.org/drawingml/2006/main" noGrp="1"/>
          </p:cNvSpPr>
          <p:nvPr/>
        </p:nvSpPr>
        <p:spPr>
          <a:xfrm xmlns:a="http://schemas.openxmlformats.org/drawingml/2006/main">
            <a:off x="400050" y="1438275"/>
            <a:ext cx="1123950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566273"/>
                </a:solidFill>
                <a:latin typeface="Arial"/>
                <a:ea typeface="Arial"/>
                <a:cs typeface="Arial"/>
              </a:defRPr>
            </a:pPr>
            <a:r>
              <a:t>Week 5–6 converted point results into controlled trade-offs and capability-specific gaps.</a:t>
            </a:r>
          </a:p>
        </p:txBody>
      </p:sp>
      <p:sp>
        <p:nvSpPr>
          <p:cNvPr id="6" name="">
            <a:extLst xmlns:a="http://schemas.openxmlformats.org/drawingml/2006/main">
              <a:ext uri="{FF2B5EF4-FFF2-40B4-BE49-F238E27FC236}">
                <a16:creationId xmlns:a16="http://schemas.microsoft.com/office/drawing/2014/main" id="{8DC03890-BC2C-42E3-9A62-E92EC5608FB1}"/>
              </a:ext>
            </a:extLst>
          </p:cNvPr>
          <p:cNvSpPr>
            <a:spLocks xmlns:a="http://schemas.openxmlformats.org/drawingml/2006/main" noGrp="1"/>
          </p:cNvSpPr>
          <p:nvPr/>
        </p:nvSpPr>
        <p:spPr>
          <a:xfrm xmlns:a="http://schemas.openxmlformats.org/drawingml/2006/main">
            <a:off x="552450" y="2343150"/>
            <a:ext cx="3143250"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i="0">
                <a:solidFill>
                  <a:srgbClr val="3D8DFF"/>
                </a:solidFill>
                <a:latin typeface="Arial"/>
                <a:ea typeface="Arial"/>
                <a:cs typeface="Arial"/>
              </a:defRPr>
            </a:pPr>
            <a:r>
              <a:t>18</a:t>
            </a:r>
          </a:p>
        </p:txBody>
      </p:sp>
      <p:cxnSp>
        <p:nvCxnSpPr>
          <p:cNvPr id="25" name=""/>
          <p:cNvCxnSpPr/>
          <p:nvPr/>
        </p:nvCxnSpPr>
        <p:spPr>
          <a:xfrm xmlns:a="http://schemas.openxmlformats.org/drawingml/2006/main">
            <a:off x="552450" y="3181350"/>
            <a:ext cx="3067050" cy="95"/>
          </a:xfrm>
          <a:prstGeom xmlns:a="http://schemas.openxmlformats.org/drawingml/2006/main" prst="straightConnector1">
            <a:avLst/>
          </a:prstGeom>
          <a:ln xmlns:a="http://schemas.openxmlformats.org/drawingml/2006/main" w="28575">
            <a:solidFill>
              <a:srgbClr val="3D8DFF"/>
            </a:solidFill>
            <a:prstDash val="solid"/>
          </a:ln>
        </p:spPr>
      </p:cxnSp>
      <p:sp>
        <p:nvSpPr>
          <p:cNvPr id="8" name="">
            <a:extLst xmlns:a="http://schemas.openxmlformats.org/drawingml/2006/main">
              <a:ext uri="{FF2B5EF4-FFF2-40B4-BE49-F238E27FC236}">
                <a16:creationId xmlns:a16="http://schemas.microsoft.com/office/drawing/2014/main" id="{3C711295-8C12-4DF7-80FD-853AEC09C3E8}"/>
              </a:ext>
            </a:extLst>
          </p:cNvPr>
          <p:cNvSpPr>
            <a:spLocks xmlns:a="http://schemas.openxmlformats.org/drawingml/2006/main" noGrp="1"/>
          </p:cNvSpPr>
          <p:nvPr/>
        </p:nvSpPr>
        <p:spPr>
          <a:xfrm xmlns:a="http://schemas.openxmlformats.org/drawingml/2006/main">
            <a:off x="552450" y="3333750"/>
            <a:ext cx="31432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factorial cells</a:t>
            </a:r>
          </a:p>
        </p:txBody>
      </p:sp>
      <p:sp>
        <p:nvSpPr>
          <p:cNvPr id="9" name="">
            <a:extLst xmlns:a="http://schemas.openxmlformats.org/drawingml/2006/main">
              <a:ext uri="{FF2B5EF4-FFF2-40B4-BE49-F238E27FC236}">
                <a16:creationId xmlns:a16="http://schemas.microsoft.com/office/drawing/2014/main" id="{C84340A2-E16D-422E-893B-554B5D84E355}"/>
              </a:ext>
            </a:extLst>
          </p:cNvPr>
          <p:cNvSpPr>
            <a:spLocks xmlns:a="http://schemas.openxmlformats.org/drawingml/2006/main" noGrp="1"/>
          </p:cNvSpPr>
          <p:nvPr/>
        </p:nvSpPr>
        <p:spPr>
          <a:xfrm xmlns:a="http://schemas.openxmlformats.org/drawingml/2006/main">
            <a:off x="552450" y="3714750"/>
            <a:ext cx="3143250" cy="60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66273"/>
                </a:solidFill>
                <a:latin typeface="Arial"/>
                <a:ea typeface="Arial"/>
                <a:cs typeface="Arial"/>
              </a:defRPr>
            </a:pPr>
            <a:r>
              <a:t>3 chunk sizes × 3 top-k values × 2 reranking modes</a:t>
            </a:r>
          </a:p>
        </p:txBody>
      </p:sp>
      <p:sp>
        <p:nvSpPr>
          <p:cNvPr id="10" name="">
            <a:extLst xmlns:a="http://schemas.openxmlformats.org/drawingml/2006/main">
              <a:ext uri="{FF2B5EF4-FFF2-40B4-BE49-F238E27FC236}">
                <a16:creationId xmlns:a16="http://schemas.microsoft.com/office/drawing/2014/main" id="{96BB0893-AE8E-4E78-AA43-C70B07506CFB}"/>
              </a:ext>
            </a:extLst>
          </p:cNvPr>
          <p:cNvSpPr>
            <a:spLocks xmlns:a="http://schemas.openxmlformats.org/drawingml/2006/main" noGrp="1"/>
          </p:cNvSpPr>
          <p:nvPr/>
        </p:nvSpPr>
        <p:spPr>
          <a:xfrm xmlns:a="http://schemas.openxmlformats.org/drawingml/2006/main">
            <a:off x="4524375" y="2343150"/>
            <a:ext cx="3143250"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i="0">
                <a:solidFill>
                  <a:srgbClr val="168A82"/>
                </a:solidFill>
                <a:latin typeface="Arial"/>
                <a:ea typeface="Arial"/>
                <a:cs typeface="Arial"/>
              </a:defRPr>
            </a:pPr>
            <a:r>
              <a:t>3</a:t>
            </a:r>
          </a:p>
        </p:txBody>
      </p:sp>
      <p:cxnSp>
        <p:nvCxnSpPr>
          <p:cNvPr id="29" name=""/>
          <p:cNvCxnSpPr/>
          <p:nvPr/>
        </p:nvCxnSpPr>
        <p:spPr>
          <a:xfrm xmlns:a="http://schemas.openxmlformats.org/drawingml/2006/main">
            <a:off x="4524375" y="3181350"/>
            <a:ext cx="3067050" cy="95"/>
          </a:xfrm>
          <a:prstGeom xmlns:a="http://schemas.openxmlformats.org/drawingml/2006/main" prst="straightConnector1">
            <a:avLst/>
          </a:prstGeom>
          <a:ln xmlns:a="http://schemas.openxmlformats.org/drawingml/2006/main" w="28575">
            <a:solidFill>
              <a:srgbClr val="168A82"/>
            </a:solidFill>
            <a:prstDash val="solid"/>
          </a:ln>
        </p:spPr>
      </p:cxnSp>
      <p:sp>
        <p:nvSpPr>
          <p:cNvPr id="12" name="">
            <a:extLst xmlns:a="http://schemas.openxmlformats.org/drawingml/2006/main">
              <a:ext uri="{FF2B5EF4-FFF2-40B4-BE49-F238E27FC236}">
                <a16:creationId xmlns:a16="http://schemas.microsoft.com/office/drawing/2014/main" id="{2A888A43-08DB-49CF-89ED-C457827B259D}"/>
              </a:ext>
            </a:extLst>
          </p:cNvPr>
          <p:cNvSpPr>
            <a:spLocks xmlns:a="http://schemas.openxmlformats.org/drawingml/2006/main" noGrp="1"/>
          </p:cNvSpPr>
          <p:nvPr/>
        </p:nvSpPr>
        <p:spPr>
          <a:xfrm xmlns:a="http://schemas.openxmlformats.org/drawingml/2006/main">
            <a:off x="4524375" y="3333750"/>
            <a:ext cx="31432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Pareto cells</a:t>
            </a:r>
          </a:p>
        </p:txBody>
      </p:sp>
      <p:sp>
        <p:nvSpPr>
          <p:cNvPr id="13" name="">
            <a:extLst xmlns:a="http://schemas.openxmlformats.org/drawingml/2006/main">
              <a:ext uri="{FF2B5EF4-FFF2-40B4-BE49-F238E27FC236}">
                <a16:creationId xmlns:a16="http://schemas.microsoft.com/office/drawing/2014/main" id="{7AD789A2-7588-4F56-97AA-7B98C3CA3B2E}"/>
              </a:ext>
            </a:extLst>
          </p:cNvPr>
          <p:cNvSpPr>
            <a:spLocks xmlns:a="http://schemas.openxmlformats.org/drawingml/2006/main" noGrp="1"/>
          </p:cNvSpPr>
          <p:nvPr/>
        </p:nvSpPr>
        <p:spPr>
          <a:xfrm xmlns:a="http://schemas.openxmlformats.org/drawingml/2006/main">
            <a:off x="4524375" y="3714750"/>
            <a:ext cx="3143250" cy="60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66273"/>
                </a:solidFill>
                <a:latin typeface="Arial"/>
                <a:ea typeface="Arial"/>
                <a:cs typeface="Arial"/>
              </a:defRPr>
            </a:pPr>
            <a:r>
              <a:t>non-dominated on quality and latency</a:t>
            </a:r>
          </a:p>
        </p:txBody>
      </p:sp>
      <p:sp>
        <p:nvSpPr>
          <p:cNvPr id="14" name="">
            <a:extLst xmlns:a="http://schemas.openxmlformats.org/drawingml/2006/main">
              <a:ext uri="{FF2B5EF4-FFF2-40B4-BE49-F238E27FC236}">
                <a16:creationId xmlns:a16="http://schemas.microsoft.com/office/drawing/2014/main" id="{726684B5-031B-4632-8C46-DC38F257D71C}"/>
              </a:ext>
            </a:extLst>
          </p:cNvPr>
          <p:cNvSpPr>
            <a:spLocks xmlns:a="http://schemas.openxmlformats.org/drawingml/2006/main" noGrp="1"/>
          </p:cNvSpPr>
          <p:nvPr/>
        </p:nvSpPr>
        <p:spPr>
          <a:xfrm xmlns:a="http://schemas.openxmlformats.org/drawingml/2006/main">
            <a:off x="8496300" y="2343150"/>
            <a:ext cx="3143250"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i="0">
                <a:solidFill>
                  <a:srgbClr val="C94F5A"/>
                </a:solidFill>
                <a:latin typeface="Arial"/>
                <a:ea typeface="Arial"/>
                <a:cs typeface="Arial"/>
              </a:defRPr>
            </a:pPr>
            <a:r>
              <a:t>0</a:t>
            </a:r>
          </a:p>
        </p:txBody>
      </p:sp>
      <p:cxnSp>
        <p:nvCxnSpPr>
          <p:cNvPr id="33" name=""/>
          <p:cNvCxnSpPr/>
          <p:nvPr/>
        </p:nvCxnSpPr>
        <p:spPr>
          <a:xfrm xmlns:a="http://schemas.openxmlformats.org/drawingml/2006/main">
            <a:off x="8496300" y="3181350"/>
            <a:ext cx="3067050" cy="95"/>
          </a:xfrm>
          <a:prstGeom xmlns:a="http://schemas.openxmlformats.org/drawingml/2006/main" prst="straightConnector1">
            <a:avLst/>
          </a:prstGeom>
          <a:ln xmlns:a="http://schemas.openxmlformats.org/drawingml/2006/main" w="28575">
            <a:solidFill>
              <a:srgbClr val="C94F5A"/>
            </a:solidFill>
            <a:prstDash val="solid"/>
          </a:ln>
        </p:spPr>
      </p:cxnSp>
      <p:sp>
        <p:nvSpPr>
          <p:cNvPr id="16" name="">
            <a:extLst xmlns:a="http://schemas.openxmlformats.org/drawingml/2006/main">
              <a:ext uri="{FF2B5EF4-FFF2-40B4-BE49-F238E27FC236}">
                <a16:creationId xmlns:a16="http://schemas.microsoft.com/office/drawing/2014/main" id="{770EAF87-7B10-4C22-B6DF-59ACAB88FFB2}"/>
              </a:ext>
            </a:extLst>
          </p:cNvPr>
          <p:cNvSpPr>
            <a:spLocks xmlns:a="http://schemas.openxmlformats.org/drawingml/2006/main" noGrp="1"/>
          </p:cNvSpPr>
          <p:nvPr/>
        </p:nvSpPr>
        <p:spPr>
          <a:xfrm xmlns:a="http://schemas.openxmlformats.org/drawingml/2006/main">
            <a:off x="8496300" y="3333750"/>
            <a:ext cx="31432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direct CRL-MRS tests</a:t>
            </a:r>
          </a:p>
        </p:txBody>
      </p:sp>
      <p:sp>
        <p:nvSpPr>
          <p:cNvPr id="17" name="">
            <a:extLst xmlns:a="http://schemas.openxmlformats.org/drawingml/2006/main">
              <a:ext uri="{FF2B5EF4-FFF2-40B4-BE49-F238E27FC236}">
                <a16:creationId xmlns:a16="http://schemas.microsoft.com/office/drawing/2014/main" id="{5A0EEE89-9A9C-409E-AEC5-762453A58270}"/>
              </a:ext>
            </a:extLst>
          </p:cNvPr>
          <p:cNvSpPr>
            <a:spLocks xmlns:a="http://schemas.openxmlformats.org/drawingml/2006/main" noGrp="1"/>
          </p:cNvSpPr>
          <p:nvPr/>
        </p:nvSpPr>
        <p:spPr>
          <a:xfrm xmlns:a="http://schemas.openxmlformats.org/drawingml/2006/main">
            <a:off x="8496300" y="3714750"/>
            <a:ext cx="3143250" cy="60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566273"/>
                </a:solidFill>
                <a:latin typeface="Arial"/>
                <a:ea typeface="Arial"/>
                <a:cs typeface="Arial"/>
              </a:defRPr>
            </a:pPr>
            <a:r>
              <a:t>largest gap across six PIC working tracks</a:t>
            </a:r>
          </a:p>
        </p:txBody>
      </p:sp>
      <p:sp>
        <p:nvSpPr>
          <p:cNvPr id="18" name="">
            <a:extLst xmlns:a="http://schemas.openxmlformats.org/drawingml/2006/main">
              <a:ext uri="{FF2B5EF4-FFF2-40B4-BE49-F238E27FC236}">
                <a16:creationId xmlns:a16="http://schemas.microsoft.com/office/drawing/2014/main" id="{4A8BB0C1-520B-4829-A251-6A6340167DB3}"/>
              </a:ext>
            </a:extLst>
          </p:cNvPr>
          <p:cNvSpPr>
            <a:spLocks xmlns:a="http://schemas.openxmlformats.org/drawingml/2006/main" noGrp="1"/>
          </p:cNvSpPr>
          <p:nvPr/>
        </p:nvSpPr>
        <p:spPr>
          <a:xfrm xmlns:a="http://schemas.openxmlformats.org/drawingml/2006/main">
            <a:off x="552450" y="5429250"/>
            <a:ext cx="10810875"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111827"/>
                </a:solidFill>
                <a:latin typeface="Arial"/>
                <a:ea typeface="Arial"/>
                <a:cs typeface="Arial"/>
              </a:defRPr>
            </a:pPr>
            <a:r>
              <a:t>Balanced pilot: 1024 tokens · top-k 5 · cross-encoder reranking · one corpus, one stack, one A40</a:t>
            </a:r>
          </a:p>
        </p:txBody>
      </p:sp>
    </p:spTree>
    <p:extLst>
      <p:ext uri="{BB962C8B-B14F-4D97-AF65-F5344CB8AC3E}">
        <p14:creationId xmlns:p14="http://schemas.microsoft.com/office/powerpoint/2010/main" val="2454131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079C548-1DB8-479E-91F4-BC6A08153F06}"/>
              </a:ext>
            </a:extLst>
          </p:cNvPr>
          <p:cNvSpPr>
            <a:spLocks xmlns:a="http://schemas.openxmlformats.org/drawingml/2006/main" noGrp="1"/>
          </p:cNvSpPr>
          <p:nvPr/>
        </p:nvSpPr>
        <p:spPr>
          <a:xfrm xmlns:a="http://schemas.openxmlformats.org/drawingml/2006/main">
            <a:off x="400050" y="190500"/>
            <a:ext cx="6477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Arial"/>
                <a:ea typeface="Arial"/>
                <a:cs typeface="Arial"/>
              </a:defRPr>
            </a:pPr>
            <a:r>
              <a:t>WEEK 7 · DASHBOARD</a:t>
            </a:r>
          </a:p>
        </p:txBody>
      </p:sp>
      <p:sp>
        <p:nvSpPr>
          <p:cNvPr id="2" name="slide-8-title">
            <a:extLst xmlns:a="http://schemas.openxmlformats.org/drawingml/2006/main">
              <a:ext uri="{FF2B5EF4-FFF2-40B4-BE49-F238E27FC236}">
                <a16:creationId xmlns:a16="http://schemas.microsoft.com/office/drawing/2014/main" id="{869DE99E-3B40-4F9F-B213-5464C16C3913}"/>
              </a:ext>
            </a:extLst>
          </p:cNvPr>
          <p:cNvSpPr>
            <a:spLocks xmlns:a="http://schemas.openxmlformats.org/drawingml/2006/main" noGrp="1"/>
          </p:cNvSpPr>
          <p:nvPr/>
        </p:nvSpPr>
        <p:spPr>
          <a:xfrm xmlns:a="http://schemas.openxmlformats.org/drawingml/2006/main">
            <a:off x="400050" y="476250"/>
            <a:ext cx="1133475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11827"/>
                </a:solidFill>
                <a:latin typeface="Arial"/>
                <a:ea typeface="Arial"/>
                <a:cs typeface="Arial"/>
              </a:defRPr>
            </a:pPr>
            <a:r>
              <a:t>Week 7 turned evidence into an interface</a:t>
            </a:r>
          </a:p>
        </p:txBody>
      </p:sp>
      <p:cxnSp>
        <p:nvCxnSpPr>
          <p:cNvPr id="29"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C9CED6"/>
            </a:solidFill>
            <a:prstDash val="solid"/>
          </a:ln>
        </p:spPr>
      </p:cxnSp>
      <p:sp>
        <p:nvSpPr>
          <p:cNvPr id="4" name="">
            <a:extLst xmlns:a="http://schemas.openxmlformats.org/drawingml/2006/main">
              <a:ext uri="{FF2B5EF4-FFF2-40B4-BE49-F238E27FC236}">
                <a16:creationId xmlns:a16="http://schemas.microsoft.com/office/drawing/2014/main" id="{DD1C9831-3E19-4846-AA65-0DC06004366C}"/>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i="0">
                <a:solidFill>
                  <a:srgbClr val="8A94A3"/>
                </a:solidFill>
                <a:latin typeface="Arial"/>
                <a:ea typeface="Arial"/>
                <a:cs typeface="Arial"/>
              </a:defRPr>
            </a:pPr>
            <a:r>
              <a:t>08</a:t>
            </a:r>
          </a:p>
        </p:txBody>
      </p:sp>
      <p:sp>
        <p:nvSpPr>
          <p:cNvPr id="5" name="">
            <a:extLst xmlns:a="http://schemas.openxmlformats.org/drawingml/2006/main">
              <a:ext uri="{FF2B5EF4-FFF2-40B4-BE49-F238E27FC236}">
                <a16:creationId xmlns:a16="http://schemas.microsoft.com/office/drawing/2014/main" id="{8E801C73-8BD3-446B-B564-F8ED25721029}"/>
              </a:ext>
            </a:extLst>
          </p:cNvPr>
          <p:cNvSpPr>
            <a:spLocks xmlns:a="http://schemas.openxmlformats.org/drawingml/2006/main" noGrp="1"/>
          </p:cNvSpPr>
          <p:nvPr/>
        </p:nvSpPr>
        <p:spPr>
          <a:xfrm xmlns:a="http://schemas.openxmlformats.org/drawingml/2006/main">
            <a:off x="400050" y="1438275"/>
            <a:ext cx="106680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566273"/>
                </a:solidFill>
                <a:latin typeface="Arial"/>
                <a:ea typeface="Arial"/>
                <a:cs typeface="Arial"/>
              </a:defRPr>
            </a:pPr>
            <a:r>
              <a:t>The dashboard is a presentation layer, not a new evaluation run.</a:t>
            </a:r>
          </a:p>
        </p:txBody>
      </p:sp>
      <p:sp>
        <p:nvSpPr>
          <p:cNvPr id="6" name="">
            <a:extLst xmlns:a="http://schemas.openxmlformats.org/drawingml/2006/main">
              <a:ext uri="{FF2B5EF4-FFF2-40B4-BE49-F238E27FC236}">
                <a16:creationId xmlns:a16="http://schemas.microsoft.com/office/drawing/2014/main" id="{0C6E97D1-217A-42A9-B7BB-BD3CCFA90E56}"/>
              </a:ext>
            </a:extLst>
          </p:cNvPr>
          <p:cNvSpPr>
            <a:spLocks xmlns:a="http://schemas.openxmlformats.org/drawingml/2006/main" noGrp="1"/>
          </p:cNvSpPr>
          <p:nvPr/>
        </p:nvSpPr>
        <p:spPr>
          <a:xfrm xmlns:a="http://schemas.openxmlformats.org/drawingml/2006/main">
            <a:off x="2876550" y="3333750"/>
            <a:ext cx="609600" cy="171450"/>
          </a:xfrm>
          <a:prstGeom xmlns:a="http://schemas.openxmlformats.org/drawingml/2006/main" prst="rightArrow">
            <a:avLst/>
          </a:prstGeom>
          <a:solidFill xmlns:a="http://schemas.openxmlformats.org/drawingml/2006/main">
            <a:srgbClr val="C9CED6"/>
          </a:solidFill>
          <a:ln xmlns:a="http://schemas.openxmlformats.org/drawingml/2006/main" w="0">
            <a:solidFill>
              <a:srgbClr val="C9CED6"/>
            </a:solidFill>
            <a:prstDash val="solid"/>
          </a:ln>
        </p:spPr>
      </p:sp>
      <p:sp>
        <p:nvSpPr>
          <p:cNvPr id="7" name="">
            <a:extLst xmlns:a="http://schemas.openxmlformats.org/drawingml/2006/main">
              <a:ext uri="{FF2B5EF4-FFF2-40B4-BE49-F238E27FC236}">
                <a16:creationId xmlns:a16="http://schemas.microsoft.com/office/drawing/2014/main" id="{ADB2BDB7-2B4B-4CC3-B4DA-B242CF235F4D}"/>
              </a:ext>
            </a:extLst>
          </p:cNvPr>
          <p:cNvSpPr>
            <a:spLocks xmlns:a="http://schemas.openxmlformats.org/drawingml/2006/main" noGrp="1"/>
          </p:cNvSpPr>
          <p:nvPr/>
        </p:nvSpPr>
        <p:spPr>
          <a:xfrm xmlns:a="http://schemas.openxmlformats.org/drawingml/2006/main">
            <a:off x="5791200" y="3333750"/>
            <a:ext cx="609600" cy="171450"/>
          </a:xfrm>
          <a:prstGeom xmlns:a="http://schemas.openxmlformats.org/drawingml/2006/main" prst="rightArrow">
            <a:avLst/>
          </a:prstGeom>
          <a:solidFill xmlns:a="http://schemas.openxmlformats.org/drawingml/2006/main">
            <a:srgbClr val="C9CED6"/>
          </a:solidFill>
          <a:ln xmlns:a="http://schemas.openxmlformats.org/drawingml/2006/main" w="0">
            <a:solidFill>
              <a:srgbClr val="C9CED6"/>
            </a:solidFill>
            <a:prstDash val="solid"/>
          </a:ln>
        </p:spPr>
      </p:sp>
      <p:sp>
        <p:nvSpPr>
          <p:cNvPr id="8" name="">
            <a:extLst xmlns:a="http://schemas.openxmlformats.org/drawingml/2006/main">
              <a:ext uri="{FF2B5EF4-FFF2-40B4-BE49-F238E27FC236}">
                <a16:creationId xmlns:a16="http://schemas.microsoft.com/office/drawing/2014/main" id="{906B80ED-4CFA-494A-A813-8B788C333197}"/>
              </a:ext>
            </a:extLst>
          </p:cNvPr>
          <p:cNvSpPr>
            <a:spLocks xmlns:a="http://schemas.openxmlformats.org/drawingml/2006/main" noGrp="1"/>
          </p:cNvSpPr>
          <p:nvPr/>
        </p:nvSpPr>
        <p:spPr>
          <a:xfrm xmlns:a="http://schemas.openxmlformats.org/drawingml/2006/main">
            <a:off x="8705850" y="3333750"/>
            <a:ext cx="609600" cy="171450"/>
          </a:xfrm>
          <a:prstGeom xmlns:a="http://schemas.openxmlformats.org/drawingml/2006/main" prst="rightArrow">
            <a:avLst/>
          </a:prstGeom>
          <a:solidFill xmlns:a="http://schemas.openxmlformats.org/drawingml/2006/main">
            <a:srgbClr val="C9CED6"/>
          </a:solidFill>
          <a:ln xmlns:a="http://schemas.openxmlformats.org/drawingml/2006/main" w="0">
            <a:solidFill>
              <a:srgbClr val="C9CED6"/>
            </a:solidFill>
            <a:prstDash val="solid"/>
          </a:ln>
        </p:spPr>
      </p:sp>
      <p:sp>
        <p:nvSpPr>
          <p:cNvPr id="9" name="">
            <a:extLst xmlns:a="http://schemas.openxmlformats.org/drawingml/2006/main">
              <a:ext uri="{FF2B5EF4-FFF2-40B4-BE49-F238E27FC236}">
                <a16:creationId xmlns:a16="http://schemas.microsoft.com/office/drawing/2014/main" id="{FA63E796-8DF1-4ED1-AB01-DD24459811F0}"/>
              </a:ext>
            </a:extLst>
          </p:cNvPr>
          <p:cNvSpPr>
            <a:spLocks xmlns:a="http://schemas.openxmlformats.org/drawingml/2006/main" noGrp="1"/>
          </p:cNvSpPr>
          <p:nvPr/>
        </p:nvSpPr>
        <p:spPr>
          <a:xfrm xmlns:a="http://schemas.openxmlformats.org/drawingml/2006/main">
            <a:off x="400050" y="2400300"/>
            <a:ext cx="260985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C9CED6"/>
            </a:solidFill>
            <a:prstDash val="solid"/>
          </a:ln>
        </p:spPr>
      </p:sp>
      <p:sp>
        <p:nvSpPr>
          <p:cNvPr id="10" name="">
            <a:extLst xmlns:a="http://schemas.openxmlformats.org/drawingml/2006/main">
              <a:ext uri="{FF2B5EF4-FFF2-40B4-BE49-F238E27FC236}">
                <a16:creationId xmlns:a16="http://schemas.microsoft.com/office/drawing/2014/main" id="{0D837BBF-8DF3-458C-9A9A-927139E6D61E}"/>
              </a:ext>
            </a:extLst>
          </p:cNvPr>
          <p:cNvSpPr>
            <a:spLocks xmlns:a="http://schemas.openxmlformats.org/drawingml/2006/main" noGrp="1"/>
          </p:cNvSpPr>
          <p:nvPr/>
        </p:nvSpPr>
        <p:spPr>
          <a:xfrm xmlns:a="http://schemas.openxmlformats.org/drawingml/2006/main">
            <a:off x="400050" y="2400300"/>
            <a:ext cx="2609850" cy="857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D8EECFC4-CB78-4C08-A6FB-1925761D5820}"/>
              </a:ext>
            </a:extLst>
          </p:cNvPr>
          <p:cNvSpPr>
            <a:spLocks xmlns:a="http://schemas.openxmlformats.org/drawingml/2006/main" noGrp="1"/>
          </p:cNvSpPr>
          <p:nvPr/>
        </p:nvSpPr>
        <p:spPr>
          <a:xfrm xmlns:a="http://schemas.openxmlformats.org/drawingml/2006/main">
            <a:off x="609600" y="2800350"/>
            <a:ext cx="219075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11827"/>
                </a:solidFill>
                <a:latin typeface="Arial"/>
                <a:ea typeface="Arial"/>
                <a:cs typeface="Arial"/>
              </a:defRPr>
            </a:pPr>
            <a:r>
              <a:t>8 sources</a:t>
            </a:r>
          </a:p>
        </p:txBody>
      </p:sp>
      <p:sp>
        <p:nvSpPr>
          <p:cNvPr id="12" name="">
            <a:extLst xmlns:a="http://schemas.openxmlformats.org/drawingml/2006/main">
              <a:ext uri="{FF2B5EF4-FFF2-40B4-BE49-F238E27FC236}">
                <a16:creationId xmlns:a16="http://schemas.microsoft.com/office/drawing/2014/main" id="{EF9B6638-4C8A-4E7C-B9A9-B130B7938BFD}"/>
              </a:ext>
            </a:extLst>
          </p:cNvPr>
          <p:cNvSpPr>
            <a:spLocks xmlns:a="http://schemas.openxmlformats.org/drawingml/2006/main" noGrp="1"/>
          </p:cNvSpPr>
          <p:nvPr/>
        </p:nvSpPr>
        <p:spPr>
          <a:xfrm xmlns:a="http://schemas.openxmlformats.org/drawingml/2006/main">
            <a:off x="609600" y="3429000"/>
            <a:ext cx="2190750" cy="838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566273"/>
                </a:solidFill>
                <a:latin typeface="Arial"/>
                <a:ea typeface="Arial"/>
                <a:cs typeface="Arial"/>
              </a:defRPr>
            </a:pPr>
            <a:r>
              <a:t>Frozen Week 2–6 artifacts
with paths and SHA-256</a:t>
            </a:r>
          </a:p>
        </p:txBody>
      </p:sp>
      <p:sp>
        <p:nvSpPr>
          <p:cNvPr id="13" name="">
            <a:extLst xmlns:a="http://schemas.openxmlformats.org/drawingml/2006/main">
              <a:ext uri="{FF2B5EF4-FFF2-40B4-BE49-F238E27FC236}">
                <a16:creationId xmlns:a16="http://schemas.microsoft.com/office/drawing/2014/main" id="{030E2A5C-7412-40FA-AB81-2A49418D16B2}"/>
              </a:ext>
            </a:extLst>
          </p:cNvPr>
          <p:cNvSpPr>
            <a:spLocks xmlns:a="http://schemas.openxmlformats.org/drawingml/2006/main" noGrp="1"/>
          </p:cNvSpPr>
          <p:nvPr/>
        </p:nvSpPr>
        <p:spPr>
          <a:xfrm xmlns:a="http://schemas.openxmlformats.org/drawingml/2006/main">
            <a:off x="3314700" y="2400300"/>
            <a:ext cx="260985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C9CED6"/>
            </a:solidFill>
            <a:prstDash val="solid"/>
          </a:ln>
        </p:spPr>
      </p:sp>
      <p:sp>
        <p:nvSpPr>
          <p:cNvPr id="14" name="">
            <a:extLst xmlns:a="http://schemas.openxmlformats.org/drawingml/2006/main">
              <a:ext uri="{FF2B5EF4-FFF2-40B4-BE49-F238E27FC236}">
                <a16:creationId xmlns:a16="http://schemas.microsoft.com/office/drawing/2014/main" id="{93275521-1085-4DF2-8FC7-CB0F09C32951}"/>
              </a:ext>
            </a:extLst>
          </p:cNvPr>
          <p:cNvSpPr>
            <a:spLocks xmlns:a="http://schemas.openxmlformats.org/drawingml/2006/main" noGrp="1"/>
          </p:cNvSpPr>
          <p:nvPr/>
        </p:nvSpPr>
        <p:spPr>
          <a:xfrm xmlns:a="http://schemas.openxmlformats.org/drawingml/2006/main">
            <a:off x="3314700" y="2400300"/>
            <a:ext cx="2609850" cy="85725"/>
          </a:xfrm>
          <a:prstGeom xmlns:a="http://schemas.openxmlformats.org/drawingml/2006/main" prst="rect">
            <a:avLst/>
          </a:prstGeom>
          <a:solidFill xmlns:a="http://schemas.openxmlformats.org/drawingml/2006/main">
            <a:srgbClr val="168A82"/>
          </a:solidFill>
          <a:ln xmlns:a="http://schemas.openxmlformats.org/drawingml/2006/main" w="0">
            <a:solidFill>
              <a:srgbClr val="168A82"/>
            </a:solidFill>
            <a:prstDash val="solid"/>
          </a:ln>
        </p:spPr>
      </p:sp>
      <p:sp>
        <p:nvSpPr>
          <p:cNvPr id="15" name="">
            <a:extLst xmlns:a="http://schemas.openxmlformats.org/drawingml/2006/main">
              <a:ext uri="{FF2B5EF4-FFF2-40B4-BE49-F238E27FC236}">
                <a16:creationId xmlns:a16="http://schemas.microsoft.com/office/drawing/2014/main" id="{6F31C94E-0D18-45B9-80A0-70EC75C38EF8}"/>
              </a:ext>
            </a:extLst>
          </p:cNvPr>
          <p:cNvSpPr>
            <a:spLocks xmlns:a="http://schemas.openxmlformats.org/drawingml/2006/main" noGrp="1"/>
          </p:cNvSpPr>
          <p:nvPr/>
        </p:nvSpPr>
        <p:spPr>
          <a:xfrm xmlns:a="http://schemas.openxmlformats.org/drawingml/2006/main">
            <a:off x="3524250" y="2800350"/>
            <a:ext cx="219075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11827"/>
                </a:solidFill>
                <a:latin typeface="Arial"/>
                <a:ea typeface="Arial"/>
                <a:cs typeface="Arial"/>
              </a:defRPr>
            </a:pPr>
            <a:r>
              <a:t>Offline builder</a:t>
            </a:r>
          </a:p>
        </p:txBody>
      </p:sp>
      <p:sp>
        <p:nvSpPr>
          <p:cNvPr id="16" name="">
            <a:extLst xmlns:a="http://schemas.openxmlformats.org/drawingml/2006/main">
              <a:ext uri="{FF2B5EF4-FFF2-40B4-BE49-F238E27FC236}">
                <a16:creationId xmlns:a16="http://schemas.microsoft.com/office/drawing/2014/main" id="{4DAEAE1E-582E-47C3-9AC0-DF5B65FE9E83}"/>
              </a:ext>
            </a:extLst>
          </p:cNvPr>
          <p:cNvSpPr>
            <a:spLocks xmlns:a="http://schemas.openxmlformats.org/drawingml/2006/main" noGrp="1"/>
          </p:cNvSpPr>
          <p:nvPr/>
        </p:nvSpPr>
        <p:spPr>
          <a:xfrm xmlns:a="http://schemas.openxmlformats.org/drawingml/2006/main">
            <a:off x="3524250" y="3429000"/>
            <a:ext cx="2190750" cy="838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566273"/>
                </a:solidFill>
                <a:latin typeface="Arial"/>
                <a:ea typeface="Arial"/>
                <a:cs typeface="Arial"/>
              </a:defRPr>
            </a:pPr>
            <a:r>
              <a:t>Verify once
transform once</a:t>
            </a:r>
          </a:p>
        </p:txBody>
      </p:sp>
      <p:sp>
        <p:nvSpPr>
          <p:cNvPr id="17" name="">
            <a:extLst xmlns:a="http://schemas.openxmlformats.org/drawingml/2006/main">
              <a:ext uri="{FF2B5EF4-FFF2-40B4-BE49-F238E27FC236}">
                <a16:creationId xmlns:a16="http://schemas.microsoft.com/office/drawing/2014/main" id="{9EE3948F-105D-4542-BB1A-1DFB61068816}"/>
              </a:ext>
            </a:extLst>
          </p:cNvPr>
          <p:cNvSpPr>
            <a:spLocks xmlns:a="http://schemas.openxmlformats.org/drawingml/2006/main" noGrp="1"/>
          </p:cNvSpPr>
          <p:nvPr/>
        </p:nvSpPr>
        <p:spPr>
          <a:xfrm xmlns:a="http://schemas.openxmlformats.org/drawingml/2006/main">
            <a:off x="6229350" y="2400300"/>
            <a:ext cx="260985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C9CED6"/>
            </a:solidFill>
            <a:prstDash val="solid"/>
          </a:ln>
        </p:spPr>
      </p:sp>
      <p:sp>
        <p:nvSpPr>
          <p:cNvPr id="18" name="">
            <a:extLst xmlns:a="http://schemas.openxmlformats.org/drawingml/2006/main">
              <a:ext uri="{FF2B5EF4-FFF2-40B4-BE49-F238E27FC236}">
                <a16:creationId xmlns:a16="http://schemas.microsoft.com/office/drawing/2014/main" id="{C6E81F8F-6661-4777-890B-48241FE6E80C}"/>
              </a:ext>
            </a:extLst>
          </p:cNvPr>
          <p:cNvSpPr>
            <a:spLocks xmlns:a="http://schemas.openxmlformats.org/drawingml/2006/main" noGrp="1"/>
          </p:cNvSpPr>
          <p:nvPr/>
        </p:nvSpPr>
        <p:spPr>
          <a:xfrm xmlns:a="http://schemas.openxmlformats.org/drawingml/2006/main">
            <a:off x="6229350" y="2400300"/>
            <a:ext cx="2609850" cy="85725"/>
          </a:xfrm>
          <a:prstGeom xmlns:a="http://schemas.openxmlformats.org/drawingml/2006/main" prst="rect">
            <a:avLst/>
          </a:prstGeom>
          <a:solidFill xmlns:a="http://schemas.openxmlformats.org/drawingml/2006/main">
            <a:srgbClr val="D99518"/>
          </a:solidFill>
          <a:ln xmlns:a="http://schemas.openxmlformats.org/drawingml/2006/main" w="0">
            <a:solidFill>
              <a:srgbClr val="D99518"/>
            </a:solidFill>
            <a:prstDash val="solid"/>
          </a:ln>
        </p:spPr>
      </p:sp>
      <p:sp>
        <p:nvSpPr>
          <p:cNvPr id="19" name="">
            <a:extLst xmlns:a="http://schemas.openxmlformats.org/drawingml/2006/main">
              <a:ext uri="{FF2B5EF4-FFF2-40B4-BE49-F238E27FC236}">
                <a16:creationId xmlns:a16="http://schemas.microsoft.com/office/drawing/2014/main" id="{70CC0809-CB71-4F86-9C51-A049CF51F85B}"/>
              </a:ext>
            </a:extLst>
          </p:cNvPr>
          <p:cNvSpPr>
            <a:spLocks xmlns:a="http://schemas.openxmlformats.org/drawingml/2006/main" noGrp="1"/>
          </p:cNvSpPr>
          <p:nvPr/>
        </p:nvSpPr>
        <p:spPr>
          <a:xfrm xmlns:a="http://schemas.openxmlformats.org/drawingml/2006/main">
            <a:off x="6438900" y="2800350"/>
            <a:ext cx="219075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11827"/>
                </a:solidFill>
                <a:latin typeface="Arial"/>
                <a:ea typeface="Arial"/>
                <a:cs typeface="Arial"/>
              </a:defRPr>
            </a:pPr>
            <a:r>
              <a:t>11 CSVs</a:t>
            </a:r>
          </a:p>
        </p:txBody>
      </p:sp>
      <p:sp>
        <p:nvSpPr>
          <p:cNvPr id="20" name="">
            <a:extLst xmlns:a="http://schemas.openxmlformats.org/drawingml/2006/main">
              <a:ext uri="{FF2B5EF4-FFF2-40B4-BE49-F238E27FC236}">
                <a16:creationId xmlns:a16="http://schemas.microsoft.com/office/drawing/2014/main" id="{B3DF43DB-64B4-4088-AC26-593FA4AF54B3}"/>
              </a:ext>
            </a:extLst>
          </p:cNvPr>
          <p:cNvSpPr>
            <a:spLocks xmlns:a="http://schemas.openxmlformats.org/drawingml/2006/main" noGrp="1"/>
          </p:cNvSpPr>
          <p:nvPr/>
        </p:nvSpPr>
        <p:spPr>
          <a:xfrm xmlns:a="http://schemas.openxmlformats.org/drawingml/2006/main">
            <a:off x="6438900" y="3429000"/>
            <a:ext cx="2190750" cy="838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566273"/>
                </a:solidFill>
                <a:latin typeface="Arial"/>
                <a:ea typeface="Arial"/>
                <a:cs typeface="Arial"/>
              </a:defRPr>
            </a:pPr>
            <a:r>
              <a:t>Reviewed presentation data
committed to the repo</a:t>
            </a:r>
          </a:p>
        </p:txBody>
      </p:sp>
      <p:sp>
        <p:nvSpPr>
          <p:cNvPr id="21" name="">
            <a:extLst xmlns:a="http://schemas.openxmlformats.org/drawingml/2006/main">
              <a:ext uri="{FF2B5EF4-FFF2-40B4-BE49-F238E27FC236}">
                <a16:creationId xmlns:a16="http://schemas.microsoft.com/office/drawing/2014/main" id="{D9093B58-A2BF-4D2D-9DF8-A56A1407DA06}"/>
              </a:ext>
            </a:extLst>
          </p:cNvPr>
          <p:cNvSpPr>
            <a:spLocks xmlns:a="http://schemas.openxmlformats.org/drawingml/2006/main" noGrp="1"/>
          </p:cNvSpPr>
          <p:nvPr/>
        </p:nvSpPr>
        <p:spPr>
          <a:xfrm xmlns:a="http://schemas.openxmlformats.org/drawingml/2006/main">
            <a:off x="9144000" y="2400300"/>
            <a:ext cx="260985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C9CED6"/>
            </a:solidFill>
            <a:prstDash val="solid"/>
          </a:ln>
        </p:spPr>
      </p:sp>
      <p:sp>
        <p:nvSpPr>
          <p:cNvPr id="22" name="">
            <a:extLst xmlns:a="http://schemas.openxmlformats.org/drawingml/2006/main">
              <a:ext uri="{FF2B5EF4-FFF2-40B4-BE49-F238E27FC236}">
                <a16:creationId xmlns:a16="http://schemas.microsoft.com/office/drawing/2014/main" id="{7F6571A7-19E7-4A5E-AD5D-56448E73BFB5}"/>
              </a:ext>
            </a:extLst>
          </p:cNvPr>
          <p:cNvSpPr>
            <a:spLocks xmlns:a="http://schemas.openxmlformats.org/drawingml/2006/main" noGrp="1"/>
          </p:cNvSpPr>
          <p:nvPr/>
        </p:nvSpPr>
        <p:spPr>
          <a:xfrm xmlns:a="http://schemas.openxmlformats.org/drawingml/2006/main">
            <a:off x="9144000" y="2400300"/>
            <a:ext cx="2609850" cy="85725"/>
          </a:xfrm>
          <a:prstGeom xmlns:a="http://schemas.openxmlformats.org/drawingml/2006/main" prst="rect">
            <a:avLst/>
          </a:prstGeom>
          <a:solidFill xmlns:a="http://schemas.openxmlformats.org/drawingml/2006/main">
            <a:srgbClr val="C94F5A"/>
          </a:solidFill>
          <a:ln xmlns:a="http://schemas.openxmlformats.org/drawingml/2006/main" w="0">
            <a:solidFill>
              <a:srgbClr val="C94F5A"/>
            </a:solidFill>
            <a:prstDash val="solid"/>
          </a:ln>
        </p:spPr>
      </p:sp>
      <p:sp>
        <p:nvSpPr>
          <p:cNvPr id="23" name="">
            <a:extLst xmlns:a="http://schemas.openxmlformats.org/drawingml/2006/main">
              <a:ext uri="{FF2B5EF4-FFF2-40B4-BE49-F238E27FC236}">
                <a16:creationId xmlns:a16="http://schemas.microsoft.com/office/drawing/2014/main" id="{17B3E23F-CD52-414A-91E3-FD89F1B11B72}"/>
              </a:ext>
            </a:extLst>
          </p:cNvPr>
          <p:cNvSpPr>
            <a:spLocks xmlns:a="http://schemas.openxmlformats.org/drawingml/2006/main" noGrp="1"/>
          </p:cNvSpPr>
          <p:nvPr/>
        </p:nvSpPr>
        <p:spPr>
          <a:xfrm xmlns:a="http://schemas.openxmlformats.org/drawingml/2006/main">
            <a:off x="9353550" y="2800350"/>
            <a:ext cx="219075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11827"/>
                </a:solidFill>
                <a:latin typeface="Arial"/>
                <a:ea typeface="Arial"/>
                <a:cs typeface="Arial"/>
              </a:defRPr>
            </a:pPr>
            <a:r>
              <a:t>Streamlit</a:t>
            </a:r>
          </a:p>
        </p:txBody>
      </p:sp>
      <p:sp>
        <p:nvSpPr>
          <p:cNvPr id="24" name="">
            <a:extLst xmlns:a="http://schemas.openxmlformats.org/drawingml/2006/main">
              <a:ext uri="{FF2B5EF4-FFF2-40B4-BE49-F238E27FC236}">
                <a16:creationId xmlns:a16="http://schemas.microsoft.com/office/drawing/2014/main" id="{F946D01C-3767-4953-B01E-DF4B20AA1C12}"/>
              </a:ext>
            </a:extLst>
          </p:cNvPr>
          <p:cNvSpPr>
            <a:spLocks xmlns:a="http://schemas.openxmlformats.org/drawingml/2006/main" noGrp="1"/>
          </p:cNvSpPr>
          <p:nvPr/>
        </p:nvSpPr>
        <p:spPr>
          <a:xfrm xmlns:a="http://schemas.openxmlformats.org/drawingml/2006/main">
            <a:off x="9353550" y="3429000"/>
            <a:ext cx="2190750" cy="838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566273"/>
                </a:solidFill>
                <a:latin typeface="Arial"/>
                <a:ea typeface="Arial"/>
                <a:cs typeface="Arial"/>
              </a:defRPr>
            </a:pPr>
            <a:r>
              <a:t>Load, filter, visualise
by stakeholder role</a:t>
            </a:r>
          </a:p>
        </p:txBody>
      </p:sp>
      <p:sp>
        <p:nvSpPr>
          <p:cNvPr id="25" name="">
            <a:extLst xmlns:a="http://schemas.openxmlformats.org/drawingml/2006/main">
              <a:ext uri="{FF2B5EF4-FFF2-40B4-BE49-F238E27FC236}">
                <a16:creationId xmlns:a16="http://schemas.microsoft.com/office/drawing/2014/main" id="{335E2FDF-8AAA-45CC-8947-D74F7B19084B}"/>
              </a:ext>
            </a:extLst>
          </p:cNvPr>
          <p:cNvSpPr>
            <a:spLocks xmlns:a="http://schemas.openxmlformats.org/drawingml/2006/main" noGrp="1"/>
          </p:cNvSpPr>
          <p:nvPr/>
        </p:nvSpPr>
        <p:spPr>
          <a:xfrm xmlns:a="http://schemas.openxmlformats.org/drawingml/2006/main">
            <a:off x="400050" y="5238750"/>
            <a:ext cx="11353800" cy="6286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6" name="">
            <a:extLst xmlns:a="http://schemas.openxmlformats.org/drawingml/2006/main">
              <a:ext uri="{FF2B5EF4-FFF2-40B4-BE49-F238E27FC236}">
                <a16:creationId xmlns:a16="http://schemas.microsoft.com/office/drawing/2014/main" id="{2975DB3E-EBA8-4557-8F37-60558CDAAC51}"/>
              </a:ext>
            </a:extLst>
          </p:cNvPr>
          <p:cNvSpPr>
            <a:spLocks xmlns:a="http://schemas.openxmlformats.org/drawingml/2006/main" noGrp="1"/>
          </p:cNvSpPr>
          <p:nvPr/>
        </p:nvSpPr>
        <p:spPr>
          <a:xfrm xmlns:a="http://schemas.openxmlformats.org/drawingml/2006/main">
            <a:off x="647700" y="5429250"/>
            <a:ext cx="108585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i="0">
                <a:solidFill>
                  <a:srgbClr val="3D8DFF"/>
                </a:solidFill>
                <a:latin typeface="Arial"/>
                <a:ea typeface="Arial"/>
                <a:cs typeface="Arial"/>
              </a:defRPr>
            </a:pPr>
            <a:r>
              <a:t>At launch: 0 model calls · 0 retrieval calls · 0 Judge calls</a:t>
            </a:r>
          </a:p>
        </p:txBody>
      </p:sp>
    </p:spTree>
    <p:extLst>
      <p:ext uri="{BB962C8B-B14F-4D97-AF65-F5344CB8AC3E}">
        <p14:creationId xmlns:p14="http://schemas.microsoft.com/office/powerpoint/2010/main" val="17012096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532730A-2921-46C2-8D3E-78204EB2EBAC}"/>
              </a:ext>
            </a:extLst>
          </p:cNvPr>
          <p:cNvSpPr>
            <a:spLocks xmlns:a="http://schemas.openxmlformats.org/drawingml/2006/main" noGrp="1"/>
          </p:cNvSpPr>
          <p:nvPr/>
        </p:nvSpPr>
        <p:spPr>
          <a:xfrm xmlns:a="http://schemas.openxmlformats.org/drawingml/2006/main">
            <a:off x="400050" y="190500"/>
            <a:ext cx="6477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Arial"/>
                <a:ea typeface="Arial"/>
                <a:cs typeface="Arial"/>
              </a:defRPr>
            </a:pPr>
            <a:r>
              <a:t>WEEK 7 · EXECUTIVE VIEW</a:t>
            </a:r>
          </a:p>
        </p:txBody>
      </p:sp>
      <p:sp>
        <p:nvSpPr>
          <p:cNvPr id="2" name="slide-9-title">
            <a:extLst xmlns:a="http://schemas.openxmlformats.org/drawingml/2006/main">
              <a:ext uri="{FF2B5EF4-FFF2-40B4-BE49-F238E27FC236}">
                <a16:creationId xmlns:a16="http://schemas.microsoft.com/office/drawing/2014/main" id="{2A3FB4CE-1923-4624-ABFC-2B57441497EF}"/>
              </a:ext>
            </a:extLst>
          </p:cNvPr>
          <p:cNvSpPr>
            <a:spLocks xmlns:a="http://schemas.openxmlformats.org/drawingml/2006/main" noGrp="1"/>
          </p:cNvSpPr>
          <p:nvPr/>
        </p:nvSpPr>
        <p:spPr>
          <a:xfrm xmlns:a="http://schemas.openxmlformats.org/drawingml/2006/main">
            <a:off x="400050" y="476250"/>
            <a:ext cx="1133475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11827"/>
                </a:solidFill>
                <a:latin typeface="Arial"/>
                <a:ea typeface="Arial"/>
                <a:cs typeface="Arial"/>
              </a:defRPr>
            </a:pPr>
            <a:r>
              <a:t>Three indicators drive one executive action</a:t>
            </a:r>
          </a:p>
        </p:txBody>
      </p:sp>
      <p:cxnSp>
        <p:nvCxnSpPr>
          <p:cNvPr id="15"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C9CED6"/>
            </a:solidFill>
            <a:prstDash val="solid"/>
          </a:ln>
        </p:spPr>
      </p:cxnSp>
      <p:sp>
        <p:nvSpPr>
          <p:cNvPr id="4" name="">
            <a:extLst xmlns:a="http://schemas.openxmlformats.org/drawingml/2006/main">
              <a:ext uri="{FF2B5EF4-FFF2-40B4-BE49-F238E27FC236}">
                <a16:creationId xmlns:a16="http://schemas.microsoft.com/office/drawing/2014/main" id="{CC26F933-2EF8-4444-9807-9EE24F9ABDDD}"/>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i="0">
                <a:solidFill>
                  <a:srgbClr val="8A94A3"/>
                </a:solidFill>
                <a:latin typeface="Arial"/>
                <a:ea typeface="Arial"/>
                <a:cs typeface="Arial"/>
              </a:defRPr>
            </a:pPr>
            <a:r>
              <a:t>09</a:t>
            </a:r>
          </a:p>
        </p:txBody>
      </p:sp>
      <p:sp>
        <p:nvSpPr>
          <p:cNvPr id="5" name="">
            <a:extLst xmlns:a="http://schemas.openxmlformats.org/drawingml/2006/main">
              <a:ext uri="{FF2B5EF4-FFF2-40B4-BE49-F238E27FC236}">
                <a16:creationId xmlns:a16="http://schemas.microsoft.com/office/drawing/2014/main" id="{2F5387E9-BA1A-452E-887E-C5E87B3B310E}"/>
              </a:ext>
            </a:extLst>
          </p:cNvPr>
          <p:cNvSpPr>
            <a:spLocks xmlns:a="http://schemas.openxmlformats.org/drawingml/2006/main" noGrp="1"/>
          </p:cNvSpPr>
          <p:nvPr/>
        </p:nvSpPr>
        <p:spPr>
          <a:xfrm xmlns:a="http://schemas.openxmlformats.org/drawingml/2006/main">
            <a:off x="400050" y="1438275"/>
            <a:ext cx="4953000" cy="552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566273"/>
                </a:solidFill>
                <a:latin typeface="Arial"/>
                <a:ea typeface="Arial"/>
                <a:cs typeface="Arial"/>
              </a:defRPr>
            </a:pPr>
            <a:r>
              <a:t>The executive mode deliberately removes technical tabs and selectors.</a:t>
            </a:r>
          </a:p>
        </p:txBody>
      </p:sp>
      <p:sp>
        <p:nvSpPr>
          <p:cNvPr id="6" name="">
            <a:extLst xmlns:a="http://schemas.openxmlformats.org/drawingml/2006/main">
              <a:ext uri="{FF2B5EF4-FFF2-40B4-BE49-F238E27FC236}">
                <a16:creationId xmlns:a16="http://schemas.microsoft.com/office/drawing/2014/main" id="{4B5B63FC-D992-4901-ABDA-9A03E4A10DA3}"/>
              </a:ext>
            </a:extLst>
          </p:cNvPr>
          <p:cNvSpPr>
            <a:spLocks xmlns:a="http://schemas.openxmlformats.org/drawingml/2006/main" noGrp="1"/>
          </p:cNvSpPr>
          <p:nvPr/>
        </p:nvSpPr>
        <p:spPr>
          <a:xfrm xmlns:a="http://schemas.openxmlformats.org/drawingml/2006/main">
            <a:off x="400050" y="2381250"/>
            <a:ext cx="438150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i="0">
                <a:solidFill>
                  <a:srgbClr val="3D8DFF"/>
                </a:solidFill>
                <a:latin typeface="Arial"/>
                <a:ea typeface="Arial"/>
                <a:cs typeface="Arial"/>
              </a:defRPr>
            </a:pPr>
            <a:r>
              <a:t>85.8 / 100</a:t>
            </a:r>
          </a:p>
        </p:txBody>
      </p:sp>
      <p:sp>
        <p:nvSpPr>
          <p:cNvPr id="7" name="">
            <a:extLst xmlns:a="http://schemas.openxmlformats.org/drawingml/2006/main">
              <a:ext uri="{FF2B5EF4-FFF2-40B4-BE49-F238E27FC236}">
                <a16:creationId xmlns:a16="http://schemas.microsoft.com/office/drawing/2014/main" id="{429F0C46-1936-49ED-9352-46BD0CC03CA1}"/>
              </a:ext>
            </a:extLst>
          </p:cNvPr>
          <p:cNvSpPr>
            <a:spLocks xmlns:a="http://schemas.openxmlformats.org/drawingml/2006/main" noGrp="1"/>
          </p:cNvSpPr>
          <p:nvPr/>
        </p:nvSpPr>
        <p:spPr>
          <a:xfrm xmlns:a="http://schemas.openxmlformats.org/drawingml/2006/main">
            <a:off x="400050" y="3028950"/>
            <a:ext cx="44767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portfolio diagnostic proxy</a:t>
            </a:r>
          </a:p>
        </p:txBody>
      </p:sp>
      <p:sp>
        <p:nvSpPr>
          <p:cNvPr id="8" name="">
            <a:extLst xmlns:a="http://schemas.openxmlformats.org/drawingml/2006/main">
              <a:ext uri="{FF2B5EF4-FFF2-40B4-BE49-F238E27FC236}">
                <a16:creationId xmlns:a16="http://schemas.microsoft.com/office/drawing/2014/main" id="{D4B8627F-BCEC-41F5-956D-98DDC1DBAB4E}"/>
              </a:ext>
            </a:extLst>
          </p:cNvPr>
          <p:cNvSpPr>
            <a:spLocks xmlns:a="http://schemas.openxmlformats.org/drawingml/2006/main" noGrp="1"/>
          </p:cNvSpPr>
          <p:nvPr/>
        </p:nvSpPr>
        <p:spPr>
          <a:xfrm xmlns:a="http://schemas.openxmlformats.org/drawingml/2006/main">
            <a:off x="400050" y="3676650"/>
            <a:ext cx="447675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i="0">
                <a:solidFill>
                  <a:srgbClr val="C94F5A"/>
                </a:solidFill>
                <a:latin typeface="Arial"/>
                <a:ea typeface="Arial"/>
                <a:cs typeface="Arial"/>
              </a:defRPr>
            </a:pPr>
            <a:r>
              <a:t>7 unsafe outputs</a:t>
            </a:r>
          </a:p>
        </p:txBody>
      </p:sp>
      <p:sp>
        <p:nvSpPr>
          <p:cNvPr id="9" name="">
            <a:extLst xmlns:a="http://schemas.openxmlformats.org/drawingml/2006/main">
              <a:ext uri="{FF2B5EF4-FFF2-40B4-BE49-F238E27FC236}">
                <a16:creationId xmlns:a16="http://schemas.microsoft.com/office/drawing/2014/main" id="{E596FAFF-CF2B-4820-8241-C634E706CA4D}"/>
              </a:ext>
            </a:extLst>
          </p:cNvPr>
          <p:cNvSpPr>
            <a:spLocks xmlns:a="http://schemas.openxmlformats.org/drawingml/2006/main" noGrp="1"/>
          </p:cNvSpPr>
          <p:nvPr/>
        </p:nvSpPr>
        <p:spPr>
          <a:xfrm xmlns:a="http://schemas.openxmlformats.org/drawingml/2006/main">
            <a:off x="400050" y="4210050"/>
            <a:ext cx="447675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i="0">
                <a:solidFill>
                  <a:srgbClr val="168A82"/>
                </a:solidFill>
                <a:latin typeface="Arial"/>
                <a:ea typeface="Arial"/>
                <a:cs typeface="Arial"/>
              </a:defRPr>
            </a:pPr>
            <a:r>
              <a:t>2 minimum reviewers</a:t>
            </a:r>
          </a:p>
        </p:txBody>
      </p:sp>
      <p:sp>
        <p:nvSpPr>
          <p:cNvPr id="10" name="">
            <a:extLst xmlns:a="http://schemas.openxmlformats.org/drawingml/2006/main">
              <a:ext uri="{FF2B5EF4-FFF2-40B4-BE49-F238E27FC236}">
                <a16:creationId xmlns:a16="http://schemas.microsoft.com/office/drawing/2014/main" id="{365ADD12-FAF8-4FAC-A789-DDE516B987C7}"/>
              </a:ext>
            </a:extLst>
          </p:cNvPr>
          <p:cNvSpPr>
            <a:spLocks xmlns:a="http://schemas.openxmlformats.org/drawingml/2006/main" noGrp="1"/>
          </p:cNvSpPr>
          <p:nvPr/>
        </p:nvSpPr>
        <p:spPr>
          <a:xfrm xmlns:a="http://schemas.openxmlformats.org/drawingml/2006/main">
            <a:off x="400050" y="4953000"/>
            <a:ext cx="4572000" cy="666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111827"/>
                </a:solidFill>
                <a:latin typeface="Arial"/>
                <a:ea typeface="Arial"/>
                <a:cs typeface="Arial"/>
              </a:defRPr>
            </a:pPr>
            <a:r>
              <a:t>Required action: calibrate first, then validate in a closed loop.</a:t>
            </a:r>
          </a:p>
        </p:txBody>
      </p:sp>
      <p:sp>
        <p:nvSpPr>
          <p:cNvPr id="11" name="">
            <a:extLst xmlns:a="http://schemas.openxmlformats.org/drawingml/2006/main">
              <a:ext uri="{FF2B5EF4-FFF2-40B4-BE49-F238E27FC236}">
                <a16:creationId xmlns:a16="http://schemas.microsoft.com/office/drawing/2014/main" id="{C4F204E1-0238-465F-B769-4FEF06021FA3}"/>
              </a:ext>
            </a:extLst>
          </p:cNvPr>
          <p:cNvSpPr>
            <a:spLocks xmlns:a="http://schemas.openxmlformats.org/drawingml/2006/main" noGrp="1"/>
          </p:cNvSpPr>
          <p:nvPr/>
        </p:nvSpPr>
        <p:spPr>
          <a:xfrm xmlns:a="http://schemas.openxmlformats.org/drawingml/2006/main">
            <a:off x="5657850" y="1676400"/>
            <a:ext cx="6134100" cy="3848100"/>
          </a:xfrm>
          <a:prstGeom xmlns:a="http://schemas.openxmlformats.org/drawingml/2006/main" prst="roundRect">
            <a:avLst>
              <a:gd name="adj" fmla="val 1980"/>
            </a:avLst>
          </a:prstGeom>
          <a:solidFill xmlns:a="http://schemas.openxmlformats.org/drawingml/2006/main">
            <a:srgbClr val="FFFFFF"/>
          </a:solidFill>
          <a:ln xmlns:a="http://schemas.openxmlformats.org/drawingml/2006/main" w="19050">
            <a:solidFill>
              <a:srgbClr val="C9CED6"/>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0e92c27819749ae"/>
          <a:stretch xmlns:a="http://schemas.openxmlformats.org/drawingml/2006/main"/>
        </p:blipFill>
        <p:spPr>
          <a:xfrm xmlns:a="http://schemas.openxmlformats.org/drawingml/2006/main">
            <a:off x="5676900" y="1695450"/>
            <a:ext cx="6096000" cy="3810000"/>
          </a:xfrm>
          <a:prstGeom xmlns:a="http://schemas.openxmlformats.org/drawingml/2006/main" prst="roundRect">
            <a:avLst>
              <a:gd name="adj" fmla="val 2000"/>
            </a:avLst>
          </a:prstGeom>
        </p:spPr>
      </p:pic>
    </p:spTree>
    <p:extLst>
      <p:ext uri="{BB962C8B-B14F-4D97-AF65-F5344CB8AC3E}">
        <p14:creationId xmlns:p14="http://schemas.microsoft.com/office/powerpoint/2010/main" val="19053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E10D6CB-15B3-4189-ADA8-F9BBC4FC1A0B}"/>
              </a:ext>
            </a:extLst>
          </p:cNvPr>
          <p:cNvSpPr>
            <a:spLocks xmlns:a="http://schemas.openxmlformats.org/drawingml/2006/main" noGrp="1"/>
          </p:cNvSpPr>
          <p:nvPr/>
        </p:nvSpPr>
        <p:spPr>
          <a:xfrm xmlns:a="http://schemas.openxmlformats.org/drawingml/2006/main">
            <a:off x="400050" y="190500"/>
            <a:ext cx="6477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Arial"/>
                <a:ea typeface="Arial"/>
                <a:cs typeface="Arial"/>
              </a:defRPr>
            </a:pPr>
            <a:r>
              <a:t>WEEK 7 · PRODUCT MANAGER VIEW</a:t>
            </a:r>
          </a:p>
        </p:txBody>
      </p:sp>
      <p:sp>
        <p:nvSpPr>
          <p:cNvPr id="2" name="slide-10-title">
            <a:extLst xmlns:a="http://schemas.openxmlformats.org/drawingml/2006/main">
              <a:ext uri="{FF2B5EF4-FFF2-40B4-BE49-F238E27FC236}">
                <a16:creationId xmlns:a16="http://schemas.microsoft.com/office/drawing/2014/main" id="{33256737-6FEE-46B5-A0EA-730A921B848F}"/>
              </a:ext>
            </a:extLst>
          </p:cNvPr>
          <p:cNvSpPr>
            <a:spLocks xmlns:a="http://schemas.openxmlformats.org/drawingml/2006/main" noGrp="1"/>
          </p:cNvSpPr>
          <p:nvPr/>
        </p:nvSpPr>
        <p:spPr>
          <a:xfrm xmlns:a="http://schemas.openxmlformats.org/drawingml/2006/main">
            <a:off x="400050" y="476250"/>
            <a:ext cx="1133475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11827"/>
                </a:solidFill>
                <a:latin typeface="Arial"/>
                <a:ea typeface="Arial"/>
                <a:cs typeface="Arial"/>
              </a:defRPr>
            </a:pPr>
            <a:r>
              <a:t>Product managers see platform risk first</a:t>
            </a:r>
          </a:p>
        </p:txBody>
      </p:sp>
      <p:cxnSp>
        <p:nvCxnSpPr>
          <p:cNvPr id="14"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C9CED6"/>
            </a:solidFill>
            <a:prstDash val="solid"/>
          </a:ln>
        </p:spPr>
      </p:cxnSp>
      <p:sp>
        <p:nvSpPr>
          <p:cNvPr id="4" name="">
            <a:extLst xmlns:a="http://schemas.openxmlformats.org/drawingml/2006/main">
              <a:ext uri="{FF2B5EF4-FFF2-40B4-BE49-F238E27FC236}">
                <a16:creationId xmlns:a16="http://schemas.microsoft.com/office/drawing/2014/main" id="{1DCACB3F-1E2C-4068-9BD5-F9710AA24293}"/>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i="0">
                <a:solidFill>
                  <a:srgbClr val="8A94A3"/>
                </a:solidFill>
                <a:latin typeface="Arial"/>
                <a:ea typeface="Arial"/>
                <a:cs typeface="Arial"/>
              </a:defRPr>
            </a:pPr>
            <a:r>
              <a:t>10</a:t>
            </a:r>
          </a:p>
        </p:txBody>
      </p:sp>
      <p:sp>
        <p:nvSpPr>
          <p:cNvPr id="5" name="">
            <a:extLst xmlns:a="http://schemas.openxmlformats.org/drawingml/2006/main">
              <a:ext uri="{FF2B5EF4-FFF2-40B4-BE49-F238E27FC236}">
                <a16:creationId xmlns:a16="http://schemas.microsoft.com/office/drawing/2014/main" id="{5E2349B8-E740-4A5D-9E02-8F9DDDEDF153}"/>
              </a:ext>
            </a:extLst>
          </p:cNvPr>
          <p:cNvSpPr>
            <a:spLocks xmlns:a="http://schemas.openxmlformats.org/drawingml/2006/main" noGrp="1"/>
          </p:cNvSpPr>
          <p:nvPr/>
        </p:nvSpPr>
        <p:spPr>
          <a:xfrm xmlns:a="http://schemas.openxmlformats.org/drawingml/2006/main">
            <a:off x="400050" y="1438275"/>
            <a:ext cx="4857750" cy="552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566273"/>
                </a:solidFill>
                <a:latin typeface="Arial"/>
                <a:ea typeface="Arial"/>
                <a:cs typeface="Arial"/>
              </a:defRPr>
            </a:pPr>
            <a:r>
              <a:t>Two focused views replace the engineer dashboard with shorter copy.</a:t>
            </a:r>
          </a:p>
        </p:txBody>
      </p:sp>
      <p:sp>
        <p:nvSpPr>
          <p:cNvPr id="6" name="">
            <a:extLst xmlns:a="http://schemas.openxmlformats.org/drawingml/2006/main">
              <a:ext uri="{FF2B5EF4-FFF2-40B4-BE49-F238E27FC236}">
                <a16:creationId xmlns:a16="http://schemas.microsoft.com/office/drawing/2014/main" id="{CDA0DBBF-3AA7-434A-9485-721F0DA12CCC}"/>
              </a:ext>
            </a:extLst>
          </p:cNvPr>
          <p:cNvSpPr>
            <a:spLocks xmlns:a="http://schemas.openxmlformats.org/drawingml/2006/main" noGrp="1"/>
          </p:cNvSpPr>
          <p:nvPr/>
        </p:nvSpPr>
        <p:spPr>
          <a:xfrm xmlns:a="http://schemas.openxmlformats.org/drawingml/2006/main">
            <a:off x="400050" y="2381250"/>
            <a:ext cx="447675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C94F5A"/>
                </a:solidFill>
                <a:latin typeface="Arial"/>
                <a:ea typeface="Arial"/>
                <a:cs typeface="Arial"/>
              </a:defRPr>
            </a:pPr>
            <a:r>
              <a:t>Platform Risk</a:t>
            </a:r>
          </a:p>
        </p:txBody>
      </p:sp>
      <p:sp>
        <p:nvSpPr>
          <p:cNvPr id="7" name="">
            <a:extLst xmlns:a="http://schemas.openxmlformats.org/drawingml/2006/main">
              <a:ext uri="{FF2B5EF4-FFF2-40B4-BE49-F238E27FC236}">
                <a16:creationId xmlns:a16="http://schemas.microsoft.com/office/drawing/2014/main" id="{342A7C07-0686-4C53-991D-027AACBCF079}"/>
              </a:ext>
            </a:extLst>
          </p:cNvPr>
          <p:cNvSpPr>
            <a:spLocks xmlns:a="http://schemas.openxmlformats.org/drawingml/2006/main" noGrp="1"/>
          </p:cNvSpPr>
          <p:nvPr/>
        </p:nvSpPr>
        <p:spPr>
          <a:xfrm xmlns:a="http://schemas.openxmlformats.org/drawingml/2006/main">
            <a:off x="400050" y="2933700"/>
            <a:ext cx="4667250" cy="838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111827"/>
                </a:solidFill>
                <a:latin typeface="Arial"/>
                <a:ea typeface="Arial"/>
                <a:cs typeface="Arial"/>
              </a:defRPr>
            </a:pPr>
            <a:r>
              <a:t>Failure heat map with percentages
Three visible concerns per platform</a:t>
            </a:r>
          </a:p>
        </p:txBody>
      </p:sp>
      <p:sp>
        <p:nvSpPr>
          <p:cNvPr id="8" name="">
            <a:extLst xmlns:a="http://schemas.openxmlformats.org/drawingml/2006/main">
              <a:ext uri="{FF2B5EF4-FFF2-40B4-BE49-F238E27FC236}">
                <a16:creationId xmlns:a16="http://schemas.microsoft.com/office/drawing/2014/main" id="{44AA0749-E039-4EB4-AF91-E09E47D47D71}"/>
              </a:ext>
            </a:extLst>
          </p:cNvPr>
          <p:cNvSpPr>
            <a:spLocks xmlns:a="http://schemas.openxmlformats.org/drawingml/2006/main" noGrp="1"/>
          </p:cNvSpPr>
          <p:nvPr/>
        </p:nvSpPr>
        <p:spPr>
          <a:xfrm xmlns:a="http://schemas.openxmlformats.org/drawingml/2006/main">
            <a:off x="400050" y="4114800"/>
            <a:ext cx="447675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3D8DFF"/>
                </a:solidFill>
                <a:latin typeface="Arial"/>
                <a:ea typeface="Arial"/>
                <a:cs typeface="Arial"/>
              </a:defRPr>
            </a:pPr>
            <a:r>
              <a:t>RAG Readiness</a:t>
            </a:r>
          </a:p>
        </p:txBody>
      </p:sp>
      <p:sp>
        <p:nvSpPr>
          <p:cNvPr id="9" name="">
            <a:extLst xmlns:a="http://schemas.openxmlformats.org/drawingml/2006/main">
              <a:ext uri="{FF2B5EF4-FFF2-40B4-BE49-F238E27FC236}">
                <a16:creationId xmlns:a16="http://schemas.microsoft.com/office/drawing/2014/main" id="{6B7476BE-6588-417B-A47C-EB60340569CB}"/>
              </a:ext>
            </a:extLst>
          </p:cNvPr>
          <p:cNvSpPr>
            <a:spLocks xmlns:a="http://schemas.openxmlformats.org/drawingml/2006/main" noGrp="1"/>
          </p:cNvSpPr>
          <p:nvPr/>
        </p:nvSpPr>
        <p:spPr>
          <a:xfrm xmlns:a="http://schemas.openxmlformats.org/drawingml/2006/main">
            <a:off x="400050" y="4667250"/>
            <a:ext cx="4762500" cy="838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111827"/>
                </a:solidFill>
                <a:latin typeface="Arial"/>
                <a:ea typeface="Arial"/>
                <a:cs typeface="Arial"/>
              </a:defRPr>
            </a:pPr>
            <a:r>
              <a:t>Fari and Senpai Base/RAG comparison
Deployment status remains “Not established”</a:t>
            </a:r>
          </a:p>
        </p:txBody>
      </p:sp>
      <p:sp>
        <p:nvSpPr>
          <p:cNvPr id="10" name="">
            <a:extLst xmlns:a="http://schemas.openxmlformats.org/drawingml/2006/main">
              <a:ext uri="{FF2B5EF4-FFF2-40B4-BE49-F238E27FC236}">
                <a16:creationId xmlns:a16="http://schemas.microsoft.com/office/drawing/2014/main" id="{5AF43CE9-088E-447E-92CE-CF5027B5AF14}"/>
              </a:ext>
            </a:extLst>
          </p:cNvPr>
          <p:cNvSpPr>
            <a:spLocks xmlns:a="http://schemas.openxmlformats.org/drawingml/2006/main" noGrp="1"/>
          </p:cNvSpPr>
          <p:nvPr/>
        </p:nvSpPr>
        <p:spPr>
          <a:xfrm xmlns:a="http://schemas.openxmlformats.org/drawingml/2006/main">
            <a:off x="5657850" y="1676400"/>
            <a:ext cx="6134100" cy="3848100"/>
          </a:xfrm>
          <a:prstGeom xmlns:a="http://schemas.openxmlformats.org/drawingml/2006/main" prst="roundRect">
            <a:avLst>
              <a:gd name="adj" fmla="val 1980"/>
            </a:avLst>
          </a:prstGeom>
          <a:solidFill xmlns:a="http://schemas.openxmlformats.org/drawingml/2006/main">
            <a:srgbClr val="FFFFFF"/>
          </a:solidFill>
          <a:ln xmlns:a="http://schemas.openxmlformats.org/drawingml/2006/main" w="19050">
            <a:solidFill>
              <a:srgbClr val="C9CED6"/>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02d26b0ad224211"/>
          <a:stretch xmlns:a="http://schemas.openxmlformats.org/drawingml/2006/main"/>
        </p:blipFill>
        <p:spPr>
          <a:xfrm xmlns:a="http://schemas.openxmlformats.org/drawingml/2006/main">
            <a:off x="5676900" y="1695450"/>
            <a:ext cx="6096000" cy="3810000"/>
          </a:xfrm>
          <a:prstGeom xmlns:a="http://schemas.openxmlformats.org/drawingml/2006/main" prst="roundRect">
            <a:avLst>
              <a:gd name="adj" fmla="val 2000"/>
            </a:avLst>
          </a:prstGeom>
        </p:spPr>
      </p:pic>
    </p:spTree>
    <p:extLst>
      <p:ext uri="{BB962C8B-B14F-4D97-AF65-F5344CB8AC3E}">
        <p14:creationId xmlns:p14="http://schemas.microsoft.com/office/powerpoint/2010/main" val="17168184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EF198F8-942F-4634-AF6F-6A8769726E39}"/>
              </a:ext>
            </a:extLst>
          </p:cNvPr>
          <p:cNvSpPr>
            <a:spLocks xmlns:a="http://schemas.openxmlformats.org/drawingml/2006/main" noGrp="1"/>
          </p:cNvSpPr>
          <p:nvPr/>
        </p:nvSpPr>
        <p:spPr>
          <a:xfrm xmlns:a="http://schemas.openxmlformats.org/drawingml/2006/main">
            <a:off x="400050" y="190500"/>
            <a:ext cx="6477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Arial"/>
                <a:ea typeface="Arial"/>
                <a:cs typeface="Arial"/>
              </a:defRPr>
            </a:pPr>
            <a:r>
              <a:t>WEEK 7 · ENGINEER VIEW</a:t>
            </a:r>
          </a:p>
        </p:txBody>
      </p:sp>
      <p:sp>
        <p:nvSpPr>
          <p:cNvPr id="2" name="slide-11-title">
            <a:extLst xmlns:a="http://schemas.openxmlformats.org/drawingml/2006/main">
              <a:ext uri="{FF2B5EF4-FFF2-40B4-BE49-F238E27FC236}">
                <a16:creationId xmlns:a16="http://schemas.microsoft.com/office/drawing/2014/main" id="{FC69E606-7582-43D9-B513-555FBC86A6B1}"/>
              </a:ext>
            </a:extLst>
          </p:cNvPr>
          <p:cNvSpPr>
            <a:spLocks xmlns:a="http://schemas.openxmlformats.org/drawingml/2006/main" noGrp="1"/>
          </p:cNvSpPr>
          <p:nvPr/>
        </p:nvSpPr>
        <p:spPr>
          <a:xfrm xmlns:a="http://schemas.openxmlformats.org/drawingml/2006/main">
            <a:off x="400050" y="476250"/>
            <a:ext cx="1133475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11827"/>
                </a:solidFill>
                <a:latin typeface="Arial"/>
                <a:ea typeface="Arial"/>
                <a:cs typeface="Arial"/>
              </a:defRPr>
            </a:pPr>
            <a:r>
              <a:t>All 18 RAG cells remain visible</a:t>
            </a:r>
          </a:p>
        </p:txBody>
      </p:sp>
      <p:cxnSp>
        <p:nvCxnSpPr>
          <p:cNvPr id="15"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C9CED6"/>
            </a:solidFill>
            <a:prstDash val="solid"/>
          </a:ln>
        </p:spPr>
      </p:cxnSp>
      <p:sp>
        <p:nvSpPr>
          <p:cNvPr id="4" name="">
            <a:extLst xmlns:a="http://schemas.openxmlformats.org/drawingml/2006/main">
              <a:ext uri="{FF2B5EF4-FFF2-40B4-BE49-F238E27FC236}">
                <a16:creationId xmlns:a16="http://schemas.microsoft.com/office/drawing/2014/main" id="{9A6E1FE2-805B-4AB0-9EED-E6AB5FBAB0BE}"/>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i="0">
                <a:solidFill>
                  <a:srgbClr val="8A94A3"/>
                </a:solidFill>
                <a:latin typeface="Arial"/>
                <a:ea typeface="Arial"/>
                <a:cs typeface="Arial"/>
              </a:defRPr>
            </a:pPr>
            <a:r>
              <a:t>11</a:t>
            </a:r>
          </a:p>
        </p:txBody>
      </p:sp>
      <p:sp>
        <p:nvSpPr>
          <p:cNvPr id="5" name="">
            <a:extLst xmlns:a="http://schemas.openxmlformats.org/drawingml/2006/main">
              <a:ext uri="{FF2B5EF4-FFF2-40B4-BE49-F238E27FC236}">
                <a16:creationId xmlns:a16="http://schemas.microsoft.com/office/drawing/2014/main" id="{6CEA4D60-AACA-4C61-A3EC-C13DCEBF7C99}"/>
              </a:ext>
            </a:extLst>
          </p:cNvPr>
          <p:cNvSpPr>
            <a:spLocks xmlns:a="http://schemas.openxmlformats.org/drawingml/2006/main" noGrp="1"/>
          </p:cNvSpPr>
          <p:nvPr/>
        </p:nvSpPr>
        <p:spPr>
          <a:xfrm xmlns:a="http://schemas.openxmlformats.org/drawingml/2006/main">
            <a:off x="400050" y="1438275"/>
            <a:ext cx="476250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566273"/>
                </a:solidFill>
                <a:latin typeface="Arial"/>
                <a:ea typeface="Arial"/>
                <a:cs typeface="Arial"/>
              </a:defRPr>
            </a:pPr>
            <a:r>
              <a:t>Auditability is the engineer view's primary job.</a:t>
            </a:r>
          </a:p>
        </p:txBody>
      </p:sp>
      <p:sp>
        <p:nvSpPr>
          <p:cNvPr id="6" name="">
            <a:extLst xmlns:a="http://schemas.openxmlformats.org/drawingml/2006/main">
              <a:ext uri="{FF2B5EF4-FFF2-40B4-BE49-F238E27FC236}">
                <a16:creationId xmlns:a16="http://schemas.microsoft.com/office/drawing/2014/main" id="{F7770751-EFB7-41D1-B624-1B1F3B28F8D5}"/>
              </a:ext>
            </a:extLst>
          </p:cNvPr>
          <p:cNvSpPr>
            <a:spLocks xmlns:a="http://schemas.openxmlformats.org/drawingml/2006/main" noGrp="1"/>
          </p:cNvSpPr>
          <p:nvPr/>
        </p:nvSpPr>
        <p:spPr>
          <a:xfrm xmlns:a="http://schemas.openxmlformats.org/drawingml/2006/main">
            <a:off x="400050" y="2266950"/>
            <a:ext cx="1333500" cy="628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3D8DFF"/>
                </a:solidFill>
                <a:latin typeface="Arial"/>
                <a:ea typeface="Arial"/>
                <a:cs typeface="Arial"/>
              </a:defRPr>
            </a:pPr>
            <a:r>
              <a:t>18</a:t>
            </a:r>
          </a:p>
        </p:txBody>
      </p:sp>
      <p:sp>
        <p:nvSpPr>
          <p:cNvPr id="7" name="">
            <a:extLst xmlns:a="http://schemas.openxmlformats.org/drawingml/2006/main">
              <a:ext uri="{FF2B5EF4-FFF2-40B4-BE49-F238E27FC236}">
                <a16:creationId xmlns:a16="http://schemas.microsoft.com/office/drawing/2014/main" id="{11C1F662-A6A6-44D9-BB13-1F5B15B413E4}"/>
              </a:ext>
            </a:extLst>
          </p:cNvPr>
          <p:cNvSpPr>
            <a:spLocks xmlns:a="http://schemas.openxmlformats.org/drawingml/2006/main" noGrp="1"/>
          </p:cNvSpPr>
          <p:nvPr/>
        </p:nvSpPr>
        <p:spPr>
          <a:xfrm xmlns:a="http://schemas.openxmlformats.org/drawingml/2006/main">
            <a:off x="1771650" y="2428875"/>
            <a:ext cx="28575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i="0">
                <a:solidFill>
                  <a:srgbClr val="111827"/>
                </a:solidFill>
                <a:latin typeface="Arial"/>
                <a:ea typeface="Arial"/>
                <a:cs typeface="Arial"/>
              </a:defRPr>
            </a:pPr>
            <a:r>
              <a:t>RAG cells</a:t>
            </a:r>
          </a:p>
        </p:txBody>
      </p:sp>
      <p:sp>
        <p:nvSpPr>
          <p:cNvPr id="8" name="">
            <a:extLst xmlns:a="http://schemas.openxmlformats.org/drawingml/2006/main">
              <a:ext uri="{FF2B5EF4-FFF2-40B4-BE49-F238E27FC236}">
                <a16:creationId xmlns:a16="http://schemas.microsoft.com/office/drawing/2014/main" id="{62DD2BB1-8EB0-41B8-AB53-0F520F191E74}"/>
              </a:ext>
            </a:extLst>
          </p:cNvPr>
          <p:cNvSpPr>
            <a:spLocks xmlns:a="http://schemas.openxmlformats.org/drawingml/2006/main" noGrp="1"/>
          </p:cNvSpPr>
          <p:nvPr/>
        </p:nvSpPr>
        <p:spPr>
          <a:xfrm xmlns:a="http://schemas.openxmlformats.org/drawingml/2006/main">
            <a:off x="400050" y="3219450"/>
            <a:ext cx="1333500" cy="628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i="0">
                <a:solidFill>
                  <a:srgbClr val="168A82"/>
                </a:solidFill>
                <a:latin typeface="Arial"/>
                <a:ea typeface="Arial"/>
                <a:cs typeface="Arial"/>
              </a:defRPr>
            </a:pPr>
            <a:r>
              <a:t>3</a:t>
            </a:r>
          </a:p>
        </p:txBody>
      </p:sp>
      <p:sp>
        <p:nvSpPr>
          <p:cNvPr id="9" name="">
            <a:extLst xmlns:a="http://schemas.openxmlformats.org/drawingml/2006/main">
              <a:ext uri="{FF2B5EF4-FFF2-40B4-BE49-F238E27FC236}">
                <a16:creationId xmlns:a16="http://schemas.microsoft.com/office/drawing/2014/main" id="{A1D70973-641F-42C9-A51B-F2F290CE95E0}"/>
              </a:ext>
            </a:extLst>
          </p:cNvPr>
          <p:cNvSpPr>
            <a:spLocks xmlns:a="http://schemas.openxmlformats.org/drawingml/2006/main" noGrp="1"/>
          </p:cNvSpPr>
          <p:nvPr/>
        </p:nvSpPr>
        <p:spPr>
          <a:xfrm xmlns:a="http://schemas.openxmlformats.org/drawingml/2006/main">
            <a:off x="1771650" y="3381375"/>
            <a:ext cx="28575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i="0">
                <a:solidFill>
                  <a:srgbClr val="111827"/>
                </a:solidFill>
                <a:latin typeface="Arial"/>
                <a:ea typeface="Arial"/>
                <a:cs typeface="Arial"/>
              </a:defRPr>
            </a:pPr>
            <a:r>
              <a:t>Pareto-optimal</a:t>
            </a:r>
          </a:p>
        </p:txBody>
      </p:sp>
      <p:sp>
        <p:nvSpPr>
          <p:cNvPr id="10" name="">
            <a:extLst xmlns:a="http://schemas.openxmlformats.org/drawingml/2006/main">
              <a:ext uri="{FF2B5EF4-FFF2-40B4-BE49-F238E27FC236}">
                <a16:creationId xmlns:a16="http://schemas.microsoft.com/office/drawing/2014/main" id="{F0DECCF9-99EF-495A-9078-DC6B1F2F5C2C}"/>
              </a:ext>
            </a:extLst>
          </p:cNvPr>
          <p:cNvSpPr>
            <a:spLocks xmlns:a="http://schemas.openxmlformats.org/drawingml/2006/main" noGrp="1"/>
          </p:cNvSpPr>
          <p:nvPr/>
        </p:nvSpPr>
        <p:spPr>
          <a:xfrm xmlns:a="http://schemas.openxmlformats.org/drawingml/2006/main">
            <a:off x="400050" y="4438650"/>
            <a:ext cx="4762500" cy="1028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111827"/>
                </a:solidFill>
                <a:latin typeface="Arial"/>
                <a:ea typeface="Arial"/>
                <a:cs typeface="Arial"/>
              </a:defRPr>
            </a:pPr>
            <a:r>
              <a:t>Every view retains model revision, evaluation version, seed, evidence status, and reproduction path.</a:t>
            </a:r>
          </a:p>
        </p:txBody>
      </p:sp>
      <p:sp>
        <p:nvSpPr>
          <p:cNvPr id="11" name="">
            <a:extLst xmlns:a="http://schemas.openxmlformats.org/drawingml/2006/main">
              <a:ext uri="{FF2B5EF4-FFF2-40B4-BE49-F238E27FC236}">
                <a16:creationId xmlns:a16="http://schemas.microsoft.com/office/drawing/2014/main" id="{554BBD1B-DC63-497D-AC42-DB92B254325E}"/>
              </a:ext>
            </a:extLst>
          </p:cNvPr>
          <p:cNvSpPr>
            <a:spLocks xmlns:a="http://schemas.openxmlformats.org/drawingml/2006/main" noGrp="1"/>
          </p:cNvSpPr>
          <p:nvPr/>
        </p:nvSpPr>
        <p:spPr>
          <a:xfrm xmlns:a="http://schemas.openxmlformats.org/drawingml/2006/main">
            <a:off x="5657850" y="1676400"/>
            <a:ext cx="6134100" cy="3848100"/>
          </a:xfrm>
          <a:prstGeom xmlns:a="http://schemas.openxmlformats.org/drawingml/2006/main" prst="roundRect">
            <a:avLst>
              <a:gd name="adj" fmla="val 1980"/>
            </a:avLst>
          </a:prstGeom>
          <a:solidFill xmlns:a="http://schemas.openxmlformats.org/drawingml/2006/main">
            <a:srgbClr val="FFFFFF"/>
          </a:solidFill>
          <a:ln xmlns:a="http://schemas.openxmlformats.org/drawingml/2006/main" w="19050">
            <a:solidFill>
              <a:srgbClr val="C9CED6"/>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8b4749d5e5c4c79"/>
          <a:stretch xmlns:a="http://schemas.openxmlformats.org/drawingml/2006/main"/>
        </p:blipFill>
        <p:spPr>
          <a:xfrm xmlns:a="http://schemas.openxmlformats.org/drawingml/2006/main">
            <a:off x="5676900" y="1695450"/>
            <a:ext cx="6096000" cy="3810000"/>
          </a:xfrm>
          <a:prstGeom xmlns:a="http://schemas.openxmlformats.org/drawingml/2006/main" prst="roundRect">
            <a:avLst>
              <a:gd name="adj" fmla="val 2000"/>
            </a:avLst>
          </a:prstGeom>
        </p:spPr>
      </p:pic>
    </p:spTree>
    <p:extLst>
      <p:ext uri="{BB962C8B-B14F-4D97-AF65-F5344CB8AC3E}">
        <p14:creationId xmlns:p14="http://schemas.microsoft.com/office/powerpoint/2010/main" val="208968786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BAA025D-4BC2-4F21-9C30-2746EEBC3675}"/>
              </a:ext>
            </a:extLst>
          </p:cNvPr>
          <p:cNvSpPr>
            <a:spLocks xmlns:a="http://schemas.openxmlformats.org/drawingml/2006/main" noGrp="1"/>
          </p:cNvSpPr>
          <p:nvPr/>
        </p:nvSpPr>
        <p:spPr>
          <a:xfrm xmlns:a="http://schemas.openxmlformats.org/drawingml/2006/main">
            <a:off x="400050" y="190500"/>
            <a:ext cx="6477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Arial"/>
                <a:ea typeface="Arial"/>
                <a:cs typeface="Arial"/>
              </a:defRPr>
            </a:pPr>
            <a:r>
              <a:t>WEEK 7 · VERIFIED CORRECTION</a:t>
            </a:r>
          </a:p>
        </p:txBody>
      </p:sp>
      <p:sp>
        <p:nvSpPr>
          <p:cNvPr id="2" name="slide-12-title">
            <a:extLst xmlns:a="http://schemas.openxmlformats.org/drawingml/2006/main">
              <a:ext uri="{FF2B5EF4-FFF2-40B4-BE49-F238E27FC236}">
                <a16:creationId xmlns:a16="http://schemas.microsoft.com/office/drawing/2014/main" id="{3DFAB806-F40A-41AD-B514-03F6FF763F26}"/>
              </a:ext>
            </a:extLst>
          </p:cNvPr>
          <p:cNvSpPr>
            <a:spLocks xmlns:a="http://schemas.openxmlformats.org/drawingml/2006/main" noGrp="1"/>
          </p:cNvSpPr>
          <p:nvPr/>
        </p:nvSpPr>
        <p:spPr>
          <a:xfrm xmlns:a="http://schemas.openxmlformats.org/drawingml/2006/main">
            <a:off x="400050" y="476250"/>
            <a:ext cx="1133475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11827"/>
                </a:solidFill>
                <a:latin typeface="Arial"/>
                <a:ea typeface="Arial"/>
                <a:cs typeface="Arial"/>
              </a:defRPr>
            </a:pPr>
            <a:r>
              <a:t>Version 1.2 fixed role separation and contrast</a:t>
            </a:r>
          </a:p>
        </p:txBody>
      </p:sp>
      <p:cxnSp>
        <p:nvCxnSpPr>
          <p:cNvPr id="23"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C9CED6"/>
            </a:solidFill>
            <a:prstDash val="solid"/>
          </a:ln>
        </p:spPr>
      </p:cxnSp>
      <p:sp>
        <p:nvSpPr>
          <p:cNvPr id="4" name="">
            <a:extLst xmlns:a="http://schemas.openxmlformats.org/drawingml/2006/main">
              <a:ext uri="{FF2B5EF4-FFF2-40B4-BE49-F238E27FC236}">
                <a16:creationId xmlns:a16="http://schemas.microsoft.com/office/drawing/2014/main" id="{D0E01037-0E0F-488F-9652-F19F69CB3BC4}"/>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i="0">
                <a:solidFill>
                  <a:srgbClr val="8A94A3"/>
                </a:solidFill>
                <a:latin typeface="Arial"/>
                <a:ea typeface="Arial"/>
                <a:cs typeface="Arial"/>
              </a:defRPr>
            </a:pPr>
            <a:r>
              <a:t>12</a:t>
            </a:r>
          </a:p>
        </p:txBody>
      </p:sp>
      <p:sp>
        <p:nvSpPr>
          <p:cNvPr id="5" name="">
            <a:extLst xmlns:a="http://schemas.openxmlformats.org/drawingml/2006/main">
              <a:ext uri="{FF2B5EF4-FFF2-40B4-BE49-F238E27FC236}">
                <a16:creationId xmlns:a16="http://schemas.microsoft.com/office/drawing/2014/main" id="{587BCCA3-B1FD-41D4-90DA-5AD46F6EC324}"/>
              </a:ext>
            </a:extLst>
          </p:cNvPr>
          <p:cNvSpPr>
            <a:spLocks xmlns:a="http://schemas.openxmlformats.org/drawingml/2006/main" noGrp="1"/>
          </p:cNvSpPr>
          <p:nvPr/>
        </p:nvSpPr>
        <p:spPr>
          <a:xfrm xmlns:a="http://schemas.openxmlformats.org/drawingml/2006/main">
            <a:off x="400050" y="1438275"/>
            <a:ext cx="106680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566273"/>
                </a:solidFill>
                <a:latin typeface="Arial"/>
                <a:ea typeface="Arial"/>
                <a:cs typeface="Arial"/>
              </a:defRPr>
            </a:pPr>
            <a:r>
              <a:t>User review exposed two real interface defects in v1.1.</a:t>
            </a:r>
          </a:p>
        </p:txBody>
      </p:sp>
      <p:sp>
        <p:nvSpPr>
          <p:cNvPr id="6" name="">
            <a:extLst xmlns:a="http://schemas.openxmlformats.org/drawingml/2006/main">
              <a:ext uri="{FF2B5EF4-FFF2-40B4-BE49-F238E27FC236}">
                <a16:creationId xmlns:a16="http://schemas.microsoft.com/office/drawing/2014/main" id="{7499FFC9-8DD4-456B-A305-7E18D99FA6A7}"/>
              </a:ext>
            </a:extLst>
          </p:cNvPr>
          <p:cNvSpPr>
            <a:spLocks xmlns:a="http://schemas.openxmlformats.org/drawingml/2006/main" noGrp="1"/>
          </p:cNvSpPr>
          <p:nvPr/>
        </p:nvSpPr>
        <p:spPr>
          <a:xfrm xmlns:a="http://schemas.openxmlformats.org/drawingml/2006/main">
            <a:off x="666750" y="2209800"/>
            <a:ext cx="400050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i="0">
                <a:solidFill>
                  <a:srgbClr val="C94F5A"/>
                </a:solidFill>
                <a:latin typeface="Arial"/>
                <a:ea typeface="Arial"/>
                <a:cs typeface="Arial"/>
              </a:defRPr>
            </a:pPr>
            <a:r>
              <a:t>Observed</a:t>
            </a:r>
          </a:p>
        </p:txBody>
      </p:sp>
      <p:sp>
        <p:nvSpPr>
          <p:cNvPr id="7" name="">
            <a:extLst xmlns:a="http://schemas.openxmlformats.org/drawingml/2006/main">
              <a:ext uri="{FF2B5EF4-FFF2-40B4-BE49-F238E27FC236}">
                <a16:creationId xmlns:a16="http://schemas.microsoft.com/office/drawing/2014/main" id="{CFA2FFC9-BDCF-43CA-B51B-2EB696238529}"/>
              </a:ext>
            </a:extLst>
          </p:cNvPr>
          <p:cNvSpPr>
            <a:spLocks xmlns:a="http://schemas.openxmlformats.org/drawingml/2006/main" noGrp="1"/>
          </p:cNvSpPr>
          <p:nvPr/>
        </p:nvSpPr>
        <p:spPr>
          <a:xfrm xmlns:a="http://schemas.openxmlformats.org/drawingml/2006/main">
            <a:off x="666750" y="2800350"/>
            <a:ext cx="4476750" cy="1200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111827"/>
                </a:solidFill>
                <a:latin typeface="Arial"/>
                <a:ea typeface="Arial"/>
                <a:cs typeface="Arial"/>
              </a:defRPr>
            </a:pPr>
            <a:r>
              <a:t>• Native labels became white on a light background
• Persona modes exposed nearly the same technical content</a:t>
            </a:r>
          </a:p>
        </p:txBody>
      </p:sp>
      <p:cxnSp>
        <p:nvCxnSpPr>
          <p:cNvPr id="28" name=""/>
          <p:cNvCxnSpPr/>
          <p:nvPr/>
        </p:nvCxnSpPr>
        <p:spPr>
          <a:xfrm xmlns:a="http://schemas.openxmlformats.org/drawingml/2006/main">
            <a:off x="5905500" y="2019300"/>
            <a:ext cx="95" cy="2266950"/>
          </a:xfrm>
          <a:prstGeom xmlns:a="http://schemas.openxmlformats.org/drawingml/2006/main" prst="straightConnector1">
            <a:avLst/>
          </a:prstGeom>
          <a:ln xmlns:a="http://schemas.openxmlformats.org/drawingml/2006/main" w="9525">
            <a:solidFill>
              <a:srgbClr val="C9CED6"/>
            </a:solidFill>
            <a:prstDash val="solid"/>
          </a:ln>
        </p:spPr>
      </p:cxnSp>
      <p:sp>
        <p:nvSpPr>
          <p:cNvPr id="9" name="">
            <a:extLst xmlns:a="http://schemas.openxmlformats.org/drawingml/2006/main">
              <a:ext uri="{FF2B5EF4-FFF2-40B4-BE49-F238E27FC236}">
                <a16:creationId xmlns:a16="http://schemas.microsoft.com/office/drawing/2014/main" id="{7F37739B-586A-449B-9076-3C38E1B5233C}"/>
              </a:ext>
            </a:extLst>
          </p:cNvPr>
          <p:cNvSpPr>
            <a:spLocks xmlns:a="http://schemas.openxmlformats.org/drawingml/2006/main" noGrp="1"/>
          </p:cNvSpPr>
          <p:nvPr/>
        </p:nvSpPr>
        <p:spPr>
          <a:xfrm xmlns:a="http://schemas.openxmlformats.org/drawingml/2006/main">
            <a:off x="6477000" y="2209800"/>
            <a:ext cx="428625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i="0">
                <a:solidFill>
                  <a:srgbClr val="248A5A"/>
                </a:solidFill>
                <a:latin typeface="Arial"/>
                <a:ea typeface="Arial"/>
                <a:cs typeface="Arial"/>
              </a:defRPr>
            </a:pPr>
            <a:r>
              <a:t>Resolved</a:t>
            </a:r>
          </a:p>
        </p:txBody>
      </p:sp>
      <p:sp>
        <p:nvSpPr>
          <p:cNvPr id="10" name="">
            <a:extLst xmlns:a="http://schemas.openxmlformats.org/drawingml/2006/main">
              <a:ext uri="{FF2B5EF4-FFF2-40B4-BE49-F238E27FC236}">
                <a16:creationId xmlns:a16="http://schemas.microsoft.com/office/drawing/2014/main" id="{D888B080-DD8A-4357-8D86-E1A56D16248C}"/>
              </a:ext>
            </a:extLst>
          </p:cNvPr>
          <p:cNvSpPr>
            <a:spLocks xmlns:a="http://schemas.openxmlformats.org/drawingml/2006/main" noGrp="1"/>
          </p:cNvSpPr>
          <p:nvPr/>
        </p:nvSpPr>
        <p:spPr>
          <a:xfrm xmlns:a="http://schemas.openxmlformats.org/drawingml/2006/main">
            <a:off x="6477000" y="2800350"/>
            <a:ext cx="4667250" cy="1352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111827"/>
                </a:solidFill>
                <a:latin typeface="Arial"/>
                <a:ea typeface="Arial"/>
                <a:cs typeface="Arial"/>
              </a:defRPr>
            </a:pPr>
            <a:r>
              <a:t>• Explicit light theme and contrast overrides
• Three distinct information architectures
• Correct 11-CSV audit wording and clearer tab purpose</a:t>
            </a:r>
          </a:p>
        </p:txBody>
      </p:sp>
      <p:cxnSp>
        <p:nvCxnSpPr>
          <p:cNvPr id="31" name=""/>
          <p:cNvCxnSpPr/>
          <p:nvPr/>
        </p:nvCxnSpPr>
        <p:spPr>
          <a:xfrm xmlns:a="http://schemas.openxmlformats.org/drawingml/2006/main">
            <a:off x="400050" y="4514850"/>
            <a:ext cx="11353800" cy="95"/>
          </a:xfrm>
          <a:prstGeom xmlns:a="http://schemas.openxmlformats.org/drawingml/2006/main" prst="straightConnector1">
            <a:avLst/>
          </a:prstGeom>
          <a:ln xmlns:a="http://schemas.openxmlformats.org/drawingml/2006/main" w="9525">
            <a:solidFill>
              <a:srgbClr val="C9CED6"/>
            </a:solidFill>
            <a:prstDash val="solid"/>
          </a:ln>
        </p:spPr>
      </p:cxnSp>
      <p:sp>
        <p:nvSpPr>
          <p:cNvPr id="12" name="">
            <a:extLst xmlns:a="http://schemas.openxmlformats.org/drawingml/2006/main">
              <a:ext uri="{FF2B5EF4-FFF2-40B4-BE49-F238E27FC236}">
                <a16:creationId xmlns:a16="http://schemas.microsoft.com/office/drawing/2014/main" id="{E5C078F1-72B3-4CD6-B4CD-18421E295A1A}"/>
              </a:ext>
            </a:extLst>
          </p:cNvPr>
          <p:cNvSpPr>
            <a:spLocks xmlns:a="http://schemas.openxmlformats.org/drawingml/2006/main" noGrp="1"/>
          </p:cNvSpPr>
          <p:nvPr/>
        </p:nvSpPr>
        <p:spPr>
          <a:xfrm xmlns:a="http://schemas.openxmlformats.org/drawingml/2006/main">
            <a:off x="666750" y="4762500"/>
            <a:ext cx="2571750"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i="0">
                <a:solidFill>
                  <a:srgbClr val="3D8DFF"/>
                </a:solidFill>
                <a:latin typeface="Arial"/>
                <a:ea typeface="Arial"/>
                <a:cs typeface="Arial"/>
              </a:defRPr>
            </a:pPr>
            <a:r>
              <a:t>18 / 18</a:t>
            </a:r>
          </a:p>
        </p:txBody>
      </p:sp>
      <p:cxnSp>
        <p:nvCxnSpPr>
          <p:cNvPr id="33" name=""/>
          <p:cNvCxnSpPr/>
          <p:nvPr/>
        </p:nvCxnSpPr>
        <p:spPr>
          <a:xfrm xmlns:a="http://schemas.openxmlformats.org/drawingml/2006/main">
            <a:off x="666750" y="5600700"/>
            <a:ext cx="2495550" cy="95"/>
          </a:xfrm>
          <a:prstGeom xmlns:a="http://schemas.openxmlformats.org/drawingml/2006/main" prst="straightConnector1">
            <a:avLst/>
          </a:prstGeom>
          <a:ln xmlns:a="http://schemas.openxmlformats.org/drawingml/2006/main" w="28575">
            <a:solidFill>
              <a:srgbClr val="3D8DFF"/>
            </a:solidFill>
            <a:prstDash val="solid"/>
          </a:ln>
        </p:spPr>
      </p:cxnSp>
      <p:sp>
        <p:nvSpPr>
          <p:cNvPr id="14" name="">
            <a:extLst xmlns:a="http://schemas.openxmlformats.org/drawingml/2006/main">
              <a:ext uri="{FF2B5EF4-FFF2-40B4-BE49-F238E27FC236}">
                <a16:creationId xmlns:a16="http://schemas.microsoft.com/office/drawing/2014/main" id="{B5393DF9-3A45-4739-B711-F2265036A84A}"/>
              </a:ext>
            </a:extLst>
          </p:cNvPr>
          <p:cNvSpPr>
            <a:spLocks xmlns:a="http://schemas.openxmlformats.org/drawingml/2006/main" noGrp="1"/>
          </p:cNvSpPr>
          <p:nvPr/>
        </p:nvSpPr>
        <p:spPr>
          <a:xfrm xmlns:a="http://schemas.openxmlformats.org/drawingml/2006/main">
            <a:off x="666750" y="5753100"/>
            <a:ext cx="25717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automated tests</a:t>
            </a:r>
          </a:p>
        </p:txBody>
      </p:sp>
      <p:sp>
        <p:nvSpPr>
          <p:cNvPr id="15" name="">
            <a:extLst xmlns:a="http://schemas.openxmlformats.org/drawingml/2006/main">
              <a:ext uri="{FF2B5EF4-FFF2-40B4-BE49-F238E27FC236}">
                <a16:creationId xmlns:a16="http://schemas.microsoft.com/office/drawing/2014/main" id="{4C9A040D-93F4-4C4D-B55E-B29C40C90686}"/>
              </a:ext>
            </a:extLst>
          </p:cNvPr>
          <p:cNvSpPr>
            <a:spLocks xmlns:a="http://schemas.openxmlformats.org/drawingml/2006/main" noGrp="1"/>
          </p:cNvSpPr>
          <p:nvPr/>
        </p:nvSpPr>
        <p:spPr>
          <a:xfrm xmlns:a="http://schemas.openxmlformats.org/drawingml/2006/main">
            <a:off x="4572000" y="4762500"/>
            <a:ext cx="2571750"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i="0">
                <a:solidFill>
                  <a:srgbClr val="168A82"/>
                </a:solidFill>
                <a:latin typeface="Arial"/>
                <a:ea typeface="Arial"/>
                <a:cs typeface="Arial"/>
              </a:defRPr>
            </a:pPr>
            <a:r>
              <a:t>0</a:t>
            </a:r>
          </a:p>
        </p:txBody>
      </p:sp>
      <p:cxnSp>
        <p:nvCxnSpPr>
          <p:cNvPr id="36" name=""/>
          <p:cNvCxnSpPr/>
          <p:nvPr/>
        </p:nvCxnSpPr>
        <p:spPr>
          <a:xfrm xmlns:a="http://schemas.openxmlformats.org/drawingml/2006/main">
            <a:off x="4572000" y="5600700"/>
            <a:ext cx="2495550" cy="95"/>
          </a:xfrm>
          <a:prstGeom xmlns:a="http://schemas.openxmlformats.org/drawingml/2006/main" prst="straightConnector1">
            <a:avLst/>
          </a:prstGeom>
          <a:ln xmlns:a="http://schemas.openxmlformats.org/drawingml/2006/main" w="28575">
            <a:solidFill>
              <a:srgbClr val="168A82"/>
            </a:solidFill>
            <a:prstDash val="solid"/>
          </a:ln>
        </p:spPr>
      </p:cxnSp>
      <p:sp>
        <p:nvSpPr>
          <p:cNvPr id="17" name="">
            <a:extLst xmlns:a="http://schemas.openxmlformats.org/drawingml/2006/main">
              <a:ext uri="{FF2B5EF4-FFF2-40B4-BE49-F238E27FC236}">
                <a16:creationId xmlns:a16="http://schemas.microsoft.com/office/drawing/2014/main" id="{9CE8C5A7-AD98-4912-B2EC-75BF3F69ABFD}"/>
              </a:ext>
            </a:extLst>
          </p:cNvPr>
          <p:cNvSpPr>
            <a:spLocks xmlns:a="http://schemas.openxmlformats.org/drawingml/2006/main" noGrp="1"/>
          </p:cNvSpPr>
          <p:nvPr/>
        </p:nvSpPr>
        <p:spPr>
          <a:xfrm xmlns:a="http://schemas.openxmlformats.org/drawingml/2006/main">
            <a:off x="4572000" y="5753100"/>
            <a:ext cx="25717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white-on-white hits</a:t>
            </a:r>
          </a:p>
        </p:txBody>
      </p:sp>
      <p:sp>
        <p:nvSpPr>
          <p:cNvPr id="18" name="">
            <a:extLst xmlns:a="http://schemas.openxmlformats.org/drawingml/2006/main">
              <a:ext uri="{FF2B5EF4-FFF2-40B4-BE49-F238E27FC236}">
                <a16:creationId xmlns:a16="http://schemas.microsoft.com/office/drawing/2014/main" id="{AABD07DD-6A7E-4D57-A3DA-BCB26E0D37AB}"/>
              </a:ext>
            </a:extLst>
          </p:cNvPr>
          <p:cNvSpPr>
            <a:spLocks xmlns:a="http://schemas.openxmlformats.org/drawingml/2006/main" noGrp="1"/>
          </p:cNvSpPr>
          <p:nvPr/>
        </p:nvSpPr>
        <p:spPr>
          <a:xfrm xmlns:a="http://schemas.openxmlformats.org/drawingml/2006/main">
            <a:off x="8477250" y="4762500"/>
            <a:ext cx="2857500"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i="0">
                <a:solidFill>
                  <a:srgbClr val="D99518"/>
                </a:solidFill>
                <a:latin typeface="Arial"/>
                <a:ea typeface="Arial"/>
                <a:cs typeface="Arial"/>
              </a:defRPr>
            </a:pPr>
            <a:r>
              <a:t>3 + 4</a:t>
            </a:r>
          </a:p>
        </p:txBody>
      </p:sp>
      <p:cxnSp>
        <p:nvCxnSpPr>
          <p:cNvPr id="39" name=""/>
          <p:cNvCxnSpPr/>
          <p:nvPr/>
        </p:nvCxnSpPr>
        <p:spPr>
          <a:xfrm xmlns:a="http://schemas.openxmlformats.org/drawingml/2006/main">
            <a:off x="8477250" y="5600700"/>
            <a:ext cx="2781300" cy="95"/>
          </a:xfrm>
          <a:prstGeom xmlns:a="http://schemas.openxmlformats.org/drawingml/2006/main" prst="straightConnector1">
            <a:avLst/>
          </a:prstGeom>
          <a:ln xmlns:a="http://schemas.openxmlformats.org/drawingml/2006/main" w="28575">
            <a:solidFill>
              <a:srgbClr val="D99518"/>
            </a:solidFill>
            <a:prstDash val="solid"/>
          </a:ln>
        </p:spPr>
      </p:cxnSp>
      <p:sp>
        <p:nvSpPr>
          <p:cNvPr id="20" name="">
            <a:extLst xmlns:a="http://schemas.openxmlformats.org/drawingml/2006/main">
              <a:ext uri="{FF2B5EF4-FFF2-40B4-BE49-F238E27FC236}">
                <a16:creationId xmlns:a16="http://schemas.microsoft.com/office/drawing/2014/main" id="{6D2D27A7-844F-40EC-A0F6-5B07D103DC3E}"/>
              </a:ext>
            </a:extLst>
          </p:cNvPr>
          <p:cNvSpPr>
            <a:spLocks xmlns:a="http://schemas.openxmlformats.org/drawingml/2006/main" noGrp="1"/>
          </p:cNvSpPr>
          <p:nvPr/>
        </p:nvSpPr>
        <p:spPr>
          <a:xfrm xmlns:a="http://schemas.openxmlformats.org/drawingml/2006/main">
            <a:off x="8477250" y="5753100"/>
            <a:ext cx="28575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personas + engineer tabs</a:t>
            </a:r>
          </a:p>
        </p:txBody>
      </p:sp>
    </p:spTree>
    <p:extLst>
      <p:ext uri="{BB962C8B-B14F-4D97-AF65-F5344CB8AC3E}">
        <p14:creationId xmlns:p14="http://schemas.microsoft.com/office/powerpoint/2010/main" val="20938700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2F300E2-E3FF-43C8-9426-6F90886BD092}"/>
              </a:ext>
            </a:extLst>
          </p:cNvPr>
          <p:cNvSpPr>
            <a:spLocks xmlns:a="http://schemas.openxmlformats.org/drawingml/2006/main" noGrp="1"/>
          </p:cNvSpPr>
          <p:nvPr/>
        </p:nvSpPr>
        <p:spPr>
          <a:xfrm xmlns:a="http://schemas.openxmlformats.org/drawingml/2006/main">
            <a:off x="400050" y="190500"/>
            <a:ext cx="6477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Arial"/>
                <a:ea typeface="Arial"/>
                <a:cs typeface="Arial"/>
              </a:defRPr>
            </a:pPr>
            <a:r>
              <a:t>WEEK 8 · CAPSTONE TRACEABILITY</a:t>
            </a:r>
          </a:p>
        </p:txBody>
      </p:sp>
      <p:sp>
        <p:nvSpPr>
          <p:cNvPr id="2" name="slide-13-title">
            <a:extLst xmlns:a="http://schemas.openxmlformats.org/drawingml/2006/main">
              <a:ext uri="{FF2B5EF4-FFF2-40B4-BE49-F238E27FC236}">
                <a16:creationId xmlns:a16="http://schemas.microsoft.com/office/drawing/2014/main" id="{58B8FD12-AB0B-481F-806A-7FE0ECFDB24B}"/>
              </a:ext>
            </a:extLst>
          </p:cNvPr>
          <p:cNvSpPr>
            <a:spLocks xmlns:a="http://schemas.openxmlformats.org/drawingml/2006/main" noGrp="1"/>
          </p:cNvSpPr>
          <p:nvPr/>
        </p:nvSpPr>
        <p:spPr>
          <a:xfrm xmlns:a="http://schemas.openxmlformats.org/drawingml/2006/main">
            <a:off x="400050" y="476250"/>
            <a:ext cx="1133475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11827"/>
                </a:solidFill>
                <a:latin typeface="Arial"/>
                <a:ea typeface="Arial"/>
                <a:cs typeface="Arial"/>
              </a:defRPr>
            </a:pPr>
            <a:r>
              <a:t>Week 8 binds claims to hashed evidence</a:t>
            </a:r>
          </a:p>
        </p:txBody>
      </p:sp>
      <p:cxnSp>
        <p:nvCxnSpPr>
          <p:cNvPr id="28"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C9CED6"/>
            </a:solidFill>
            <a:prstDash val="solid"/>
          </a:ln>
        </p:spPr>
      </p:cxnSp>
      <p:sp>
        <p:nvSpPr>
          <p:cNvPr id="4" name="">
            <a:extLst xmlns:a="http://schemas.openxmlformats.org/drawingml/2006/main">
              <a:ext uri="{FF2B5EF4-FFF2-40B4-BE49-F238E27FC236}">
                <a16:creationId xmlns:a16="http://schemas.microsoft.com/office/drawing/2014/main" id="{E4F3E3D0-6652-4829-ACC3-5B432005EF15}"/>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i="0">
                <a:solidFill>
                  <a:srgbClr val="8A94A3"/>
                </a:solidFill>
                <a:latin typeface="Arial"/>
                <a:ea typeface="Arial"/>
                <a:cs typeface="Arial"/>
              </a:defRPr>
            </a:pPr>
            <a:r>
              <a:t>13</a:t>
            </a:r>
          </a:p>
        </p:txBody>
      </p:sp>
      <p:sp>
        <p:nvSpPr>
          <p:cNvPr id="5" name="">
            <a:extLst xmlns:a="http://schemas.openxmlformats.org/drawingml/2006/main">
              <a:ext uri="{FF2B5EF4-FFF2-40B4-BE49-F238E27FC236}">
                <a16:creationId xmlns:a16="http://schemas.microsoft.com/office/drawing/2014/main" id="{45596533-49EC-42FF-A17A-625E4E00357E}"/>
              </a:ext>
            </a:extLst>
          </p:cNvPr>
          <p:cNvSpPr>
            <a:spLocks xmlns:a="http://schemas.openxmlformats.org/drawingml/2006/main" noGrp="1"/>
          </p:cNvSpPr>
          <p:nvPr/>
        </p:nvSpPr>
        <p:spPr>
          <a:xfrm xmlns:a="http://schemas.openxmlformats.org/drawingml/2006/main">
            <a:off x="400050" y="1438275"/>
            <a:ext cx="106680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566273"/>
                </a:solidFill>
                <a:latin typeface="Arial"/>
                <a:ea typeface="Arial"/>
                <a:cs typeface="Arial"/>
              </a:defRPr>
            </a:pPr>
            <a:r>
              <a:t>The final report is backed by a machine-checkable evidence package.</a:t>
            </a:r>
          </a:p>
        </p:txBody>
      </p:sp>
      <p:sp>
        <p:nvSpPr>
          <p:cNvPr id="6" name="">
            <a:extLst xmlns:a="http://schemas.openxmlformats.org/drawingml/2006/main">
              <a:ext uri="{FF2B5EF4-FFF2-40B4-BE49-F238E27FC236}">
                <a16:creationId xmlns:a16="http://schemas.microsoft.com/office/drawing/2014/main" id="{0009AA08-85DC-4584-988F-2B7DF5FA340A}"/>
              </a:ext>
            </a:extLst>
          </p:cNvPr>
          <p:cNvSpPr>
            <a:spLocks xmlns:a="http://schemas.openxmlformats.org/drawingml/2006/main" noGrp="1"/>
          </p:cNvSpPr>
          <p:nvPr/>
        </p:nvSpPr>
        <p:spPr>
          <a:xfrm xmlns:a="http://schemas.openxmlformats.org/drawingml/2006/main">
            <a:off x="514350" y="2343150"/>
            <a:ext cx="228600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4800" b="1" i="0">
                <a:solidFill>
                  <a:srgbClr val="3D8DFF"/>
                </a:solidFill>
                <a:latin typeface="Arial"/>
                <a:ea typeface="Arial"/>
                <a:cs typeface="Arial"/>
              </a:defRPr>
            </a:pPr>
            <a:r>
              <a:t>19</a:t>
            </a:r>
          </a:p>
        </p:txBody>
      </p:sp>
      <p:cxnSp>
        <p:nvCxnSpPr>
          <p:cNvPr id="32" name=""/>
          <p:cNvCxnSpPr/>
          <p:nvPr/>
        </p:nvCxnSpPr>
        <p:spPr>
          <a:xfrm xmlns:a="http://schemas.openxmlformats.org/drawingml/2006/main">
            <a:off x="704850" y="3143250"/>
            <a:ext cx="1905000" cy="95"/>
          </a:xfrm>
          <a:prstGeom xmlns:a="http://schemas.openxmlformats.org/drawingml/2006/main" prst="straightConnector1">
            <a:avLst/>
          </a:prstGeom>
          <a:ln xmlns:a="http://schemas.openxmlformats.org/drawingml/2006/main" w="28575">
            <a:solidFill>
              <a:srgbClr val="3D8DFF"/>
            </a:solidFill>
            <a:prstDash val="solid"/>
          </a:ln>
        </p:spPr>
      </p:cxnSp>
      <p:sp>
        <p:nvSpPr>
          <p:cNvPr id="8" name="">
            <a:extLst xmlns:a="http://schemas.openxmlformats.org/drawingml/2006/main">
              <a:ext uri="{FF2B5EF4-FFF2-40B4-BE49-F238E27FC236}">
                <a16:creationId xmlns:a16="http://schemas.microsoft.com/office/drawing/2014/main" id="{5961C133-D030-41E2-9AEF-9966EA2C75F9}"/>
              </a:ext>
            </a:extLst>
          </p:cNvPr>
          <p:cNvSpPr>
            <a:spLocks xmlns:a="http://schemas.openxmlformats.org/drawingml/2006/main" noGrp="1"/>
          </p:cNvSpPr>
          <p:nvPr/>
        </p:nvSpPr>
        <p:spPr>
          <a:xfrm xmlns:a="http://schemas.openxmlformats.org/drawingml/2006/main">
            <a:off x="514350" y="3314700"/>
            <a:ext cx="22860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i="0">
                <a:solidFill>
                  <a:srgbClr val="111827"/>
                </a:solidFill>
                <a:latin typeface="Arial"/>
                <a:ea typeface="Arial"/>
                <a:cs typeface="Arial"/>
              </a:defRPr>
            </a:pPr>
            <a:r>
              <a:t>report pages</a:t>
            </a:r>
          </a:p>
        </p:txBody>
      </p:sp>
      <p:sp>
        <p:nvSpPr>
          <p:cNvPr id="9" name="">
            <a:extLst xmlns:a="http://schemas.openxmlformats.org/drawingml/2006/main">
              <a:ext uri="{FF2B5EF4-FFF2-40B4-BE49-F238E27FC236}">
                <a16:creationId xmlns:a16="http://schemas.microsoft.com/office/drawing/2014/main" id="{A5C9E931-A5C8-4F5C-B3F0-1B7278A74013}"/>
              </a:ext>
            </a:extLst>
          </p:cNvPr>
          <p:cNvSpPr>
            <a:spLocks xmlns:a="http://schemas.openxmlformats.org/drawingml/2006/main" noGrp="1"/>
          </p:cNvSpPr>
          <p:nvPr/>
        </p:nvSpPr>
        <p:spPr>
          <a:xfrm xmlns:a="http://schemas.openxmlformats.org/drawingml/2006/main">
            <a:off x="3333750" y="2343150"/>
            <a:ext cx="228600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4800" b="1" i="0">
                <a:solidFill>
                  <a:srgbClr val="168A82"/>
                </a:solidFill>
                <a:latin typeface="Arial"/>
                <a:ea typeface="Arial"/>
                <a:cs typeface="Arial"/>
              </a:defRPr>
            </a:pPr>
            <a:r>
              <a:t>10</a:t>
            </a:r>
          </a:p>
        </p:txBody>
      </p:sp>
      <p:cxnSp>
        <p:nvCxnSpPr>
          <p:cNvPr id="35" name=""/>
          <p:cNvCxnSpPr/>
          <p:nvPr/>
        </p:nvCxnSpPr>
        <p:spPr>
          <a:xfrm xmlns:a="http://schemas.openxmlformats.org/drawingml/2006/main">
            <a:off x="3524250" y="3143250"/>
            <a:ext cx="1905000" cy="95"/>
          </a:xfrm>
          <a:prstGeom xmlns:a="http://schemas.openxmlformats.org/drawingml/2006/main" prst="straightConnector1">
            <a:avLst/>
          </a:prstGeom>
          <a:ln xmlns:a="http://schemas.openxmlformats.org/drawingml/2006/main" w="28575">
            <a:solidFill>
              <a:srgbClr val="168A82"/>
            </a:solidFill>
            <a:prstDash val="solid"/>
          </a:ln>
        </p:spPr>
      </p:cxnSp>
      <p:sp>
        <p:nvSpPr>
          <p:cNvPr id="11" name="">
            <a:extLst xmlns:a="http://schemas.openxmlformats.org/drawingml/2006/main">
              <a:ext uri="{FF2B5EF4-FFF2-40B4-BE49-F238E27FC236}">
                <a16:creationId xmlns:a16="http://schemas.microsoft.com/office/drawing/2014/main" id="{4E13451A-3C99-4132-9A23-4AEED4ED8B16}"/>
              </a:ext>
            </a:extLst>
          </p:cNvPr>
          <p:cNvSpPr>
            <a:spLocks xmlns:a="http://schemas.openxmlformats.org/drawingml/2006/main" noGrp="1"/>
          </p:cNvSpPr>
          <p:nvPr/>
        </p:nvSpPr>
        <p:spPr>
          <a:xfrm xmlns:a="http://schemas.openxmlformats.org/drawingml/2006/main">
            <a:off x="3333750" y="3314700"/>
            <a:ext cx="22860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i="0">
                <a:solidFill>
                  <a:srgbClr val="111827"/>
                </a:solidFill>
                <a:latin typeface="Arial"/>
                <a:ea typeface="Arial"/>
                <a:cs typeface="Arial"/>
              </a:defRPr>
            </a:pPr>
            <a:r>
              <a:t>required sections</a:t>
            </a:r>
          </a:p>
        </p:txBody>
      </p:sp>
      <p:sp>
        <p:nvSpPr>
          <p:cNvPr id="12" name="">
            <a:extLst xmlns:a="http://schemas.openxmlformats.org/drawingml/2006/main">
              <a:ext uri="{FF2B5EF4-FFF2-40B4-BE49-F238E27FC236}">
                <a16:creationId xmlns:a16="http://schemas.microsoft.com/office/drawing/2014/main" id="{167A6CC5-4BD5-40AC-A2EA-4E87226A91E7}"/>
              </a:ext>
            </a:extLst>
          </p:cNvPr>
          <p:cNvSpPr>
            <a:spLocks xmlns:a="http://schemas.openxmlformats.org/drawingml/2006/main" noGrp="1"/>
          </p:cNvSpPr>
          <p:nvPr/>
        </p:nvSpPr>
        <p:spPr>
          <a:xfrm xmlns:a="http://schemas.openxmlformats.org/drawingml/2006/main">
            <a:off x="6153150" y="2343150"/>
            <a:ext cx="228600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4800" b="1" i="0">
                <a:solidFill>
                  <a:srgbClr val="D99518"/>
                </a:solidFill>
                <a:latin typeface="Arial"/>
                <a:ea typeface="Arial"/>
                <a:cs typeface="Arial"/>
              </a:defRPr>
            </a:pPr>
            <a:r>
              <a:t>12</a:t>
            </a:r>
          </a:p>
        </p:txBody>
      </p:sp>
      <p:cxnSp>
        <p:nvCxnSpPr>
          <p:cNvPr id="38" name=""/>
          <p:cNvCxnSpPr/>
          <p:nvPr/>
        </p:nvCxnSpPr>
        <p:spPr>
          <a:xfrm xmlns:a="http://schemas.openxmlformats.org/drawingml/2006/main">
            <a:off x="6343650" y="3143250"/>
            <a:ext cx="1905000" cy="95"/>
          </a:xfrm>
          <a:prstGeom xmlns:a="http://schemas.openxmlformats.org/drawingml/2006/main" prst="straightConnector1">
            <a:avLst/>
          </a:prstGeom>
          <a:ln xmlns:a="http://schemas.openxmlformats.org/drawingml/2006/main" w="28575">
            <a:solidFill>
              <a:srgbClr val="D99518"/>
            </a:solidFill>
            <a:prstDash val="solid"/>
          </a:ln>
        </p:spPr>
      </p:cxnSp>
      <p:sp>
        <p:nvSpPr>
          <p:cNvPr id="14" name="">
            <a:extLst xmlns:a="http://schemas.openxmlformats.org/drawingml/2006/main">
              <a:ext uri="{FF2B5EF4-FFF2-40B4-BE49-F238E27FC236}">
                <a16:creationId xmlns:a16="http://schemas.microsoft.com/office/drawing/2014/main" id="{476E5490-03F9-44F0-994E-C5FA3C635B84}"/>
              </a:ext>
            </a:extLst>
          </p:cNvPr>
          <p:cNvSpPr>
            <a:spLocks xmlns:a="http://schemas.openxmlformats.org/drawingml/2006/main" noGrp="1"/>
          </p:cNvSpPr>
          <p:nvPr/>
        </p:nvSpPr>
        <p:spPr>
          <a:xfrm xmlns:a="http://schemas.openxmlformats.org/drawingml/2006/main">
            <a:off x="6153150" y="3314700"/>
            <a:ext cx="22860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i="0">
                <a:solidFill>
                  <a:srgbClr val="111827"/>
                </a:solidFill>
                <a:latin typeface="Arial"/>
                <a:ea typeface="Arial"/>
                <a:cs typeface="Arial"/>
              </a:defRPr>
            </a:pPr>
            <a:r>
              <a:t>principal claims</a:t>
            </a:r>
          </a:p>
        </p:txBody>
      </p:sp>
      <p:sp>
        <p:nvSpPr>
          <p:cNvPr id="15" name="">
            <a:extLst xmlns:a="http://schemas.openxmlformats.org/drawingml/2006/main">
              <a:ext uri="{FF2B5EF4-FFF2-40B4-BE49-F238E27FC236}">
                <a16:creationId xmlns:a16="http://schemas.microsoft.com/office/drawing/2014/main" id="{F9FBF16A-430D-4181-86A9-FB66C9DE21C5}"/>
              </a:ext>
            </a:extLst>
          </p:cNvPr>
          <p:cNvSpPr>
            <a:spLocks xmlns:a="http://schemas.openxmlformats.org/drawingml/2006/main" noGrp="1"/>
          </p:cNvSpPr>
          <p:nvPr/>
        </p:nvSpPr>
        <p:spPr>
          <a:xfrm xmlns:a="http://schemas.openxmlformats.org/drawingml/2006/main">
            <a:off x="8972550" y="2343150"/>
            <a:ext cx="228600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4800" b="1" i="0">
                <a:solidFill>
                  <a:srgbClr val="C94F5A"/>
                </a:solidFill>
                <a:latin typeface="Arial"/>
                <a:ea typeface="Arial"/>
                <a:cs typeface="Arial"/>
              </a:defRPr>
            </a:pPr>
            <a:r>
              <a:t>16</a:t>
            </a:r>
          </a:p>
        </p:txBody>
      </p:sp>
      <p:cxnSp>
        <p:nvCxnSpPr>
          <p:cNvPr id="41" name=""/>
          <p:cNvCxnSpPr/>
          <p:nvPr/>
        </p:nvCxnSpPr>
        <p:spPr>
          <a:xfrm xmlns:a="http://schemas.openxmlformats.org/drawingml/2006/main">
            <a:off x="9163050" y="3143250"/>
            <a:ext cx="1905000" cy="95"/>
          </a:xfrm>
          <a:prstGeom xmlns:a="http://schemas.openxmlformats.org/drawingml/2006/main" prst="straightConnector1">
            <a:avLst/>
          </a:prstGeom>
          <a:ln xmlns:a="http://schemas.openxmlformats.org/drawingml/2006/main" w="28575">
            <a:solidFill>
              <a:srgbClr val="C94F5A"/>
            </a:solidFill>
            <a:prstDash val="solid"/>
          </a:ln>
        </p:spPr>
      </p:cxnSp>
      <p:sp>
        <p:nvSpPr>
          <p:cNvPr id="17" name="">
            <a:extLst xmlns:a="http://schemas.openxmlformats.org/drawingml/2006/main">
              <a:ext uri="{FF2B5EF4-FFF2-40B4-BE49-F238E27FC236}">
                <a16:creationId xmlns:a16="http://schemas.microsoft.com/office/drawing/2014/main" id="{0C78643A-C020-4DE4-AF49-C51986B24E86}"/>
              </a:ext>
            </a:extLst>
          </p:cNvPr>
          <p:cNvSpPr>
            <a:spLocks xmlns:a="http://schemas.openxmlformats.org/drawingml/2006/main" noGrp="1"/>
          </p:cNvSpPr>
          <p:nvPr/>
        </p:nvSpPr>
        <p:spPr>
          <a:xfrm xmlns:a="http://schemas.openxmlformats.org/drawingml/2006/main">
            <a:off x="8972550" y="3314700"/>
            <a:ext cx="22860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i="0">
                <a:solidFill>
                  <a:srgbClr val="111827"/>
                </a:solidFill>
                <a:latin typeface="Arial"/>
                <a:ea typeface="Arial"/>
                <a:cs typeface="Arial"/>
              </a:defRPr>
            </a:pPr>
            <a:r>
              <a:t>verified sources</a:t>
            </a:r>
          </a:p>
        </p:txBody>
      </p:sp>
      <p:sp>
        <p:nvSpPr>
          <p:cNvPr id="18" name="">
            <a:extLst xmlns:a="http://schemas.openxmlformats.org/drawingml/2006/main">
              <a:ext uri="{FF2B5EF4-FFF2-40B4-BE49-F238E27FC236}">
                <a16:creationId xmlns:a16="http://schemas.microsoft.com/office/drawing/2014/main" id="{375C13FE-22F2-4500-90D4-3D6374861A02}"/>
              </a:ext>
            </a:extLst>
          </p:cNvPr>
          <p:cNvSpPr>
            <a:spLocks xmlns:a="http://schemas.openxmlformats.org/drawingml/2006/main" noGrp="1"/>
          </p:cNvSpPr>
          <p:nvPr/>
        </p:nvSpPr>
        <p:spPr>
          <a:xfrm xmlns:a="http://schemas.openxmlformats.org/drawingml/2006/main">
            <a:off x="609600" y="4762500"/>
            <a:ext cx="14287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i="0">
                <a:solidFill>
                  <a:srgbClr val="111827"/>
                </a:solidFill>
                <a:latin typeface="Arial"/>
                <a:ea typeface="Arial"/>
                <a:cs typeface="Arial"/>
              </a:defRPr>
            </a:pPr>
            <a:r>
              <a:t>Claim</a:t>
            </a:r>
          </a:p>
        </p:txBody>
      </p:sp>
      <p:sp>
        <p:nvSpPr>
          <p:cNvPr id="19" name="">
            <a:extLst xmlns:a="http://schemas.openxmlformats.org/drawingml/2006/main">
              <a:ext uri="{FF2B5EF4-FFF2-40B4-BE49-F238E27FC236}">
                <a16:creationId xmlns:a16="http://schemas.microsoft.com/office/drawing/2014/main" id="{CA427D35-7F9F-44B0-BD97-5ABDABD4067F}"/>
              </a:ext>
            </a:extLst>
          </p:cNvPr>
          <p:cNvSpPr>
            <a:spLocks xmlns:a="http://schemas.openxmlformats.org/drawingml/2006/main" noGrp="1"/>
          </p:cNvSpPr>
          <p:nvPr/>
        </p:nvSpPr>
        <p:spPr>
          <a:xfrm xmlns:a="http://schemas.openxmlformats.org/drawingml/2006/main">
            <a:off x="2000250" y="4819650"/>
            <a:ext cx="685800" cy="171450"/>
          </a:xfrm>
          <a:prstGeom xmlns:a="http://schemas.openxmlformats.org/drawingml/2006/main" prst="rightArrow">
            <a:avLst/>
          </a:prstGeom>
          <a:solidFill xmlns:a="http://schemas.openxmlformats.org/drawingml/2006/main">
            <a:srgbClr val="C9CED6"/>
          </a:solidFill>
          <a:ln xmlns:a="http://schemas.openxmlformats.org/drawingml/2006/main" w="0">
            <a:solidFill>
              <a:srgbClr val="C9CED6"/>
            </a:solidFill>
            <a:prstDash val="solid"/>
          </a:ln>
        </p:spPr>
      </p:sp>
      <p:sp>
        <p:nvSpPr>
          <p:cNvPr id="20" name="">
            <a:extLst xmlns:a="http://schemas.openxmlformats.org/drawingml/2006/main">
              <a:ext uri="{FF2B5EF4-FFF2-40B4-BE49-F238E27FC236}">
                <a16:creationId xmlns:a16="http://schemas.microsoft.com/office/drawing/2014/main" id="{D010CA72-C383-4347-A95C-71E005F07B7E}"/>
              </a:ext>
            </a:extLst>
          </p:cNvPr>
          <p:cNvSpPr>
            <a:spLocks xmlns:a="http://schemas.openxmlformats.org/drawingml/2006/main" noGrp="1"/>
          </p:cNvSpPr>
          <p:nvPr/>
        </p:nvSpPr>
        <p:spPr>
          <a:xfrm xmlns:a="http://schemas.openxmlformats.org/drawingml/2006/main">
            <a:off x="2857500" y="4762500"/>
            <a:ext cx="24765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revision · set · seed</a:t>
            </a:r>
          </a:p>
        </p:txBody>
      </p:sp>
      <p:sp>
        <p:nvSpPr>
          <p:cNvPr id="21" name="">
            <a:extLst xmlns:a="http://schemas.openxmlformats.org/drawingml/2006/main">
              <a:ext uri="{FF2B5EF4-FFF2-40B4-BE49-F238E27FC236}">
                <a16:creationId xmlns:a16="http://schemas.microsoft.com/office/drawing/2014/main" id="{12BCF8C3-21DE-4A29-88FD-771D25E2ED38}"/>
              </a:ext>
            </a:extLst>
          </p:cNvPr>
          <p:cNvSpPr>
            <a:spLocks xmlns:a="http://schemas.openxmlformats.org/drawingml/2006/main" noGrp="1"/>
          </p:cNvSpPr>
          <p:nvPr/>
        </p:nvSpPr>
        <p:spPr>
          <a:xfrm xmlns:a="http://schemas.openxmlformats.org/drawingml/2006/main">
            <a:off x="5334000" y="4819650"/>
            <a:ext cx="685800" cy="171450"/>
          </a:xfrm>
          <a:prstGeom xmlns:a="http://schemas.openxmlformats.org/drawingml/2006/main" prst="rightArrow">
            <a:avLst/>
          </a:prstGeom>
          <a:solidFill xmlns:a="http://schemas.openxmlformats.org/drawingml/2006/main">
            <a:srgbClr val="C9CED6"/>
          </a:solidFill>
          <a:ln xmlns:a="http://schemas.openxmlformats.org/drawingml/2006/main" w="0">
            <a:solidFill>
              <a:srgbClr val="C9CED6"/>
            </a:solidFill>
            <a:prstDash val="solid"/>
          </a:ln>
        </p:spPr>
      </p:sp>
      <p:sp>
        <p:nvSpPr>
          <p:cNvPr id="22" name="">
            <a:extLst xmlns:a="http://schemas.openxmlformats.org/drawingml/2006/main">
              <a:ext uri="{FF2B5EF4-FFF2-40B4-BE49-F238E27FC236}">
                <a16:creationId xmlns:a16="http://schemas.microsoft.com/office/drawing/2014/main" id="{6A073DC8-B33B-44A7-9FEB-0C84A7434104}"/>
              </a:ext>
            </a:extLst>
          </p:cNvPr>
          <p:cNvSpPr>
            <a:spLocks xmlns:a="http://schemas.openxmlformats.org/drawingml/2006/main" noGrp="1"/>
          </p:cNvSpPr>
          <p:nvPr/>
        </p:nvSpPr>
        <p:spPr>
          <a:xfrm xmlns:a="http://schemas.openxmlformats.org/drawingml/2006/main">
            <a:off x="6191250" y="4762500"/>
            <a:ext cx="18097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source path</a:t>
            </a:r>
          </a:p>
        </p:txBody>
      </p:sp>
      <p:sp>
        <p:nvSpPr>
          <p:cNvPr id="23" name="">
            <a:extLst xmlns:a="http://schemas.openxmlformats.org/drawingml/2006/main">
              <a:ext uri="{FF2B5EF4-FFF2-40B4-BE49-F238E27FC236}">
                <a16:creationId xmlns:a16="http://schemas.microsoft.com/office/drawing/2014/main" id="{091015AD-0488-4B0B-9CAE-9DC72663692B}"/>
              </a:ext>
            </a:extLst>
          </p:cNvPr>
          <p:cNvSpPr>
            <a:spLocks xmlns:a="http://schemas.openxmlformats.org/drawingml/2006/main" noGrp="1"/>
          </p:cNvSpPr>
          <p:nvPr/>
        </p:nvSpPr>
        <p:spPr>
          <a:xfrm xmlns:a="http://schemas.openxmlformats.org/drawingml/2006/main">
            <a:off x="7924800" y="4819650"/>
            <a:ext cx="685800" cy="171450"/>
          </a:xfrm>
          <a:prstGeom xmlns:a="http://schemas.openxmlformats.org/drawingml/2006/main" prst="rightArrow">
            <a:avLst/>
          </a:prstGeom>
          <a:solidFill xmlns:a="http://schemas.openxmlformats.org/drawingml/2006/main">
            <a:srgbClr val="C9CED6"/>
          </a:solidFill>
          <a:ln xmlns:a="http://schemas.openxmlformats.org/drawingml/2006/main" w="0">
            <a:solidFill>
              <a:srgbClr val="C9CED6"/>
            </a:solidFill>
            <a:prstDash val="solid"/>
          </a:ln>
        </p:spPr>
      </p:sp>
      <p:sp>
        <p:nvSpPr>
          <p:cNvPr id="24" name="">
            <a:extLst xmlns:a="http://schemas.openxmlformats.org/drawingml/2006/main">
              <a:ext uri="{FF2B5EF4-FFF2-40B4-BE49-F238E27FC236}">
                <a16:creationId xmlns:a16="http://schemas.microsoft.com/office/drawing/2014/main" id="{8110FF96-F466-4550-8204-4EE86CDE38FC}"/>
              </a:ext>
            </a:extLst>
          </p:cNvPr>
          <p:cNvSpPr>
            <a:spLocks xmlns:a="http://schemas.openxmlformats.org/drawingml/2006/main" noGrp="1"/>
          </p:cNvSpPr>
          <p:nvPr/>
        </p:nvSpPr>
        <p:spPr>
          <a:xfrm xmlns:a="http://schemas.openxmlformats.org/drawingml/2006/main">
            <a:off x="8801100" y="4762500"/>
            <a:ext cx="18097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11827"/>
                </a:solidFill>
                <a:latin typeface="Arial"/>
                <a:ea typeface="Arial"/>
                <a:cs typeface="Arial"/>
              </a:defRPr>
            </a:pPr>
            <a:r>
              <a:t>SHA-256</a:t>
            </a:r>
          </a:p>
        </p:txBody>
      </p:sp>
      <p:sp>
        <p:nvSpPr>
          <p:cNvPr id="25" name="">
            <a:extLst xmlns:a="http://schemas.openxmlformats.org/drawingml/2006/main">
              <a:ext uri="{FF2B5EF4-FFF2-40B4-BE49-F238E27FC236}">
                <a16:creationId xmlns:a16="http://schemas.microsoft.com/office/drawing/2014/main" id="{7770EDC7-78F2-4606-BD1F-E283DBDB4813}"/>
              </a:ext>
            </a:extLst>
          </p:cNvPr>
          <p:cNvSpPr>
            <a:spLocks xmlns:a="http://schemas.openxmlformats.org/drawingml/2006/main" noGrp="1"/>
          </p:cNvSpPr>
          <p:nvPr/>
        </p:nvSpPr>
        <p:spPr>
          <a:xfrm xmlns:a="http://schemas.openxmlformats.org/drawingml/2006/main">
            <a:off x="609600" y="5524500"/>
            <a:ext cx="1047750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566273"/>
                </a:solidFill>
                <a:latin typeface="Arial"/>
                <a:ea typeface="Arial"/>
                <a:cs typeface="Arial"/>
              </a:defRPr>
            </a:pPr>
            <a:r>
              <a:t>Superseded atomic-section RAG results are retained as provenance but excluded from current claims.</a:t>
            </a:r>
          </a:p>
        </p:txBody>
      </p:sp>
    </p:spTree>
    <p:extLst>
      <p:ext uri="{BB962C8B-B14F-4D97-AF65-F5344CB8AC3E}">
        <p14:creationId xmlns:p14="http://schemas.microsoft.com/office/powerpoint/2010/main" val="4066250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A66FA07-4D68-497B-8677-18412707A619}"/>
              </a:ext>
            </a:extLst>
          </p:cNvPr>
          <p:cNvSpPr>
            <a:spLocks xmlns:a="http://schemas.openxmlformats.org/drawingml/2006/main" noGrp="1"/>
          </p:cNvSpPr>
          <p:nvPr/>
        </p:nvSpPr>
        <p:spPr>
          <a:xfrm xmlns:a="http://schemas.openxmlformats.org/drawingml/2006/main">
            <a:off x="400050" y="190500"/>
            <a:ext cx="6477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Arial"/>
                <a:ea typeface="Arial"/>
                <a:cs typeface="Arial"/>
              </a:defRPr>
            </a:pPr>
            <a:r>
              <a:t>WEEK 8 · FINAL DECISION</a:t>
            </a:r>
          </a:p>
        </p:txBody>
      </p:sp>
      <p:sp>
        <p:nvSpPr>
          <p:cNvPr id="2" name="slide-14-title">
            <a:extLst xmlns:a="http://schemas.openxmlformats.org/drawingml/2006/main">
              <a:ext uri="{FF2B5EF4-FFF2-40B4-BE49-F238E27FC236}">
                <a16:creationId xmlns:a16="http://schemas.microsoft.com/office/drawing/2014/main" id="{7ACC0938-622D-4E6E-BD45-BEDA1FF4EE07}"/>
              </a:ext>
            </a:extLst>
          </p:cNvPr>
          <p:cNvSpPr>
            <a:spLocks xmlns:a="http://schemas.openxmlformats.org/drawingml/2006/main" noGrp="1"/>
          </p:cNvSpPr>
          <p:nvPr/>
        </p:nvSpPr>
        <p:spPr>
          <a:xfrm xmlns:a="http://schemas.openxmlformats.org/drawingml/2006/main">
            <a:off x="400050" y="476250"/>
            <a:ext cx="1133475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11827"/>
                </a:solidFill>
                <a:latin typeface="Arial"/>
                <a:ea typeface="Arial"/>
                <a:cs typeface="Arial"/>
              </a:defRPr>
            </a:pPr>
            <a:r>
              <a:t>The capstone advances candidates, not deployment</a:t>
            </a:r>
          </a:p>
        </p:txBody>
      </p:sp>
      <p:cxnSp>
        <p:nvCxnSpPr>
          <p:cNvPr id="16"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C9CED6"/>
            </a:solidFill>
            <a:prstDash val="solid"/>
          </a:ln>
        </p:spPr>
      </p:cxnSp>
      <p:sp>
        <p:nvSpPr>
          <p:cNvPr id="4" name="">
            <a:extLst xmlns:a="http://schemas.openxmlformats.org/drawingml/2006/main">
              <a:ext uri="{FF2B5EF4-FFF2-40B4-BE49-F238E27FC236}">
                <a16:creationId xmlns:a16="http://schemas.microsoft.com/office/drawing/2014/main" id="{F441DD75-1AE8-41A4-BBF8-D86A00DCE17A}"/>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i="0">
                <a:solidFill>
                  <a:srgbClr val="8A94A3"/>
                </a:solidFill>
                <a:latin typeface="Arial"/>
                <a:ea typeface="Arial"/>
                <a:cs typeface="Arial"/>
              </a:defRPr>
            </a:pPr>
            <a:r>
              <a:t>14</a:t>
            </a:r>
          </a:p>
        </p:txBody>
      </p:sp>
      <p:sp>
        <p:nvSpPr>
          <p:cNvPr id="5" name="">
            <a:extLst xmlns:a="http://schemas.openxmlformats.org/drawingml/2006/main">
              <a:ext uri="{FF2B5EF4-FFF2-40B4-BE49-F238E27FC236}">
                <a16:creationId xmlns:a16="http://schemas.microsoft.com/office/drawing/2014/main" id="{7AA7FAC7-BF42-4411-8456-A5F5ADBCE7D6}"/>
              </a:ext>
            </a:extLst>
          </p:cNvPr>
          <p:cNvSpPr>
            <a:spLocks xmlns:a="http://schemas.openxmlformats.org/drawingml/2006/main" noGrp="1"/>
          </p:cNvSpPr>
          <p:nvPr/>
        </p:nvSpPr>
        <p:spPr>
          <a:xfrm xmlns:a="http://schemas.openxmlformats.org/drawingml/2006/main">
            <a:off x="762000" y="2038350"/>
            <a:ext cx="1524000"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i="0">
                <a:solidFill>
                  <a:srgbClr val="248A5A"/>
                </a:solidFill>
                <a:latin typeface="Arial"/>
                <a:ea typeface="Arial"/>
                <a:cs typeface="Arial"/>
              </a:defRPr>
            </a:pPr>
            <a:r>
              <a:t>3</a:t>
            </a:r>
          </a:p>
        </p:txBody>
      </p:sp>
      <p:sp>
        <p:nvSpPr>
          <p:cNvPr id="6" name="">
            <a:extLst xmlns:a="http://schemas.openxmlformats.org/drawingml/2006/main">
              <a:ext uri="{FF2B5EF4-FFF2-40B4-BE49-F238E27FC236}">
                <a16:creationId xmlns:a16="http://schemas.microsoft.com/office/drawing/2014/main" id="{7355671B-9B6B-439C-9FF8-FA5040D68BF3}"/>
              </a:ext>
            </a:extLst>
          </p:cNvPr>
          <p:cNvSpPr>
            <a:spLocks xmlns:a="http://schemas.openxmlformats.org/drawingml/2006/main" noGrp="1"/>
          </p:cNvSpPr>
          <p:nvPr/>
        </p:nvSpPr>
        <p:spPr>
          <a:xfrm xmlns:a="http://schemas.openxmlformats.org/drawingml/2006/main">
            <a:off x="762000" y="2895600"/>
            <a:ext cx="409575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i="0">
                <a:solidFill>
                  <a:srgbClr val="111827"/>
                </a:solidFill>
                <a:latin typeface="Arial"/>
                <a:ea typeface="Arial"/>
                <a:cs typeface="Arial"/>
              </a:defRPr>
            </a:pPr>
            <a:r>
              <a:t>conditional candidate decisions</a:t>
            </a:r>
          </a:p>
        </p:txBody>
      </p:sp>
      <p:sp>
        <p:nvSpPr>
          <p:cNvPr id="7" name="">
            <a:extLst xmlns:a="http://schemas.openxmlformats.org/drawingml/2006/main">
              <a:ext uri="{FF2B5EF4-FFF2-40B4-BE49-F238E27FC236}">
                <a16:creationId xmlns:a16="http://schemas.microsoft.com/office/drawing/2014/main" id="{2FA1965D-EA0E-4D74-9A15-59589C7128CC}"/>
              </a:ext>
            </a:extLst>
          </p:cNvPr>
          <p:cNvSpPr>
            <a:spLocks xmlns:a="http://schemas.openxmlformats.org/drawingml/2006/main" noGrp="1"/>
          </p:cNvSpPr>
          <p:nvPr/>
        </p:nvSpPr>
        <p:spPr>
          <a:xfrm xmlns:a="http://schemas.openxmlformats.org/drawingml/2006/main">
            <a:off x="762000" y="3581400"/>
            <a:ext cx="4476750" cy="1390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111827"/>
                </a:solidFill>
                <a:latin typeface="Arial"/>
                <a:ea typeface="Arial"/>
                <a:cs typeface="Arial"/>
              </a:defRPr>
            </a:pPr>
            <a:r>
              <a:t>• Mistral → expert calibration
• Two Pareto RAG cells → pilot comparison
• LLaVA → next multimodal testbench</a:t>
            </a:r>
          </a:p>
        </p:txBody>
      </p:sp>
      <p:cxnSp>
        <p:nvCxnSpPr>
          <p:cNvPr id="21" name=""/>
          <p:cNvCxnSpPr/>
          <p:nvPr/>
        </p:nvCxnSpPr>
        <p:spPr>
          <a:xfrm xmlns:a="http://schemas.openxmlformats.org/drawingml/2006/main">
            <a:off x="6076950" y="1847850"/>
            <a:ext cx="95" cy="3238500"/>
          </a:xfrm>
          <a:prstGeom xmlns:a="http://schemas.openxmlformats.org/drawingml/2006/main" prst="straightConnector1">
            <a:avLst/>
          </a:prstGeom>
          <a:ln xmlns:a="http://schemas.openxmlformats.org/drawingml/2006/main" w="9525">
            <a:solidFill>
              <a:srgbClr val="C9CED6"/>
            </a:solidFill>
            <a:prstDash val="solid"/>
          </a:ln>
        </p:spPr>
      </p:cxnSp>
      <p:sp>
        <p:nvSpPr>
          <p:cNvPr id="9" name="">
            <a:extLst xmlns:a="http://schemas.openxmlformats.org/drawingml/2006/main">
              <a:ext uri="{FF2B5EF4-FFF2-40B4-BE49-F238E27FC236}">
                <a16:creationId xmlns:a16="http://schemas.microsoft.com/office/drawing/2014/main" id="{435A2993-5173-43C5-9B49-55EDEF6CFB4A}"/>
              </a:ext>
            </a:extLst>
          </p:cNvPr>
          <p:cNvSpPr>
            <a:spLocks xmlns:a="http://schemas.openxmlformats.org/drawingml/2006/main" noGrp="1"/>
          </p:cNvSpPr>
          <p:nvPr/>
        </p:nvSpPr>
        <p:spPr>
          <a:xfrm xmlns:a="http://schemas.openxmlformats.org/drawingml/2006/main">
            <a:off x="6667500" y="2038350"/>
            <a:ext cx="1524000" cy="781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i="0">
                <a:solidFill>
                  <a:srgbClr val="C94F5A"/>
                </a:solidFill>
                <a:latin typeface="Arial"/>
                <a:ea typeface="Arial"/>
                <a:cs typeface="Arial"/>
              </a:defRPr>
            </a:pPr>
            <a:r>
              <a:t>0</a:t>
            </a:r>
          </a:p>
        </p:txBody>
      </p:sp>
      <p:sp>
        <p:nvSpPr>
          <p:cNvPr id="10" name="">
            <a:extLst xmlns:a="http://schemas.openxmlformats.org/drawingml/2006/main">
              <a:ext uri="{FF2B5EF4-FFF2-40B4-BE49-F238E27FC236}">
                <a16:creationId xmlns:a16="http://schemas.microsoft.com/office/drawing/2014/main" id="{D2B1BE2E-369B-41D9-A3FD-7900F61836FF}"/>
              </a:ext>
            </a:extLst>
          </p:cNvPr>
          <p:cNvSpPr>
            <a:spLocks xmlns:a="http://schemas.openxmlformats.org/drawingml/2006/main" noGrp="1"/>
          </p:cNvSpPr>
          <p:nvPr/>
        </p:nvSpPr>
        <p:spPr>
          <a:xfrm xmlns:a="http://schemas.openxmlformats.org/drawingml/2006/main">
            <a:off x="6667500" y="2895600"/>
            <a:ext cx="409575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i="0">
                <a:solidFill>
                  <a:srgbClr val="111827"/>
                </a:solidFill>
                <a:latin typeface="Arial"/>
                <a:ea typeface="Arial"/>
                <a:cs typeface="Arial"/>
              </a:defRPr>
            </a:pPr>
            <a:r>
              <a:t>deployment approvals</a:t>
            </a:r>
          </a:p>
        </p:txBody>
      </p:sp>
      <p:sp>
        <p:nvSpPr>
          <p:cNvPr id="11" name="">
            <a:extLst xmlns:a="http://schemas.openxmlformats.org/drawingml/2006/main">
              <a:ext uri="{FF2B5EF4-FFF2-40B4-BE49-F238E27FC236}">
                <a16:creationId xmlns:a16="http://schemas.microsoft.com/office/drawing/2014/main" id="{98A6D781-9DBB-4F5F-8D15-AC781F96F05F}"/>
              </a:ext>
            </a:extLst>
          </p:cNvPr>
          <p:cNvSpPr>
            <a:spLocks xmlns:a="http://schemas.openxmlformats.org/drawingml/2006/main" noGrp="1"/>
          </p:cNvSpPr>
          <p:nvPr/>
        </p:nvSpPr>
        <p:spPr>
          <a:xfrm xmlns:a="http://schemas.openxmlformats.org/drawingml/2006/main">
            <a:off x="6667500" y="3581400"/>
            <a:ext cx="4286250" cy="1390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111827"/>
                </a:solidFill>
                <a:latin typeface="Arial"/>
                <a:ea typeface="Arial"/>
                <a:cs typeface="Arial"/>
              </a:defRPr>
            </a:pPr>
            <a:r>
              <a:t>Withheld because the Judge gate failed, product telemetry is absent, and closed-loop sensor, action, and multi-agent behavior remain untested.</a:t>
            </a:r>
          </a:p>
        </p:txBody>
      </p:sp>
      <p:sp>
        <p:nvSpPr>
          <p:cNvPr id="12" name="">
            <a:extLst xmlns:a="http://schemas.openxmlformats.org/drawingml/2006/main">
              <a:ext uri="{FF2B5EF4-FFF2-40B4-BE49-F238E27FC236}">
                <a16:creationId xmlns:a16="http://schemas.microsoft.com/office/drawing/2014/main" id="{94DAAE25-961F-4422-BF6F-DE15B831EB39}"/>
              </a:ext>
            </a:extLst>
          </p:cNvPr>
          <p:cNvSpPr>
            <a:spLocks xmlns:a="http://schemas.openxmlformats.org/drawingml/2006/main" noGrp="1"/>
          </p:cNvSpPr>
          <p:nvPr/>
        </p:nvSpPr>
        <p:spPr>
          <a:xfrm xmlns:a="http://schemas.openxmlformats.org/drawingml/2006/main">
            <a:off x="762000" y="5391150"/>
            <a:ext cx="10191750" cy="552450"/>
          </a:xfrm>
          <a:prstGeom xmlns:a="http://schemas.openxmlformats.org/drawingml/2006/main" prst="rect">
            <a:avLst/>
          </a:prstGeom>
          <a:solidFill xmlns:a="http://schemas.openxmlformats.org/drawingml/2006/main">
            <a:srgbClr val="FFF3D8"/>
          </a:solidFill>
          <a:ln xmlns:a="http://schemas.openxmlformats.org/drawingml/2006/main" w="0">
            <a:solidFill>
              <a:srgbClr val="FFF3D8"/>
            </a:solidFill>
            <a:prstDash val="solid"/>
          </a:ln>
        </p:spPr>
      </p:sp>
      <p:sp>
        <p:nvSpPr>
          <p:cNvPr id="13" name="">
            <a:extLst xmlns:a="http://schemas.openxmlformats.org/drawingml/2006/main">
              <a:ext uri="{FF2B5EF4-FFF2-40B4-BE49-F238E27FC236}">
                <a16:creationId xmlns:a16="http://schemas.microsoft.com/office/drawing/2014/main" id="{1EDD828C-B2DD-47FF-9370-D2ADF434F82B}"/>
              </a:ext>
            </a:extLst>
          </p:cNvPr>
          <p:cNvSpPr>
            <a:spLocks xmlns:a="http://schemas.openxmlformats.org/drawingml/2006/main" noGrp="1"/>
          </p:cNvSpPr>
          <p:nvPr/>
        </p:nvSpPr>
        <p:spPr>
          <a:xfrm xmlns:a="http://schemas.openxmlformats.org/drawingml/2006/main">
            <a:off x="990600" y="5543550"/>
            <a:ext cx="97155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i="0">
                <a:solidFill>
                  <a:srgbClr val="111827"/>
                </a:solidFill>
                <a:latin typeface="Arial"/>
                <a:ea typeface="Arial"/>
                <a:cs typeface="Arial"/>
              </a:defRPr>
            </a:pPr>
            <a:r>
              <a:t>Strong diagnostic evidence defines the next gate; it does not remove the gate.</a:t>
            </a:r>
          </a:p>
        </p:txBody>
      </p:sp>
    </p:spTree>
    <p:extLst>
      <p:ext uri="{BB962C8B-B14F-4D97-AF65-F5344CB8AC3E}">
        <p14:creationId xmlns:p14="http://schemas.microsoft.com/office/powerpoint/2010/main" val="16783495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29FDDD4-3DEC-4BF7-B97B-044CFC4BA012}"/>
              </a:ext>
            </a:extLst>
          </p:cNvPr>
          <p:cNvSpPr>
            <a:spLocks xmlns:a="http://schemas.openxmlformats.org/drawingml/2006/main" noGrp="1"/>
          </p:cNvSpPr>
          <p:nvPr/>
        </p:nvSpPr>
        <p:spPr>
          <a:xfrm xmlns:a="http://schemas.openxmlformats.org/drawingml/2006/main">
            <a:off x="400050" y="190500"/>
            <a:ext cx="6477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Arial"/>
                <a:ea typeface="Arial"/>
                <a:cs typeface="Arial"/>
              </a:defRPr>
            </a:pPr>
            <a:r>
              <a:t>FINAL SYNTHESIS</a:t>
            </a:r>
          </a:p>
        </p:txBody>
      </p:sp>
      <p:sp>
        <p:nvSpPr>
          <p:cNvPr id="2" name="slide-15-title">
            <a:extLst xmlns:a="http://schemas.openxmlformats.org/drawingml/2006/main">
              <a:ext uri="{FF2B5EF4-FFF2-40B4-BE49-F238E27FC236}">
                <a16:creationId xmlns:a16="http://schemas.microsoft.com/office/drawing/2014/main" id="{8B01C2AE-8BEC-4042-B8A5-0CC01EB04888}"/>
              </a:ext>
            </a:extLst>
          </p:cNvPr>
          <p:cNvSpPr>
            <a:spLocks xmlns:a="http://schemas.openxmlformats.org/drawingml/2006/main" noGrp="1"/>
          </p:cNvSpPr>
          <p:nvPr/>
        </p:nvSpPr>
        <p:spPr>
          <a:xfrm xmlns:a="http://schemas.openxmlformats.org/drawingml/2006/main">
            <a:off x="400050" y="476250"/>
            <a:ext cx="1133475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i="0">
                <a:solidFill>
                  <a:srgbClr val="111827"/>
                </a:solidFill>
                <a:latin typeface="Arial"/>
                <a:ea typeface="Arial"/>
                <a:cs typeface="Arial"/>
              </a:defRPr>
            </a:pPr>
            <a:r>
              <a:t>Decision system—not a certificate</a:t>
            </a:r>
          </a:p>
        </p:txBody>
      </p:sp>
      <p:cxnSp>
        <p:nvCxnSpPr>
          <p:cNvPr id="13" name=""/>
          <p:cNvCxnSpPr/>
          <p:nvPr/>
        </p:nvCxnSpPr>
        <p:spPr>
          <a:xfrm xmlns:a="http://schemas.openxmlformats.org/drawingml/2006/main">
            <a:off x="400050" y="1200150"/>
            <a:ext cx="11391900" cy="95"/>
          </a:xfrm>
          <a:prstGeom xmlns:a="http://schemas.openxmlformats.org/drawingml/2006/main" prst="straightConnector1">
            <a:avLst/>
          </a:prstGeom>
          <a:ln xmlns:a="http://schemas.openxmlformats.org/drawingml/2006/main" w="9525">
            <a:solidFill>
              <a:srgbClr val="C9CED6"/>
            </a:solidFill>
            <a:prstDash val="solid"/>
          </a:ln>
        </p:spPr>
      </p:cxnSp>
      <p:sp>
        <p:nvSpPr>
          <p:cNvPr id="4" name="">
            <a:extLst xmlns:a="http://schemas.openxmlformats.org/drawingml/2006/main">
              <a:ext uri="{FF2B5EF4-FFF2-40B4-BE49-F238E27FC236}">
                <a16:creationId xmlns:a16="http://schemas.microsoft.com/office/drawing/2014/main" id="{8597D2FD-B643-4F5D-A510-BA9F888171DF}"/>
              </a:ext>
            </a:extLst>
          </p:cNvPr>
          <p:cNvSpPr>
            <a:spLocks xmlns:a="http://schemas.openxmlformats.org/drawingml/2006/main" noGrp="1"/>
          </p:cNvSpPr>
          <p:nvPr/>
        </p:nvSpPr>
        <p:spPr>
          <a:xfrm xmlns:a="http://schemas.openxmlformats.org/drawingml/2006/main">
            <a:off x="11277600" y="6419850"/>
            <a:ext cx="495300" cy="171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i="0">
                <a:solidFill>
                  <a:srgbClr val="8A94A3"/>
                </a:solidFill>
                <a:latin typeface="Arial"/>
                <a:ea typeface="Arial"/>
                <a:cs typeface="Arial"/>
              </a:defRPr>
            </a:pPr>
            <a:r>
              <a:t>15</a:t>
            </a:r>
          </a:p>
        </p:txBody>
      </p:sp>
      <p:sp>
        <p:nvSpPr>
          <p:cNvPr id="5" name="ready-now-heading">
            <a:extLst xmlns:a="http://schemas.openxmlformats.org/drawingml/2006/main">
              <a:ext uri="{FF2B5EF4-FFF2-40B4-BE49-F238E27FC236}">
                <a16:creationId xmlns:a16="http://schemas.microsoft.com/office/drawing/2014/main" id="{701AA455-B785-4C3E-8B03-5BC427707105}"/>
              </a:ext>
            </a:extLst>
          </p:cNvPr>
          <p:cNvSpPr>
            <a:spLocks xmlns:a="http://schemas.openxmlformats.org/drawingml/2006/main" noGrp="1"/>
          </p:cNvSpPr>
          <p:nvPr/>
        </p:nvSpPr>
        <p:spPr>
          <a:xfrm xmlns:a="http://schemas.openxmlformats.org/drawingml/2006/main">
            <a:off x="590550" y="1981200"/>
            <a:ext cx="457200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248A5A"/>
                </a:solidFill>
                <a:latin typeface="Arial"/>
                <a:ea typeface="Arial"/>
                <a:cs typeface="Arial"/>
              </a:defRPr>
            </a:pPr>
            <a:r>
              <a:t>Ready now</a:t>
            </a:r>
          </a:p>
        </p:txBody>
      </p:sp>
      <p:sp>
        <p:nvSpPr>
          <p:cNvPr id="6" name="">
            <a:extLst xmlns:a="http://schemas.openxmlformats.org/drawingml/2006/main">
              <a:ext uri="{FF2B5EF4-FFF2-40B4-BE49-F238E27FC236}">
                <a16:creationId xmlns:a16="http://schemas.microsoft.com/office/drawing/2014/main" id="{523DD412-C612-474E-AD46-5BFBCA574E15}"/>
              </a:ext>
            </a:extLst>
          </p:cNvPr>
          <p:cNvSpPr>
            <a:spLocks xmlns:a="http://schemas.openxmlformats.org/drawingml/2006/main" noGrp="1"/>
          </p:cNvSpPr>
          <p:nvPr/>
        </p:nvSpPr>
        <p:spPr>
          <a:xfrm xmlns:a="http://schemas.openxmlformats.org/drawingml/2006/main">
            <a:off x="590550" y="2647950"/>
            <a:ext cx="4762500" cy="1524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i="0">
                <a:solidFill>
                  <a:srgbClr val="111827"/>
                </a:solidFill>
                <a:latin typeface="Arial"/>
                <a:ea typeface="Arial"/>
                <a:cs typeface="Arial"/>
              </a:defRPr>
            </a:pPr>
            <a:r>
              <a:t>• Reproducible benchmark and evidence registry
• Conditional model and RAG candidate prioritisation
• Three-persona dashboard with visible uncertainty</a:t>
            </a:r>
          </a:p>
        </p:txBody>
      </p:sp>
      <p:sp>
        <p:nvSpPr>
          <p:cNvPr id="7" name="next-gates-heading">
            <a:extLst xmlns:a="http://schemas.openxmlformats.org/drawingml/2006/main">
              <a:ext uri="{FF2B5EF4-FFF2-40B4-BE49-F238E27FC236}">
                <a16:creationId xmlns:a16="http://schemas.microsoft.com/office/drawing/2014/main" id="{DD2F9913-EDB2-4B3D-A80C-74844D42D279}"/>
              </a:ext>
            </a:extLst>
          </p:cNvPr>
          <p:cNvSpPr>
            <a:spLocks xmlns:a="http://schemas.openxmlformats.org/drawingml/2006/main" noGrp="1"/>
          </p:cNvSpPr>
          <p:nvPr/>
        </p:nvSpPr>
        <p:spPr>
          <a:xfrm xmlns:a="http://schemas.openxmlformats.org/drawingml/2006/main">
            <a:off x="6572250" y="2076450"/>
            <a:ext cx="476250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3D8DFF"/>
                </a:solidFill>
                <a:latin typeface="Arial"/>
                <a:ea typeface="Arial"/>
                <a:cs typeface="Arial"/>
              </a:defRPr>
            </a:pPr>
            <a:r>
              <a:t>Next validation gates</a:t>
            </a:r>
          </a:p>
        </p:txBody>
      </p:sp>
      <p:sp>
        <p:nvSpPr>
          <p:cNvPr id="8" name="">
            <a:extLst xmlns:a="http://schemas.openxmlformats.org/drawingml/2006/main">
              <a:ext uri="{FF2B5EF4-FFF2-40B4-BE49-F238E27FC236}">
                <a16:creationId xmlns:a16="http://schemas.microsoft.com/office/drawing/2014/main" id="{4122BA2E-45ED-4B13-80AD-EC325BE4F771}"/>
              </a:ext>
            </a:extLst>
          </p:cNvPr>
          <p:cNvSpPr>
            <a:spLocks xmlns:a="http://schemas.openxmlformats.org/drawingml/2006/main" noGrp="1"/>
          </p:cNvSpPr>
          <p:nvPr/>
        </p:nvSpPr>
        <p:spPr>
          <a:xfrm xmlns:a="http://schemas.openxmlformats.org/drawingml/2006/main">
            <a:off x="6572250" y="2724150"/>
            <a:ext cx="4953000" cy="1809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111827"/>
                </a:solidFill>
                <a:latin typeface="Arial"/>
                <a:ea typeface="Arial"/>
                <a:cs typeface="Arial"/>
              </a:defRPr>
            </a:pPr>
            <a:r>
              <a:t>1. Model-blind domain-expert calibration
2. Closed-loop sensor dropout and safe recovery
3. Production RAG drift, access, and adversarial tests
4. CRL-MRS cooperative execution under message loss</a:t>
            </a:r>
          </a:p>
        </p:txBody>
      </p:sp>
      <p:cxnSp>
        <p:nvCxnSpPr>
          <p:cNvPr id="19" name=""/>
          <p:cNvCxnSpPr/>
          <p:nvPr/>
        </p:nvCxnSpPr>
        <p:spPr>
          <a:xfrm xmlns:a="http://schemas.openxmlformats.org/drawingml/2006/main">
            <a:off x="590550" y="4762500"/>
            <a:ext cx="10953750" cy="95"/>
          </a:xfrm>
          <a:prstGeom xmlns:a="http://schemas.openxmlformats.org/drawingml/2006/main" prst="straightConnector1">
            <a:avLst/>
          </a:prstGeom>
          <a:ln xmlns:a="http://schemas.openxmlformats.org/drawingml/2006/main" w="9525">
            <a:solidFill>
              <a:srgbClr val="C9CED6"/>
            </a:solidFill>
            <a:prstDash val="solid"/>
          </a:ln>
        </p:spPr>
      </p:cxnSp>
      <p:sp>
        <p:nvSpPr>
          <p:cNvPr id="10" name="">
            <a:extLst xmlns:a="http://schemas.openxmlformats.org/drawingml/2006/main">
              <a:ext uri="{FF2B5EF4-FFF2-40B4-BE49-F238E27FC236}">
                <a16:creationId xmlns:a16="http://schemas.microsoft.com/office/drawing/2014/main" id="{15965284-DFD4-4005-A532-F666384CBE5E}"/>
              </a:ext>
            </a:extLst>
          </p:cNvPr>
          <p:cNvSpPr>
            <a:spLocks xmlns:a="http://schemas.openxmlformats.org/drawingml/2006/main" noGrp="1"/>
          </p:cNvSpPr>
          <p:nvPr/>
        </p:nvSpPr>
        <p:spPr>
          <a:xfrm xmlns:a="http://schemas.openxmlformats.org/drawingml/2006/main">
            <a:off x="590550" y="5124450"/>
            <a:ext cx="10953750" cy="8001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i="0">
                <a:solidFill>
                  <a:srgbClr val="000000"/>
                </a:solidFill>
                <a:latin typeface="Arial"/>
                <a:ea typeface="Arial"/>
                <a:cs typeface="Arial"/>
              </a:defRPr>
            </a:pPr>
            <a:r>
              <a:t>The project’s main contribution is not one more score. It is a controlled way to decide what the score is allowed to mean—and what must be tested next.</a:t>
            </a:r>
          </a:p>
        </p:txBody>
      </p:sp>
    </p:spTree>
    <p:extLst>
      <p:ext uri="{BB962C8B-B14F-4D97-AF65-F5344CB8AC3E}">
        <p14:creationId xmlns:p14="http://schemas.microsoft.com/office/powerpoint/2010/main" val="15737779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2026-08-21T02:27:00.2450000Z</dcterms:created>
  <dcterms:modified xsi:type="dcterms:W3CDTF">2026-08-21T02:27:00.2450000Z</dcterms:modified>
</coreProperties>
</file>