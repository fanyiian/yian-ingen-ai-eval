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134d1d95164a98" /><Relationship Type="http://schemas.openxmlformats.org/officeDocument/2006/relationships/extended-properties" Target="/docProps/app.xml" Id="R6571107efc094c77" /><Relationship Type="http://schemas.openxmlformats.org/officeDocument/2006/relationships/officeDocument" Target="/ppt/presentation.xml" Id="R0d0e9f2edc1641cc" /></Relationships>
</file>

<file path=ppt/presentation.xml><?xml version="1.0" encoding="utf-8"?>
<p:presentation xmlns:p="http://schemas.openxmlformats.org/presentationml/2006/main">
  <p:sldMasterIdLst>
    <p:sldMasterId xmlns:r="http://schemas.openxmlformats.org/officeDocument/2006/relationships" id="2147483648" r:id="Rfc2a261794414110"/>
  </p:sldMasterIdLst>
  <p:notesMasterIdLst>
    <p:notesMasterId xmlns:r="http://schemas.openxmlformats.org/officeDocument/2006/relationships" r:id="R3227d0c3d71c44e7"/>
  </p:notesMasterIdLst>
  <p:sldIdLst>
    <p:sldId xmlns:r="http://schemas.openxmlformats.org/officeDocument/2006/relationships" id="256" r:id="Rad2858a011ef4642"/>
    <p:sldId xmlns:r="http://schemas.openxmlformats.org/officeDocument/2006/relationships" id="257" r:id="R6fd3a6c9e1f14cf2"/>
    <p:sldId xmlns:r="http://schemas.openxmlformats.org/officeDocument/2006/relationships" id="258" r:id="R411971a3bf084925"/>
    <p:sldId xmlns:r="http://schemas.openxmlformats.org/officeDocument/2006/relationships" id="259" r:id="R9c4117a727224053"/>
    <p:sldId xmlns:r="http://schemas.openxmlformats.org/officeDocument/2006/relationships" id="260" r:id="R33f47b55536541ba"/>
    <p:sldId xmlns:r="http://schemas.openxmlformats.org/officeDocument/2006/relationships" id="261" r:id="R1f70cbb7b92f45ed"/>
    <p:sldId xmlns:r="http://schemas.openxmlformats.org/officeDocument/2006/relationships" id="262" r:id="R5452667d052e4aee"/>
    <p:sldId xmlns:r="http://schemas.openxmlformats.org/officeDocument/2006/relationships" id="263" r:id="R1000aa80f40a4457"/>
    <p:sldId xmlns:r="http://schemas.openxmlformats.org/officeDocument/2006/relationships" id="264" r:id="R5a43313441a34f36"/>
    <p:sldId xmlns:r="http://schemas.openxmlformats.org/officeDocument/2006/relationships" id="265" r:id="Rdc282d1615054352"/>
    <p:sldId xmlns:r="http://schemas.openxmlformats.org/officeDocument/2006/relationships" id="266" r:id="Rf511c2a32c5847e0"/>
    <p:sldId xmlns:r="http://schemas.openxmlformats.org/officeDocument/2006/relationships" id="267" r:id="R641228fff40d4e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89a319253f4941" /><Relationship Type="http://schemas.openxmlformats.org/officeDocument/2006/relationships/slideMaster" Target="/ppt/slideMasters/slideMaster1.xml" Id="Rfc2a261794414110" /><Relationship Type="http://schemas.openxmlformats.org/officeDocument/2006/relationships/notesMaster" Target="/ppt/notesMasters/notesMaster1.xml" Id="R3227d0c3d71c44e7" /><Relationship Type="http://schemas.openxmlformats.org/officeDocument/2006/relationships/presProps" Target="/ppt/presProps.xml" Id="R58ac9de860364ac9" /><Relationship Type="http://schemas.openxmlformats.org/officeDocument/2006/relationships/tableStyles" Target="/ppt/tableStyles.xml" Id="Ra4ad27f45b2d4629" /><Relationship Type="http://schemas.openxmlformats.org/officeDocument/2006/relationships/slide" Target="/ppt/slides/slide1.xml" Id="Rad2858a011ef4642" /><Relationship Type="http://schemas.openxmlformats.org/officeDocument/2006/relationships/slide" Target="/ppt/slides/slide2.xml" Id="R6fd3a6c9e1f14cf2" /><Relationship Type="http://schemas.openxmlformats.org/officeDocument/2006/relationships/slide" Target="/ppt/slides/slide3.xml" Id="R411971a3bf084925" /><Relationship Type="http://schemas.openxmlformats.org/officeDocument/2006/relationships/slide" Target="/ppt/slides/slide4.xml" Id="R9c4117a727224053" /><Relationship Type="http://schemas.openxmlformats.org/officeDocument/2006/relationships/slide" Target="/ppt/slides/slide5.xml" Id="R33f47b55536541ba" /><Relationship Type="http://schemas.openxmlformats.org/officeDocument/2006/relationships/slide" Target="/ppt/slides/slide6.xml" Id="R1f70cbb7b92f45ed" /><Relationship Type="http://schemas.openxmlformats.org/officeDocument/2006/relationships/slide" Target="/ppt/slides/slide7.xml" Id="R5452667d052e4aee" /><Relationship Type="http://schemas.openxmlformats.org/officeDocument/2006/relationships/slide" Target="/ppt/slides/slide8.xml" Id="R1000aa80f40a4457" /><Relationship Type="http://schemas.openxmlformats.org/officeDocument/2006/relationships/slide" Target="/ppt/slides/slide9.xml" Id="R5a43313441a34f36" /><Relationship Type="http://schemas.openxmlformats.org/officeDocument/2006/relationships/slide" Target="/ppt/slides/slide10.xml" Id="Rdc282d1615054352" /><Relationship Type="http://schemas.openxmlformats.org/officeDocument/2006/relationships/slide" Target="/ppt/slides/slide11.xml" Id="Rf511c2a32c5847e0" /><Relationship Type="http://schemas.openxmlformats.org/officeDocument/2006/relationships/slide" Target="/ppt/slides/slide12.xml" Id="R641228fff40d4e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ec906e4fe440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20ca9471644556" /><Relationship Type="http://schemas.openxmlformats.org/officeDocument/2006/relationships/notesMaster" Target="/ppt/notesMasters/notesMaster1.xml" Id="R9a73428e04354f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96ac32a45740c6" /><Relationship Type="http://schemas.openxmlformats.org/officeDocument/2006/relationships/notesMaster" Target="/ppt/notesMasters/notesMaster1.xml" Id="Rab44e6fb300d4d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9bf2d785c84fb7" /><Relationship Type="http://schemas.openxmlformats.org/officeDocument/2006/relationships/notesMaster" Target="/ppt/notesMasters/notesMaster1.xml" Id="Rf59a728c252048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9409c8c1e64044" /><Relationship Type="http://schemas.openxmlformats.org/officeDocument/2006/relationships/notesMaster" Target="/ppt/notesMasters/notesMaster1.xml" Id="Raee9fe860b8849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0ca9f3bc75428c" /><Relationship Type="http://schemas.openxmlformats.org/officeDocument/2006/relationships/notesMaster" Target="/ppt/notesMasters/notesMaster1.xml" Id="R6fcff44a8fb84b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87e5455f4b46ea" /><Relationship Type="http://schemas.openxmlformats.org/officeDocument/2006/relationships/notesMaster" Target="/ppt/notesMasters/notesMaster1.xml" Id="Rab34eb4b90f549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a6c5616c914f9e" /><Relationship Type="http://schemas.openxmlformats.org/officeDocument/2006/relationships/notesMaster" Target="/ppt/notesMasters/notesMaster1.xml" Id="R92feff9f67f24d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24a79eb12b46e1" /><Relationship Type="http://schemas.openxmlformats.org/officeDocument/2006/relationships/notesMaster" Target="/ppt/notesMasters/notesMaster1.xml" Id="R5f5557259fc24d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20d2e951794af1" /><Relationship Type="http://schemas.openxmlformats.org/officeDocument/2006/relationships/notesMaster" Target="/ppt/notesMasters/notesMaster1.xml" Id="R1d2a5f10275444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d5b0c3bded4a76" /><Relationship Type="http://schemas.openxmlformats.org/officeDocument/2006/relationships/notesMaster" Target="/ppt/notesMasters/notesMaster1.xml" Id="R7b9ab99a94c647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b39f0956c048ba" /><Relationship Type="http://schemas.openxmlformats.org/officeDocument/2006/relationships/notesMaster" Target="/ppt/notesMasters/notesMaster1.xml" Id="Reabb35b912204d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28d10e0e5f4cb3" /><Relationship Type="http://schemas.openxmlformats.org/officeDocument/2006/relationships/notesMaster" Target="/ppt/notesMasters/notesMaster1.xml" Id="R54287c96af8a4b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capstone is the final synthesis of eight weeks of evaluation work. I began with a very early Physical AI product context, where there was no deployed product telemetry, proprietary PIC runtime, or authorised customer dataset available to test. The practical task was therefore to build an evaluation system that is useful without pretending that diagnostic evidence is product validation. The work starts with 35 balanced text scenarios across five product contexts, compares three fixed open models on exactly the same prompts, adds long-source RAG, robustness, masked-input, and multimodal studies, and then runs a complete 18-cell RAG optimisation. Week 6 converts the evidence into a methodology, Week 7 into a three-persona dashboard, and Week 8 into this report, deck, claim registry, and final evaluation record. Three numbers frame the readout: 35 scenarios define the common regression bank, 3 text models create 105 comparable responses, and 18 RAG cells isolate pipeline trade-offs. The main conclusion is intentionally conditional: the work identifies candidates and the next experiments, but it does not certify a model or PIC capability for deployment. I will explain what was measured, what changed when RAG and robustness interventions were introduced, why several attractive numbers are not sufficient, and which validation gates should come next.</a:t>
            </a:r>
          </a:p>
          <a:p xmlns:a="http://schemas.openxmlformats.org/drawingml/2006/main">
            <a:r>
              <a:t/>
            </a:r>
          </a:p>
          <a:p xmlns:a="http://schemas.openxmlformats.org/drawingml/2006/main">
            <a:r>
              <a:t>[Sources]</a:t>
            </a:r>
          </a:p>
          <a:p xmlns:a="http://schemas.openxmlformats.org/drawingml/2006/main">
            <a:r>
              <a:t>- phase_d_capstone/W08_Capstone_Report_Source.md</a:t>
            </a:r>
          </a:p>
          <a:p xmlns:a="http://schemas.openxmlformats.org/drawingml/2006/main">
            <a:r>
              <a:t>- phase_d_capstone/W08_Claim_Evidence_Matrix_v1.0.0.csv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Physical AI evaluation cannot be reduced to one language-model accuracy number because the output can become advice, a route, an alert, or an action plan. I first separated five product contexts by their decision boundary. For Fari, the important boundary is advice, privacy, and escalation. For Senpai, it is pedagogical correctness and learner safety. Sentinel is about threat triage and governance; Rover is navigation under uncertain sensing; and Humanoid is ordered task execution and recovery. These contexts do not share the same failure consequence, so they should not be averaged as if every row were interchangeable. I then mapped the programme's PIC 2.0 vocabulary into six working capability tracks: GRPO, STUM, SEOM, AMDC, HTD-IRL, and CRL-MRS. The purpose of this map is not to claim that the public proxy tests fully measure PIC. It is to state which capability a test is intended to inform and what evidence remains missing. A key methodological issue emerged here: programme and public materials assign conflicting meanings to STUM, SEOM, and GRPO. Instead of guessing, the work versions the terminology and treats an authoritative glossary decision as an explicit dependency. This is important because a metric is only valid relative to a task definition. The resulting structure is five product-specific decision boundaries connected to six capability-specific gates. A fleet-wide readiness number may help communication, but it cannot replace those gates or erase an untested high-consequence capability.</a:t>
            </a:r>
          </a:p>
          <a:p xmlns:a="http://schemas.openxmlformats.org/drawingml/2006/main">
            <a:r>
              <a:t/>
            </a:r>
          </a:p>
          <a:p xmlns:a="http://schemas.openxmlformats.org/drawingml/2006/main">
            <a:r>
              <a:t>[Sources]</a:t>
            </a:r>
          </a:p>
          <a:p xmlns:a="http://schemas.openxmlformats.org/drawingml/2006/main">
            <a:r>
              <a:t>- phase_a_design/W01_Physical_AI_Evaluation_Landscape.md</a:t>
            </a:r>
          </a:p>
          <a:p xmlns:a="http://schemas.openxmlformats.org/drawingml/2006/main">
            <a:r>
              <a:t>- phase_c_synthesis/W05_PIC20_Model_Analysis.md</a:t>
            </a:r>
          </a:p>
          <a:p xmlns:a="http://schemas.openxmlformats.org/drawingml/2006/main">
            <a:r>
              <a:t>- phase_d_capstone/W08_Capstone_Report_Source.md#2-physical-ai-evaluation-landscape-and-pic-20-context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common benchmark contains exactly 35 public-safe synthetic scenarios, with seven assigned to each product context. Equal allocation is deliberate. Without it, conversational use cases would dominate the aggregate and the evaluation could look comprehensive while under-testing navigation, security, or task execution. Severity is based on the consequence of an incorrect response, not the linguistic difficulty. There are ten severity-1 scenarios, fifteen severity-3 scenarios, and ten severity-5 scenarios. The numerical weights create an ordinal prioritisation signal; they are not a cardinal estimate of harm. Severity-5 rows stay mandatory-review items even when an automated score is high. The execution contract freezes the scenario, rubric, model revision, rendered prompt, deterministic decoding policy, output limit, and seed 42. Raw rows are stored before aggregation. Task Accuracy and Contextual Grounding are scored separately from Failure Mode because a fluent grounded answer can still be unsafe, and a refusal can be safe but unhelpful. The final gate requires calibrated review, not merely a high composite. I also record an important limitation: the original split had 28 development and seven held-out scenarios, but those held-out rows were later inspected during iteration. They remain useful regression cases, but no longer support a fresh blind generalisation claim. A production-oriented follow-up must seal a new domain-reviewed test set only after prompts, rubric, and evaluator are frozen. This is an example of the capstone's general principle: reproducibility is reported separately from validity.</a:t>
            </a:r>
          </a:p>
          <a:p xmlns:a="http://schemas.openxmlformats.org/drawingml/2006/main">
            <a:r>
              <a:t/>
            </a:r>
          </a:p>
          <a:p xmlns:a="http://schemas.openxmlformats.org/drawingml/2006/main">
            <a:r>
              <a:t>[Sources]</a:t>
            </a:r>
          </a:p>
          <a:p xmlns:a="http://schemas.openxmlformats.org/drawingml/2006/main">
            <a:r>
              <a:t>- phase_a_design/W02_Eval_Framework_Design.md</a:t>
            </a:r>
          </a:p>
          <a:p xmlns:a="http://schemas.openxmlformats.org/drawingml/2006/main">
            <a:r>
              <a:t>- phase_a_design/W02_Baseline_Run_Manifest.json</a:t>
            </a:r>
          </a:p>
          <a:p xmlns:a="http://schemas.openxmlformats.org/drawingml/2006/main">
            <a:r>
              <a:t>- phase_d_capstone/W08_Claim_Evidence_Matrix_v1.0.0.csv#C01-C03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frozen three-model comparison contains 105 responses: 35 each from FLAN-T5 Base, Llama 3.1 8B Instruct, and Mistral 7B Instruct v0.2. On the diagnostic portfolio proxy, Mistral is highest at 85.8 out of 100, Llama is 80.2, and FLAN is 65.0. Mistral also has the strongest score coverage and no unsafe labels in this particular set. Across all models, seven responses are labelled unsafe: six from FLAN, one from Llama, and none from Mistral. Those observations are useful, but the right-hand side is the governing result. The frozen Judge calibration reached ordinal Krippendorff alpha 0.7551 against the provisional human labels, below the preregistered gate of 0.80. Failure Mode agreement is weaker still at 0.5673. Therefore, the numbers do not establish a validated leaderboard. They may reflect true model capability, but they may also reflect response length, prompt-template fit, unresolved rubric overlap, or bias shared by the automated Judge. Latency also introduces a confounder: FLAN appears fastest partly because it produces shorter and often incomplete answers; Mistral is slowest of the three text models in this setup. The defensible decision is asymmetric. FLAN is not suitable as the primary candidate for these complex tasks. Mistral is the first candidate to advance to model-blind, severity-stratified domain-expert calibration, with Llama as the comparison arm. This is advancement to the next gate, not deployment approval. All severity-5 items require human adjudication regardless of the proxy score.</a:t>
            </a:r>
          </a:p>
          <a:p xmlns:a="http://schemas.openxmlformats.org/drawingml/2006/main">
            <a:r>
              <a:t/>
            </a:r>
          </a:p>
          <a:p xmlns:a="http://schemas.openxmlformats.org/drawingml/2006/main">
            <a:r>
              <a:t>[Sources]</a:t>
            </a:r>
          </a:p>
          <a:p xmlns:a="http://schemas.openxmlformats.org/drawingml/2006/main">
            <a:r>
              <a:t>- phase_b_evaluation/W03_Three_Model_Diagnostic_Report.md</a:t>
            </a:r>
          </a:p>
          <a:p xmlns:a="http://schemas.openxmlformats.org/drawingml/2006/main">
            <a:r>
              <a:t>- phase_b_evaluation/W03_Three_Model_Diagnostic_Summary.json</a:t>
            </a:r>
          </a:p>
          <a:p xmlns:a="http://schemas.openxmlformats.org/drawingml/2006/main">
            <a:r>
              <a:t>- phase_a_design/W02_Baseline_Agreement.json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RAG experiment had a design flaw: the knowledge base contained short atomic sections, and every governed section was already below the smallest 256-token chunk size. Changing the nominal chunk-size setting therefore did not meaningfully change the indexed units. I corrected this by ingesting 21 complete official public sources, adding status and provenance metadata, and generating 40 questions with 58 mapped answer facts. The long documents produce 406 chunks at 256 tokens, 185 at 512, and 94 at 1024, so chunk size now creates a real experimental intervention. On the matched 40-question evaluation with the same Llama revision and seed 42, RAG improves diagnostic answer relevance by 0.655667 and required-point coverage by 0.522917 compared with the no-RAG condition. Retrieval itself is strong: document recall at k is 1.0, evidence-fact recall is 0.9, and MRR is 0.975. The cost is large: mean matched request latency increases by 8,030.48 milliseconds. This result supports RAG as a grounding intervention when access to long governed sources matters; it does not support turning RAG on everywhere. RAGAS-style dimensions also need interpretation. Retrieval recall asks whether registered evidence entered the context. Faithfulness asks whether claims are supported by that context. Relevance asks whether the answer addresses the question. Required-point coverage checks frozen answer requirements. None of these establishes that a source is current, authoritative, safe, or appropriate for a user. This is why metadata, access control, citation checks, abstention, and service-level latency must remain separate deployment gates.</a:t>
            </a:r>
          </a:p>
          <a:p xmlns:a="http://schemas.openxmlformats.org/drawingml/2006/main">
            <a:r>
              <a:t/>
            </a:r>
          </a:p>
          <a:p xmlns:a="http://schemas.openxmlformats.org/drawingml/2006/main">
            <a:r>
              <a:t>[Sources]</a:t>
            </a:r>
          </a:p>
          <a:p xmlns:a="http://schemas.openxmlformats.org/drawingml/2006/main">
            <a:r>
              <a:t>- phase_b_evaluation/W03_RAG_Long_Source_Corrective_Report_v1.0.0.md</a:t>
            </a:r>
          </a:p>
          <a:p xmlns:a="http://schemas.openxmlformats.org/drawingml/2006/main">
            <a:r>
              <a:t>- phase_b_evaluation/W03_RAG_Long_Source_Summary_v1.0.0.json</a:t>
            </a:r>
          </a:p>
          <a:p xmlns:a="http://schemas.openxmlformats.org/drawingml/2006/main">
            <a:r>
              <a:t>- phase_b_evaluation/W04_RAG_Long_Performance_Summary_v1.0.0.json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4 expands evaluation from point estimates to behavioural stability. The semantic robustness family contains 420 generations: 35 scenarios, three paraphrases per scenario, and three text models. FLAN has the highest semantic consistency at 0.9143, while Llama and Mistral are both 0.8571. Read alone, that could suggest FLAN is the most robust. The failure-pattern view reverses the interpretation. FLAN has 25 stable failures and only seven stable passes. It is often consistently wrong. Mistral has zero stable failures and 30 stable passes; Llama has four stable failures and 26 stable passes. This demonstrates why a robustness percentage must always be paired with correctness. Consistency measures invariance under a transformation; it does not measure whether the invariant answer is correct or safe. The masked-input family adds 126 generations at zero, 20, 40, and 60 percent evidence-group removal on selected scenarios. At 60 percent removal, FLAN's mean Task score is 0.357 below complete input, Llama's is 0.286 lower, and Mistral returns to its complete-input mean after a decline at 40 percent. That unusual Mistral curve may reflect simple tasks, insensitive masking, or evaluator noise. It is not evidence of graceful real sensor degradation. Text deletion lacks the temporal structure and cross-modal redundancy of camera, LiDAR, odometry, audio, and force streams. The correct conclusion is that the current tests identify hypotheses and mandatory-review cases; a closed-loop simulator or replay harness is still required to test safe recovery under real channel corruption and dropout.</a:t>
            </a:r>
          </a:p>
          <a:p xmlns:a="http://schemas.openxmlformats.org/drawingml/2006/main">
            <a:r>
              <a:t/>
            </a:r>
          </a:p>
          <a:p xmlns:a="http://schemas.openxmlformats.org/drawingml/2006/main">
            <a:r>
              <a:t>[Sources]</a:t>
            </a:r>
          </a:p>
          <a:p xmlns:a="http://schemas.openxmlformats.org/drawingml/2006/main">
            <a:r>
              <a:t>- phase_b_evaluation/W04_Robustness_Summary_v0.1.0.json</a:t>
            </a:r>
          </a:p>
          <a:p xmlns:a="http://schemas.openxmlformats.org/drawingml/2006/main">
            <a:r>
              <a:t>- phase_b_evaluation/W04_Robustness_Results_v0.1.0.md</a:t>
            </a:r>
          </a:p>
          <a:p xmlns:a="http://schemas.openxmlformats.org/drawingml/2006/main">
            <a:r>
              <a:t>- phase_d_capstone/W08_Claim_Evidence_Matrix_v1.0.0.csv#C07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multimodal comparison contains 120 rows: 20 public-image scenarios, two architectures, and three matched conditions—clean, Gaussian noise at standard deviation 0.08, and brightness 0.60. Idefics2 and LLaVA receive the same images, prompts, perturbations, rubric, A40 hardware, and seed 42. The quality scores are near the ceiling. On clean images, 19 of 20 cases tie and Idefics2 wins one. Under Gaussian noise, LLaVA's mean is slightly higher; under brightness reduction, Idefics2 is slightly higher. Those differences are too small and too evaluator-dependent to support a general architecture winner. System cost separates the candidates more clearly. LLaVA has p50 question-to-response latency of 4.39 seconds, compared with 6.31 seconds for Idefics2—a 1.92-second p50 advantage. Using mean latency, the advantage is approximately 1.51 seconds. LLaVA also peaks at 14.15 GiB versus 18.23 GiB. This is an observed architecture-and-configuration association on one A40, not a guarantee on edge hardware. The images are static public proxies; they omit synchronisation, conflicting modalities, missing channels, action feedback, and recovery. The decision is therefore conditional: LLaVA is the efficiency candidate for the next multimodal testbench, while Idefics2 remains the comparison candidate. A quality winner is withheld until the models are evaluated on authorised, time-aligned sensor streams or an approved simulator with corruption, dropout, decision-flip, unsafe-action, and safe-recovery metrics.</a:t>
            </a:r>
          </a:p>
          <a:p xmlns:a="http://schemas.openxmlformats.org/drawingml/2006/main">
            <a:r>
              <a:t/>
            </a:r>
          </a:p>
          <a:p xmlns:a="http://schemas.openxmlformats.org/drawingml/2006/main">
            <a:r>
              <a:t>[Sources]</a:t>
            </a:r>
          </a:p>
          <a:p xmlns:a="http://schemas.openxmlformats.org/drawingml/2006/main">
            <a:r>
              <a:t>- phase_b_evaluation/W04_Multimodal_Architecture_Comparison_v0.2.0.json</a:t>
            </a:r>
          </a:p>
          <a:p xmlns:a="http://schemas.openxmlformats.org/drawingml/2006/main">
            <a:r>
              <a:t>- phase_b_evaluation/W04_Multimodal_Results_v0.1.0.md</a:t>
            </a:r>
          </a:p>
          <a:p xmlns:a="http://schemas.openxmlformats.org/drawingml/2006/main">
            <a:r>
              <a:t>- phase_d_capstone/W08_Claim_Evidence_Matrix_v1.0.0.csv#C08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PIC analysis reports readiness as evidence coverage by class rather than inventing one performance score. For GRPO, the strongest current evidence is seven Rover text-plan scenarios per model, which can inform constrained-goal evaluation design but does not execute goals, constraints, or recovery. STUM and SEOM are blocked first by terminology and then by data: the current ordering and static-image proxies do not measure long-horizon state consistency, viewpoint-stable localisation, or navigation. AMDC has the broadest component evidence—120 rows from two VLMs across three image conditions—so it is ready for a better testbench, but not for deployment. HTD-IRL has Humanoid task-plan evidence but no executed task graphs or injected subtask failures. CRL-MRS is the largest gap. The portfolio has one closest coordination text scenario, but zero direct tests of multi-agent execution, message loss, continual learning, or forgetting. The next metric must follow each class's operational role: constrained goal-success for GRPO; contradiction rate by horizon for STUM; collision-free navigation and localisation error for SEOM; modality-degradation AUC and decision flips for AMDC; dependency violation and recovery for HTD-IRL; and joint task success under controlled message loss for CRL-MRS. This structure also prevents a common aggregation error: strong AMDC component scores cannot compensate for zero CRL-MRS execution evidence. The recommendation is to fund executed state transitions, beginning with communication-loss tests and an authoritative STUM/SEOM glossary decision. This is where the capstone moves from model comparison to readiness engineering: every class has an explicit denominator, failure mechanism, and missing validation gate.</a:t>
            </a:r>
          </a:p>
          <a:p xmlns:a="http://schemas.openxmlformats.org/drawingml/2006/main">
            <a:r>
              <a:t/>
            </a:r>
          </a:p>
          <a:p xmlns:a="http://schemas.openxmlformats.org/drawingml/2006/main">
            <a:r>
              <a:t>[Sources]</a:t>
            </a:r>
          </a:p>
          <a:p xmlns:a="http://schemas.openxmlformats.org/drawingml/2006/main">
            <a:r>
              <a:t>- phase_c_synthesis/W05_PIC20_Model_Analysis.md</a:t>
            </a:r>
          </a:p>
          <a:p xmlns:a="http://schemas.openxmlformats.org/drawingml/2006/main">
            <a:r>
              <a:t>- phase_c_synthesis/W06_Eval_Methodology_Report.md</a:t>
            </a:r>
          </a:p>
          <a:p xmlns:a="http://schemas.openxmlformats.org/drawingml/2006/main">
            <a:r>
              <a:t>- phase_d_capstone/W08_Capstone_Report_Source.md#8-pic-20-model-class-analysis-and-readiness-assessment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7 turns the frozen Weeks 2 through 6 evidence into a communication interface. It is deliberately not an inference application. The dashboard reads eleven precomputed presentation CSVs and performs no model generation, retrieval, scoring, or raw aggregation when it launches. This design makes the interface fast and reproducible, and it prevents a dashboard refresh from silently changing the evidence. The three personas now have distinct decision paths. The executive view shows exactly three registered indicators and one recommended action: the highest diagnostic portfolio proxy, the total observed unsafe labels, the recommended minimum number of independent reviewers, and the requirement for calibration before selection. The product-manager view focuses on platform risk and RAG readiness. The engineer view exposes the model scorecard, RAG factorial settings, robustness snapshot, source hashes, and reproduction commands. During review, two UI defects were found. First, the personas exposed nearly identical technical content, so switching roles did not change the decision path. Second, light-theme labels inherited white text and became unreadable. Version 1.2 corrects role separation and applies targeted contrast fixes. All 18 dashboard contract and AppTest cases pass. A headless browser check visits every persona, tab, selection, and caption, and reports zero white-on-white text candidates. The screenshot is evidence of the rendered executive path, while the automated tests verify the interaction contracts. The dashboard remains a triage and audit-navigation tool; model approval stays in a separate calibrated review and closed-loop validation process.</a:t>
            </a:r>
          </a:p>
          <a:p xmlns:a="http://schemas.openxmlformats.org/drawingml/2006/main">
            <a:r>
              <a:t/>
            </a:r>
          </a:p>
          <a:p xmlns:a="http://schemas.openxmlformats.org/drawingml/2006/main">
            <a:r>
              <a:t>[Sources]</a:t>
            </a:r>
          </a:p>
          <a:p xmlns:a="http://schemas.openxmlformats.org/drawingml/2006/main">
            <a:r>
              <a:t>- phase_d_capstone/W07_Dashboard_Design_Doc.md</a:t>
            </a:r>
          </a:p>
          <a:p xmlns:a="http://schemas.openxmlformats.org/drawingml/2006/main">
            <a:r>
              <a:t>- phase_d_capstone/W07_Dashboard/README.md</a:t>
            </a:r>
          </a:p>
          <a:p xmlns:a="http://schemas.openxmlformats.org/drawingml/2006/main">
            <a:r>
              <a:t>- phase_d_capstone/W07_Dashboard/assets/executive_view.png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supports three next-stage gates, in order. First is text-model calibration. Mistral advances as the lead candidate, with Llama as the comparison arm. The review should be model-blind and severity-stratified, with at least two independent domain experts. Ordinal agreement must reach or exceed the preregistered 0.80 threshold, all severity-5 cases must be adjudicated, and the final comparison must use a newly sealed test set. Second is a RAG service pilot. The full factorial identifies three Pareto-optimal cells. The 1024-token, top-k-5, cross-encoder cell is the balanced quality choice with a harmonic quality mean around 0.941 and p50 warm-path latency around 10.86 seconds. The 512-token, top-k-5, cross-encoder cell is the latency-lean choice with quality around 0.933 and p50 around 6.58 seconds. Both need to be re-tested on authorised documents, access controls, stale and conflicting sources, adversarial insertions, citation correctness, abstention, and actual service-level budgets. Third is closed-loop multimodal and PIC validation. LLaVA is the efficiency candidate and Idefics2 the comparison candidate, but static images must be replaced by synchronised sensor replay or an approved simulator. The measurements should include unsafe-action rate, recovery success, decision flips, intervention rate, and time to safe state under corruption and missing channels. The stop condition applies to all three gates: a high diagnostic score is not a deployment selection. Advancement occurs only when the registered gate is passed on new, representative evidence with an auditable denominator.</a:t>
            </a:r>
          </a:p>
          <a:p xmlns:a="http://schemas.openxmlformats.org/drawingml/2006/main">
            <a:r>
              <a:t/>
            </a:r>
          </a:p>
          <a:p xmlns:a="http://schemas.openxmlformats.org/drawingml/2006/main">
            <a:r>
              <a:t>[Sources]</a:t>
            </a:r>
          </a:p>
          <a:p xmlns:a="http://schemas.openxmlformats.org/drawingml/2006/main">
            <a:r>
              <a:t>- phase_c_synthesis/W05_RAG_Long_Source_Optimisation_Report_v1.1.0.md</a:t>
            </a:r>
          </a:p>
          <a:p xmlns:a="http://schemas.openxmlformats.org/drawingml/2006/main">
            <a:r>
              <a:t>- phase_c_synthesis/W06_Eval_Methodology_Report.md</a:t>
            </a:r>
          </a:p>
          <a:p xmlns:a="http://schemas.openxmlformats.org/drawingml/2006/main">
            <a:r>
              <a:t>- phase_d_capstone/W08_Capstone_Report_Source.md#10-limitations-and-next-evaluation-priorities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capstone is reproducible, but reproducibility is stronger than validity. Four gaps block a production ranking. First, the evaluator did not pass calibration. The overall ordinal alpha is 0.7551 and Failure Mode alpha is 0.5673, so apparent model differences must remain diagnostic. Second, the evidence is not product-representative. The scenarios, documents, and images are public or synthetic; no deployed InGen product, proprietary PIC runtime, customer data, closed-loop simulator, or real sensor stream was measured. Third, run-to-run variance is not estimated. Most experiments use deterministic decoding, one seed, and one A40. That makes exact outputs easier to reproduce, but it does not show stability across seeds, sampling policies, service implementations, or hardware. Fourth, the populations are small: 35 text scenarios, 40 long-source RAG questions, 20 Senpai questions in the optimisation subset, and 20 images per VLM condition. These sets can reveal recurring mechanisms and regression failures, but they cannot estimate rare-event risk or a field failure rate. What the current controls do establish is still valuable: exact model revisions, versioned evaluation sets, seed 42, source hashes, preserved raw rows, deterministic aggregation, 45 matched one-factor contrasts, and reproducible Pareto membership. The claim-evidence matrix links every principal number to a frozen artifact. The correct use of this work is to select the next validation investment and reproduce the diagnostic observations—not to convert transparent limitations into hidden confidence.</a:t>
            </a:r>
          </a:p>
          <a:p xmlns:a="http://schemas.openxmlformats.org/drawingml/2006/main">
            <a:r>
              <a:t/>
            </a:r>
          </a:p>
          <a:p xmlns:a="http://schemas.openxmlformats.org/drawingml/2006/main">
            <a:r>
              <a:t>[Sources]</a:t>
            </a:r>
          </a:p>
          <a:p xmlns:a="http://schemas.openxmlformats.org/drawingml/2006/main">
            <a:r>
              <a:t>- phase_c_synthesis/W06_Evidence_Registry_v1.0.0.json</a:t>
            </a:r>
          </a:p>
          <a:p xmlns:a="http://schemas.openxmlformats.org/drawingml/2006/main">
            <a:r>
              <a:t>- phase_d_capstone/W08_Evidence_Registry_v1.0.0.json</a:t>
            </a:r>
          </a:p>
          <a:p xmlns:a="http://schemas.openxmlformats.org/drawingml/2006/main">
            <a:r>
              <a:t>- phase_d_capstone/W08_Claim_Evidence_Matrix_v1.0.0.csv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extend the programme with four registered experiments. In weeks one through three, I would recruit at least two model-blind reviewers across the relevant safety domains and score 30 to 50 stratified calibration items. Ambiguous anchors would be revised without inspecting labels from the new sealed test set, and agreement would be reported by dimension and severity. In weeks four through six, I would build a simulator or replay harness for time-aligned sensor corruption and dropout. The primary outcomes would be unsafe actions, collision or constraint violations, recovery success, intervention rate, and time to a safe state. In weeks seven through nine, I would repeat the RAG Pareto study across time-sliced corpora, access policies, stale and conflicting documents, adversarial insertions, multiple seeds, and at least two hardware targets. The key question would be whether Pareto membership and citation behaviour generalise. In weeks ten through twelve, I would execute cooperative tasks with controlled bandwidth, message loss, and agent dropout, measuring joint success, allocation coverage, recovery latency, backward transfer, and catastrophic forgetting. This directly addresses the current CRL-MRS gap. The final recommendation is to close evaluator calibration first. Additional GPU spend is most valuable when it buys closed-loop evidence, domain review, and cross-corpus generalisation—not simply more rows on the current diagnostic leaderboard. The capstone delivers a reproducible evaluation system, three conditional candidate decisions, an explicit map of what remains unknown, and a sequence of gates that can turn public proxies into product-representative evidence. I am happy to take questions on the 35-scenario design, the RAGAS dimensions, masked-input limitations, severity weighting, Pareto selection, or the PIC readiness map.</a:t>
            </a:r>
          </a:p>
          <a:p xmlns:a="http://schemas.openxmlformats.org/drawingml/2006/main">
            <a:r>
              <a:t/>
            </a:r>
          </a:p>
          <a:p xmlns:a="http://schemas.openxmlformats.org/drawingml/2006/main">
            <a:r>
              <a:t>[Sources]</a:t>
            </a:r>
          </a:p>
          <a:p xmlns:a="http://schemas.openxmlformats.org/drawingml/2006/main">
            <a:r>
              <a:t>- phase_d_capstone/W08_Capstone_Report_Source.md#10-limitations-and-next-evaluation-priorities</a:t>
            </a:r>
          </a:p>
          <a:p xmlns:a="http://schemas.openxmlformats.org/drawingml/2006/main">
            <a:r>
              <a:t>- phase_d_capstone/W08_Final_Readout_QA.md</a:t>
            </a:r>
          </a:p>
          <a:p xmlns:a="http://schemas.openxmlformats.org/drawingml/2006/main">
            <a:r>
              <a:t>- phase_d_capstone/W08_Final_Evaluation_Rubric.md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d10860862a43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15340ddd7342d6" /><Relationship Type="http://schemas.openxmlformats.org/officeDocument/2006/relationships/slideLayout" Target="/ppt/slideLayouts/slideLayout1.xml" Id="Ra1e0ef0feffd43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e0ef0feffd43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ab7efa62cd4134" /><Relationship Type="http://schemas.openxmlformats.org/officeDocument/2006/relationships/notesSlide" Target="/ppt/notesSlides/notesSlide1.xml" Id="Rdeac7bc296454e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51d45611e24190" /><Relationship Type="http://schemas.openxmlformats.org/officeDocument/2006/relationships/notesSlide" Target="/ppt/notesSlides/notesSlide2.xml" Id="R262b8adae25049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8d209015124cf6" /><Relationship Type="http://schemas.openxmlformats.org/officeDocument/2006/relationships/notesSlide" Target="/ppt/notesSlides/notesSlide3.xml" Id="R6853c0b86cae48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39045d0cab4ff9" /><Relationship Type="http://schemas.openxmlformats.org/officeDocument/2006/relationships/notesSlide" Target="/ppt/notesSlides/notesSlide4.xml" Id="R146a7c82bd924b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e26d5476dc4cf2" /><Relationship Type="http://schemas.openxmlformats.org/officeDocument/2006/relationships/notesSlide" Target="/ppt/notesSlides/notesSlide5.xml" Id="R2c88dd7ac64247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ccdc97133d41d5" /><Relationship Type="http://schemas.openxmlformats.org/officeDocument/2006/relationships/notesSlide" Target="/ppt/notesSlides/notesSlide6.xml" Id="Re45e4356a2c843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27013d2eb14d2a" /><Relationship Type="http://schemas.openxmlformats.org/officeDocument/2006/relationships/notesSlide" Target="/ppt/notesSlides/notesSlide7.xml" Id="R22ae572d6a4146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f179b3f3434036" /><Relationship Type="http://schemas.openxmlformats.org/officeDocument/2006/relationships/notesSlide" Target="/ppt/notesSlides/notesSlide8.xml" Id="R0cd0036faabf4a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47569b7208b4be8" /><Relationship Type="http://schemas.openxmlformats.org/officeDocument/2006/relationships/image" Target="/ppt/media/image.png" Id="R17faf9100a5f4ac4" /><Relationship Type="http://schemas.openxmlformats.org/officeDocument/2006/relationships/notesSlide" Target="/ppt/notesSlides/notesSlide9.xml" Id="Rd624810bf2884e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5ecd4d9b41446d" /><Relationship Type="http://schemas.openxmlformats.org/officeDocument/2006/relationships/notesSlide" Target="/ppt/notesSlides/notesSlide10.xml" Id="R6014ca3382364d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3f57697044418b" /><Relationship Type="http://schemas.openxmlformats.org/officeDocument/2006/relationships/notesSlide" Target="/ppt/notesSlides/notesSlide11.xml" Id="Rb6162b64aed741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d95ef083b75491a" /><Relationship Type="http://schemas.openxmlformats.org/officeDocument/2006/relationships/notesSlide" Target="/ppt/notesSlides/notesSlide12.xml" Id="R148e566f0562422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4A5288C-1439-47CD-A800-6B85CB3162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B8786D0-BE51-4365-9961-E65CD9EDD203}"/>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3" name="">
            <a:extLst xmlns:a="http://schemas.openxmlformats.org/drawingml/2006/main">
              <a:ext uri="{FF2B5EF4-FFF2-40B4-BE49-F238E27FC236}">
                <a16:creationId xmlns:a16="http://schemas.microsoft.com/office/drawing/2014/main" id="{9AE9940D-8D6E-4A22-94A2-5AFD9BAC6A02}"/>
              </a:ext>
            </a:extLst>
          </p:cNvPr>
          <p:cNvSpPr>
            <a:spLocks xmlns:a="http://schemas.openxmlformats.org/drawingml/2006/main" noGrp="1"/>
          </p:cNvSpPr>
          <p:nvPr/>
        </p:nvSpPr>
        <p:spPr>
          <a:xfrm xmlns:a="http://schemas.openxmlformats.org/drawingml/2006/main">
            <a:off x="609600" y="514350"/>
            <a:ext cx="590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E74B5"/>
                </a:solidFill>
                <a:latin typeface="Aptos"/>
                <a:ea typeface="Aptos"/>
                <a:cs typeface="Aptos"/>
              </a:defRPr>
            </a:pPr>
            <a:r>
              <a:t>EIGHT-WEEK EVALUATION CAPSTONE</a:t>
            </a:r>
          </a:p>
        </p:txBody>
      </p:sp>
      <p:sp>
        <p:nvSpPr>
          <p:cNvPr id="4" name="">
            <a:extLst xmlns:a="http://schemas.openxmlformats.org/drawingml/2006/main">
              <a:ext uri="{FF2B5EF4-FFF2-40B4-BE49-F238E27FC236}">
                <a16:creationId xmlns:a16="http://schemas.microsoft.com/office/drawing/2014/main" id="{F97F1DA8-72DB-4E83-AE8D-18C2FA3D6255}"/>
              </a:ext>
            </a:extLst>
          </p:cNvPr>
          <p:cNvSpPr>
            <a:spLocks xmlns:a="http://schemas.openxmlformats.org/drawingml/2006/main" noGrp="1"/>
          </p:cNvSpPr>
          <p:nvPr/>
        </p:nvSpPr>
        <p:spPr>
          <a:xfrm xmlns:a="http://schemas.openxmlformats.org/drawingml/2006/main">
            <a:off x="609600" y="1028700"/>
            <a:ext cx="7239000" cy="2000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i="0">
                <a:solidFill>
                  <a:srgbClr val="0B2545"/>
                </a:solidFill>
                <a:latin typeface="Aptos"/>
                <a:ea typeface="Aptos"/>
                <a:cs typeface="Aptos"/>
              </a:defRPr>
            </a:pPr>
            <a:r>
              <a:t>35 scenarios, 3 models, and 18 RAG cells reveal where deployment evidence is missing</a:t>
            </a:r>
          </a:p>
        </p:txBody>
      </p:sp>
      <p:sp>
        <p:nvSpPr>
          <p:cNvPr id="5" name="">
            <a:extLst xmlns:a="http://schemas.openxmlformats.org/drawingml/2006/main">
              <a:ext uri="{FF2B5EF4-FFF2-40B4-BE49-F238E27FC236}">
                <a16:creationId xmlns:a16="http://schemas.microsoft.com/office/drawing/2014/main" id="{7CFCE9BE-DD30-4A78-BC33-94D0FA38930D}"/>
              </a:ext>
            </a:extLst>
          </p:cNvPr>
          <p:cNvSpPr>
            <a:spLocks xmlns:a="http://schemas.openxmlformats.org/drawingml/2006/main" noGrp="1"/>
          </p:cNvSpPr>
          <p:nvPr/>
        </p:nvSpPr>
        <p:spPr>
          <a:xfrm xmlns:a="http://schemas.openxmlformats.org/drawingml/2006/main">
            <a:off x="609600" y="3200400"/>
            <a:ext cx="68580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5B677A"/>
                </a:solidFill>
                <a:latin typeface="Aptos"/>
                <a:ea typeface="Aptos"/>
                <a:cs typeface="Aptos"/>
              </a:defRPr>
            </a:pPr>
            <a:r>
              <a:t>Evidence-bounded model selection for Physical AI and PIC 2.0</a:t>
            </a:r>
          </a:p>
        </p:txBody>
      </p:sp>
      <p:sp>
        <p:nvSpPr>
          <p:cNvPr id="6" name="">
            <a:extLst xmlns:a="http://schemas.openxmlformats.org/drawingml/2006/main">
              <a:ext uri="{FF2B5EF4-FFF2-40B4-BE49-F238E27FC236}">
                <a16:creationId xmlns:a16="http://schemas.microsoft.com/office/drawing/2014/main" id="{938704EB-BA15-4994-8930-C1A9F141C5CA}"/>
              </a:ext>
            </a:extLst>
          </p:cNvPr>
          <p:cNvSpPr>
            <a:spLocks xmlns:a="http://schemas.openxmlformats.org/drawingml/2006/main" noGrp="1"/>
          </p:cNvSpPr>
          <p:nvPr/>
        </p:nvSpPr>
        <p:spPr>
          <a:xfrm xmlns:a="http://schemas.openxmlformats.org/drawingml/2006/main">
            <a:off x="609600" y="5943600"/>
            <a:ext cx="6858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Yian Fan  ·  Week 8 final readout  ·  19 August 2026</a:t>
            </a:r>
          </a:p>
        </p:txBody>
      </p:sp>
      <p:sp>
        <p:nvSpPr>
          <p:cNvPr id="7" name="">
            <a:extLst xmlns:a="http://schemas.openxmlformats.org/drawingml/2006/main">
              <a:ext uri="{FF2B5EF4-FFF2-40B4-BE49-F238E27FC236}">
                <a16:creationId xmlns:a16="http://schemas.microsoft.com/office/drawing/2014/main" id="{045AD0B1-9563-4E46-AE32-006CBCAB6C78}"/>
              </a:ext>
            </a:extLst>
          </p:cNvPr>
          <p:cNvSpPr>
            <a:spLocks xmlns:a="http://schemas.openxmlformats.org/drawingml/2006/main" noGrp="1"/>
          </p:cNvSpPr>
          <p:nvPr/>
        </p:nvSpPr>
        <p:spPr>
          <a:xfrm xmlns:a="http://schemas.openxmlformats.org/drawingml/2006/main">
            <a:off x="8191500" y="876300"/>
            <a:ext cx="31051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7DFE9"/>
            </a:solidFill>
            <a:prstDash val="solid"/>
          </a:ln>
        </p:spPr>
      </p:sp>
      <p:sp>
        <p:nvSpPr>
          <p:cNvPr id="8" name="">
            <a:extLst xmlns:a="http://schemas.openxmlformats.org/drawingml/2006/main">
              <a:ext uri="{FF2B5EF4-FFF2-40B4-BE49-F238E27FC236}">
                <a16:creationId xmlns:a16="http://schemas.microsoft.com/office/drawing/2014/main" id="{B72C01BF-2144-4ABA-812F-D38A814391C8}"/>
              </a:ext>
            </a:extLst>
          </p:cNvPr>
          <p:cNvSpPr>
            <a:spLocks xmlns:a="http://schemas.openxmlformats.org/drawingml/2006/main" noGrp="1"/>
          </p:cNvSpPr>
          <p:nvPr/>
        </p:nvSpPr>
        <p:spPr>
          <a:xfrm xmlns:a="http://schemas.openxmlformats.org/drawingml/2006/main">
            <a:off x="8191500" y="876300"/>
            <a:ext cx="76200" cy="13335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9" name="">
            <a:extLst xmlns:a="http://schemas.openxmlformats.org/drawingml/2006/main">
              <a:ext uri="{FF2B5EF4-FFF2-40B4-BE49-F238E27FC236}">
                <a16:creationId xmlns:a16="http://schemas.microsoft.com/office/drawing/2014/main" id="{C799DB56-59A3-4676-8611-120FF7E566DF}"/>
              </a:ext>
            </a:extLst>
          </p:cNvPr>
          <p:cNvSpPr>
            <a:spLocks xmlns:a="http://schemas.openxmlformats.org/drawingml/2006/main" noGrp="1"/>
          </p:cNvSpPr>
          <p:nvPr/>
        </p:nvSpPr>
        <p:spPr>
          <a:xfrm xmlns:a="http://schemas.openxmlformats.org/drawingml/2006/main">
            <a:off x="8420100" y="1028700"/>
            <a:ext cx="2676525"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2563EB"/>
                </a:solidFill>
                <a:latin typeface="Aptos"/>
                <a:ea typeface="Aptos"/>
                <a:cs typeface="Aptos"/>
              </a:defRPr>
            </a:pPr>
            <a:r>
              <a:t>35</a:t>
            </a:r>
          </a:p>
        </p:txBody>
      </p:sp>
      <p:sp>
        <p:nvSpPr>
          <p:cNvPr id="10" name="">
            <a:extLst xmlns:a="http://schemas.openxmlformats.org/drawingml/2006/main">
              <a:ext uri="{FF2B5EF4-FFF2-40B4-BE49-F238E27FC236}">
                <a16:creationId xmlns:a16="http://schemas.microsoft.com/office/drawing/2014/main" id="{91014E51-0388-40EC-9F1B-45880B569BA9}"/>
              </a:ext>
            </a:extLst>
          </p:cNvPr>
          <p:cNvSpPr>
            <a:spLocks xmlns:a="http://schemas.openxmlformats.org/drawingml/2006/main" noGrp="1"/>
          </p:cNvSpPr>
          <p:nvPr/>
        </p:nvSpPr>
        <p:spPr>
          <a:xfrm xmlns:a="http://schemas.openxmlformats.org/drawingml/2006/main">
            <a:off x="8420100" y="1495425"/>
            <a:ext cx="2676525"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72033"/>
                </a:solidFill>
                <a:latin typeface="Aptos"/>
                <a:ea typeface="Aptos"/>
                <a:cs typeface="Aptos"/>
              </a:defRPr>
            </a:pPr>
            <a:r>
              <a:t>balanced scenarios</a:t>
            </a:r>
          </a:p>
        </p:txBody>
      </p:sp>
      <p:sp>
        <p:nvSpPr>
          <p:cNvPr id="11" name="">
            <a:extLst xmlns:a="http://schemas.openxmlformats.org/drawingml/2006/main">
              <a:ext uri="{FF2B5EF4-FFF2-40B4-BE49-F238E27FC236}">
                <a16:creationId xmlns:a16="http://schemas.microsoft.com/office/drawing/2014/main" id="{758BE572-37D9-487E-B042-9ADD8EDEF3C9}"/>
              </a:ext>
            </a:extLst>
          </p:cNvPr>
          <p:cNvSpPr>
            <a:spLocks xmlns:a="http://schemas.openxmlformats.org/drawingml/2006/main" noGrp="1"/>
          </p:cNvSpPr>
          <p:nvPr/>
        </p:nvSpPr>
        <p:spPr>
          <a:xfrm xmlns:a="http://schemas.openxmlformats.org/drawingml/2006/main">
            <a:off x="8420100" y="1809750"/>
            <a:ext cx="2676525"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7 per product context</a:t>
            </a:r>
          </a:p>
        </p:txBody>
      </p:sp>
      <p:sp>
        <p:nvSpPr>
          <p:cNvPr id="12" name="">
            <a:extLst xmlns:a="http://schemas.openxmlformats.org/drawingml/2006/main">
              <a:ext uri="{FF2B5EF4-FFF2-40B4-BE49-F238E27FC236}">
                <a16:creationId xmlns:a16="http://schemas.microsoft.com/office/drawing/2014/main" id="{5E0AFCE5-0CA7-4D26-A7C6-FE7E5EEBF06E}"/>
              </a:ext>
            </a:extLst>
          </p:cNvPr>
          <p:cNvSpPr>
            <a:spLocks xmlns:a="http://schemas.openxmlformats.org/drawingml/2006/main" noGrp="1"/>
          </p:cNvSpPr>
          <p:nvPr/>
        </p:nvSpPr>
        <p:spPr>
          <a:xfrm xmlns:a="http://schemas.openxmlformats.org/drawingml/2006/main">
            <a:off x="8191500" y="2438400"/>
            <a:ext cx="31051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7DFE9"/>
            </a:solidFill>
            <a:prstDash val="solid"/>
          </a:ln>
        </p:spPr>
      </p:sp>
      <p:sp>
        <p:nvSpPr>
          <p:cNvPr id="13" name="">
            <a:extLst xmlns:a="http://schemas.openxmlformats.org/drawingml/2006/main">
              <a:ext uri="{FF2B5EF4-FFF2-40B4-BE49-F238E27FC236}">
                <a16:creationId xmlns:a16="http://schemas.microsoft.com/office/drawing/2014/main" id="{CBDA0A6F-815C-4465-8A0D-DC7EF35212DD}"/>
              </a:ext>
            </a:extLst>
          </p:cNvPr>
          <p:cNvSpPr>
            <a:spLocks xmlns:a="http://schemas.openxmlformats.org/drawingml/2006/main" noGrp="1"/>
          </p:cNvSpPr>
          <p:nvPr/>
        </p:nvSpPr>
        <p:spPr>
          <a:xfrm xmlns:a="http://schemas.openxmlformats.org/drawingml/2006/main">
            <a:off x="8191500" y="2438400"/>
            <a:ext cx="76200" cy="133350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14" name="">
            <a:extLst xmlns:a="http://schemas.openxmlformats.org/drawingml/2006/main">
              <a:ext uri="{FF2B5EF4-FFF2-40B4-BE49-F238E27FC236}">
                <a16:creationId xmlns:a16="http://schemas.microsoft.com/office/drawing/2014/main" id="{0702392F-8813-4467-BCF4-7409FEBD28CF}"/>
              </a:ext>
            </a:extLst>
          </p:cNvPr>
          <p:cNvSpPr>
            <a:spLocks xmlns:a="http://schemas.openxmlformats.org/drawingml/2006/main" noGrp="1"/>
          </p:cNvSpPr>
          <p:nvPr/>
        </p:nvSpPr>
        <p:spPr>
          <a:xfrm xmlns:a="http://schemas.openxmlformats.org/drawingml/2006/main">
            <a:off x="8420100" y="2590800"/>
            <a:ext cx="2676525"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0F9D8A"/>
                </a:solidFill>
                <a:latin typeface="Aptos"/>
                <a:ea typeface="Aptos"/>
                <a:cs typeface="Aptos"/>
              </a:defRPr>
            </a:pPr>
            <a:r>
              <a:t>3</a:t>
            </a:r>
          </a:p>
        </p:txBody>
      </p:sp>
      <p:sp>
        <p:nvSpPr>
          <p:cNvPr id="15" name="">
            <a:extLst xmlns:a="http://schemas.openxmlformats.org/drawingml/2006/main">
              <a:ext uri="{FF2B5EF4-FFF2-40B4-BE49-F238E27FC236}">
                <a16:creationId xmlns:a16="http://schemas.microsoft.com/office/drawing/2014/main" id="{91872AC5-8606-421D-B33C-F5CA364312B8}"/>
              </a:ext>
            </a:extLst>
          </p:cNvPr>
          <p:cNvSpPr>
            <a:spLocks xmlns:a="http://schemas.openxmlformats.org/drawingml/2006/main" noGrp="1"/>
          </p:cNvSpPr>
          <p:nvPr/>
        </p:nvSpPr>
        <p:spPr>
          <a:xfrm xmlns:a="http://schemas.openxmlformats.org/drawingml/2006/main">
            <a:off x="8420100" y="3057525"/>
            <a:ext cx="2676525"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72033"/>
                </a:solidFill>
                <a:latin typeface="Aptos"/>
                <a:ea typeface="Aptos"/>
                <a:cs typeface="Aptos"/>
              </a:defRPr>
            </a:pPr>
            <a:r>
              <a:t>frozen text models</a:t>
            </a:r>
          </a:p>
        </p:txBody>
      </p:sp>
      <p:sp>
        <p:nvSpPr>
          <p:cNvPr id="16" name="">
            <a:extLst xmlns:a="http://schemas.openxmlformats.org/drawingml/2006/main">
              <a:ext uri="{FF2B5EF4-FFF2-40B4-BE49-F238E27FC236}">
                <a16:creationId xmlns:a16="http://schemas.microsoft.com/office/drawing/2014/main" id="{DFDD6A23-4EB9-4193-B748-514BCE2BD859}"/>
              </a:ext>
            </a:extLst>
          </p:cNvPr>
          <p:cNvSpPr>
            <a:spLocks xmlns:a="http://schemas.openxmlformats.org/drawingml/2006/main" noGrp="1"/>
          </p:cNvSpPr>
          <p:nvPr/>
        </p:nvSpPr>
        <p:spPr>
          <a:xfrm xmlns:a="http://schemas.openxmlformats.org/drawingml/2006/main">
            <a:off x="8420100" y="3371850"/>
            <a:ext cx="2676525"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105 comparable answers</a:t>
            </a:r>
          </a:p>
        </p:txBody>
      </p:sp>
      <p:sp>
        <p:nvSpPr>
          <p:cNvPr id="17" name="">
            <a:extLst xmlns:a="http://schemas.openxmlformats.org/drawingml/2006/main">
              <a:ext uri="{FF2B5EF4-FFF2-40B4-BE49-F238E27FC236}">
                <a16:creationId xmlns:a16="http://schemas.microsoft.com/office/drawing/2014/main" id="{A9D63519-A6AD-42BA-BFEB-A36E81ED8B9C}"/>
              </a:ext>
            </a:extLst>
          </p:cNvPr>
          <p:cNvSpPr>
            <a:spLocks xmlns:a="http://schemas.openxmlformats.org/drawingml/2006/main" noGrp="1"/>
          </p:cNvSpPr>
          <p:nvPr/>
        </p:nvSpPr>
        <p:spPr>
          <a:xfrm xmlns:a="http://schemas.openxmlformats.org/drawingml/2006/main">
            <a:off x="8191500" y="4000500"/>
            <a:ext cx="31051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7DFE9"/>
            </a:solidFill>
            <a:prstDash val="solid"/>
          </a:ln>
        </p:spPr>
      </p:sp>
      <p:sp>
        <p:nvSpPr>
          <p:cNvPr id="18" name="">
            <a:extLst xmlns:a="http://schemas.openxmlformats.org/drawingml/2006/main">
              <a:ext uri="{FF2B5EF4-FFF2-40B4-BE49-F238E27FC236}">
                <a16:creationId xmlns:a16="http://schemas.microsoft.com/office/drawing/2014/main" id="{F4A36384-D75C-48D7-903D-DE1768567631}"/>
              </a:ext>
            </a:extLst>
          </p:cNvPr>
          <p:cNvSpPr>
            <a:spLocks xmlns:a="http://schemas.openxmlformats.org/drawingml/2006/main" noGrp="1"/>
          </p:cNvSpPr>
          <p:nvPr/>
        </p:nvSpPr>
        <p:spPr>
          <a:xfrm xmlns:a="http://schemas.openxmlformats.org/drawingml/2006/main">
            <a:off x="8191500" y="4000500"/>
            <a:ext cx="76200" cy="1333500"/>
          </a:xfrm>
          <a:prstGeom xmlns:a="http://schemas.openxmlformats.org/drawingml/2006/main" prst="rect">
            <a:avLst/>
          </a:prstGeom>
          <a:solidFill xmlns:a="http://schemas.openxmlformats.org/drawingml/2006/main">
            <a:srgbClr val="D48A00"/>
          </a:solidFill>
          <a:ln xmlns:a="http://schemas.openxmlformats.org/drawingml/2006/main" w="0">
            <a:solidFill>
              <a:srgbClr val="D48A00"/>
            </a:solidFill>
            <a:prstDash val="solid"/>
          </a:ln>
        </p:spPr>
      </p:sp>
      <p:sp>
        <p:nvSpPr>
          <p:cNvPr id="19" name="">
            <a:extLst xmlns:a="http://schemas.openxmlformats.org/drawingml/2006/main">
              <a:ext uri="{FF2B5EF4-FFF2-40B4-BE49-F238E27FC236}">
                <a16:creationId xmlns:a16="http://schemas.microsoft.com/office/drawing/2014/main" id="{C968078E-5AD3-4F45-A751-34BC2D5B2CBF}"/>
              </a:ext>
            </a:extLst>
          </p:cNvPr>
          <p:cNvSpPr>
            <a:spLocks xmlns:a="http://schemas.openxmlformats.org/drawingml/2006/main" noGrp="1"/>
          </p:cNvSpPr>
          <p:nvPr/>
        </p:nvSpPr>
        <p:spPr>
          <a:xfrm xmlns:a="http://schemas.openxmlformats.org/drawingml/2006/main">
            <a:off x="8420100" y="4152900"/>
            <a:ext cx="2676525"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D48A00"/>
                </a:solidFill>
                <a:latin typeface="Aptos"/>
                <a:ea typeface="Aptos"/>
                <a:cs typeface="Aptos"/>
              </a:defRPr>
            </a:pPr>
            <a:r>
              <a:t>18</a:t>
            </a:r>
          </a:p>
        </p:txBody>
      </p:sp>
      <p:sp>
        <p:nvSpPr>
          <p:cNvPr id="20" name="">
            <a:extLst xmlns:a="http://schemas.openxmlformats.org/drawingml/2006/main">
              <a:ext uri="{FF2B5EF4-FFF2-40B4-BE49-F238E27FC236}">
                <a16:creationId xmlns:a16="http://schemas.microsoft.com/office/drawing/2014/main" id="{4A6371DF-CC49-4D56-857E-04E4FDAEB8BD}"/>
              </a:ext>
            </a:extLst>
          </p:cNvPr>
          <p:cNvSpPr>
            <a:spLocks xmlns:a="http://schemas.openxmlformats.org/drawingml/2006/main" noGrp="1"/>
          </p:cNvSpPr>
          <p:nvPr/>
        </p:nvSpPr>
        <p:spPr>
          <a:xfrm xmlns:a="http://schemas.openxmlformats.org/drawingml/2006/main">
            <a:off x="8420100" y="4619625"/>
            <a:ext cx="2676525"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72033"/>
                </a:solidFill>
                <a:latin typeface="Aptos"/>
                <a:ea typeface="Aptos"/>
                <a:cs typeface="Aptos"/>
              </a:defRPr>
            </a:pPr>
            <a:r>
              <a:t>full-factorial RAG cells</a:t>
            </a:r>
          </a:p>
        </p:txBody>
      </p:sp>
      <p:sp>
        <p:nvSpPr>
          <p:cNvPr id="21" name="">
            <a:extLst xmlns:a="http://schemas.openxmlformats.org/drawingml/2006/main">
              <a:ext uri="{FF2B5EF4-FFF2-40B4-BE49-F238E27FC236}">
                <a16:creationId xmlns:a16="http://schemas.microsoft.com/office/drawing/2014/main" id="{AE80E9D9-2B7F-4BC4-A449-08354260840B}"/>
              </a:ext>
            </a:extLst>
          </p:cNvPr>
          <p:cNvSpPr>
            <a:spLocks xmlns:a="http://schemas.openxmlformats.org/drawingml/2006/main" noGrp="1"/>
          </p:cNvSpPr>
          <p:nvPr/>
        </p:nvSpPr>
        <p:spPr>
          <a:xfrm xmlns:a="http://schemas.openxmlformats.org/drawingml/2006/main">
            <a:off x="8420100" y="4933950"/>
            <a:ext cx="2676525"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360 item rows · 45 contrasts</a:t>
            </a:r>
          </a:p>
        </p:txBody>
      </p:sp>
      <p:sp>
        <p:nvSpPr>
          <p:cNvPr id="22" name="">
            <a:extLst xmlns:a="http://schemas.openxmlformats.org/drawingml/2006/main">
              <a:ext uri="{FF2B5EF4-FFF2-40B4-BE49-F238E27FC236}">
                <a16:creationId xmlns:a16="http://schemas.microsoft.com/office/drawing/2014/main" id="{235C5749-FCDF-43F4-94FC-CF1722266B36}"/>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01</a:t>
            </a:r>
          </a:p>
        </p:txBody>
      </p:sp>
    </p:spTree>
    <p:extLst>
      <p:ext uri="{BB962C8B-B14F-4D97-AF65-F5344CB8AC3E}">
        <p14:creationId xmlns:p14="http://schemas.microsoft.com/office/powerpoint/2010/main" val="205381508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C3920CE5-EAA7-42C2-9F47-A58783C6AAE5}"/>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A3EED8E4-25B8-4A4A-9579-9C9EF1F5BA34}"/>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172033"/>
                </a:solidFill>
                <a:latin typeface="Aptos"/>
                <a:ea typeface="Aptos"/>
                <a:cs typeface="Aptos"/>
              </a:defRPr>
            </a:pPr>
            <a:r>
              <a:t>5 product contexts need 6 gates—not one accuracy score</a:t>
            </a:r>
          </a:p>
        </p:txBody>
      </p:sp>
      <p:cxnSp>
        <p:nvCxnSpPr>
          <p:cNvPr id="56"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8CDD2569-D537-4229-AB01-47DC87D5EB76}"/>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02</a:t>
            </a:r>
          </a:p>
        </p:txBody>
      </p:sp>
      <p:sp>
        <p:nvSpPr>
          <p:cNvPr id="5" name="">
            <a:extLst xmlns:a="http://schemas.openxmlformats.org/drawingml/2006/main">
              <a:ext uri="{FF2B5EF4-FFF2-40B4-BE49-F238E27FC236}">
                <a16:creationId xmlns:a16="http://schemas.microsoft.com/office/drawing/2014/main" id="{72A6F94F-FF6A-47FC-81D7-B9CF56EC2EE0}"/>
              </a:ext>
            </a:extLst>
          </p:cNvPr>
          <p:cNvSpPr>
            <a:spLocks xmlns:a="http://schemas.openxmlformats.org/drawingml/2006/main" noGrp="1"/>
          </p:cNvSpPr>
          <p:nvPr/>
        </p:nvSpPr>
        <p:spPr>
          <a:xfrm xmlns:a="http://schemas.openxmlformats.org/drawingml/2006/main">
            <a:off x="552450" y="1543050"/>
            <a:ext cx="33337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7DFE9"/>
            </a:solidFill>
            <a:prstDash val="solid"/>
          </a:ln>
        </p:spPr>
      </p:sp>
      <p:sp>
        <p:nvSpPr>
          <p:cNvPr id="6" name="">
            <a:extLst xmlns:a="http://schemas.openxmlformats.org/drawingml/2006/main">
              <a:ext uri="{FF2B5EF4-FFF2-40B4-BE49-F238E27FC236}">
                <a16:creationId xmlns:a16="http://schemas.microsoft.com/office/drawing/2014/main" id="{BC986496-0CF7-4681-B413-77F78FDF5DBD}"/>
              </a:ext>
            </a:extLst>
          </p:cNvPr>
          <p:cNvSpPr>
            <a:spLocks xmlns:a="http://schemas.openxmlformats.org/drawingml/2006/main" noGrp="1"/>
          </p:cNvSpPr>
          <p:nvPr/>
        </p:nvSpPr>
        <p:spPr>
          <a:xfrm xmlns:a="http://schemas.openxmlformats.org/drawingml/2006/main">
            <a:off x="552450" y="1543050"/>
            <a:ext cx="85725" cy="5905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B77A4B83-BA76-439C-AD8E-FB78B0946CD9}"/>
              </a:ext>
            </a:extLst>
          </p:cNvPr>
          <p:cNvSpPr>
            <a:spLocks xmlns:a="http://schemas.openxmlformats.org/drawingml/2006/main" noGrp="1"/>
          </p:cNvSpPr>
          <p:nvPr/>
        </p:nvSpPr>
        <p:spPr>
          <a:xfrm xmlns:a="http://schemas.openxmlformats.org/drawingml/2006/main">
            <a:off x="800100" y="1657350"/>
            <a:ext cx="10477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2545"/>
                </a:solidFill>
                <a:latin typeface="Aptos"/>
                <a:ea typeface="Aptos"/>
                <a:cs typeface="Aptos"/>
              </a:defRPr>
            </a:pPr>
            <a:r>
              <a:t>Fari</a:t>
            </a:r>
          </a:p>
        </p:txBody>
      </p:sp>
      <p:sp>
        <p:nvSpPr>
          <p:cNvPr id="8" name="">
            <a:extLst xmlns:a="http://schemas.openxmlformats.org/drawingml/2006/main">
              <a:ext uri="{FF2B5EF4-FFF2-40B4-BE49-F238E27FC236}">
                <a16:creationId xmlns:a16="http://schemas.microsoft.com/office/drawing/2014/main" id="{C20A21B4-AB0D-4CDB-88AB-BA2DF98C4924}"/>
              </a:ext>
            </a:extLst>
          </p:cNvPr>
          <p:cNvSpPr>
            <a:spLocks xmlns:a="http://schemas.openxmlformats.org/drawingml/2006/main" noGrp="1"/>
          </p:cNvSpPr>
          <p:nvPr/>
        </p:nvSpPr>
        <p:spPr>
          <a:xfrm xmlns:a="http://schemas.openxmlformats.org/drawingml/2006/main">
            <a:off x="1752600" y="1666875"/>
            <a:ext cx="1952625"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advice · privacy · escalation</a:t>
            </a:r>
          </a:p>
        </p:txBody>
      </p:sp>
      <p:sp>
        <p:nvSpPr>
          <p:cNvPr id="9" name="">
            <a:extLst xmlns:a="http://schemas.openxmlformats.org/drawingml/2006/main">
              <a:ext uri="{FF2B5EF4-FFF2-40B4-BE49-F238E27FC236}">
                <a16:creationId xmlns:a16="http://schemas.microsoft.com/office/drawing/2014/main" id="{E22A9D5B-38CD-4679-A9EB-B1680A3D3E4C}"/>
              </a:ext>
            </a:extLst>
          </p:cNvPr>
          <p:cNvSpPr>
            <a:spLocks xmlns:a="http://schemas.openxmlformats.org/drawingml/2006/main" noGrp="1"/>
          </p:cNvSpPr>
          <p:nvPr/>
        </p:nvSpPr>
        <p:spPr>
          <a:xfrm xmlns:a="http://schemas.openxmlformats.org/drawingml/2006/main">
            <a:off x="552450" y="2333625"/>
            <a:ext cx="33337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7DFE9"/>
            </a:solidFill>
            <a:prstDash val="solid"/>
          </a:ln>
        </p:spPr>
      </p:sp>
      <p:sp>
        <p:nvSpPr>
          <p:cNvPr id="10" name="">
            <a:extLst xmlns:a="http://schemas.openxmlformats.org/drawingml/2006/main">
              <a:ext uri="{FF2B5EF4-FFF2-40B4-BE49-F238E27FC236}">
                <a16:creationId xmlns:a16="http://schemas.microsoft.com/office/drawing/2014/main" id="{FB81D345-D626-452C-A644-4FB88D1B3D62}"/>
              </a:ext>
            </a:extLst>
          </p:cNvPr>
          <p:cNvSpPr>
            <a:spLocks xmlns:a="http://schemas.openxmlformats.org/drawingml/2006/main" noGrp="1"/>
          </p:cNvSpPr>
          <p:nvPr/>
        </p:nvSpPr>
        <p:spPr>
          <a:xfrm xmlns:a="http://schemas.openxmlformats.org/drawingml/2006/main">
            <a:off x="552450" y="2333625"/>
            <a:ext cx="85725" cy="59055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11" name="">
            <a:extLst xmlns:a="http://schemas.openxmlformats.org/drawingml/2006/main">
              <a:ext uri="{FF2B5EF4-FFF2-40B4-BE49-F238E27FC236}">
                <a16:creationId xmlns:a16="http://schemas.microsoft.com/office/drawing/2014/main" id="{28674F18-3B42-43D8-9EED-E3A6E70B1741}"/>
              </a:ext>
            </a:extLst>
          </p:cNvPr>
          <p:cNvSpPr>
            <a:spLocks xmlns:a="http://schemas.openxmlformats.org/drawingml/2006/main" noGrp="1"/>
          </p:cNvSpPr>
          <p:nvPr/>
        </p:nvSpPr>
        <p:spPr>
          <a:xfrm xmlns:a="http://schemas.openxmlformats.org/drawingml/2006/main">
            <a:off x="800100" y="2447925"/>
            <a:ext cx="10477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2545"/>
                </a:solidFill>
                <a:latin typeface="Aptos"/>
                <a:ea typeface="Aptos"/>
                <a:cs typeface="Aptos"/>
              </a:defRPr>
            </a:pPr>
            <a:r>
              <a:t>Senpai</a:t>
            </a:r>
          </a:p>
        </p:txBody>
      </p:sp>
      <p:sp>
        <p:nvSpPr>
          <p:cNvPr id="12" name="">
            <a:extLst xmlns:a="http://schemas.openxmlformats.org/drawingml/2006/main">
              <a:ext uri="{FF2B5EF4-FFF2-40B4-BE49-F238E27FC236}">
                <a16:creationId xmlns:a16="http://schemas.microsoft.com/office/drawing/2014/main" id="{BAF395E9-AC0C-40AA-9398-D4A50420139B}"/>
              </a:ext>
            </a:extLst>
          </p:cNvPr>
          <p:cNvSpPr>
            <a:spLocks xmlns:a="http://schemas.openxmlformats.org/drawingml/2006/main" noGrp="1"/>
          </p:cNvSpPr>
          <p:nvPr/>
        </p:nvSpPr>
        <p:spPr>
          <a:xfrm xmlns:a="http://schemas.openxmlformats.org/drawingml/2006/main">
            <a:off x="1752600" y="2457450"/>
            <a:ext cx="1952625"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learning · misconception · safety</a:t>
            </a:r>
          </a:p>
        </p:txBody>
      </p:sp>
      <p:sp>
        <p:nvSpPr>
          <p:cNvPr id="13" name="">
            <a:extLst xmlns:a="http://schemas.openxmlformats.org/drawingml/2006/main">
              <a:ext uri="{FF2B5EF4-FFF2-40B4-BE49-F238E27FC236}">
                <a16:creationId xmlns:a16="http://schemas.microsoft.com/office/drawing/2014/main" id="{9FD26254-8DEA-4C24-A25C-FAA2E550C8F2}"/>
              </a:ext>
            </a:extLst>
          </p:cNvPr>
          <p:cNvSpPr>
            <a:spLocks xmlns:a="http://schemas.openxmlformats.org/drawingml/2006/main" noGrp="1"/>
          </p:cNvSpPr>
          <p:nvPr/>
        </p:nvSpPr>
        <p:spPr>
          <a:xfrm xmlns:a="http://schemas.openxmlformats.org/drawingml/2006/main">
            <a:off x="552450" y="3124200"/>
            <a:ext cx="33337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7DFE9"/>
            </a:solidFill>
            <a:prstDash val="solid"/>
          </a:ln>
        </p:spPr>
      </p:sp>
      <p:sp>
        <p:nvSpPr>
          <p:cNvPr id="14" name="">
            <a:extLst xmlns:a="http://schemas.openxmlformats.org/drawingml/2006/main">
              <a:ext uri="{FF2B5EF4-FFF2-40B4-BE49-F238E27FC236}">
                <a16:creationId xmlns:a16="http://schemas.microsoft.com/office/drawing/2014/main" id="{323B7F7B-C337-4560-99C4-B2B513FFBBB4}"/>
              </a:ext>
            </a:extLst>
          </p:cNvPr>
          <p:cNvSpPr>
            <a:spLocks xmlns:a="http://schemas.openxmlformats.org/drawingml/2006/main" noGrp="1"/>
          </p:cNvSpPr>
          <p:nvPr/>
        </p:nvSpPr>
        <p:spPr>
          <a:xfrm xmlns:a="http://schemas.openxmlformats.org/drawingml/2006/main">
            <a:off x="552450" y="3124200"/>
            <a:ext cx="85725" cy="590550"/>
          </a:xfrm>
          <a:prstGeom xmlns:a="http://schemas.openxmlformats.org/drawingml/2006/main" prst="rect">
            <a:avLst/>
          </a:prstGeom>
          <a:solidFill xmlns:a="http://schemas.openxmlformats.org/drawingml/2006/main">
            <a:srgbClr val="D48A00"/>
          </a:solidFill>
          <a:ln xmlns:a="http://schemas.openxmlformats.org/drawingml/2006/main" w="0">
            <a:solidFill>
              <a:srgbClr val="D48A00"/>
            </a:solidFill>
            <a:prstDash val="solid"/>
          </a:ln>
        </p:spPr>
      </p:sp>
      <p:sp>
        <p:nvSpPr>
          <p:cNvPr id="15" name="">
            <a:extLst xmlns:a="http://schemas.openxmlformats.org/drawingml/2006/main">
              <a:ext uri="{FF2B5EF4-FFF2-40B4-BE49-F238E27FC236}">
                <a16:creationId xmlns:a16="http://schemas.microsoft.com/office/drawing/2014/main" id="{035027B1-727A-453B-A5D5-AE58F1194E31}"/>
              </a:ext>
            </a:extLst>
          </p:cNvPr>
          <p:cNvSpPr>
            <a:spLocks xmlns:a="http://schemas.openxmlformats.org/drawingml/2006/main" noGrp="1"/>
          </p:cNvSpPr>
          <p:nvPr/>
        </p:nvSpPr>
        <p:spPr>
          <a:xfrm xmlns:a="http://schemas.openxmlformats.org/drawingml/2006/main">
            <a:off x="800100" y="3238500"/>
            <a:ext cx="10477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2545"/>
                </a:solidFill>
                <a:latin typeface="Aptos"/>
                <a:ea typeface="Aptos"/>
                <a:cs typeface="Aptos"/>
              </a:defRPr>
            </a:pPr>
            <a:r>
              <a:t>Sentinel</a:t>
            </a:r>
          </a:p>
        </p:txBody>
      </p:sp>
      <p:sp>
        <p:nvSpPr>
          <p:cNvPr id="16" name="">
            <a:extLst xmlns:a="http://schemas.openxmlformats.org/drawingml/2006/main">
              <a:ext uri="{FF2B5EF4-FFF2-40B4-BE49-F238E27FC236}">
                <a16:creationId xmlns:a16="http://schemas.microsoft.com/office/drawing/2014/main" id="{C524B7C3-990D-44B0-A216-BE6095D9E274}"/>
              </a:ext>
            </a:extLst>
          </p:cNvPr>
          <p:cNvSpPr>
            <a:spLocks xmlns:a="http://schemas.openxmlformats.org/drawingml/2006/main" noGrp="1"/>
          </p:cNvSpPr>
          <p:nvPr/>
        </p:nvSpPr>
        <p:spPr>
          <a:xfrm xmlns:a="http://schemas.openxmlformats.org/drawingml/2006/main">
            <a:off x="1752600" y="3248025"/>
            <a:ext cx="1952625"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threat triage · governance</a:t>
            </a:r>
          </a:p>
        </p:txBody>
      </p:sp>
      <p:sp>
        <p:nvSpPr>
          <p:cNvPr id="17" name="">
            <a:extLst xmlns:a="http://schemas.openxmlformats.org/drawingml/2006/main">
              <a:ext uri="{FF2B5EF4-FFF2-40B4-BE49-F238E27FC236}">
                <a16:creationId xmlns:a16="http://schemas.microsoft.com/office/drawing/2014/main" id="{C6D3862E-FCAD-4778-966D-0AEA06B2339C}"/>
              </a:ext>
            </a:extLst>
          </p:cNvPr>
          <p:cNvSpPr>
            <a:spLocks xmlns:a="http://schemas.openxmlformats.org/drawingml/2006/main" noGrp="1"/>
          </p:cNvSpPr>
          <p:nvPr/>
        </p:nvSpPr>
        <p:spPr>
          <a:xfrm xmlns:a="http://schemas.openxmlformats.org/drawingml/2006/main">
            <a:off x="552450" y="3914775"/>
            <a:ext cx="33337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7DFE9"/>
            </a:solidFill>
            <a:prstDash val="solid"/>
          </a:ln>
        </p:spPr>
      </p:sp>
      <p:sp>
        <p:nvSpPr>
          <p:cNvPr id="18" name="">
            <a:extLst xmlns:a="http://schemas.openxmlformats.org/drawingml/2006/main">
              <a:ext uri="{FF2B5EF4-FFF2-40B4-BE49-F238E27FC236}">
                <a16:creationId xmlns:a16="http://schemas.microsoft.com/office/drawing/2014/main" id="{D5E1748A-A67B-4D43-A520-B9712670597A}"/>
              </a:ext>
            </a:extLst>
          </p:cNvPr>
          <p:cNvSpPr>
            <a:spLocks xmlns:a="http://schemas.openxmlformats.org/drawingml/2006/main" noGrp="1"/>
          </p:cNvSpPr>
          <p:nvPr/>
        </p:nvSpPr>
        <p:spPr>
          <a:xfrm xmlns:a="http://schemas.openxmlformats.org/drawingml/2006/main">
            <a:off x="552450" y="3914775"/>
            <a:ext cx="85725" cy="5905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10B731F3-A688-4851-BE0F-33BA9C423659}"/>
              </a:ext>
            </a:extLst>
          </p:cNvPr>
          <p:cNvSpPr>
            <a:spLocks xmlns:a="http://schemas.openxmlformats.org/drawingml/2006/main" noGrp="1"/>
          </p:cNvSpPr>
          <p:nvPr/>
        </p:nvSpPr>
        <p:spPr>
          <a:xfrm xmlns:a="http://schemas.openxmlformats.org/drawingml/2006/main">
            <a:off x="800100" y="4029075"/>
            <a:ext cx="10477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2545"/>
                </a:solidFill>
                <a:latin typeface="Aptos"/>
                <a:ea typeface="Aptos"/>
                <a:cs typeface="Aptos"/>
              </a:defRPr>
            </a:pPr>
            <a:r>
              <a:t>Rover</a:t>
            </a:r>
          </a:p>
        </p:txBody>
      </p:sp>
      <p:sp>
        <p:nvSpPr>
          <p:cNvPr id="20" name="">
            <a:extLst xmlns:a="http://schemas.openxmlformats.org/drawingml/2006/main">
              <a:ext uri="{FF2B5EF4-FFF2-40B4-BE49-F238E27FC236}">
                <a16:creationId xmlns:a16="http://schemas.microsoft.com/office/drawing/2014/main" id="{39DC49C9-21A1-4C28-BBE9-380F80312A98}"/>
              </a:ext>
            </a:extLst>
          </p:cNvPr>
          <p:cNvSpPr>
            <a:spLocks xmlns:a="http://schemas.openxmlformats.org/drawingml/2006/main" noGrp="1"/>
          </p:cNvSpPr>
          <p:nvPr/>
        </p:nvSpPr>
        <p:spPr>
          <a:xfrm xmlns:a="http://schemas.openxmlformats.org/drawingml/2006/main">
            <a:off x="1752600" y="4038600"/>
            <a:ext cx="1952625"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navigation · uncertainty</a:t>
            </a:r>
          </a:p>
        </p:txBody>
      </p:sp>
      <p:sp>
        <p:nvSpPr>
          <p:cNvPr id="21" name="">
            <a:extLst xmlns:a="http://schemas.openxmlformats.org/drawingml/2006/main">
              <a:ext uri="{FF2B5EF4-FFF2-40B4-BE49-F238E27FC236}">
                <a16:creationId xmlns:a16="http://schemas.microsoft.com/office/drawing/2014/main" id="{F0FE270D-E2A4-411D-8085-C9EB1D3EDEBD}"/>
              </a:ext>
            </a:extLst>
          </p:cNvPr>
          <p:cNvSpPr>
            <a:spLocks xmlns:a="http://schemas.openxmlformats.org/drawingml/2006/main" noGrp="1"/>
          </p:cNvSpPr>
          <p:nvPr/>
        </p:nvSpPr>
        <p:spPr>
          <a:xfrm xmlns:a="http://schemas.openxmlformats.org/drawingml/2006/main">
            <a:off x="552450" y="4705350"/>
            <a:ext cx="33337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7DFE9"/>
            </a:solidFill>
            <a:prstDash val="solid"/>
          </a:ln>
        </p:spPr>
      </p:sp>
      <p:sp>
        <p:nvSpPr>
          <p:cNvPr id="22" name="">
            <a:extLst xmlns:a="http://schemas.openxmlformats.org/drawingml/2006/main">
              <a:ext uri="{FF2B5EF4-FFF2-40B4-BE49-F238E27FC236}">
                <a16:creationId xmlns:a16="http://schemas.microsoft.com/office/drawing/2014/main" id="{F9489DDD-4080-4BCE-B11A-5F5243648670}"/>
              </a:ext>
            </a:extLst>
          </p:cNvPr>
          <p:cNvSpPr>
            <a:spLocks xmlns:a="http://schemas.openxmlformats.org/drawingml/2006/main" noGrp="1"/>
          </p:cNvSpPr>
          <p:nvPr/>
        </p:nvSpPr>
        <p:spPr>
          <a:xfrm xmlns:a="http://schemas.openxmlformats.org/drawingml/2006/main">
            <a:off x="552450" y="4705350"/>
            <a:ext cx="85725" cy="590550"/>
          </a:xfrm>
          <a:prstGeom xmlns:a="http://schemas.openxmlformats.org/drawingml/2006/main" prst="rect">
            <a:avLst/>
          </a:prstGeom>
          <a:solidFill xmlns:a="http://schemas.openxmlformats.org/drawingml/2006/main">
            <a:srgbClr val="D94B4B"/>
          </a:solidFill>
          <a:ln xmlns:a="http://schemas.openxmlformats.org/drawingml/2006/main" w="0">
            <a:solidFill>
              <a:srgbClr val="D94B4B"/>
            </a:solidFill>
            <a:prstDash val="solid"/>
          </a:ln>
        </p:spPr>
      </p:sp>
      <p:sp>
        <p:nvSpPr>
          <p:cNvPr id="23" name="">
            <a:extLst xmlns:a="http://schemas.openxmlformats.org/drawingml/2006/main">
              <a:ext uri="{FF2B5EF4-FFF2-40B4-BE49-F238E27FC236}">
                <a16:creationId xmlns:a16="http://schemas.microsoft.com/office/drawing/2014/main" id="{A00A8722-0344-4D18-8269-4D4B5BF661A2}"/>
              </a:ext>
            </a:extLst>
          </p:cNvPr>
          <p:cNvSpPr>
            <a:spLocks xmlns:a="http://schemas.openxmlformats.org/drawingml/2006/main" noGrp="1"/>
          </p:cNvSpPr>
          <p:nvPr/>
        </p:nvSpPr>
        <p:spPr>
          <a:xfrm xmlns:a="http://schemas.openxmlformats.org/drawingml/2006/main">
            <a:off x="800100" y="4819650"/>
            <a:ext cx="10477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2545"/>
                </a:solidFill>
                <a:latin typeface="Aptos"/>
                <a:ea typeface="Aptos"/>
                <a:cs typeface="Aptos"/>
              </a:defRPr>
            </a:pPr>
            <a:r>
              <a:t>Humanoid</a:t>
            </a:r>
          </a:p>
        </p:txBody>
      </p:sp>
      <p:sp>
        <p:nvSpPr>
          <p:cNvPr id="24" name="">
            <a:extLst xmlns:a="http://schemas.openxmlformats.org/drawingml/2006/main">
              <a:ext uri="{FF2B5EF4-FFF2-40B4-BE49-F238E27FC236}">
                <a16:creationId xmlns:a16="http://schemas.microsoft.com/office/drawing/2014/main" id="{C6BB4EF3-F03D-4618-8D2A-B5214555D7FB}"/>
              </a:ext>
            </a:extLst>
          </p:cNvPr>
          <p:cNvSpPr>
            <a:spLocks xmlns:a="http://schemas.openxmlformats.org/drawingml/2006/main" noGrp="1"/>
          </p:cNvSpPr>
          <p:nvPr/>
        </p:nvSpPr>
        <p:spPr>
          <a:xfrm xmlns:a="http://schemas.openxmlformats.org/drawingml/2006/main">
            <a:off x="1752600" y="4829175"/>
            <a:ext cx="1952625"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task order · recovery</a:t>
            </a:r>
          </a:p>
        </p:txBody>
      </p:sp>
      <p:sp>
        <p:nvSpPr>
          <p:cNvPr id="25" name="">
            <a:extLst xmlns:a="http://schemas.openxmlformats.org/drawingml/2006/main">
              <a:ext uri="{FF2B5EF4-FFF2-40B4-BE49-F238E27FC236}">
                <a16:creationId xmlns:a16="http://schemas.microsoft.com/office/drawing/2014/main" id="{FE927C29-4E41-4788-AE03-2DDF174A3DD4}"/>
              </a:ext>
            </a:extLst>
          </p:cNvPr>
          <p:cNvSpPr>
            <a:spLocks xmlns:a="http://schemas.openxmlformats.org/drawingml/2006/main" noGrp="1"/>
          </p:cNvSpPr>
          <p:nvPr/>
        </p:nvSpPr>
        <p:spPr>
          <a:xfrm xmlns:a="http://schemas.openxmlformats.org/drawingml/2006/main">
            <a:off x="4171950" y="3352800"/>
            <a:ext cx="876300" cy="171450"/>
          </a:xfrm>
          <a:prstGeom xmlns:a="http://schemas.openxmlformats.org/drawingml/2006/main" prst="rightArrow">
            <a:avLst/>
          </a:prstGeom>
          <a:solidFill xmlns:a="http://schemas.openxmlformats.org/drawingml/2006/main">
            <a:srgbClr val="D7DFE9"/>
          </a:solidFill>
          <a:ln xmlns:a="http://schemas.openxmlformats.org/drawingml/2006/main" w="0">
            <a:solidFill>
              <a:srgbClr val="D7DFE9"/>
            </a:solidFill>
            <a:prstDash val="solid"/>
          </a:ln>
        </p:spPr>
      </p:sp>
      <p:sp>
        <p:nvSpPr>
          <p:cNvPr id="26" name="">
            <a:extLst xmlns:a="http://schemas.openxmlformats.org/drawingml/2006/main">
              <a:ext uri="{FF2B5EF4-FFF2-40B4-BE49-F238E27FC236}">
                <a16:creationId xmlns:a16="http://schemas.microsoft.com/office/drawing/2014/main" id="{99690521-5C8A-49A6-A592-F5FC2ECDEA63}"/>
              </a:ext>
            </a:extLst>
          </p:cNvPr>
          <p:cNvSpPr>
            <a:spLocks xmlns:a="http://schemas.openxmlformats.org/drawingml/2006/main" noGrp="1"/>
          </p:cNvSpPr>
          <p:nvPr/>
        </p:nvSpPr>
        <p:spPr>
          <a:xfrm xmlns:a="http://schemas.openxmlformats.org/drawingml/2006/main">
            <a:off x="4038600" y="2905125"/>
            <a:ext cx="11430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5B677A"/>
                </a:solidFill>
                <a:latin typeface="Aptos"/>
                <a:ea typeface="Aptos"/>
                <a:cs typeface="Aptos"/>
              </a:defRPr>
            </a:pPr>
            <a:r>
              <a:t>separate the
decision boundary</a:t>
            </a:r>
          </a:p>
        </p:txBody>
      </p:sp>
      <p:sp>
        <p:nvSpPr>
          <p:cNvPr id="27" name="">
            <a:extLst xmlns:a="http://schemas.openxmlformats.org/drawingml/2006/main">
              <a:ext uri="{FF2B5EF4-FFF2-40B4-BE49-F238E27FC236}">
                <a16:creationId xmlns:a16="http://schemas.microsoft.com/office/drawing/2014/main" id="{3EB0699E-36E7-46A4-A266-944E6F31666C}"/>
              </a:ext>
            </a:extLst>
          </p:cNvPr>
          <p:cNvSpPr>
            <a:spLocks xmlns:a="http://schemas.openxmlformats.org/drawingml/2006/main" noGrp="1"/>
          </p:cNvSpPr>
          <p:nvPr/>
        </p:nvSpPr>
        <p:spPr>
          <a:xfrm xmlns:a="http://schemas.openxmlformats.org/drawingml/2006/main">
            <a:off x="5429250" y="1809750"/>
            <a:ext cx="1714500" cy="1123950"/>
          </a:xfrm>
          <a:prstGeom xmlns:a="http://schemas.openxmlformats.org/drawingml/2006/main" prst="roundRect">
            <a:avLst>
              <a:gd name="adj" fmla="val 6780"/>
            </a:avLst>
          </a:prstGeom>
          <a:solidFill xmlns:a="http://schemas.openxmlformats.org/drawingml/2006/main">
            <a:srgbClr val="F4F7FA"/>
          </a:solidFill>
          <a:ln xmlns:a="http://schemas.openxmlformats.org/drawingml/2006/main" w="0">
            <a:solidFill>
              <a:srgbClr val="F4F7FA"/>
            </a:solidFill>
            <a:prstDash val="solid"/>
          </a:ln>
        </p:spPr>
      </p:sp>
      <p:sp>
        <p:nvSpPr>
          <p:cNvPr id="28" name="">
            <a:extLst xmlns:a="http://schemas.openxmlformats.org/drawingml/2006/main">
              <a:ext uri="{FF2B5EF4-FFF2-40B4-BE49-F238E27FC236}">
                <a16:creationId xmlns:a16="http://schemas.microsoft.com/office/drawing/2014/main" id="{7127E9BF-7D3A-406F-BA99-48F24EA2C57F}"/>
              </a:ext>
            </a:extLst>
          </p:cNvPr>
          <p:cNvSpPr>
            <a:spLocks xmlns:a="http://schemas.openxmlformats.org/drawingml/2006/main" noGrp="1"/>
          </p:cNvSpPr>
          <p:nvPr/>
        </p:nvSpPr>
        <p:spPr>
          <a:xfrm xmlns:a="http://schemas.openxmlformats.org/drawingml/2006/main">
            <a:off x="5600700" y="198120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9" name="">
            <a:extLst xmlns:a="http://schemas.openxmlformats.org/drawingml/2006/main">
              <a:ext uri="{FF2B5EF4-FFF2-40B4-BE49-F238E27FC236}">
                <a16:creationId xmlns:a16="http://schemas.microsoft.com/office/drawing/2014/main" id="{714D7BC2-2E3D-464D-A2A6-28F5E397BA66}"/>
              </a:ext>
            </a:extLst>
          </p:cNvPr>
          <p:cNvSpPr>
            <a:spLocks xmlns:a="http://schemas.openxmlformats.org/drawingml/2006/main" noGrp="1"/>
          </p:cNvSpPr>
          <p:nvPr/>
        </p:nvSpPr>
        <p:spPr>
          <a:xfrm xmlns:a="http://schemas.openxmlformats.org/drawingml/2006/main">
            <a:off x="5857875" y="1952625"/>
            <a:ext cx="11049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GRPO</a:t>
            </a:r>
          </a:p>
        </p:txBody>
      </p:sp>
      <p:sp>
        <p:nvSpPr>
          <p:cNvPr id="30" name="">
            <a:extLst xmlns:a="http://schemas.openxmlformats.org/drawingml/2006/main">
              <a:ext uri="{FF2B5EF4-FFF2-40B4-BE49-F238E27FC236}">
                <a16:creationId xmlns:a16="http://schemas.microsoft.com/office/drawing/2014/main" id="{BEE2B116-3F87-4657-AF55-ACEA74F380F3}"/>
              </a:ext>
            </a:extLst>
          </p:cNvPr>
          <p:cNvSpPr>
            <a:spLocks xmlns:a="http://schemas.openxmlformats.org/drawingml/2006/main" noGrp="1"/>
          </p:cNvSpPr>
          <p:nvPr/>
        </p:nvSpPr>
        <p:spPr>
          <a:xfrm xmlns:a="http://schemas.openxmlformats.org/drawingml/2006/main">
            <a:off x="5600700" y="2343150"/>
            <a:ext cx="13716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5B677A"/>
                </a:solidFill>
                <a:latin typeface="Aptos"/>
                <a:ea typeface="Aptos"/>
                <a:cs typeface="Aptos"/>
              </a:defRPr>
            </a:pPr>
            <a:r>
              <a:t>goal-conditioned policy</a:t>
            </a:r>
          </a:p>
        </p:txBody>
      </p:sp>
      <p:sp>
        <p:nvSpPr>
          <p:cNvPr id="31" name="">
            <a:extLst xmlns:a="http://schemas.openxmlformats.org/drawingml/2006/main">
              <a:ext uri="{FF2B5EF4-FFF2-40B4-BE49-F238E27FC236}">
                <a16:creationId xmlns:a16="http://schemas.microsoft.com/office/drawing/2014/main" id="{D3A83FBC-65AC-48A0-87D4-AE8F5E745AF0}"/>
              </a:ext>
            </a:extLst>
          </p:cNvPr>
          <p:cNvSpPr>
            <a:spLocks xmlns:a="http://schemas.openxmlformats.org/drawingml/2006/main" noGrp="1"/>
          </p:cNvSpPr>
          <p:nvPr/>
        </p:nvSpPr>
        <p:spPr>
          <a:xfrm xmlns:a="http://schemas.openxmlformats.org/drawingml/2006/main">
            <a:off x="7429500" y="1809750"/>
            <a:ext cx="1714500" cy="1123950"/>
          </a:xfrm>
          <a:prstGeom xmlns:a="http://schemas.openxmlformats.org/drawingml/2006/main" prst="roundRect">
            <a:avLst>
              <a:gd name="adj" fmla="val 6780"/>
            </a:avLst>
          </a:prstGeom>
          <a:solidFill xmlns:a="http://schemas.openxmlformats.org/drawingml/2006/main">
            <a:srgbClr val="F4F7FA"/>
          </a:solidFill>
          <a:ln xmlns:a="http://schemas.openxmlformats.org/drawingml/2006/main" w="0">
            <a:solidFill>
              <a:srgbClr val="F4F7FA"/>
            </a:solidFill>
            <a:prstDash val="solid"/>
          </a:ln>
        </p:spPr>
      </p:sp>
      <p:sp>
        <p:nvSpPr>
          <p:cNvPr id="32" name="">
            <a:extLst xmlns:a="http://schemas.openxmlformats.org/drawingml/2006/main">
              <a:ext uri="{FF2B5EF4-FFF2-40B4-BE49-F238E27FC236}">
                <a16:creationId xmlns:a16="http://schemas.microsoft.com/office/drawing/2014/main" id="{903E52B3-27D9-4407-BB52-2F1B5B72A569}"/>
              </a:ext>
            </a:extLst>
          </p:cNvPr>
          <p:cNvSpPr>
            <a:spLocks xmlns:a="http://schemas.openxmlformats.org/drawingml/2006/main" noGrp="1"/>
          </p:cNvSpPr>
          <p:nvPr/>
        </p:nvSpPr>
        <p:spPr>
          <a:xfrm xmlns:a="http://schemas.openxmlformats.org/drawingml/2006/main">
            <a:off x="7600950" y="1981200"/>
            <a:ext cx="152400" cy="15240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33" name="">
            <a:extLst xmlns:a="http://schemas.openxmlformats.org/drawingml/2006/main">
              <a:ext uri="{FF2B5EF4-FFF2-40B4-BE49-F238E27FC236}">
                <a16:creationId xmlns:a16="http://schemas.microsoft.com/office/drawing/2014/main" id="{894D6015-2854-44F6-A601-2475CFC87B43}"/>
              </a:ext>
            </a:extLst>
          </p:cNvPr>
          <p:cNvSpPr>
            <a:spLocks xmlns:a="http://schemas.openxmlformats.org/drawingml/2006/main" noGrp="1"/>
          </p:cNvSpPr>
          <p:nvPr/>
        </p:nvSpPr>
        <p:spPr>
          <a:xfrm xmlns:a="http://schemas.openxmlformats.org/drawingml/2006/main">
            <a:off x="7858125" y="1952625"/>
            <a:ext cx="11049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STUM</a:t>
            </a:r>
          </a:p>
        </p:txBody>
      </p:sp>
      <p:sp>
        <p:nvSpPr>
          <p:cNvPr id="34" name="">
            <a:extLst xmlns:a="http://schemas.openxmlformats.org/drawingml/2006/main">
              <a:ext uri="{FF2B5EF4-FFF2-40B4-BE49-F238E27FC236}">
                <a16:creationId xmlns:a16="http://schemas.microsoft.com/office/drawing/2014/main" id="{A4D2A38A-DB85-4B32-BD51-974B78CB5834}"/>
              </a:ext>
            </a:extLst>
          </p:cNvPr>
          <p:cNvSpPr>
            <a:spLocks xmlns:a="http://schemas.openxmlformats.org/drawingml/2006/main" noGrp="1"/>
          </p:cNvSpPr>
          <p:nvPr/>
        </p:nvSpPr>
        <p:spPr>
          <a:xfrm xmlns:a="http://schemas.openxmlformats.org/drawingml/2006/main">
            <a:off x="7600950" y="2343150"/>
            <a:ext cx="13716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5B677A"/>
                </a:solidFill>
                <a:latin typeface="Aptos"/>
                <a:ea typeface="Aptos"/>
                <a:cs typeface="Aptos"/>
              </a:defRPr>
            </a:pPr>
            <a:r>
              <a:t>temporal/state reasoning</a:t>
            </a:r>
          </a:p>
        </p:txBody>
      </p:sp>
      <p:sp>
        <p:nvSpPr>
          <p:cNvPr id="35" name="">
            <a:extLst xmlns:a="http://schemas.openxmlformats.org/drawingml/2006/main">
              <a:ext uri="{FF2B5EF4-FFF2-40B4-BE49-F238E27FC236}">
                <a16:creationId xmlns:a16="http://schemas.microsoft.com/office/drawing/2014/main" id="{82F60916-CDBA-4764-B040-D325E6D0CA9C}"/>
              </a:ext>
            </a:extLst>
          </p:cNvPr>
          <p:cNvSpPr>
            <a:spLocks xmlns:a="http://schemas.openxmlformats.org/drawingml/2006/main" noGrp="1"/>
          </p:cNvSpPr>
          <p:nvPr/>
        </p:nvSpPr>
        <p:spPr>
          <a:xfrm xmlns:a="http://schemas.openxmlformats.org/drawingml/2006/main">
            <a:off x="9429750" y="1809750"/>
            <a:ext cx="1714500" cy="1123950"/>
          </a:xfrm>
          <a:prstGeom xmlns:a="http://schemas.openxmlformats.org/drawingml/2006/main" prst="roundRect">
            <a:avLst>
              <a:gd name="adj" fmla="val 6780"/>
            </a:avLst>
          </a:prstGeom>
          <a:solidFill xmlns:a="http://schemas.openxmlformats.org/drawingml/2006/main">
            <a:srgbClr val="F4F7FA"/>
          </a:solidFill>
          <a:ln xmlns:a="http://schemas.openxmlformats.org/drawingml/2006/main" w="0">
            <a:solidFill>
              <a:srgbClr val="F4F7FA"/>
            </a:solidFill>
            <a:prstDash val="solid"/>
          </a:ln>
        </p:spPr>
      </p:sp>
      <p:sp>
        <p:nvSpPr>
          <p:cNvPr id="36" name="">
            <a:extLst xmlns:a="http://schemas.openxmlformats.org/drawingml/2006/main">
              <a:ext uri="{FF2B5EF4-FFF2-40B4-BE49-F238E27FC236}">
                <a16:creationId xmlns:a16="http://schemas.microsoft.com/office/drawing/2014/main" id="{82214879-35A4-470B-868F-3D3E46833E8A}"/>
              </a:ext>
            </a:extLst>
          </p:cNvPr>
          <p:cNvSpPr>
            <a:spLocks xmlns:a="http://schemas.openxmlformats.org/drawingml/2006/main" noGrp="1"/>
          </p:cNvSpPr>
          <p:nvPr/>
        </p:nvSpPr>
        <p:spPr>
          <a:xfrm xmlns:a="http://schemas.openxmlformats.org/drawingml/2006/main">
            <a:off x="9601200" y="1981200"/>
            <a:ext cx="152400" cy="15240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37" name="">
            <a:extLst xmlns:a="http://schemas.openxmlformats.org/drawingml/2006/main">
              <a:ext uri="{FF2B5EF4-FFF2-40B4-BE49-F238E27FC236}">
                <a16:creationId xmlns:a16="http://schemas.microsoft.com/office/drawing/2014/main" id="{0796CF22-B7EB-4267-9BDA-25DC03258C26}"/>
              </a:ext>
            </a:extLst>
          </p:cNvPr>
          <p:cNvSpPr>
            <a:spLocks xmlns:a="http://schemas.openxmlformats.org/drawingml/2006/main" noGrp="1"/>
          </p:cNvSpPr>
          <p:nvPr/>
        </p:nvSpPr>
        <p:spPr>
          <a:xfrm xmlns:a="http://schemas.openxmlformats.org/drawingml/2006/main">
            <a:off x="9858375" y="1952625"/>
            <a:ext cx="11049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SEOM</a:t>
            </a:r>
          </a:p>
        </p:txBody>
      </p:sp>
      <p:sp>
        <p:nvSpPr>
          <p:cNvPr id="38" name="">
            <a:extLst xmlns:a="http://schemas.openxmlformats.org/drawingml/2006/main">
              <a:ext uri="{FF2B5EF4-FFF2-40B4-BE49-F238E27FC236}">
                <a16:creationId xmlns:a16="http://schemas.microsoft.com/office/drawing/2014/main" id="{3782A324-E415-43C5-B97E-3C59D614EAA6}"/>
              </a:ext>
            </a:extLst>
          </p:cNvPr>
          <p:cNvSpPr>
            <a:spLocks xmlns:a="http://schemas.openxmlformats.org/drawingml/2006/main" noGrp="1"/>
          </p:cNvSpPr>
          <p:nvPr/>
        </p:nvSpPr>
        <p:spPr>
          <a:xfrm xmlns:a="http://schemas.openxmlformats.org/drawingml/2006/main">
            <a:off x="9601200" y="2343150"/>
            <a:ext cx="13716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5B677A"/>
                </a:solidFill>
                <a:latin typeface="Aptos"/>
                <a:ea typeface="Aptos"/>
                <a:cs typeface="Aptos"/>
              </a:defRPr>
            </a:pPr>
            <a:r>
              <a:t>spatial understanding</a:t>
            </a:r>
          </a:p>
        </p:txBody>
      </p:sp>
      <p:sp>
        <p:nvSpPr>
          <p:cNvPr id="39" name="">
            <a:extLst xmlns:a="http://schemas.openxmlformats.org/drawingml/2006/main">
              <a:ext uri="{FF2B5EF4-FFF2-40B4-BE49-F238E27FC236}">
                <a16:creationId xmlns:a16="http://schemas.microsoft.com/office/drawing/2014/main" id="{5931AE1C-5ECE-407F-AF05-EC7B37BE5D05}"/>
              </a:ext>
            </a:extLst>
          </p:cNvPr>
          <p:cNvSpPr>
            <a:spLocks xmlns:a="http://schemas.openxmlformats.org/drawingml/2006/main" noGrp="1"/>
          </p:cNvSpPr>
          <p:nvPr/>
        </p:nvSpPr>
        <p:spPr>
          <a:xfrm xmlns:a="http://schemas.openxmlformats.org/drawingml/2006/main">
            <a:off x="5429250" y="3286125"/>
            <a:ext cx="1714500" cy="1123950"/>
          </a:xfrm>
          <a:prstGeom xmlns:a="http://schemas.openxmlformats.org/drawingml/2006/main" prst="roundRect">
            <a:avLst>
              <a:gd name="adj" fmla="val 6780"/>
            </a:avLst>
          </a:prstGeom>
          <a:solidFill xmlns:a="http://schemas.openxmlformats.org/drawingml/2006/main">
            <a:srgbClr val="F4F7FA"/>
          </a:solidFill>
          <a:ln xmlns:a="http://schemas.openxmlformats.org/drawingml/2006/main" w="0">
            <a:solidFill>
              <a:srgbClr val="F4F7FA"/>
            </a:solidFill>
            <a:prstDash val="solid"/>
          </a:ln>
        </p:spPr>
      </p:sp>
      <p:sp>
        <p:nvSpPr>
          <p:cNvPr id="40" name="">
            <a:extLst xmlns:a="http://schemas.openxmlformats.org/drawingml/2006/main">
              <a:ext uri="{FF2B5EF4-FFF2-40B4-BE49-F238E27FC236}">
                <a16:creationId xmlns:a16="http://schemas.microsoft.com/office/drawing/2014/main" id="{859880FA-1662-41F7-BD21-9FD165A52DBC}"/>
              </a:ext>
            </a:extLst>
          </p:cNvPr>
          <p:cNvSpPr>
            <a:spLocks xmlns:a="http://schemas.openxmlformats.org/drawingml/2006/main" noGrp="1"/>
          </p:cNvSpPr>
          <p:nvPr/>
        </p:nvSpPr>
        <p:spPr>
          <a:xfrm xmlns:a="http://schemas.openxmlformats.org/drawingml/2006/main">
            <a:off x="5600700" y="3457575"/>
            <a:ext cx="152400" cy="152400"/>
          </a:xfrm>
          <a:prstGeom xmlns:a="http://schemas.openxmlformats.org/drawingml/2006/main" prst="ellipse">
            <a:avLst/>
          </a:prstGeom>
          <a:solidFill xmlns:a="http://schemas.openxmlformats.org/drawingml/2006/main">
            <a:srgbClr val="D48A00"/>
          </a:solidFill>
          <a:ln xmlns:a="http://schemas.openxmlformats.org/drawingml/2006/main" w="0">
            <a:solidFill>
              <a:srgbClr val="D48A00"/>
            </a:solidFill>
            <a:prstDash val="solid"/>
          </a:ln>
        </p:spPr>
      </p:sp>
      <p:sp>
        <p:nvSpPr>
          <p:cNvPr id="41" name="">
            <a:extLst xmlns:a="http://schemas.openxmlformats.org/drawingml/2006/main">
              <a:ext uri="{FF2B5EF4-FFF2-40B4-BE49-F238E27FC236}">
                <a16:creationId xmlns:a16="http://schemas.microsoft.com/office/drawing/2014/main" id="{684B934E-767A-4246-8D6A-DE2EEF357E4C}"/>
              </a:ext>
            </a:extLst>
          </p:cNvPr>
          <p:cNvSpPr>
            <a:spLocks xmlns:a="http://schemas.openxmlformats.org/drawingml/2006/main" noGrp="1"/>
          </p:cNvSpPr>
          <p:nvPr/>
        </p:nvSpPr>
        <p:spPr>
          <a:xfrm xmlns:a="http://schemas.openxmlformats.org/drawingml/2006/main">
            <a:off x="5857875" y="3429000"/>
            <a:ext cx="11049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AMDC</a:t>
            </a:r>
          </a:p>
        </p:txBody>
      </p:sp>
      <p:sp>
        <p:nvSpPr>
          <p:cNvPr id="42" name="">
            <a:extLst xmlns:a="http://schemas.openxmlformats.org/drawingml/2006/main">
              <a:ext uri="{FF2B5EF4-FFF2-40B4-BE49-F238E27FC236}">
                <a16:creationId xmlns:a16="http://schemas.microsoft.com/office/drawing/2014/main" id="{3DC71852-07EE-4651-8E29-50696CC23B1A}"/>
              </a:ext>
            </a:extLst>
          </p:cNvPr>
          <p:cNvSpPr>
            <a:spLocks xmlns:a="http://schemas.openxmlformats.org/drawingml/2006/main" noGrp="1"/>
          </p:cNvSpPr>
          <p:nvPr/>
        </p:nvSpPr>
        <p:spPr>
          <a:xfrm xmlns:a="http://schemas.openxmlformats.org/drawingml/2006/main">
            <a:off x="5600700" y="3819525"/>
            <a:ext cx="13716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5B677A"/>
                </a:solidFill>
                <a:latin typeface="Aptos"/>
                <a:ea typeface="Aptos"/>
                <a:cs typeface="Aptos"/>
              </a:defRPr>
            </a:pPr>
            <a:r>
              <a:t>multimodal decision</a:t>
            </a:r>
          </a:p>
        </p:txBody>
      </p:sp>
      <p:sp>
        <p:nvSpPr>
          <p:cNvPr id="43" name="">
            <a:extLst xmlns:a="http://schemas.openxmlformats.org/drawingml/2006/main">
              <a:ext uri="{FF2B5EF4-FFF2-40B4-BE49-F238E27FC236}">
                <a16:creationId xmlns:a16="http://schemas.microsoft.com/office/drawing/2014/main" id="{9B478177-076B-4E5C-968C-9E0AEF708B84}"/>
              </a:ext>
            </a:extLst>
          </p:cNvPr>
          <p:cNvSpPr>
            <a:spLocks xmlns:a="http://schemas.openxmlformats.org/drawingml/2006/main" noGrp="1"/>
          </p:cNvSpPr>
          <p:nvPr/>
        </p:nvSpPr>
        <p:spPr>
          <a:xfrm xmlns:a="http://schemas.openxmlformats.org/drawingml/2006/main">
            <a:off x="7429500" y="3286125"/>
            <a:ext cx="1714500" cy="1123950"/>
          </a:xfrm>
          <a:prstGeom xmlns:a="http://schemas.openxmlformats.org/drawingml/2006/main" prst="roundRect">
            <a:avLst>
              <a:gd name="adj" fmla="val 6780"/>
            </a:avLst>
          </a:prstGeom>
          <a:solidFill xmlns:a="http://schemas.openxmlformats.org/drawingml/2006/main">
            <a:srgbClr val="F4F7FA"/>
          </a:solidFill>
          <a:ln xmlns:a="http://schemas.openxmlformats.org/drawingml/2006/main" w="0">
            <a:solidFill>
              <a:srgbClr val="F4F7FA"/>
            </a:solidFill>
            <a:prstDash val="solid"/>
          </a:ln>
        </p:spPr>
      </p:sp>
      <p:sp>
        <p:nvSpPr>
          <p:cNvPr id="44" name="">
            <a:extLst xmlns:a="http://schemas.openxmlformats.org/drawingml/2006/main">
              <a:ext uri="{FF2B5EF4-FFF2-40B4-BE49-F238E27FC236}">
                <a16:creationId xmlns:a16="http://schemas.microsoft.com/office/drawing/2014/main" id="{B55E0302-628E-4B10-82DD-D4788CA64FA0}"/>
              </a:ext>
            </a:extLst>
          </p:cNvPr>
          <p:cNvSpPr>
            <a:spLocks xmlns:a="http://schemas.openxmlformats.org/drawingml/2006/main" noGrp="1"/>
          </p:cNvSpPr>
          <p:nvPr/>
        </p:nvSpPr>
        <p:spPr>
          <a:xfrm xmlns:a="http://schemas.openxmlformats.org/drawingml/2006/main">
            <a:off x="7600950" y="3457575"/>
            <a:ext cx="152400" cy="152400"/>
          </a:xfrm>
          <a:prstGeom xmlns:a="http://schemas.openxmlformats.org/drawingml/2006/main" prst="ellipse">
            <a:avLst/>
          </a:prstGeom>
          <a:solidFill xmlns:a="http://schemas.openxmlformats.org/drawingml/2006/main">
            <a:srgbClr val="D94B4B"/>
          </a:solidFill>
          <a:ln xmlns:a="http://schemas.openxmlformats.org/drawingml/2006/main" w="0">
            <a:solidFill>
              <a:srgbClr val="D94B4B"/>
            </a:solidFill>
            <a:prstDash val="solid"/>
          </a:ln>
        </p:spPr>
      </p:sp>
      <p:sp>
        <p:nvSpPr>
          <p:cNvPr id="45" name="">
            <a:extLst xmlns:a="http://schemas.openxmlformats.org/drawingml/2006/main">
              <a:ext uri="{FF2B5EF4-FFF2-40B4-BE49-F238E27FC236}">
                <a16:creationId xmlns:a16="http://schemas.microsoft.com/office/drawing/2014/main" id="{BA71F379-D696-43A5-A370-C68CC2667534}"/>
              </a:ext>
            </a:extLst>
          </p:cNvPr>
          <p:cNvSpPr>
            <a:spLocks xmlns:a="http://schemas.openxmlformats.org/drawingml/2006/main" noGrp="1"/>
          </p:cNvSpPr>
          <p:nvPr/>
        </p:nvSpPr>
        <p:spPr>
          <a:xfrm xmlns:a="http://schemas.openxmlformats.org/drawingml/2006/main">
            <a:off x="7858125" y="3429000"/>
            <a:ext cx="11049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HTD-IRL</a:t>
            </a:r>
          </a:p>
        </p:txBody>
      </p:sp>
      <p:sp>
        <p:nvSpPr>
          <p:cNvPr id="46" name="">
            <a:extLst xmlns:a="http://schemas.openxmlformats.org/drawingml/2006/main">
              <a:ext uri="{FF2B5EF4-FFF2-40B4-BE49-F238E27FC236}">
                <a16:creationId xmlns:a16="http://schemas.microsoft.com/office/drawing/2014/main" id="{16F67CD8-13A4-42F3-B8F7-FAE410C53C18}"/>
              </a:ext>
            </a:extLst>
          </p:cNvPr>
          <p:cNvSpPr>
            <a:spLocks xmlns:a="http://schemas.openxmlformats.org/drawingml/2006/main" noGrp="1"/>
          </p:cNvSpPr>
          <p:nvPr/>
        </p:nvSpPr>
        <p:spPr>
          <a:xfrm xmlns:a="http://schemas.openxmlformats.org/drawingml/2006/main">
            <a:off x="7600950" y="3819525"/>
            <a:ext cx="13716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5B677A"/>
                </a:solidFill>
                <a:latin typeface="Aptos"/>
                <a:ea typeface="Aptos"/>
                <a:cs typeface="Aptos"/>
              </a:defRPr>
            </a:pPr>
            <a:r>
              <a:t>task decomposition</a:t>
            </a:r>
          </a:p>
        </p:txBody>
      </p:sp>
      <p:sp>
        <p:nvSpPr>
          <p:cNvPr id="47" name="">
            <a:extLst xmlns:a="http://schemas.openxmlformats.org/drawingml/2006/main">
              <a:ext uri="{FF2B5EF4-FFF2-40B4-BE49-F238E27FC236}">
                <a16:creationId xmlns:a16="http://schemas.microsoft.com/office/drawing/2014/main" id="{C558F140-B5AA-4901-AFCC-ABAECD5CCAB2}"/>
              </a:ext>
            </a:extLst>
          </p:cNvPr>
          <p:cNvSpPr>
            <a:spLocks xmlns:a="http://schemas.openxmlformats.org/drawingml/2006/main" noGrp="1"/>
          </p:cNvSpPr>
          <p:nvPr/>
        </p:nvSpPr>
        <p:spPr>
          <a:xfrm xmlns:a="http://schemas.openxmlformats.org/drawingml/2006/main">
            <a:off x="9429750" y="3286125"/>
            <a:ext cx="1714500" cy="1123950"/>
          </a:xfrm>
          <a:prstGeom xmlns:a="http://schemas.openxmlformats.org/drawingml/2006/main" prst="roundRect">
            <a:avLst>
              <a:gd name="adj" fmla="val 6780"/>
            </a:avLst>
          </a:prstGeom>
          <a:solidFill xmlns:a="http://schemas.openxmlformats.org/drawingml/2006/main">
            <a:srgbClr val="F4F7FA"/>
          </a:solidFill>
          <a:ln xmlns:a="http://schemas.openxmlformats.org/drawingml/2006/main" w="0">
            <a:solidFill>
              <a:srgbClr val="F4F7FA"/>
            </a:solidFill>
            <a:prstDash val="solid"/>
          </a:ln>
        </p:spPr>
      </p:sp>
      <p:sp>
        <p:nvSpPr>
          <p:cNvPr id="48" name="">
            <a:extLst xmlns:a="http://schemas.openxmlformats.org/drawingml/2006/main">
              <a:ext uri="{FF2B5EF4-FFF2-40B4-BE49-F238E27FC236}">
                <a16:creationId xmlns:a16="http://schemas.microsoft.com/office/drawing/2014/main" id="{40D104B4-F593-41CE-87E7-906839B7AC44}"/>
              </a:ext>
            </a:extLst>
          </p:cNvPr>
          <p:cNvSpPr>
            <a:spLocks xmlns:a="http://schemas.openxmlformats.org/drawingml/2006/main" noGrp="1"/>
          </p:cNvSpPr>
          <p:nvPr/>
        </p:nvSpPr>
        <p:spPr>
          <a:xfrm xmlns:a="http://schemas.openxmlformats.org/drawingml/2006/main">
            <a:off x="9601200" y="3457575"/>
            <a:ext cx="152400" cy="152400"/>
          </a:xfrm>
          <a:prstGeom xmlns:a="http://schemas.openxmlformats.org/drawingml/2006/main" prst="ellipse">
            <a:avLst/>
          </a:prstGeom>
          <a:solidFill xmlns:a="http://schemas.openxmlformats.org/drawingml/2006/main">
            <a:srgbClr val="0B2545"/>
          </a:solidFill>
          <a:ln xmlns:a="http://schemas.openxmlformats.org/drawingml/2006/main" w="0">
            <a:solidFill>
              <a:srgbClr val="0B2545"/>
            </a:solidFill>
            <a:prstDash val="solid"/>
          </a:ln>
        </p:spPr>
      </p:sp>
      <p:sp>
        <p:nvSpPr>
          <p:cNvPr id="49" name="">
            <a:extLst xmlns:a="http://schemas.openxmlformats.org/drawingml/2006/main">
              <a:ext uri="{FF2B5EF4-FFF2-40B4-BE49-F238E27FC236}">
                <a16:creationId xmlns:a16="http://schemas.microsoft.com/office/drawing/2014/main" id="{DB1FDB02-8A82-4284-8C6C-071EF1B68375}"/>
              </a:ext>
            </a:extLst>
          </p:cNvPr>
          <p:cNvSpPr>
            <a:spLocks xmlns:a="http://schemas.openxmlformats.org/drawingml/2006/main" noGrp="1"/>
          </p:cNvSpPr>
          <p:nvPr/>
        </p:nvSpPr>
        <p:spPr>
          <a:xfrm xmlns:a="http://schemas.openxmlformats.org/drawingml/2006/main">
            <a:off x="9858375" y="3429000"/>
            <a:ext cx="11049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CRL-MRS</a:t>
            </a:r>
          </a:p>
        </p:txBody>
      </p:sp>
      <p:sp>
        <p:nvSpPr>
          <p:cNvPr id="50" name="">
            <a:extLst xmlns:a="http://schemas.openxmlformats.org/drawingml/2006/main">
              <a:ext uri="{FF2B5EF4-FFF2-40B4-BE49-F238E27FC236}">
                <a16:creationId xmlns:a16="http://schemas.microsoft.com/office/drawing/2014/main" id="{70B1FC4E-2B82-4C7E-9229-8CB3B215F521}"/>
              </a:ext>
            </a:extLst>
          </p:cNvPr>
          <p:cNvSpPr>
            <a:spLocks xmlns:a="http://schemas.openxmlformats.org/drawingml/2006/main" noGrp="1"/>
          </p:cNvSpPr>
          <p:nvPr/>
        </p:nvSpPr>
        <p:spPr>
          <a:xfrm xmlns:a="http://schemas.openxmlformats.org/drawingml/2006/main">
            <a:off x="9601200" y="3819525"/>
            <a:ext cx="13716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5B677A"/>
                </a:solidFill>
                <a:latin typeface="Aptos"/>
                <a:ea typeface="Aptos"/>
                <a:cs typeface="Aptos"/>
              </a:defRPr>
            </a:pPr>
            <a:r>
              <a:t>multi-agent reasoning</a:t>
            </a:r>
          </a:p>
        </p:txBody>
      </p:sp>
      <p:sp>
        <p:nvSpPr>
          <p:cNvPr id="51" name="">
            <a:extLst xmlns:a="http://schemas.openxmlformats.org/drawingml/2006/main">
              <a:ext uri="{FF2B5EF4-FFF2-40B4-BE49-F238E27FC236}">
                <a16:creationId xmlns:a16="http://schemas.microsoft.com/office/drawing/2014/main" id="{99507C71-76B4-4315-9F6E-1B4F7654715C}"/>
              </a:ext>
            </a:extLst>
          </p:cNvPr>
          <p:cNvSpPr>
            <a:spLocks xmlns:a="http://schemas.openxmlformats.org/drawingml/2006/main" noGrp="1"/>
          </p:cNvSpPr>
          <p:nvPr/>
        </p:nvSpPr>
        <p:spPr>
          <a:xfrm xmlns:a="http://schemas.openxmlformats.org/drawingml/2006/main">
            <a:off x="5429250" y="4953000"/>
            <a:ext cx="5715000" cy="819150"/>
          </a:xfrm>
          <a:prstGeom xmlns:a="http://schemas.openxmlformats.org/drawingml/2006/main" prst="roundRect">
            <a:avLst>
              <a:gd name="adj" fmla="val 9302"/>
            </a:avLst>
          </a:prstGeom>
          <a:solidFill xmlns:a="http://schemas.openxmlformats.org/drawingml/2006/main">
            <a:srgbClr val="FFF5DC"/>
          </a:solidFill>
          <a:ln xmlns:a="http://schemas.openxmlformats.org/drawingml/2006/main" w="0">
            <a:solidFill>
              <a:srgbClr val="FFF5DC"/>
            </a:solidFill>
            <a:prstDash val="solid"/>
          </a:ln>
        </p:spPr>
      </p:sp>
      <p:sp>
        <p:nvSpPr>
          <p:cNvPr id="52" name="">
            <a:extLst xmlns:a="http://schemas.openxmlformats.org/drawingml/2006/main">
              <a:ext uri="{FF2B5EF4-FFF2-40B4-BE49-F238E27FC236}">
                <a16:creationId xmlns:a16="http://schemas.microsoft.com/office/drawing/2014/main" id="{A1109D10-BE58-424B-97A6-2235C364F37A}"/>
              </a:ext>
            </a:extLst>
          </p:cNvPr>
          <p:cNvSpPr>
            <a:spLocks xmlns:a="http://schemas.openxmlformats.org/drawingml/2006/main" noGrp="1"/>
          </p:cNvSpPr>
          <p:nvPr/>
        </p:nvSpPr>
        <p:spPr>
          <a:xfrm xmlns:a="http://schemas.openxmlformats.org/drawingml/2006/main">
            <a:off x="5657850" y="5143500"/>
            <a:ext cx="21907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D48A00"/>
                </a:solidFill>
                <a:latin typeface="Aptos"/>
                <a:ea typeface="Aptos"/>
                <a:cs typeface="Aptos"/>
              </a:defRPr>
            </a:pPr>
            <a:r>
              <a:t>Terminology is versioned</a:t>
            </a:r>
          </a:p>
        </p:txBody>
      </p:sp>
      <p:sp>
        <p:nvSpPr>
          <p:cNvPr id="53" name="">
            <a:extLst xmlns:a="http://schemas.openxmlformats.org/drawingml/2006/main">
              <a:ext uri="{FF2B5EF4-FFF2-40B4-BE49-F238E27FC236}">
                <a16:creationId xmlns:a16="http://schemas.microsoft.com/office/drawing/2014/main" id="{044F4FB0-0E99-4E4A-9BD8-844EC3ED0F99}"/>
              </a:ext>
            </a:extLst>
          </p:cNvPr>
          <p:cNvSpPr>
            <a:spLocks xmlns:a="http://schemas.openxmlformats.org/drawingml/2006/main" noGrp="1"/>
          </p:cNvSpPr>
          <p:nvPr/>
        </p:nvSpPr>
        <p:spPr>
          <a:xfrm xmlns:a="http://schemas.openxmlformats.org/drawingml/2006/main">
            <a:off x="7848600" y="5095875"/>
            <a:ext cx="30480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172033"/>
                </a:solidFill>
                <a:latin typeface="Aptos"/>
                <a:ea typeface="Aptos"/>
                <a:cs typeface="Aptos"/>
              </a:defRPr>
            </a:pPr>
            <a:r>
              <a:t>STUM, SEOM, and GRPO cannot be silently merged with conflicting public meanings.</a:t>
            </a:r>
          </a:p>
        </p:txBody>
      </p:sp>
    </p:spTree>
    <p:extLst>
      <p:ext uri="{BB962C8B-B14F-4D97-AF65-F5344CB8AC3E}">
        <p14:creationId xmlns:p14="http://schemas.microsoft.com/office/powerpoint/2010/main" val="159412865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3" name="">
            <a:extLst xmlns:a="http://schemas.openxmlformats.org/drawingml/2006/main">
              <a:ext uri="{FF2B5EF4-FFF2-40B4-BE49-F238E27FC236}">
                <a16:creationId xmlns:a16="http://schemas.microsoft.com/office/drawing/2014/main" id="{5182A31E-9176-4053-83DA-480EE049EECD}"/>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D8AF4DFC-9609-4504-A749-FDE0EA95298B}"/>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172033"/>
                </a:solidFill>
                <a:latin typeface="Aptos"/>
                <a:ea typeface="Aptos"/>
                <a:cs typeface="Aptos"/>
              </a:defRPr>
            </a:pPr>
            <a:r>
              <a:t>35 scenarios balance 5 platforms across 3 consequence levels</a:t>
            </a:r>
          </a:p>
        </p:txBody>
      </p:sp>
      <p:cxnSp>
        <p:nvCxnSpPr>
          <p:cNvPr id="95"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9DABEB1C-C89C-4626-86E0-FC766EDD95CA}"/>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03</a:t>
            </a:r>
          </a:p>
        </p:txBody>
      </p:sp>
      <p:sp>
        <p:nvSpPr>
          <p:cNvPr id="5" name="">
            <a:extLst xmlns:a="http://schemas.openxmlformats.org/drawingml/2006/main">
              <a:ext uri="{FF2B5EF4-FFF2-40B4-BE49-F238E27FC236}">
                <a16:creationId xmlns:a16="http://schemas.microsoft.com/office/drawing/2014/main" id="{9DEFFBEB-2EF1-4777-8026-8CC470541F62}"/>
              </a:ext>
            </a:extLst>
          </p:cNvPr>
          <p:cNvSpPr>
            <a:spLocks xmlns:a="http://schemas.openxmlformats.org/drawingml/2006/main" noGrp="1"/>
          </p:cNvSpPr>
          <p:nvPr/>
        </p:nvSpPr>
        <p:spPr>
          <a:xfrm xmlns:a="http://schemas.openxmlformats.org/drawingml/2006/main">
            <a:off x="552450" y="1495425"/>
            <a:ext cx="40957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7 scenarios per product context</a:t>
            </a:r>
          </a:p>
        </p:txBody>
      </p:sp>
      <p:sp>
        <p:nvSpPr>
          <p:cNvPr id="6" name="">
            <a:extLst xmlns:a="http://schemas.openxmlformats.org/drawingml/2006/main">
              <a:ext uri="{FF2B5EF4-FFF2-40B4-BE49-F238E27FC236}">
                <a16:creationId xmlns:a16="http://schemas.microsoft.com/office/drawing/2014/main" id="{687921C8-3BC7-446C-B0C6-DD46EA5E8A3C}"/>
              </a:ext>
            </a:extLst>
          </p:cNvPr>
          <p:cNvSpPr>
            <a:spLocks xmlns:a="http://schemas.openxmlformats.org/drawingml/2006/main" noGrp="1"/>
          </p:cNvSpPr>
          <p:nvPr/>
        </p:nvSpPr>
        <p:spPr>
          <a:xfrm xmlns:a="http://schemas.openxmlformats.org/drawingml/2006/main">
            <a:off x="552450" y="2000250"/>
            <a:ext cx="1047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Fari</a:t>
            </a:r>
          </a:p>
        </p:txBody>
      </p:sp>
      <p:sp>
        <p:nvSpPr>
          <p:cNvPr id="7" name="">
            <a:extLst xmlns:a="http://schemas.openxmlformats.org/drawingml/2006/main">
              <a:ext uri="{FF2B5EF4-FFF2-40B4-BE49-F238E27FC236}">
                <a16:creationId xmlns:a16="http://schemas.microsoft.com/office/drawing/2014/main" id="{682F816C-96DB-4379-A9AC-925477966A6C}"/>
              </a:ext>
            </a:extLst>
          </p:cNvPr>
          <p:cNvSpPr>
            <a:spLocks xmlns:a="http://schemas.openxmlformats.org/drawingml/2006/main" noGrp="1"/>
          </p:cNvSpPr>
          <p:nvPr/>
        </p:nvSpPr>
        <p:spPr>
          <a:xfrm xmlns:a="http://schemas.openxmlformats.org/drawingml/2006/main">
            <a:off x="1638300" y="1971675"/>
            <a:ext cx="209550" cy="2095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8" name="">
            <a:extLst xmlns:a="http://schemas.openxmlformats.org/drawingml/2006/main">
              <a:ext uri="{FF2B5EF4-FFF2-40B4-BE49-F238E27FC236}">
                <a16:creationId xmlns:a16="http://schemas.microsoft.com/office/drawing/2014/main" id="{3304C3CC-4FEA-46F5-A4F9-6CE16347CB7C}"/>
              </a:ext>
            </a:extLst>
          </p:cNvPr>
          <p:cNvSpPr>
            <a:spLocks xmlns:a="http://schemas.openxmlformats.org/drawingml/2006/main" noGrp="1"/>
          </p:cNvSpPr>
          <p:nvPr/>
        </p:nvSpPr>
        <p:spPr>
          <a:xfrm xmlns:a="http://schemas.openxmlformats.org/drawingml/2006/main">
            <a:off x="2019300" y="1971675"/>
            <a:ext cx="209550" cy="2095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 name="">
            <a:extLst xmlns:a="http://schemas.openxmlformats.org/drawingml/2006/main">
              <a:ext uri="{FF2B5EF4-FFF2-40B4-BE49-F238E27FC236}">
                <a16:creationId xmlns:a16="http://schemas.microsoft.com/office/drawing/2014/main" id="{577EDDA2-CD92-4657-94EF-58577A01672E}"/>
              </a:ext>
            </a:extLst>
          </p:cNvPr>
          <p:cNvSpPr>
            <a:spLocks xmlns:a="http://schemas.openxmlformats.org/drawingml/2006/main" noGrp="1"/>
          </p:cNvSpPr>
          <p:nvPr/>
        </p:nvSpPr>
        <p:spPr>
          <a:xfrm xmlns:a="http://schemas.openxmlformats.org/drawingml/2006/main">
            <a:off x="2400300" y="1971675"/>
            <a:ext cx="209550" cy="2095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B4AA977C-4E8E-49AC-A7FB-710CF190EB1D}"/>
              </a:ext>
            </a:extLst>
          </p:cNvPr>
          <p:cNvSpPr>
            <a:spLocks xmlns:a="http://schemas.openxmlformats.org/drawingml/2006/main" noGrp="1"/>
          </p:cNvSpPr>
          <p:nvPr/>
        </p:nvSpPr>
        <p:spPr>
          <a:xfrm xmlns:a="http://schemas.openxmlformats.org/drawingml/2006/main">
            <a:off x="2781300" y="1971675"/>
            <a:ext cx="209550" cy="2095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 name="">
            <a:extLst xmlns:a="http://schemas.openxmlformats.org/drawingml/2006/main">
              <a:ext uri="{FF2B5EF4-FFF2-40B4-BE49-F238E27FC236}">
                <a16:creationId xmlns:a16="http://schemas.microsoft.com/office/drawing/2014/main" id="{632142F7-A5FE-44BC-A37A-8490E63D71C7}"/>
              </a:ext>
            </a:extLst>
          </p:cNvPr>
          <p:cNvSpPr>
            <a:spLocks xmlns:a="http://schemas.openxmlformats.org/drawingml/2006/main" noGrp="1"/>
          </p:cNvSpPr>
          <p:nvPr/>
        </p:nvSpPr>
        <p:spPr>
          <a:xfrm xmlns:a="http://schemas.openxmlformats.org/drawingml/2006/main">
            <a:off x="3162300" y="1971675"/>
            <a:ext cx="209550" cy="2095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EF991135-419C-43DB-AE87-CA92D3FB6543}"/>
              </a:ext>
            </a:extLst>
          </p:cNvPr>
          <p:cNvSpPr>
            <a:spLocks xmlns:a="http://schemas.openxmlformats.org/drawingml/2006/main" noGrp="1"/>
          </p:cNvSpPr>
          <p:nvPr/>
        </p:nvSpPr>
        <p:spPr>
          <a:xfrm xmlns:a="http://schemas.openxmlformats.org/drawingml/2006/main">
            <a:off x="3543300" y="1971675"/>
            <a:ext cx="209550" cy="2095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 name="">
            <a:extLst xmlns:a="http://schemas.openxmlformats.org/drawingml/2006/main">
              <a:ext uri="{FF2B5EF4-FFF2-40B4-BE49-F238E27FC236}">
                <a16:creationId xmlns:a16="http://schemas.microsoft.com/office/drawing/2014/main" id="{7D3EA99C-60E7-44F0-9177-B1A5CDB8BA84}"/>
              </a:ext>
            </a:extLst>
          </p:cNvPr>
          <p:cNvSpPr>
            <a:spLocks xmlns:a="http://schemas.openxmlformats.org/drawingml/2006/main" noGrp="1"/>
          </p:cNvSpPr>
          <p:nvPr/>
        </p:nvSpPr>
        <p:spPr>
          <a:xfrm xmlns:a="http://schemas.openxmlformats.org/drawingml/2006/main">
            <a:off x="3924300" y="1971675"/>
            <a:ext cx="209550" cy="2095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4" name="">
            <a:extLst xmlns:a="http://schemas.openxmlformats.org/drawingml/2006/main">
              <a:ext uri="{FF2B5EF4-FFF2-40B4-BE49-F238E27FC236}">
                <a16:creationId xmlns:a16="http://schemas.microsoft.com/office/drawing/2014/main" id="{DF6035AE-418D-46AC-8341-C84EECB2487D}"/>
              </a:ext>
            </a:extLst>
          </p:cNvPr>
          <p:cNvSpPr>
            <a:spLocks xmlns:a="http://schemas.openxmlformats.org/drawingml/2006/main" noGrp="1"/>
          </p:cNvSpPr>
          <p:nvPr/>
        </p:nvSpPr>
        <p:spPr>
          <a:xfrm xmlns:a="http://schemas.openxmlformats.org/drawingml/2006/main">
            <a:off x="4476750" y="1971675"/>
            <a:ext cx="333375"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2563EB"/>
                </a:solidFill>
                <a:latin typeface="Aptos"/>
                <a:ea typeface="Aptos"/>
                <a:cs typeface="Aptos"/>
              </a:defRPr>
            </a:pPr>
            <a:r>
              <a:t>7</a:t>
            </a:r>
          </a:p>
        </p:txBody>
      </p:sp>
      <p:sp>
        <p:nvSpPr>
          <p:cNvPr id="15" name="">
            <a:extLst xmlns:a="http://schemas.openxmlformats.org/drawingml/2006/main">
              <a:ext uri="{FF2B5EF4-FFF2-40B4-BE49-F238E27FC236}">
                <a16:creationId xmlns:a16="http://schemas.microsoft.com/office/drawing/2014/main" id="{D7789AF2-8AC6-4422-A9B1-940671F1E40E}"/>
              </a:ext>
            </a:extLst>
          </p:cNvPr>
          <p:cNvSpPr>
            <a:spLocks xmlns:a="http://schemas.openxmlformats.org/drawingml/2006/main" noGrp="1"/>
          </p:cNvSpPr>
          <p:nvPr/>
        </p:nvSpPr>
        <p:spPr>
          <a:xfrm xmlns:a="http://schemas.openxmlformats.org/drawingml/2006/main">
            <a:off x="552450" y="2638425"/>
            <a:ext cx="1047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Senpai</a:t>
            </a:r>
          </a:p>
        </p:txBody>
      </p:sp>
      <p:sp>
        <p:nvSpPr>
          <p:cNvPr id="16" name="">
            <a:extLst xmlns:a="http://schemas.openxmlformats.org/drawingml/2006/main">
              <a:ext uri="{FF2B5EF4-FFF2-40B4-BE49-F238E27FC236}">
                <a16:creationId xmlns:a16="http://schemas.microsoft.com/office/drawing/2014/main" id="{8C08C0CC-4466-42AE-9668-38C64AEE1034}"/>
              </a:ext>
            </a:extLst>
          </p:cNvPr>
          <p:cNvSpPr>
            <a:spLocks xmlns:a="http://schemas.openxmlformats.org/drawingml/2006/main" noGrp="1"/>
          </p:cNvSpPr>
          <p:nvPr/>
        </p:nvSpPr>
        <p:spPr>
          <a:xfrm xmlns:a="http://schemas.openxmlformats.org/drawingml/2006/main">
            <a:off x="1638300" y="2609850"/>
            <a:ext cx="209550" cy="20955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17" name="">
            <a:extLst xmlns:a="http://schemas.openxmlformats.org/drawingml/2006/main">
              <a:ext uri="{FF2B5EF4-FFF2-40B4-BE49-F238E27FC236}">
                <a16:creationId xmlns:a16="http://schemas.microsoft.com/office/drawing/2014/main" id="{7311EB4C-A5F9-46FF-9334-094FE7622A54}"/>
              </a:ext>
            </a:extLst>
          </p:cNvPr>
          <p:cNvSpPr>
            <a:spLocks xmlns:a="http://schemas.openxmlformats.org/drawingml/2006/main" noGrp="1"/>
          </p:cNvSpPr>
          <p:nvPr/>
        </p:nvSpPr>
        <p:spPr>
          <a:xfrm xmlns:a="http://schemas.openxmlformats.org/drawingml/2006/main">
            <a:off x="2019300" y="2609850"/>
            <a:ext cx="209550" cy="20955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18" name="">
            <a:extLst xmlns:a="http://schemas.openxmlformats.org/drawingml/2006/main">
              <a:ext uri="{FF2B5EF4-FFF2-40B4-BE49-F238E27FC236}">
                <a16:creationId xmlns:a16="http://schemas.microsoft.com/office/drawing/2014/main" id="{BC25687B-38F4-4652-8C7B-F7EAE0F97EA1}"/>
              </a:ext>
            </a:extLst>
          </p:cNvPr>
          <p:cNvSpPr>
            <a:spLocks xmlns:a="http://schemas.openxmlformats.org/drawingml/2006/main" noGrp="1"/>
          </p:cNvSpPr>
          <p:nvPr/>
        </p:nvSpPr>
        <p:spPr>
          <a:xfrm xmlns:a="http://schemas.openxmlformats.org/drawingml/2006/main">
            <a:off x="2400300" y="2609850"/>
            <a:ext cx="209550" cy="20955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19" name="">
            <a:extLst xmlns:a="http://schemas.openxmlformats.org/drawingml/2006/main">
              <a:ext uri="{FF2B5EF4-FFF2-40B4-BE49-F238E27FC236}">
                <a16:creationId xmlns:a16="http://schemas.microsoft.com/office/drawing/2014/main" id="{9E7D29BF-1447-4A62-8F17-E4CBA7EAA304}"/>
              </a:ext>
            </a:extLst>
          </p:cNvPr>
          <p:cNvSpPr>
            <a:spLocks xmlns:a="http://schemas.openxmlformats.org/drawingml/2006/main" noGrp="1"/>
          </p:cNvSpPr>
          <p:nvPr/>
        </p:nvSpPr>
        <p:spPr>
          <a:xfrm xmlns:a="http://schemas.openxmlformats.org/drawingml/2006/main">
            <a:off x="2781300" y="2609850"/>
            <a:ext cx="209550" cy="20955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20" name="">
            <a:extLst xmlns:a="http://schemas.openxmlformats.org/drawingml/2006/main">
              <a:ext uri="{FF2B5EF4-FFF2-40B4-BE49-F238E27FC236}">
                <a16:creationId xmlns:a16="http://schemas.microsoft.com/office/drawing/2014/main" id="{A063858B-F9A5-4320-A6A2-47DC36A19D93}"/>
              </a:ext>
            </a:extLst>
          </p:cNvPr>
          <p:cNvSpPr>
            <a:spLocks xmlns:a="http://schemas.openxmlformats.org/drawingml/2006/main" noGrp="1"/>
          </p:cNvSpPr>
          <p:nvPr/>
        </p:nvSpPr>
        <p:spPr>
          <a:xfrm xmlns:a="http://schemas.openxmlformats.org/drawingml/2006/main">
            <a:off x="3162300" y="2609850"/>
            <a:ext cx="209550" cy="20955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21" name="">
            <a:extLst xmlns:a="http://schemas.openxmlformats.org/drawingml/2006/main">
              <a:ext uri="{FF2B5EF4-FFF2-40B4-BE49-F238E27FC236}">
                <a16:creationId xmlns:a16="http://schemas.microsoft.com/office/drawing/2014/main" id="{88FF65E3-715F-4E12-B77D-B0D3D4AB0258}"/>
              </a:ext>
            </a:extLst>
          </p:cNvPr>
          <p:cNvSpPr>
            <a:spLocks xmlns:a="http://schemas.openxmlformats.org/drawingml/2006/main" noGrp="1"/>
          </p:cNvSpPr>
          <p:nvPr/>
        </p:nvSpPr>
        <p:spPr>
          <a:xfrm xmlns:a="http://schemas.openxmlformats.org/drawingml/2006/main">
            <a:off x="3543300" y="2609850"/>
            <a:ext cx="209550" cy="20955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22" name="">
            <a:extLst xmlns:a="http://schemas.openxmlformats.org/drawingml/2006/main">
              <a:ext uri="{FF2B5EF4-FFF2-40B4-BE49-F238E27FC236}">
                <a16:creationId xmlns:a16="http://schemas.microsoft.com/office/drawing/2014/main" id="{8C4E07EA-4B50-4BA7-BD26-DFC5AA7628D1}"/>
              </a:ext>
            </a:extLst>
          </p:cNvPr>
          <p:cNvSpPr>
            <a:spLocks xmlns:a="http://schemas.openxmlformats.org/drawingml/2006/main" noGrp="1"/>
          </p:cNvSpPr>
          <p:nvPr/>
        </p:nvSpPr>
        <p:spPr>
          <a:xfrm xmlns:a="http://schemas.openxmlformats.org/drawingml/2006/main">
            <a:off x="3924300" y="2609850"/>
            <a:ext cx="209550" cy="20955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23" name="">
            <a:extLst xmlns:a="http://schemas.openxmlformats.org/drawingml/2006/main">
              <a:ext uri="{FF2B5EF4-FFF2-40B4-BE49-F238E27FC236}">
                <a16:creationId xmlns:a16="http://schemas.microsoft.com/office/drawing/2014/main" id="{FCF9495C-F810-496B-9882-E557F1360B0D}"/>
              </a:ext>
            </a:extLst>
          </p:cNvPr>
          <p:cNvSpPr>
            <a:spLocks xmlns:a="http://schemas.openxmlformats.org/drawingml/2006/main" noGrp="1"/>
          </p:cNvSpPr>
          <p:nvPr/>
        </p:nvSpPr>
        <p:spPr>
          <a:xfrm xmlns:a="http://schemas.openxmlformats.org/drawingml/2006/main">
            <a:off x="4476750" y="2609850"/>
            <a:ext cx="333375"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0F9D8A"/>
                </a:solidFill>
                <a:latin typeface="Aptos"/>
                <a:ea typeface="Aptos"/>
                <a:cs typeface="Aptos"/>
              </a:defRPr>
            </a:pPr>
            <a:r>
              <a:t>7</a:t>
            </a:r>
          </a:p>
        </p:txBody>
      </p:sp>
      <p:sp>
        <p:nvSpPr>
          <p:cNvPr id="24" name="">
            <a:extLst xmlns:a="http://schemas.openxmlformats.org/drawingml/2006/main">
              <a:ext uri="{FF2B5EF4-FFF2-40B4-BE49-F238E27FC236}">
                <a16:creationId xmlns:a16="http://schemas.microsoft.com/office/drawing/2014/main" id="{92394C29-3224-46C4-B4FE-51C395B04DCD}"/>
              </a:ext>
            </a:extLst>
          </p:cNvPr>
          <p:cNvSpPr>
            <a:spLocks xmlns:a="http://schemas.openxmlformats.org/drawingml/2006/main" noGrp="1"/>
          </p:cNvSpPr>
          <p:nvPr/>
        </p:nvSpPr>
        <p:spPr>
          <a:xfrm xmlns:a="http://schemas.openxmlformats.org/drawingml/2006/main">
            <a:off x="552450" y="3276600"/>
            <a:ext cx="1047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Sentinel</a:t>
            </a:r>
          </a:p>
        </p:txBody>
      </p:sp>
      <p:sp>
        <p:nvSpPr>
          <p:cNvPr id="25" name="">
            <a:extLst xmlns:a="http://schemas.openxmlformats.org/drawingml/2006/main">
              <a:ext uri="{FF2B5EF4-FFF2-40B4-BE49-F238E27FC236}">
                <a16:creationId xmlns:a16="http://schemas.microsoft.com/office/drawing/2014/main" id="{3F4B45A5-49E5-4097-AAF7-B4779C26F2B7}"/>
              </a:ext>
            </a:extLst>
          </p:cNvPr>
          <p:cNvSpPr>
            <a:spLocks xmlns:a="http://schemas.openxmlformats.org/drawingml/2006/main" noGrp="1"/>
          </p:cNvSpPr>
          <p:nvPr/>
        </p:nvSpPr>
        <p:spPr>
          <a:xfrm xmlns:a="http://schemas.openxmlformats.org/drawingml/2006/main">
            <a:off x="1638300" y="3248025"/>
            <a:ext cx="209550" cy="209550"/>
          </a:xfrm>
          <a:prstGeom xmlns:a="http://schemas.openxmlformats.org/drawingml/2006/main" prst="ellipse">
            <a:avLst/>
          </a:prstGeom>
          <a:solidFill xmlns:a="http://schemas.openxmlformats.org/drawingml/2006/main">
            <a:srgbClr val="D48A00"/>
          </a:solidFill>
          <a:ln xmlns:a="http://schemas.openxmlformats.org/drawingml/2006/main" w="0">
            <a:solidFill>
              <a:srgbClr val="D48A00"/>
            </a:solidFill>
            <a:prstDash val="solid"/>
          </a:ln>
        </p:spPr>
      </p:sp>
      <p:sp>
        <p:nvSpPr>
          <p:cNvPr id="26" name="">
            <a:extLst xmlns:a="http://schemas.openxmlformats.org/drawingml/2006/main">
              <a:ext uri="{FF2B5EF4-FFF2-40B4-BE49-F238E27FC236}">
                <a16:creationId xmlns:a16="http://schemas.microsoft.com/office/drawing/2014/main" id="{AE940179-BB44-47B9-A963-281B8E111831}"/>
              </a:ext>
            </a:extLst>
          </p:cNvPr>
          <p:cNvSpPr>
            <a:spLocks xmlns:a="http://schemas.openxmlformats.org/drawingml/2006/main" noGrp="1"/>
          </p:cNvSpPr>
          <p:nvPr/>
        </p:nvSpPr>
        <p:spPr>
          <a:xfrm xmlns:a="http://schemas.openxmlformats.org/drawingml/2006/main">
            <a:off x="2019300" y="3248025"/>
            <a:ext cx="209550" cy="209550"/>
          </a:xfrm>
          <a:prstGeom xmlns:a="http://schemas.openxmlformats.org/drawingml/2006/main" prst="ellipse">
            <a:avLst/>
          </a:prstGeom>
          <a:solidFill xmlns:a="http://schemas.openxmlformats.org/drawingml/2006/main">
            <a:srgbClr val="D48A00"/>
          </a:solidFill>
          <a:ln xmlns:a="http://schemas.openxmlformats.org/drawingml/2006/main" w="0">
            <a:solidFill>
              <a:srgbClr val="D48A00"/>
            </a:solidFill>
            <a:prstDash val="solid"/>
          </a:ln>
        </p:spPr>
      </p:sp>
      <p:sp>
        <p:nvSpPr>
          <p:cNvPr id="27" name="">
            <a:extLst xmlns:a="http://schemas.openxmlformats.org/drawingml/2006/main">
              <a:ext uri="{FF2B5EF4-FFF2-40B4-BE49-F238E27FC236}">
                <a16:creationId xmlns:a16="http://schemas.microsoft.com/office/drawing/2014/main" id="{0A7C53D8-773F-47CD-878C-43A2C38F544F}"/>
              </a:ext>
            </a:extLst>
          </p:cNvPr>
          <p:cNvSpPr>
            <a:spLocks xmlns:a="http://schemas.openxmlformats.org/drawingml/2006/main" noGrp="1"/>
          </p:cNvSpPr>
          <p:nvPr/>
        </p:nvSpPr>
        <p:spPr>
          <a:xfrm xmlns:a="http://schemas.openxmlformats.org/drawingml/2006/main">
            <a:off x="2400300" y="3248025"/>
            <a:ext cx="209550" cy="209550"/>
          </a:xfrm>
          <a:prstGeom xmlns:a="http://schemas.openxmlformats.org/drawingml/2006/main" prst="ellipse">
            <a:avLst/>
          </a:prstGeom>
          <a:solidFill xmlns:a="http://schemas.openxmlformats.org/drawingml/2006/main">
            <a:srgbClr val="D48A00"/>
          </a:solidFill>
          <a:ln xmlns:a="http://schemas.openxmlformats.org/drawingml/2006/main" w="0">
            <a:solidFill>
              <a:srgbClr val="D48A00"/>
            </a:solidFill>
            <a:prstDash val="solid"/>
          </a:ln>
        </p:spPr>
      </p:sp>
      <p:sp>
        <p:nvSpPr>
          <p:cNvPr id="28" name="">
            <a:extLst xmlns:a="http://schemas.openxmlformats.org/drawingml/2006/main">
              <a:ext uri="{FF2B5EF4-FFF2-40B4-BE49-F238E27FC236}">
                <a16:creationId xmlns:a16="http://schemas.microsoft.com/office/drawing/2014/main" id="{491A9051-5524-4B0C-ACC9-3E096CEE3877}"/>
              </a:ext>
            </a:extLst>
          </p:cNvPr>
          <p:cNvSpPr>
            <a:spLocks xmlns:a="http://schemas.openxmlformats.org/drawingml/2006/main" noGrp="1"/>
          </p:cNvSpPr>
          <p:nvPr/>
        </p:nvSpPr>
        <p:spPr>
          <a:xfrm xmlns:a="http://schemas.openxmlformats.org/drawingml/2006/main">
            <a:off x="2781300" y="3248025"/>
            <a:ext cx="209550" cy="209550"/>
          </a:xfrm>
          <a:prstGeom xmlns:a="http://schemas.openxmlformats.org/drawingml/2006/main" prst="ellipse">
            <a:avLst/>
          </a:prstGeom>
          <a:solidFill xmlns:a="http://schemas.openxmlformats.org/drawingml/2006/main">
            <a:srgbClr val="D48A00"/>
          </a:solidFill>
          <a:ln xmlns:a="http://schemas.openxmlformats.org/drawingml/2006/main" w="0">
            <a:solidFill>
              <a:srgbClr val="D48A00"/>
            </a:solidFill>
            <a:prstDash val="solid"/>
          </a:ln>
        </p:spPr>
      </p:sp>
      <p:sp>
        <p:nvSpPr>
          <p:cNvPr id="29" name="">
            <a:extLst xmlns:a="http://schemas.openxmlformats.org/drawingml/2006/main">
              <a:ext uri="{FF2B5EF4-FFF2-40B4-BE49-F238E27FC236}">
                <a16:creationId xmlns:a16="http://schemas.microsoft.com/office/drawing/2014/main" id="{33C20428-5518-4BD1-8000-62EE70179390}"/>
              </a:ext>
            </a:extLst>
          </p:cNvPr>
          <p:cNvSpPr>
            <a:spLocks xmlns:a="http://schemas.openxmlformats.org/drawingml/2006/main" noGrp="1"/>
          </p:cNvSpPr>
          <p:nvPr/>
        </p:nvSpPr>
        <p:spPr>
          <a:xfrm xmlns:a="http://schemas.openxmlformats.org/drawingml/2006/main">
            <a:off x="3162300" y="3248025"/>
            <a:ext cx="209550" cy="209550"/>
          </a:xfrm>
          <a:prstGeom xmlns:a="http://schemas.openxmlformats.org/drawingml/2006/main" prst="ellipse">
            <a:avLst/>
          </a:prstGeom>
          <a:solidFill xmlns:a="http://schemas.openxmlformats.org/drawingml/2006/main">
            <a:srgbClr val="D48A00"/>
          </a:solidFill>
          <a:ln xmlns:a="http://schemas.openxmlformats.org/drawingml/2006/main" w="0">
            <a:solidFill>
              <a:srgbClr val="D48A00"/>
            </a:solidFill>
            <a:prstDash val="solid"/>
          </a:ln>
        </p:spPr>
      </p:sp>
      <p:sp>
        <p:nvSpPr>
          <p:cNvPr id="30" name="">
            <a:extLst xmlns:a="http://schemas.openxmlformats.org/drawingml/2006/main">
              <a:ext uri="{FF2B5EF4-FFF2-40B4-BE49-F238E27FC236}">
                <a16:creationId xmlns:a16="http://schemas.microsoft.com/office/drawing/2014/main" id="{8E405F5A-D95B-49F3-87D7-DE6A51CF9865}"/>
              </a:ext>
            </a:extLst>
          </p:cNvPr>
          <p:cNvSpPr>
            <a:spLocks xmlns:a="http://schemas.openxmlformats.org/drawingml/2006/main" noGrp="1"/>
          </p:cNvSpPr>
          <p:nvPr/>
        </p:nvSpPr>
        <p:spPr>
          <a:xfrm xmlns:a="http://schemas.openxmlformats.org/drawingml/2006/main">
            <a:off x="3543300" y="3248025"/>
            <a:ext cx="209550" cy="209550"/>
          </a:xfrm>
          <a:prstGeom xmlns:a="http://schemas.openxmlformats.org/drawingml/2006/main" prst="ellipse">
            <a:avLst/>
          </a:prstGeom>
          <a:solidFill xmlns:a="http://schemas.openxmlformats.org/drawingml/2006/main">
            <a:srgbClr val="D48A00"/>
          </a:solidFill>
          <a:ln xmlns:a="http://schemas.openxmlformats.org/drawingml/2006/main" w="0">
            <a:solidFill>
              <a:srgbClr val="D48A00"/>
            </a:solidFill>
            <a:prstDash val="solid"/>
          </a:ln>
        </p:spPr>
      </p:sp>
      <p:sp>
        <p:nvSpPr>
          <p:cNvPr id="31" name="">
            <a:extLst xmlns:a="http://schemas.openxmlformats.org/drawingml/2006/main">
              <a:ext uri="{FF2B5EF4-FFF2-40B4-BE49-F238E27FC236}">
                <a16:creationId xmlns:a16="http://schemas.microsoft.com/office/drawing/2014/main" id="{8152FA23-D708-4BEC-AC20-42797CBE6058}"/>
              </a:ext>
            </a:extLst>
          </p:cNvPr>
          <p:cNvSpPr>
            <a:spLocks xmlns:a="http://schemas.openxmlformats.org/drawingml/2006/main" noGrp="1"/>
          </p:cNvSpPr>
          <p:nvPr/>
        </p:nvSpPr>
        <p:spPr>
          <a:xfrm xmlns:a="http://schemas.openxmlformats.org/drawingml/2006/main">
            <a:off x="3924300" y="3248025"/>
            <a:ext cx="209550" cy="209550"/>
          </a:xfrm>
          <a:prstGeom xmlns:a="http://schemas.openxmlformats.org/drawingml/2006/main" prst="ellipse">
            <a:avLst/>
          </a:prstGeom>
          <a:solidFill xmlns:a="http://schemas.openxmlformats.org/drawingml/2006/main">
            <a:srgbClr val="D48A00"/>
          </a:solidFill>
          <a:ln xmlns:a="http://schemas.openxmlformats.org/drawingml/2006/main" w="0">
            <a:solidFill>
              <a:srgbClr val="D48A00"/>
            </a:solidFill>
            <a:prstDash val="solid"/>
          </a:ln>
        </p:spPr>
      </p:sp>
      <p:sp>
        <p:nvSpPr>
          <p:cNvPr id="32" name="">
            <a:extLst xmlns:a="http://schemas.openxmlformats.org/drawingml/2006/main">
              <a:ext uri="{FF2B5EF4-FFF2-40B4-BE49-F238E27FC236}">
                <a16:creationId xmlns:a16="http://schemas.microsoft.com/office/drawing/2014/main" id="{8668CA0D-8CEA-4187-B26C-3B7E2964D969}"/>
              </a:ext>
            </a:extLst>
          </p:cNvPr>
          <p:cNvSpPr>
            <a:spLocks xmlns:a="http://schemas.openxmlformats.org/drawingml/2006/main" noGrp="1"/>
          </p:cNvSpPr>
          <p:nvPr/>
        </p:nvSpPr>
        <p:spPr>
          <a:xfrm xmlns:a="http://schemas.openxmlformats.org/drawingml/2006/main">
            <a:off x="4476750" y="3248025"/>
            <a:ext cx="333375"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D48A00"/>
                </a:solidFill>
                <a:latin typeface="Aptos"/>
                <a:ea typeface="Aptos"/>
                <a:cs typeface="Aptos"/>
              </a:defRPr>
            </a:pPr>
            <a:r>
              <a:t>7</a:t>
            </a:r>
          </a:p>
        </p:txBody>
      </p:sp>
      <p:sp>
        <p:nvSpPr>
          <p:cNvPr id="33" name="">
            <a:extLst xmlns:a="http://schemas.openxmlformats.org/drawingml/2006/main">
              <a:ext uri="{FF2B5EF4-FFF2-40B4-BE49-F238E27FC236}">
                <a16:creationId xmlns:a16="http://schemas.microsoft.com/office/drawing/2014/main" id="{ACFF4920-4D45-4151-9AE2-0243244CD5AC}"/>
              </a:ext>
            </a:extLst>
          </p:cNvPr>
          <p:cNvSpPr>
            <a:spLocks xmlns:a="http://schemas.openxmlformats.org/drawingml/2006/main" noGrp="1"/>
          </p:cNvSpPr>
          <p:nvPr/>
        </p:nvSpPr>
        <p:spPr>
          <a:xfrm xmlns:a="http://schemas.openxmlformats.org/drawingml/2006/main">
            <a:off x="552450" y="3914775"/>
            <a:ext cx="1047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Rover</a:t>
            </a:r>
          </a:p>
        </p:txBody>
      </p:sp>
      <p:sp>
        <p:nvSpPr>
          <p:cNvPr id="34" name="">
            <a:extLst xmlns:a="http://schemas.openxmlformats.org/drawingml/2006/main">
              <a:ext uri="{FF2B5EF4-FFF2-40B4-BE49-F238E27FC236}">
                <a16:creationId xmlns:a16="http://schemas.microsoft.com/office/drawing/2014/main" id="{4D7547D6-7700-4E83-A05C-DA469A3F5785}"/>
              </a:ext>
            </a:extLst>
          </p:cNvPr>
          <p:cNvSpPr>
            <a:spLocks xmlns:a="http://schemas.openxmlformats.org/drawingml/2006/main" noGrp="1"/>
          </p:cNvSpPr>
          <p:nvPr/>
        </p:nvSpPr>
        <p:spPr>
          <a:xfrm xmlns:a="http://schemas.openxmlformats.org/drawingml/2006/main">
            <a:off x="1638300" y="3886200"/>
            <a:ext cx="209550" cy="2095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35" name="">
            <a:extLst xmlns:a="http://schemas.openxmlformats.org/drawingml/2006/main">
              <a:ext uri="{FF2B5EF4-FFF2-40B4-BE49-F238E27FC236}">
                <a16:creationId xmlns:a16="http://schemas.microsoft.com/office/drawing/2014/main" id="{6E3DBD74-77D1-4005-B7BD-49137CA68088}"/>
              </a:ext>
            </a:extLst>
          </p:cNvPr>
          <p:cNvSpPr>
            <a:spLocks xmlns:a="http://schemas.openxmlformats.org/drawingml/2006/main" noGrp="1"/>
          </p:cNvSpPr>
          <p:nvPr/>
        </p:nvSpPr>
        <p:spPr>
          <a:xfrm xmlns:a="http://schemas.openxmlformats.org/drawingml/2006/main">
            <a:off x="2019300" y="3886200"/>
            <a:ext cx="209550" cy="2095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36" name="">
            <a:extLst xmlns:a="http://schemas.openxmlformats.org/drawingml/2006/main">
              <a:ext uri="{FF2B5EF4-FFF2-40B4-BE49-F238E27FC236}">
                <a16:creationId xmlns:a16="http://schemas.microsoft.com/office/drawing/2014/main" id="{8A5590DD-59FA-47DB-8B19-51C4699E8CCD}"/>
              </a:ext>
            </a:extLst>
          </p:cNvPr>
          <p:cNvSpPr>
            <a:spLocks xmlns:a="http://schemas.openxmlformats.org/drawingml/2006/main" noGrp="1"/>
          </p:cNvSpPr>
          <p:nvPr/>
        </p:nvSpPr>
        <p:spPr>
          <a:xfrm xmlns:a="http://schemas.openxmlformats.org/drawingml/2006/main">
            <a:off x="2400300" y="3886200"/>
            <a:ext cx="209550" cy="2095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37" name="">
            <a:extLst xmlns:a="http://schemas.openxmlformats.org/drawingml/2006/main">
              <a:ext uri="{FF2B5EF4-FFF2-40B4-BE49-F238E27FC236}">
                <a16:creationId xmlns:a16="http://schemas.microsoft.com/office/drawing/2014/main" id="{5CAE8AEF-4830-4DD7-9445-87E1B6E4A5F0}"/>
              </a:ext>
            </a:extLst>
          </p:cNvPr>
          <p:cNvSpPr>
            <a:spLocks xmlns:a="http://schemas.openxmlformats.org/drawingml/2006/main" noGrp="1"/>
          </p:cNvSpPr>
          <p:nvPr/>
        </p:nvSpPr>
        <p:spPr>
          <a:xfrm xmlns:a="http://schemas.openxmlformats.org/drawingml/2006/main">
            <a:off x="2781300" y="3886200"/>
            <a:ext cx="209550" cy="2095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38" name="">
            <a:extLst xmlns:a="http://schemas.openxmlformats.org/drawingml/2006/main">
              <a:ext uri="{FF2B5EF4-FFF2-40B4-BE49-F238E27FC236}">
                <a16:creationId xmlns:a16="http://schemas.microsoft.com/office/drawing/2014/main" id="{85BB1D3C-9AF9-4480-A166-CF090929B531}"/>
              </a:ext>
            </a:extLst>
          </p:cNvPr>
          <p:cNvSpPr>
            <a:spLocks xmlns:a="http://schemas.openxmlformats.org/drawingml/2006/main" noGrp="1"/>
          </p:cNvSpPr>
          <p:nvPr/>
        </p:nvSpPr>
        <p:spPr>
          <a:xfrm xmlns:a="http://schemas.openxmlformats.org/drawingml/2006/main">
            <a:off x="3162300" y="3886200"/>
            <a:ext cx="209550" cy="2095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39" name="">
            <a:extLst xmlns:a="http://schemas.openxmlformats.org/drawingml/2006/main">
              <a:ext uri="{FF2B5EF4-FFF2-40B4-BE49-F238E27FC236}">
                <a16:creationId xmlns:a16="http://schemas.microsoft.com/office/drawing/2014/main" id="{D43C1BE5-662C-4F90-A420-F93CFFDF733E}"/>
              </a:ext>
            </a:extLst>
          </p:cNvPr>
          <p:cNvSpPr>
            <a:spLocks xmlns:a="http://schemas.openxmlformats.org/drawingml/2006/main" noGrp="1"/>
          </p:cNvSpPr>
          <p:nvPr/>
        </p:nvSpPr>
        <p:spPr>
          <a:xfrm xmlns:a="http://schemas.openxmlformats.org/drawingml/2006/main">
            <a:off x="3543300" y="3886200"/>
            <a:ext cx="209550" cy="2095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40" name="">
            <a:extLst xmlns:a="http://schemas.openxmlformats.org/drawingml/2006/main">
              <a:ext uri="{FF2B5EF4-FFF2-40B4-BE49-F238E27FC236}">
                <a16:creationId xmlns:a16="http://schemas.microsoft.com/office/drawing/2014/main" id="{36D404EA-3D9A-4625-A5BB-A654DEE91E35}"/>
              </a:ext>
            </a:extLst>
          </p:cNvPr>
          <p:cNvSpPr>
            <a:spLocks xmlns:a="http://schemas.openxmlformats.org/drawingml/2006/main" noGrp="1"/>
          </p:cNvSpPr>
          <p:nvPr/>
        </p:nvSpPr>
        <p:spPr>
          <a:xfrm xmlns:a="http://schemas.openxmlformats.org/drawingml/2006/main">
            <a:off x="3924300" y="3886200"/>
            <a:ext cx="209550" cy="2095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41" name="">
            <a:extLst xmlns:a="http://schemas.openxmlformats.org/drawingml/2006/main">
              <a:ext uri="{FF2B5EF4-FFF2-40B4-BE49-F238E27FC236}">
                <a16:creationId xmlns:a16="http://schemas.microsoft.com/office/drawing/2014/main" id="{F0ED363F-4B84-4842-8776-322F43BEC835}"/>
              </a:ext>
            </a:extLst>
          </p:cNvPr>
          <p:cNvSpPr>
            <a:spLocks xmlns:a="http://schemas.openxmlformats.org/drawingml/2006/main" noGrp="1"/>
          </p:cNvSpPr>
          <p:nvPr/>
        </p:nvSpPr>
        <p:spPr>
          <a:xfrm xmlns:a="http://schemas.openxmlformats.org/drawingml/2006/main">
            <a:off x="4476750" y="3886200"/>
            <a:ext cx="333375"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2E74B5"/>
                </a:solidFill>
                <a:latin typeface="Aptos"/>
                <a:ea typeface="Aptos"/>
                <a:cs typeface="Aptos"/>
              </a:defRPr>
            </a:pPr>
            <a:r>
              <a:t>7</a:t>
            </a:r>
          </a:p>
        </p:txBody>
      </p:sp>
      <p:sp>
        <p:nvSpPr>
          <p:cNvPr id="42" name="">
            <a:extLst xmlns:a="http://schemas.openxmlformats.org/drawingml/2006/main">
              <a:ext uri="{FF2B5EF4-FFF2-40B4-BE49-F238E27FC236}">
                <a16:creationId xmlns:a16="http://schemas.microsoft.com/office/drawing/2014/main" id="{72141F8C-3D83-4535-A3FC-3158FA239D61}"/>
              </a:ext>
            </a:extLst>
          </p:cNvPr>
          <p:cNvSpPr>
            <a:spLocks xmlns:a="http://schemas.openxmlformats.org/drawingml/2006/main" noGrp="1"/>
          </p:cNvSpPr>
          <p:nvPr/>
        </p:nvSpPr>
        <p:spPr>
          <a:xfrm xmlns:a="http://schemas.openxmlformats.org/drawingml/2006/main">
            <a:off x="552450" y="4552950"/>
            <a:ext cx="1047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Humanoid</a:t>
            </a:r>
          </a:p>
        </p:txBody>
      </p:sp>
      <p:sp>
        <p:nvSpPr>
          <p:cNvPr id="43" name="">
            <a:extLst xmlns:a="http://schemas.openxmlformats.org/drawingml/2006/main">
              <a:ext uri="{FF2B5EF4-FFF2-40B4-BE49-F238E27FC236}">
                <a16:creationId xmlns:a16="http://schemas.microsoft.com/office/drawing/2014/main" id="{44370A9F-C74A-4CEE-8E0A-72B41B065B39}"/>
              </a:ext>
            </a:extLst>
          </p:cNvPr>
          <p:cNvSpPr>
            <a:spLocks xmlns:a="http://schemas.openxmlformats.org/drawingml/2006/main" noGrp="1"/>
          </p:cNvSpPr>
          <p:nvPr/>
        </p:nvSpPr>
        <p:spPr>
          <a:xfrm xmlns:a="http://schemas.openxmlformats.org/drawingml/2006/main">
            <a:off x="1638300" y="4524375"/>
            <a:ext cx="209550" cy="209550"/>
          </a:xfrm>
          <a:prstGeom xmlns:a="http://schemas.openxmlformats.org/drawingml/2006/main" prst="ellipse">
            <a:avLst/>
          </a:prstGeom>
          <a:solidFill xmlns:a="http://schemas.openxmlformats.org/drawingml/2006/main">
            <a:srgbClr val="D94B4B"/>
          </a:solidFill>
          <a:ln xmlns:a="http://schemas.openxmlformats.org/drawingml/2006/main" w="0">
            <a:solidFill>
              <a:srgbClr val="D94B4B"/>
            </a:solidFill>
            <a:prstDash val="solid"/>
          </a:ln>
        </p:spPr>
      </p:sp>
      <p:sp>
        <p:nvSpPr>
          <p:cNvPr id="44" name="">
            <a:extLst xmlns:a="http://schemas.openxmlformats.org/drawingml/2006/main">
              <a:ext uri="{FF2B5EF4-FFF2-40B4-BE49-F238E27FC236}">
                <a16:creationId xmlns:a16="http://schemas.microsoft.com/office/drawing/2014/main" id="{9D7BE20E-C01D-43C4-9D54-60C3EC3F7682}"/>
              </a:ext>
            </a:extLst>
          </p:cNvPr>
          <p:cNvSpPr>
            <a:spLocks xmlns:a="http://schemas.openxmlformats.org/drawingml/2006/main" noGrp="1"/>
          </p:cNvSpPr>
          <p:nvPr/>
        </p:nvSpPr>
        <p:spPr>
          <a:xfrm xmlns:a="http://schemas.openxmlformats.org/drawingml/2006/main">
            <a:off x="2019300" y="4524375"/>
            <a:ext cx="209550" cy="209550"/>
          </a:xfrm>
          <a:prstGeom xmlns:a="http://schemas.openxmlformats.org/drawingml/2006/main" prst="ellipse">
            <a:avLst/>
          </a:prstGeom>
          <a:solidFill xmlns:a="http://schemas.openxmlformats.org/drawingml/2006/main">
            <a:srgbClr val="D94B4B"/>
          </a:solidFill>
          <a:ln xmlns:a="http://schemas.openxmlformats.org/drawingml/2006/main" w="0">
            <a:solidFill>
              <a:srgbClr val="D94B4B"/>
            </a:solidFill>
            <a:prstDash val="solid"/>
          </a:ln>
        </p:spPr>
      </p:sp>
      <p:sp>
        <p:nvSpPr>
          <p:cNvPr id="45" name="">
            <a:extLst xmlns:a="http://schemas.openxmlformats.org/drawingml/2006/main">
              <a:ext uri="{FF2B5EF4-FFF2-40B4-BE49-F238E27FC236}">
                <a16:creationId xmlns:a16="http://schemas.microsoft.com/office/drawing/2014/main" id="{4B70F4FC-D904-4BF3-8AA0-D0C4B7A340EC}"/>
              </a:ext>
            </a:extLst>
          </p:cNvPr>
          <p:cNvSpPr>
            <a:spLocks xmlns:a="http://schemas.openxmlformats.org/drawingml/2006/main" noGrp="1"/>
          </p:cNvSpPr>
          <p:nvPr/>
        </p:nvSpPr>
        <p:spPr>
          <a:xfrm xmlns:a="http://schemas.openxmlformats.org/drawingml/2006/main">
            <a:off x="2400300" y="4524375"/>
            <a:ext cx="209550" cy="209550"/>
          </a:xfrm>
          <a:prstGeom xmlns:a="http://schemas.openxmlformats.org/drawingml/2006/main" prst="ellipse">
            <a:avLst/>
          </a:prstGeom>
          <a:solidFill xmlns:a="http://schemas.openxmlformats.org/drawingml/2006/main">
            <a:srgbClr val="D94B4B"/>
          </a:solidFill>
          <a:ln xmlns:a="http://schemas.openxmlformats.org/drawingml/2006/main" w="0">
            <a:solidFill>
              <a:srgbClr val="D94B4B"/>
            </a:solidFill>
            <a:prstDash val="solid"/>
          </a:ln>
        </p:spPr>
      </p:sp>
      <p:sp>
        <p:nvSpPr>
          <p:cNvPr id="46" name="">
            <a:extLst xmlns:a="http://schemas.openxmlformats.org/drawingml/2006/main">
              <a:ext uri="{FF2B5EF4-FFF2-40B4-BE49-F238E27FC236}">
                <a16:creationId xmlns:a16="http://schemas.microsoft.com/office/drawing/2014/main" id="{A2D344CE-DECE-464F-9BC9-D02108D949FA}"/>
              </a:ext>
            </a:extLst>
          </p:cNvPr>
          <p:cNvSpPr>
            <a:spLocks xmlns:a="http://schemas.openxmlformats.org/drawingml/2006/main" noGrp="1"/>
          </p:cNvSpPr>
          <p:nvPr/>
        </p:nvSpPr>
        <p:spPr>
          <a:xfrm xmlns:a="http://schemas.openxmlformats.org/drawingml/2006/main">
            <a:off x="2781300" y="4524375"/>
            <a:ext cx="209550" cy="209550"/>
          </a:xfrm>
          <a:prstGeom xmlns:a="http://schemas.openxmlformats.org/drawingml/2006/main" prst="ellipse">
            <a:avLst/>
          </a:prstGeom>
          <a:solidFill xmlns:a="http://schemas.openxmlformats.org/drawingml/2006/main">
            <a:srgbClr val="D94B4B"/>
          </a:solidFill>
          <a:ln xmlns:a="http://schemas.openxmlformats.org/drawingml/2006/main" w="0">
            <a:solidFill>
              <a:srgbClr val="D94B4B"/>
            </a:solidFill>
            <a:prstDash val="solid"/>
          </a:ln>
        </p:spPr>
      </p:sp>
      <p:sp>
        <p:nvSpPr>
          <p:cNvPr id="47" name="">
            <a:extLst xmlns:a="http://schemas.openxmlformats.org/drawingml/2006/main">
              <a:ext uri="{FF2B5EF4-FFF2-40B4-BE49-F238E27FC236}">
                <a16:creationId xmlns:a16="http://schemas.microsoft.com/office/drawing/2014/main" id="{1ABBF970-BDF5-48B5-99D2-CFF33ECA2DA7}"/>
              </a:ext>
            </a:extLst>
          </p:cNvPr>
          <p:cNvSpPr>
            <a:spLocks xmlns:a="http://schemas.openxmlformats.org/drawingml/2006/main" noGrp="1"/>
          </p:cNvSpPr>
          <p:nvPr/>
        </p:nvSpPr>
        <p:spPr>
          <a:xfrm xmlns:a="http://schemas.openxmlformats.org/drawingml/2006/main">
            <a:off x="3162300" y="4524375"/>
            <a:ext cx="209550" cy="209550"/>
          </a:xfrm>
          <a:prstGeom xmlns:a="http://schemas.openxmlformats.org/drawingml/2006/main" prst="ellipse">
            <a:avLst/>
          </a:prstGeom>
          <a:solidFill xmlns:a="http://schemas.openxmlformats.org/drawingml/2006/main">
            <a:srgbClr val="D94B4B"/>
          </a:solidFill>
          <a:ln xmlns:a="http://schemas.openxmlformats.org/drawingml/2006/main" w="0">
            <a:solidFill>
              <a:srgbClr val="D94B4B"/>
            </a:solidFill>
            <a:prstDash val="solid"/>
          </a:ln>
        </p:spPr>
      </p:sp>
      <p:sp>
        <p:nvSpPr>
          <p:cNvPr id="48" name="">
            <a:extLst xmlns:a="http://schemas.openxmlformats.org/drawingml/2006/main">
              <a:ext uri="{FF2B5EF4-FFF2-40B4-BE49-F238E27FC236}">
                <a16:creationId xmlns:a16="http://schemas.microsoft.com/office/drawing/2014/main" id="{705AB35E-1296-4204-AB40-099E3EB645A3}"/>
              </a:ext>
            </a:extLst>
          </p:cNvPr>
          <p:cNvSpPr>
            <a:spLocks xmlns:a="http://schemas.openxmlformats.org/drawingml/2006/main" noGrp="1"/>
          </p:cNvSpPr>
          <p:nvPr/>
        </p:nvSpPr>
        <p:spPr>
          <a:xfrm xmlns:a="http://schemas.openxmlformats.org/drawingml/2006/main">
            <a:off x="3543300" y="4524375"/>
            <a:ext cx="209550" cy="209550"/>
          </a:xfrm>
          <a:prstGeom xmlns:a="http://schemas.openxmlformats.org/drawingml/2006/main" prst="ellipse">
            <a:avLst/>
          </a:prstGeom>
          <a:solidFill xmlns:a="http://schemas.openxmlformats.org/drawingml/2006/main">
            <a:srgbClr val="D94B4B"/>
          </a:solidFill>
          <a:ln xmlns:a="http://schemas.openxmlformats.org/drawingml/2006/main" w="0">
            <a:solidFill>
              <a:srgbClr val="D94B4B"/>
            </a:solidFill>
            <a:prstDash val="solid"/>
          </a:ln>
        </p:spPr>
      </p:sp>
      <p:sp>
        <p:nvSpPr>
          <p:cNvPr id="49" name="">
            <a:extLst xmlns:a="http://schemas.openxmlformats.org/drawingml/2006/main">
              <a:ext uri="{FF2B5EF4-FFF2-40B4-BE49-F238E27FC236}">
                <a16:creationId xmlns:a16="http://schemas.microsoft.com/office/drawing/2014/main" id="{DCACEEDA-0304-4E2F-A424-CB14D9066416}"/>
              </a:ext>
            </a:extLst>
          </p:cNvPr>
          <p:cNvSpPr>
            <a:spLocks xmlns:a="http://schemas.openxmlformats.org/drawingml/2006/main" noGrp="1"/>
          </p:cNvSpPr>
          <p:nvPr/>
        </p:nvSpPr>
        <p:spPr>
          <a:xfrm xmlns:a="http://schemas.openxmlformats.org/drawingml/2006/main">
            <a:off x="3924300" y="4524375"/>
            <a:ext cx="209550" cy="209550"/>
          </a:xfrm>
          <a:prstGeom xmlns:a="http://schemas.openxmlformats.org/drawingml/2006/main" prst="ellipse">
            <a:avLst/>
          </a:prstGeom>
          <a:solidFill xmlns:a="http://schemas.openxmlformats.org/drawingml/2006/main">
            <a:srgbClr val="D94B4B"/>
          </a:solidFill>
          <a:ln xmlns:a="http://schemas.openxmlformats.org/drawingml/2006/main" w="0">
            <a:solidFill>
              <a:srgbClr val="D94B4B"/>
            </a:solidFill>
            <a:prstDash val="solid"/>
          </a:ln>
        </p:spPr>
      </p:sp>
      <p:sp>
        <p:nvSpPr>
          <p:cNvPr id="50" name="">
            <a:extLst xmlns:a="http://schemas.openxmlformats.org/drawingml/2006/main">
              <a:ext uri="{FF2B5EF4-FFF2-40B4-BE49-F238E27FC236}">
                <a16:creationId xmlns:a16="http://schemas.microsoft.com/office/drawing/2014/main" id="{AB54281D-62C9-4CED-BCA4-3C2D83749C12}"/>
              </a:ext>
            </a:extLst>
          </p:cNvPr>
          <p:cNvSpPr>
            <a:spLocks xmlns:a="http://schemas.openxmlformats.org/drawingml/2006/main" noGrp="1"/>
          </p:cNvSpPr>
          <p:nvPr/>
        </p:nvSpPr>
        <p:spPr>
          <a:xfrm xmlns:a="http://schemas.openxmlformats.org/drawingml/2006/main">
            <a:off x="4476750" y="4524375"/>
            <a:ext cx="333375"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D94B4B"/>
                </a:solidFill>
                <a:latin typeface="Aptos"/>
                <a:ea typeface="Aptos"/>
                <a:cs typeface="Aptos"/>
              </a:defRPr>
            </a:pPr>
            <a:r>
              <a:t>7</a:t>
            </a:r>
          </a:p>
        </p:txBody>
      </p:sp>
      <p:sp>
        <p:nvSpPr>
          <p:cNvPr id="51" name="">
            <a:extLst xmlns:a="http://schemas.openxmlformats.org/drawingml/2006/main">
              <a:ext uri="{FF2B5EF4-FFF2-40B4-BE49-F238E27FC236}">
                <a16:creationId xmlns:a16="http://schemas.microsoft.com/office/drawing/2014/main" id="{30A2B4E0-3E5B-441A-97B2-4DF32F32B722}"/>
              </a:ext>
            </a:extLst>
          </p:cNvPr>
          <p:cNvSpPr>
            <a:spLocks xmlns:a="http://schemas.openxmlformats.org/drawingml/2006/main" noGrp="1"/>
          </p:cNvSpPr>
          <p:nvPr/>
        </p:nvSpPr>
        <p:spPr>
          <a:xfrm xmlns:a="http://schemas.openxmlformats.org/drawingml/2006/main">
            <a:off x="5191125" y="1543050"/>
            <a:ext cx="6334125" cy="1352550"/>
          </a:xfrm>
          <a:prstGeom xmlns:a="http://schemas.openxmlformats.org/drawingml/2006/main" prst="roundRect">
            <a:avLst>
              <a:gd name="adj" fmla="val 5634"/>
            </a:avLst>
          </a:prstGeom>
          <a:solidFill xmlns:a="http://schemas.openxmlformats.org/drawingml/2006/main">
            <a:srgbClr val="F4F7FA"/>
          </a:solidFill>
          <a:ln xmlns:a="http://schemas.openxmlformats.org/drawingml/2006/main" w="0">
            <a:solidFill>
              <a:srgbClr val="F4F7FA"/>
            </a:solidFill>
            <a:prstDash val="solid"/>
          </a:ln>
        </p:spPr>
      </p:sp>
      <p:sp>
        <p:nvSpPr>
          <p:cNvPr id="52" name="">
            <a:extLst xmlns:a="http://schemas.openxmlformats.org/drawingml/2006/main">
              <a:ext uri="{FF2B5EF4-FFF2-40B4-BE49-F238E27FC236}">
                <a16:creationId xmlns:a16="http://schemas.microsoft.com/office/drawing/2014/main" id="{11FD19F3-2C81-4889-9343-39184B994183}"/>
              </a:ext>
            </a:extLst>
          </p:cNvPr>
          <p:cNvSpPr>
            <a:spLocks xmlns:a="http://schemas.openxmlformats.org/drawingml/2006/main" noGrp="1"/>
          </p:cNvSpPr>
          <p:nvPr/>
        </p:nvSpPr>
        <p:spPr>
          <a:xfrm xmlns:a="http://schemas.openxmlformats.org/drawingml/2006/main">
            <a:off x="5429250" y="1752600"/>
            <a:ext cx="31432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Consequence-weighted coverage</a:t>
            </a:r>
          </a:p>
        </p:txBody>
      </p:sp>
      <p:sp>
        <p:nvSpPr>
          <p:cNvPr id="53" name="">
            <a:extLst xmlns:a="http://schemas.openxmlformats.org/drawingml/2006/main">
              <a:ext uri="{FF2B5EF4-FFF2-40B4-BE49-F238E27FC236}">
                <a16:creationId xmlns:a16="http://schemas.microsoft.com/office/drawing/2014/main" id="{9244DB92-0EF8-4DA5-82D5-1189730CA275}"/>
              </a:ext>
            </a:extLst>
          </p:cNvPr>
          <p:cNvSpPr>
            <a:spLocks xmlns:a="http://schemas.openxmlformats.org/drawingml/2006/main" noGrp="1"/>
          </p:cNvSpPr>
          <p:nvPr/>
        </p:nvSpPr>
        <p:spPr>
          <a:xfrm xmlns:a="http://schemas.openxmlformats.org/drawingml/2006/main">
            <a:off x="5429250" y="2066925"/>
            <a:ext cx="428625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Severity 1 · low consequence</a:t>
            </a:r>
          </a:p>
        </p:txBody>
      </p:sp>
      <p:sp>
        <p:nvSpPr>
          <p:cNvPr id="54" name="">
            <a:extLst xmlns:a="http://schemas.openxmlformats.org/drawingml/2006/main">
              <a:ext uri="{FF2B5EF4-FFF2-40B4-BE49-F238E27FC236}">
                <a16:creationId xmlns:a16="http://schemas.microsoft.com/office/drawing/2014/main" id="{F70DA55F-5B52-42E6-8BFD-1C44AF9181C2}"/>
              </a:ext>
            </a:extLst>
          </p:cNvPr>
          <p:cNvSpPr>
            <a:spLocks xmlns:a="http://schemas.openxmlformats.org/drawingml/2006/main" noGrp="1"/>
          </p:cNvSpPr>
          <p:nvPr/>
        </p:nvSpPr>
        <p:spPr>
          <a:xfrm xmlns:a="http://schemas.openxmlformats.org/drawingml/2006/main">
            <a:off x="5429250" y="2286000"/>
            <a:ext cx="4286250" cy="171450"/>
          </a:xfrm>
          <a:prstGeom xmlns:a="http://schemas.openxmlformats.org/drawingml/2006/main" prst="roundRect">
            <a:avLst>
              <a:gd name="adj" fmla="val 44444"/>
            </a:avLst>
          </a:prstGeom>
          <a:solidFill xmlns:a="http://schemas.openxmlformats.org/drawingml/2006/main">
            <a:srgbClr val="F4F7FA"/>
          </a:solidFill>
          <a:ln xmlns:a="http://schemas.openxmlformats.org/drawingml/2006/main" w="0">
            <a:solidFill>
              <a:srgbClr val="F4F7FA"/>
            </a:solidFill>
            <a:prstDash val="solid"/>
          </a:ln>
        </p:spPr>
      </p:sp>
      <p:sp>
        <p:nvSpPr>
          <p:cNvPr id="55" name="">
            <a:extLst xmlns:a="http://schemas.openxmlformats.org/drawingml/2006/main">
              <a:ext uri="{FF2B5EF4-FFF2-40B4-BE49-F238E27FC236}">
                <a16:creationId xmlns:a16="http://schemas.microsoft.com/office/drawing/2014/main" id="{1F520493-9F80-4077-B473-957601B3F89E}"/>
              </a:ext>
            </a:extLst>
          </p:cNvPr>
          <p:cNvSpPr>
            <a:spLocks xmlns:a="http://schemas.openxmlformats.org/drawingml/2006/main" noGrp="1"/>
          </p:cNvSpPr>
          <p:nvPr/>
        </p:nvSpPr>
        <p:spPr>
          <a:xfrm xmlns:a="http://schemas.openxmlformats.org/drawingml/2006/main">
            <a:off x="5429250" y="2286000"/>
            <a:ext cx="2857500" cy="171450"/>
          </a:xfrm>
          <a:prstGeom xmlns:a="http://schemas.openxmlformats.org/drawingml/2006/main" prst="roundRect">
            <a:avLst>
              <a:gd name="adj" fmla="val 44444"/>
            </a:avLst>
          </a:prstGeom>
          <a:solidFill xmlns:a="http://schemas.openxmlformats.org/drawingml/2006/main">
            <a:srgbClr val="67BDE5"/>
          </a:solidFill>
          <a:ln xmlns:a="http://schemas.openxmlformats.org/drawingml/2006/main" w="0">
            <a:solidFill>
              <a:srgbClr val="67BDE5"/>
            </a:solidFill>
            <a:prstDash val="solid"/>
          </a:ln>
        </p:spPr>
      </p:sp>
      <p:sp>
        <p:nvSpPr>
          <p:cNvPr id="56" name="">
            <a:extLst xmlns:a="http://schemas.openxmlformats.org/drawingml/2006/main">
              <a:ext uri="{FF2B5EF4-FFF2-40B4-BE49-F238E27FC236}">
                <a16:creationId xmlns:a16="http://schemas.microsoft.com/office/drawing/2014/main" id="{3E7FEA19-EAEE-49A8-B1BF-D4F881E42CD5}"/>
              </a:ext>
            </a:extLst>
          </p:cNvPr>
          <p:cNvSpPr>
            <a:spLocks xmlns:a="http://schemas.openxmlformats.org/drawingml/2006/main" noGrp="1"/>
          </p:cNvSpPr>
          <p:nvPr/>
        </p:nvSpPr>
        <p:spPr>
          <a:xfrm xmlns:a="http://schemas.openxmlformats.org/drawingml/2006/main">
            <a:off x="9829800" y="2238375"/>
            <a:ext cx="781050" cy="266700"/>
          </a:xfrm>
          <a:prstGeom xmlns:a="http://schemas.openxmlformats.org/drawingml/2006/main" prst="rect">
            <a:avLst/>
          </a:prstGeom>
        </p:spPr>
        <p:txBody>
          <a:bodyPr xmlns:a="http://schemas.openxmlformats.org/drawingml/2006/main" wrap="square" lIns="0" tIns="0" rIns="0" bIns="0" anchor="ctr">
            <a:normAutofit fontScale="99803"/>
          </a:bodyPr>
          <a:lstStyle xmlns:a="http://schemas.openxmlformats.org/drawingml/2006/main"/>
          <a:p xmlns:a="http://schemas.openxmlformats.org/drawingml/2006/main">
            <a:pPr algn="l">
              <a:defRPr sz="1200" b="1" i="0">
                <a:solidFill>
                  <a:srgbClr val="67BDE5"/>
                </a:solidFill>
                <a:latin typeface="Aptos"/>
                <a:ea typeface="Aptos"/>
                <a:cs typeface="Aptos"/>
              </a:defRPr>
            </a:pPr>
            <a:r>
              <a:t>10 scenarios</a:t>
            </a:r>
          </a:p>
        </p:txBody>
      </p:sp>
      <p:sp>
        <p:nvSpPr>
          <p:cNvPr id="57" name="">
            <a:extLst xmlns:a="http://schemas.openxmlformats.org/drawingml/2006/main">
              <a:ext uri="{FF2B5EF4-FFF2-40B4-BE49-F238E27FC236}">
                <a16:creationId xmlns:a16="http://schemas.microsoft.com/office/drawing/2014/main" id="{FF595C11-7877-444A-BF5D-632D427B3439}"/>
              </a:ext>
            </a:extLst>
          </p:cNvPr>
          <p:cNvSpPr>
            <a:spLocks xmlns:a="http://schemas.openxmlformats.org/drawingml/2006/main" noGrp="1"/>
          </p:cNvSpPr>
          <p:nvPr/>
        </p:nvSpPr>
        <p:spPr>
          <a:xfrm xmlns:a="http://schemas.openxmlformats.org/drawingml/2006/main">
            <a:off x="5429250" y="2543175"/>
            <a:ext cx="428625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Severity 3 · material consequence</a:t>
            </a:r>
          </a:p>
        </p:txBody>
      </p:sp>
      <p:sp>
        <p:nvSpPr>
          <p:cNvPr id="58" name="">
            <a:extLst xmlns:a="http://schemas.openxmlformats.org/drawingml/2006/main">
              <a:ext uri="{FF2B5EF4-FFF2-40B4-BE49-F238E27FC236}">
                <a16:creationId xmlns:a16="http://schemas.microsoft.com/office/drawing/2014/main" id="{D64B5826-9160-4139-87DE-AD79C0DE05EC}"/>
              </a:ext>
            </a:extLst>
          </p:cNvPr>
          <p:cNvSpPr>
            <a:spLocks xmlns:a="http://schemas.openxmlformats.org/drawingml/2006/main" noGrp="1"/>
          </p:cNvSpPr>
          <p:nvPr/>
        </p:nvSpPr>
        <p:spPr>
          <a:xfrm xmlns:a="http://schemas.openxmlformats.org/drawingml/2006/main">
            <a:off x="5429250" y="2762250"/>
            <a:ext cx="4286250" cy="171450"/>
          </a:xfrm>
          <a:prstGeom xmlns:a="http://schemas.openxmlformats.org/drawingml/2006/main" prst="roundRect">
            <a:avLst>
              <a:gd name="adj" fmla="val 44444"/>
            </a:avLst>
          </a:prstGeom>
          <a:solidFill xmlns:a="http://schemas.openxmlformats.org/drawingml/2006/main">
            <a:srgbClr val="F4F7FA"/>
          </a:solidFill>
          <a:ln xmlns:a="http://schemas.openxmlformats.org/drawingml/2006/main" w="0">
            <a:solidFill>
              <a:srgbClr val="F4F7FA"/>
            </a:solidFill>
            <a:prstDash val="solid"/>
          </a:ln>
        </p:spPr>
      </p:sp>
      <p:sp>
        <p:nvSpPr>
          <p:cNvPr id="59" name="">
            <a:extLst xmlns:a="http://schemas.openxmlformats.org/drawingml/2006/main">
              <a:ext uri="{FF2B5EF4-FFF2-40B4-BE49-F238E27FC236}">
                <a16:creationId xmlns:a16="http://schemas.microsoft.com/office/drawing/2014/main" id="{41E390EA-91EA-4ED2-8E44-A61D0ECC6D32}"/>
              </a:ext>
            </a:extLst>
          </p:cNvPr>
          <p:cNvSpPr>
            <a:spLocks xmlns:a="http://schemas.openxmlformats.org/drawingml/2006/main" noGrp="1"/>
          </p:cNvSpPr>
          <p:nvPr/>
        </p:nvSpPr>
        <p:spPr>
          <a:xfrm xmlns:a="http://schemas.openxmlformats.org/drawingml/2006/main">
            <a:off x="5429250" y="2762250"/>
            <a:ext cx="4286250" cy="171450"/>
          </a:xfrm>
          <a:prstGeom xmlns:a="http://schemas.openxmlformats.org/drawingml/2006/main" prst="roundRect">
            <a:avLst>
              <a:gd name="adj" fmla="val 44444"/>
            </a:avLst>
          </a:prstGeom>
          <a:solidFill xmlns:a="http://schemas.openxmlformats.org/drawingml/2006/main">
            <a:srgbClr val="D48A00"/>
          </a:solidFill>
          <a:ln xmlns:a="http://schemas.openxmlformats.org/drawingml/2006/main" w="0">
            <a:solidFill>
              <a:srgbClr val="D48A00"/>
            </a:solidFill>
            <a:prstDash val="solid"/>
          </a:ln>
        </p:spPr>
      </p:sp>
      <p:sp>
        <p:nvSpPr>
          <p:cNvPr id="60" name="">
            <a:extLst xmlns:a="http://schemas.openxmlformats.org/drawingml/2006/main">
              <a:ext uri="{FF2B5EF4-FFF2-40B4-BE49-F238E27FC236}">
                <a16:creationId xmlns:a16="http://schemas.microsoft.com/office/drawing/2014/main" id="{AA1EC1DA-D280-4DD0-84A2-F099015DDBFA}"/>
              </a:ext>
            </a:extLst>
          </p:cNvPr>
          <p:cNvSpPr>
            <a:spLocks xmlns:a="http://schemas.openxmlformats.org/drawingml/2006/main" noGrp="1"/>
          </p:cNvSpPr>
          <p:nvPr/>
        </p:nvSpPr>
        <p:spPr>
          <a:xfrm xmlns:a="http://schemas.openxmlformats.org/drawingml/2006/main">
            <a:off x="9829800" y="2714625"/>
            <a:ext cx="781050" cy="266700"/>
          </a:xfrm>
          <a:prstGeom xmlns:a="http://schemas.openxmlformats.org/drawingml/2006/main" prst="rect">
            <a:avLst/>
          </a:prstGeom>
        </p:spPr>
        <p:txBody>
          <a:bodyPr xmlns:a="http://schemas.openxmlformats.org/drawingml/2006/main" wrap="square" lIns="0" tIns="0" rIns="0" bIns="0" anchor="ctr">
            <a:normAutofit fontScale="99803"/>
          </a:bodyPr>
          <a:lstStyle xmlns:a="http://schemas.openxmlformats.org/drawingml/2006/main"/>
          <a:p xmlns:a="http://schemas.openxmlformats.org/drawingml/2006/main">
            <a:pPr algn="l">
              <a:defRPr sz="1200" b="1" i="0">
                <a:solidFill>
                  <a:srgbClr val="D48A00"/>
                </a:solidFill>
                <a:latin typeface="Aptos"/>
                <a:ea typeface="Aptos"/>
                <a:cs typeface="Aptos"/>
              </a:defRPr>
            </a:pPr>
            <a:r>
              <a:t>15 scenarios</a:t>
            </a:r>
          </a:p>
        </p:txBody>
      </p:sp>
      <p:sp>
        <p:nvSpPr>
          <p:cNvPr id="61" name="">
            <a:extLst xmlns:a="http://schemas.openxmlformats.org/drawingml/2006/main">
              <a:ext uri="{FF2B5EF4-FFF2-40B4-BE49-F238E27FC236}">
                <a16:creationId xmlns:a16="http://schemas.microsoft.com/office/drawing/2014/main" id="{588CC6F5-A443-497C-B09A-2641A563BEB5}"/>
              </a:ext>
            </a:extLst>
          </p:cNvPr>
          <p:cNvSpPr>
            <a:spLocks xmlns:a="http://schemas.openxmlformats.org/drawingml/2006/main" noGrp="1"/>
          </p:cNvSpPr>
          <p:nvPr/>
        </p:nvSpPr>
        <p:spPr>
          <a:xfrm xmlns:a="http://schemas.openxmlformats.org/drawingml/2006/main">
            <a:off x="5429250" y="3019425"/>
            <a:ext cx="428625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Severity 5 · mandatory review</a:t>
            </a:r>
          </a:p>
        </p:txBody>
      </p:sp>
      <p:sp>
        <p:nvSpPr>
          <p:cNvPr id="62" name="">
            <a:extLst xmlns:a="http://schemas.openxmlformats.org/drawingml/2006/main">
              <a:ext uri="{FF2B5EF4-FFF2-40B4-BE49-F238E27FC236}">
                <a16:creationId xmlns:a16="http://schemas.microsoft.com/office/drawing/2014/main" id="{5AA536E8-7D8E-47FC-BF49-400A6A3EE279}"/>
              </a:ext>
            </a:extLst>
          </p:cNvPr>
          <p:cNvSpPr>
            <a:spLocks xmlns:a="http://schemas.openxmlformats.org/drawingml/2006/main" noGrp="1"/>
          </p:cNvSpPr>
          <p:nvPr/>
        </p:nvSpPr>
        <p:spPr>
          <a:xfrm xmlns:a="http://schemas.openxmlformats.org/drawingml/2006/main">
            <a:off x="5429250" y="3238500"/>
            <a:ext cx="4286250" cy="171450"/>
          </a:xfrm>
          <a:prstGeom xmlns:a="http://schemas.openxmlformats.org/drawingml/2006/main" prst="roundRect">
            <a:avLst>
              <a:gd name="adj" fmla="val 44444"/>
            </a:avLst>
          </a:prstGeom>
          <a:solidFill xmlns:a="http://schemas.openxmlformats.org/drawingml/2006/main">
            <a:srgbClr val="F4F7FA"/>
          </a:solidFill>
          <a:ln xmlns:a="http://schemas.openxmlformats.org/drawingml/2006/main" w="0">
            <a:solidFill>
              <a:srgbClr val="F4F7FA"/>
            </a:solidFill>
            <a:prstDash val="solid"/>
          </a:ln>
        </p:spPr>
      </p:sp>
      <p:sp>
        <p:nvSpPr>
          <p:cNvPr id="63" name="">
            <a:extLst xmlns:a="http://schemas.openxmlformats.org/drawingml/2006/main">
              <a:ext uri="{FF2B5EF4-FFF2-40B4-BE49-F238E27FC236}">
                <a16:creationId xmlns:a16="http://schemas.microsoft.com/office/drawing/2014/main" id="{03A9B56F-B7BD-4195-B15E-E69FC79BE18E}"/>
              </a:ext>
            </a:extLst>
          </p:cNvPr>
          <p:cNvSpPr>
            <a:spLocks xmlns:a="http://schemas.openxmlformats.org/drawingml/2006/main" noGrp="1"/>
          </p:cNvSpPr>
          <p:nvPr/>
        </p:nvSpPr>
        <p:spPr>
          <a:xfrm xmlns:a="http://schemas.openxmlformats.org/drawingml/2006/main">
            <a:off x="5429250" y="3238500"/>
            <a:ext cx="2857500" cy="171450"/>
          </a:xfrm>
          <a:prstGeom xmlns:a="http://schemas.openxmlformats.org/drawingml/2006/main" prst="roundRect">
            <a:avLst>
              <a:gd name="adj" fmla="val 44444"/>
            </a:avLst>
          </a:prstGeom>
          <a:solidFill xmlns:a="http://schemas.openxmlformats.org/drawingml/2006/main">
            <a:srgbClr val="D94B4B"/>
          </a:solidFill>
          <a:ln xmlns:a="http://schemas.openxmlformats.org/drawingml/2006/main" w="0">
            <a:solidFill>
              <a:srgbClr val="D94B4B"/>
            </a:solidFill>
            <a:prstDash val="solid"/>
          </a:ln>
        </p:spPr>
      </p:sp>
      <p:sp>
        <p:nvSpPr>
          <p:cNvPr id="64" name="">
            <a:extLst xmlns:a="http://schemas.openxmlformats.org/drawingml/2006/main">
              <a:ext uri="{FF2B5EF4-FFF2-40B4-BE49-F238E27FC236}">
                <a16:creationId xmlns:a16="http://schemas.microsoft.com/office/drawing/2014/main" id="{7F0366A8-FA4B-4EB6-89A5-FEF1AF203255}"/>
              </a:ext>
            </a:extLst>
          </p:cNvPr>
          <p:cNvSpPr>
            <a:spLocks xmlns:a="http://schemas.openxmlformats.org/drawingml/2006/main" noGrp="1"/>
          </p:cNvSpPr>
          <p:nvPr/>
        </p:nvSpPr>
        <p:spPr>
          <a:xfrm xmlns:a="http://schemas.openxmlformats.org/drawingml/2006/main">
            <a:off x="9829800" y="3190875"/>
            <a:ext cx="781050" cy="266700"/>
          </a:xfrm>
          <a:prstGeom xmlns:a="http://schemas.openxmlformats.org/drawingml/2006/main" prst="rect">
            <a:avLst/>
          </a:prstGeom>
        </p:spPr>
        <p:txBody>
          <a:bodyPr xmlns:a="http://schemas.openxmlformats.org/drawingml/2006/main" wrap="square" lIns="0" tIns="0" rIns="0" bIns="0" anchor="ctr">
            <a:normAutofit fontScale="99803"/>
          </a:bodyPr>
          <a:lstStyle xmlns:a="http://schemas.openxmlformats.org/drawingml/2006/main"/>
          <a:p xmlns:a="http://schemas.openxmlformats.org/drawingml/2006/main">
            <a:pPr algn="l">
              <a:defRPr sz="1200" b="1" i="0">
                <a:solidFill>
                  <a:srgbClr val="D94B4B"/>
                </a:solidFill>
                <a:latin typeface="Aptos"/>
                <a:ea typeface="Aptos"/>
                <a:cs typeface="Aptos"/>
              </a:defRPr>
            </a:pPr>
            <a:r>
              <a:t>10 scenarios</a:t>
            </a:r>
          </a:p>
        </p:txBody>
      </p:sp>
      <p:sp>
        <p:nvSpPr>
          <p:cNvPr id="65" name="">
            <a:extLst xmlns:a="http://schemas.openxmlformats.org/drawingml/2006/main">
              <a:ext uri="{FF2B5EF4-FFF2-40B4-BE49-F238E27FC236}">
                <a16:creationId xmlns:a16="http://schemas.microsoft.com/office/drawing/2014/main" id="{9DFBF571-C6D4-4B04-B44C-38DD0DB71E7B}"/>
              </a:ext>
            </a:extLst>
          </p:cNvPr>
          <p:cNvSpPr>
            <a:spLocks xmlns:a="http://schemas.openxmlformats.org/drawingml/2006/main" noGrp="1"/>
          </p:cNvSpPr>
          <p:nvPr/>
        </p:nvSpPr>
        <p:spPr>
          <a:xfrm xmlns:a="http://schemas.openxmlformats.org/drawingml/2006/main">
            <a:off x="5429250" y="3619500"/>
            <a:ext cx="56197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Severity weights prioritise review; they do not assert that a severity-5 error is exactly 5× worse.</a:t>
            </a:r>
          </a:p>
        </p:txBody>
      </p:sp>
      <p:sp>
        <p:nvSpPr>
          <p:cNvPr id="66" name="">
            <a:extLst xmlns:a="http://schemas.openxmlformats.org/drawingml/2006/main">
              <a:ext uri="{FF2B5EF4-FFF2-40B4-BE49-F238E27FC236}">
                <a16:creationId xmlns:a16="http://schemas.microsoft.com/office/drawing/2014/main" id="{E749E10A-E0B9-4D81-AF12-A6AE032E1B01}"/>
              </a:ext>
            </a:extLst>
          </p:cNvPr>
          <p:cNvSpPr>
            <a:spLocks xmlns:a="http://schemas.openxmlformats.org/drawingml/2006/main" noGrp="1"/>
          </p:cNvSpPr>
          <p:nvPr/>
        </p:nvSpPr>
        <p:spPr>
          <a:xfrm xmlns:a="http://schemas.openxmlformats.org/drawingml/2006/main">
            <a:off x="5286375" y="4524375"/>
            <a:ext cx="10668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7DFE9"/>
            </a:solidFill>
            <a:prstDash val="solid"/>
          </a:ln>
        </p:spPr>
      </p:sp>
      <p:sp>
        <p:nvSpPr>
          <p:cNvPr id="67" name="">
            <a:extLst xmlns:a="http://schemas.openxmlformats.org/drawingml/2006/main">
              <a:ext uri="{FF2B5EF4-FFF2-40B4-BE49-F238E27FC236}">
                <a16:creationId xmlns:a16="http://schemas.microsoft.com/office/drawing/2014/main" id="{D68B1296-8932-4386-B9A2-0D9D774809D3}"/>
              </a:ext>
            </a:extLst>
          </p:cNvPr>
          <p:cNvSpPr>
            <a:spLocks xmlns:a="http://schemas.openxmlformats.org/drawingml/2006/main" noGrp="1"/>
          </p:cNvSpPr>
          <p:nvPr/>
        </p:nvSpPr>
        <p:spPr>
          <a:xfrm xmlns:a="http://schemas.openxmlformats.org/drawingml/2006/main">
            <a:off x="5400675" y="4638675"/>
            <a:ext cx="2095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E74B5"/>
                </a:solidFill>
                <a:latin typeface="Aptos"/>
                <a:ea typeface="Aptos"/>
                <a:cs typeface="Aptos"/>
              </a:defRPr>
            </a:pPr>
            <a:r>
              <a:t>1</a:t>
            </a:r>
          </a:p>
        </p:txBody>
      </p:sp>
      <p:sp>
        <p:nvSpPr>
          <p:cNvPr id="68" name="">
            <a:extLst xmlns:a="http://schemas.openxmlformats.org/drawingml/2006/main">
              <a:ext uri="{FF2B5EF4-FFF2-40B4-BE49-F238E27FC236}">
                <a16:creationId xmlns:a16="http://schemas.microsoft.com/office/drawing/2014/main" id="{0361828E-BEF8-46F4-9260-890ADC1D99E9}"/>
              </a:ext>
            </a:extLst>
          </p:cNvPr>
          <p:cNvSpPr>
            <a:spLocks xmlns:a="http://schemas.openxmlformats.org/drawingml/2006/main" noGrp="1"/>
          </p:cNvSpPr>
          <p:nvPr/>
        </p:nvSpPr>
        <p:spPr>
          <a:xfrm xmlns:a="http://schemas.openxmlformats.org/drawingml/2006/main">
            <a:off x="5629275" y="4610100"/>
            <a:ext cx="619125"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B2545"/>
                </a:solidFill>
                <a:latin typeface="Aptos"/>
                <a:ea typeface="Aptos"/>
                <a:cs typeface="Aptos"/>
              </a:defRPr>
            </a:pPr>
            <a:r>
              <a:t>freeze</a:t>
            </a:r>
          </a:p>
        </p:txBody>
      </p:sp>
      <p:sp>
        <p:nvSpPr>
          <p:cNvPr id="69" name="">
            <a:extLst xmlns:a="http://schemas.openxmlformats.org/drawingml/2006/main">
              <a:ext uri="{FF2B5EF4-FFF2-40B4-BE49-F238E27FC236}">
                <a16:creationId xmlns:a16="http://schemas.microsoft.com/office/drawing/2014/main" id="{67871755-48FD-4E41-8802-042D1F3FE591}"/>
              </a:ext>
            </a:extLst>
          </p:cNvPr>
          <p:cNvSpPr>
            <a:spLocks xmlns:a="http://schemas.openxmlformats.org/drawingml/2006/main" noGrp="1"/>
          </p:cNvSpPr>
          <p:nvPr/>
        </p:nvSpPr>
        <p:spPr>
          <a:xfrm xmlns:a="http://schemas.openxmlformats.org/drawingml/2006/main">
            <a:off x="5400675" y="4953000"/>
            <a:ext cx="8382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5B677A"/>
                </a:solidFill>
                <a:latin typeface="Aptos"/>
                <a:ea typeface="Aptos"/>
                <a:cs typeface="Aptos"/>
              </a:defRPr>
            </a:pPr>
            <a:r>
              <a:t>scenario + rubric</a:t>
            </a:r>
          </a:p>
        </p:txBody>
      </p:sp>
      <p:sp>
        <p:nvSpPr>
          <p:cNvPr id="70" name="">
            <a:extLst xmlns:a="http://schemas.openxmlformats.org/drawingml/2006/main">
              <a:ext uri="{FF2B5EF4-FFF2-40B4-BE49-F238E27FC236}">
                <a16:creationId xmlns:a16="http://schemas.microsoft.com/office/drawing/2014/main" id="{941DF86D-ED0F-4B26-8295-3431BCE89C9A}"/>
              </a:ext>
            </a:extLst>
          </p:cNvPr>
          <p:cNvSpPr>
            <a:spLocks xmlns:a="http://schemas.openxmlformats.org/drawingml/2006/main" noGrp="1"/>
          </p:cNvSpPr>
          <p:nvPr/>
        </p:nvSpPr>
        <p:spPr>
          <a:xfrm xmlns:a="http://schemas.openxmlformats.org/drawingml/2006/main">
            <a:off x="6372225" y="4857750"/>
            <a:ext cx="152400" cy="171450"/>
          </a:xfrm>
          <a:prstGeom xmlns:a="http://schemas.openxmlformats.org/drawingml/2006/main" prst="rightArrow">
            <a:avLst/>
          </a:prstGeom>
          <a:solidFill xmlns:a="http://schemas.openxmlformats.org/drawingml/2006/main">
            <a:srgbClr val="D7DFE9"/>
          </a:solidFill>
          <a:ln xmlns:a="http://schemas.openxmlformats.org/drawingml/2006/main" w="0">
            <a:solidFill>
              <a:srgbClr val="D7DFE9"/>
            </a:solidFill>
            <a:prstDash val="solid"/>
          </a:ln>
        </p:spPr>
      </p:sp>
      <p:sp>
        <p:nvSpPr>
          <p:cNvPr id="71" name="">
            <a:extLst xmlns:a="http://schemas.openxmlformats.org/drawingml/2006/main">
              <a:ext uri="{FF2B5EF4-FFF2-40B4-BE49-F238E27FC236}">
                <a16:creationId xmlns:a16="http://schemas.microsoft.com/office/drawing/2014/main" id="{B2F7DFAF-4D70-4195-B200-F630FAA43468}"/>
              </a:ext>
            </a:extLst>
          </p:cNvPr>
          <p:cNvSpPr>
            <a:spLocks xmlns:a="http://schemas.openxmlformats.org/drawingml/2006/main" noGrp="1"/>
          </p:cNvSpPr>
          <p:nvPr/>
        </p:nvSpPr>
        <p:spPr>
          <a:xfrm xmlns:a="http://schemas.openxmlformats.org/drawingml/2006/main">
            <a:off x="6543675" y="4524375"/>
            <a:ext cx="10668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7DFE9"/>
            </a:solidFill>
            <a:prstDash val="solid"/>
          </a:ln>
        </p:spPr>
      </p:sp>
      <p:sp>
        <p:nvSpPr>
          <p:cNvPr id="72" name="">
            <a:extLst xmlns:a="http://schemas.openxmlformats.org/drawingml/2006/main">
              <a:ext uri="{FF2B5EF4-FFF2-40B4-BE49-F238E27FC236}">
                <a16:creationId xmlns:a16="http://schemas.microsoft.com/office/drawing/2014/main" id="{C57257B8-3BCC-4807-95B0-5C0352295EF6}"/>
              </a:ext>
            </a:extLst>
          </p:cNvPr>
          <p:cNvSpPr>
            <a:spLocks xmlns:a="http://schemas.openxmlformats.org/drawingml/2006/main" noGrp="1"/>
          </p:cNvSpPr>
          <p:nvPr/>
        </p:nvSpPr>
        <p:spPr>
          <a:xfrm xmlns:a="http://schemas.openxmlformats.org/drawingml/2006/main">
            <a:off x="6657975" y="4638675"/>
            <a:ext cx="2095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E74B5"/>
                </a:solidFill>
                <a:latin typeface="Aptos"/>
                <a:ea typeface="Aptos"/>
                <a:cs typeface="Aptos"/>
              </a:defRPr>
            </a:pPr>
            <a:r>
              <a:t>2</a:t>
            </a:r>
          </a:p>
        </p:txBody>
      </p:sp>
      <p:sp>
        <p:nvSpPr>
          <p:cNvPr id="73" name="">
            <a:extLst xmlns:a="http://schemas.openxmlformats.org/drawingml/2006/main">
              <a:ext uri="{FF2B5EF4-FFF2-40B4-BE49-F238E27FC236}">
                <a16:creationId xmlns:a16="http://schemas.microsoft.com/office/drawing/2014/main" id="{740177B5-C71D-41B9-B81C-4D7447ED993D}"/>
              </a:ext>
            </a:extLst>
          </p:cNvPr>
          <p:cNvSpPr>
            <a:spLocks xmlns:a="http://schemas.openxmlformats.org/drawingml/2006/main" noGrp="1"/>
          </p:cNvSpPr>
          <p:nvPr/>
        </p:nvSpPr>
        <p:spPr>
          <a:xfrm xmlns:a="http://schemas.openxmlformats.org/drawingml/2006/main">
            <a:off x="6886575" y="4610100"/>
            <a:ext cx="619125"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B2545"/>
                </a:solidFill>
                <a:latin typeface="Aptos"/>
                <a:ea typeface="Aptos"/>
                <a:cs typeface="Aptos"/>
              </a:defRPr>
            </a:pPr>
            <a:r>
              <a:t>execute</a:t>
            </a:r>
          </a:p>
        </p:txBody>
      </p:sp>
      <p:sp>
        <p:nvSpPr>
          <p:cNvPr id="74" name="">
            <a:extLst xmlns:a="http://schemas.openxmlformats.org/drawingml/2006/main">
              <a:ext uri="{FF2B5EF4-FFF2-40B4-BE49-F238E27FC236}">
                <a16:creationId xmlns:a16="http://schemas.microsoft.com/office/drawing/2014/main" id="{16BF1A77-6ACC-4844-BDA0-D446A0D228A2}"/>
              </a:ext>
            </a:extLst>
          </p:cNvPr>
          <p:cNvSpPr>
            <a:spLocks xmlns:a="http://schemas.openxmlformats.org/drawingml/2006/main" noGrp="1"/>
          </p:cNvSpPr>
          <p:nvPr/>
        </p:nvSpPr>
        <p:spPr>
          <a:xfrm xmlns:a="http://schemas.openxmlformats.org/drawingml/2006/main">
            <a:off x="6657975" y="4953000"/>
            <a:ext cx="8382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5B677A"/>
                </a:solidFill>
                <a:latin typeface="Aptos"/>
                <a:ea typeface="Aptos"/>
                <a:cs typeface="Aptos"/>
              </a:defRPr>
            </a:pPr>
            <a:r>
              <a:t>revision + seed 42</a:t>
            </a:r>
          </a:p>
        </p:txBody>
      </p:sp>
      <p:sp>
        <p:nvSpPr>
          <p:cNvPr id="75" name="">
            <a:extLst xmlns:a="http://schemas.openxmlformats.org/drawingml/2006/main">
              <a:ext uri="{FF2B5EF4-FFF2-40B4-BE49-F238E27FC236}">
                <a16:creationId xmlns:a16="http://schemas.microsoft.com/office/drawing/2014/main" id="{4EEF9FBE-2D9A-45D6-911C-08B24FD44844}"/>
              </a:ext>
            </a:extLst>
          </p:cNvPr>
          <p:cNvSpPr>
            <a:spLocks xmlns:a="http://schemas.openxmlformats.org/drawingml/2006/main" noGrp="1"/>
          </p:cNvSpPr>
          <p:nvPr/>
        </p:nvSpPr>
        <p:spPr>
          <a:xfrm xmlns:a="http://schemas.openxmlformats.org/drawingml/2006/main">
            <a:off x="7629525" y="4857750"/>
            <a:ext cx="152400" cy="171450"/>
          </a:xfrm>
          <a:prstGeom xmlns:a="http://schemas.openxmlformats.org/drawingml/2006/main" prst="rightArrow">
            <a:avLst/>
          </a:prstGeom>
          <a:solidFill xmlns:a="http://schemas.openxmlformats.org/drawingml/2006/main">
            <a:srgbClr val="D7DFE9"/>
          </a:solidFill>
          <a:ln xmlns:a="http://schemas.openxmlformats.org/drawingml/2006/main" w="0">
            <a:solidFill>
              <a:srgbClr val="D7DFE9"/>
            </a:solidFill>
            <a:prstDash val="solid"/>
          </a:ln>
        </p:spPr>
      </p:sp>
      <p:sp>
        <p:nvSpPr>
          <p:cNvPr id="76" name="">
            <a:extLst xmlns:a="http://schemas.openxmlformats.org/drawingml/2006/main">
              <a:ext uri="{FF2B5EF4-FFF2-40B4-BE49-F238E27FC236}">
                <a16:creationId xmlns:a16="http://schemas.microsoft.com/office/drawing/2014/main" id="{1FCA497D-4DD7-48AF-A20D-B3359113CE4E}"/>
              </a:ext>
            </a:extLst>
          </p:cNvPr>
          <p:cNvSpPr>
            <a:spLocks xmlns:a="http://schemas.openxmlformats.org/drawingml/2006/main" noGrp="1"/>
          </p:cNvSpPr>
          <p:nvPr/>
        </p:nvSpPr>
        <p:spPr>
          <a:xfrm xmlns:a="http://schemas.openxmlformats.org/drawingml/2006/main">
            <a:off x="7800975" y="4524375"/>
            <a:ext cx="10668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7DFE9"/>
            </a:solidFill>
            <a:prstDash val="solid"/>
          </a:ln>
        </p:spPr>
      </p:sp>
      <p:sp>
        <p:nvSpPr>
          <p:cNvPr id="77" name="">
            <a:extLst xmlns:a="http://schemas.openxmlformats.org/drawingml/2006/main">
              <a:ext uri="{FF2B5EF4-FFF2-40B4-BE49-F238E27FC236}">
                <a16:creationId xmlns:a16="http://schemas.microsoft.com/office/drawing/2014/main" id="{6FFFE58D-B165-4818-B779-3DF1AEDE0C52}"/>
              </a:ext>
            </a:extLst>
          </p:cNvPr>
          <p:cNvSpPr>
            <a:spLocks xmlns:a="http://schemas.openxmlformats.org/drawingml/2006/main" noGrp="1"/>
          </p:cNvSpPr>
          <p:nvPr/>
        </p:nvSpPr>
        <p:spPr>
          <a:xfrm xmlns:a="http://schemas.openxmlformats.org/drawingml/2006/main">
            <a:off x="7915275" y="4638675"/>
            <a:ext cx="2095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E74B5"/>
                </a:solidFill>
                <a:latin typeface="Aptos"/>
                <a:ea typeface="Aptos"/>
                <a:cs typeface="Aptos"/>
              </a:defRPr>
            </a:pPr>
            <a:r>
              <a:t>3</a:t>
            </a:r>
          </a:p>
        </p:txBody>
      </p:sp>
      <p:sp>
        <p:nvSpPr>
          <p:cNvPr id="78" name="">
            <a:extLst xmlns:a="http://schemas.openxmlformats.org/drawingml/2006/main">
              <a:ext uri="{FF2B5EF4-FFF2-40B4-BE49-F238E27FC236}">
                <a16:creationId xmlns:a16="http://schemas.microsoft.com/office/drawing/2014/main" id="{EF5583C3-F866-48AF-91CF-A49179A2D47B}"/>
              </a:ext>
            </a:extLst>
          </p:cNvPr>
          <p:cNvSpPr>
            <a:spLocks xmlns:a="http://schemas.openxmlformats.org/drawingml/2006/main" noGrp="1"/>
          </p:cNvSpPr>
          <p:nvPr/>
        </p:nvSpPr>
        <p:spPr>
          <a:xfrm xmlns:a="http://schemas.openxmlformats.org/drawingml/2006/main">
            <a:off x="8143875" y="4610100"/>
            <a:ext cx="619125"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B2545"/>
                </a:solidFill>
                <a:latin typeface="Aptos"/>
                <a:ea typeface="Aptos"/>
                <a:cs typeface="Aptos"/>
              </a:defRPr>
            </a:pPr>
            <a:r>
              <a:t>judge</a:t>
            </a:r>
          </a:p>
        </p:txBody>
      </p:sp>
      <p:sp>
        <p:nvSpPr>
          <p:cNvPr id="79" name="">
            <a:extLst xmlns:a="http://schemas.openxmlformats.org/drawingml/2006/main">
              <a:ext uri="{FF2B5EF4-FFF2-40B4-BE49-F238E27FC236}">
                <a16:creationId xmlns:a16="http://schemas.microsoft.com/office/drawing/2014/main" id="{512995A0-C984-47CB-8AFB-7AE41A43EB71}"/>
              </a:ext>
            </a:extLst>
          </p:cNvPr>
          <p:cNvSpPr>
            <a:spLocks xmlns:a="http://schemas.openxmlformats.org/drawingml/2006/main" noGrp="1"/>
          </p:cNvSpPr>
          <p:nvPr/>
        </p:nvSpPr>
        <p:spPr>
          <a:xfrm xmlns:a="http://schemas.openxmlformats.org/drawingml/2006/main">
            <a:off x="7915275" y="4953000"/>
            <a:ext cx="8382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5B677A"/>
                </a:solidFill>
                <a:latin typeface="Aptos"/>
                <a:ea typeface="Aptos"/>
                <a:cs typeface="Aptos"/>
              </a:defRPr>
            </a:pPr>
            <a:r>
              <a:t>task · grounding · failure</a:t>
            </a:r>
          </a:p>
        </p:txBody>
      </p:sp>
      <p:sp>
        <p:nvSpPr>
          <p:cNvPr id="80" name="">
            <a:extLst xmlns:a="http://schemas.openxmlformats.org/drawingml/2006/main">
              <a:ext uri="{FF2B5EF4-FFF2-40B4-BE49-F238E27FC236}">
                <a16:creationId xmlns:a16="http://schemas.microsoft.com/office/drawing/2014/main" id="{1B2D26CA-76AA-49D2-B84F-30CA12CD44FF}"/>
              </a:ext>
            </a:extLst>
          </p:cNvPr>
          <p:cNvSpPr>
            <a:spLocks xmlns:a="http://schemas.openxmlformats.org/drawingml/2006/main" noGrp="1"/>
          </p:cNvSpPr>
          <p:nvPr/>
        </p:nvSpPr>
        <p:spPr>
          <a:xfrm xmlns:a="http://schemas.openxmlformats.org/drawingml/2006/main">
            <a:off x="8886825" y="4857750"/>
            <a:ext cx="152400" cy="171450"/>
          </a:xfrm>
          <a:prstGeom xmlns:a="http://schemas.openxmlformats.org/drawingml/2006/main" prst="rightArrow">
            <a:avLst/>
          </a:prstGeom>
          <a:solidFill xmlns:a="http://schemas.openxmlformats.org/drawingml/2006/main">
            <a:srgbClr val="D7DFE9"/>
          </a:solidFill>
          <a:ln xmlns:a="http://schemas.openxmlformats.org/drawingml/2006/main" w="0">
            <a:solidFill>
              <a:srgbClr val="D7DFE9"/>
            </a:solidFill>
            <a:prstDash val="solid"/>
          </a:ln>
        </p:spPr>
      </p:sp>
      <p:sp>
        <p:nvSpPr>
          <p:cNvPr id="81" name="">
            <a:extLst xmlns:a="http://schemas.openxmlformats.org/drawingml/2006/main">
              <a:ext uri="{FF2B5EF4-FFF2-40B4-BE49-F238E27FC236}">
                <a16:creationId xmlns:a16="http://schemas.microsoft.com/office/drawing/2014/main" id="{449621AB-9522-4F9E-9BD3-9EF8BFA7D71A}"/>
              </a:ext>
            </a:extLst>
          </p:cNvPr>
          <p:cNvSpPr>
            <a:spLocks xmlns:a="http://schemas.openxmlformats.org/drawingml/2006/main" noGrp="1"/>
          </p:cNvSpPr>
          <p:nvPr/>
        </p:nvSpPr>
        <p:spPr>
          <a:xfrm xmlns:a="http://schemas.openxmlformats.org/drawingml/2006/main">
            <a:off x="9058275" y="4524375"/>
            <a:ext cx="10668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7DFE9"/>
            </a:solidFill>
            <a:prstDash val="solid"/>
          </a:ln>
        </p:spPr>
      </p:sp>
      <p:sp>
        <p:nvSpPr>
          <p:cNvPr id="82" name="">
            <a:extLst xmlns:a="http://schemas.openxmlformats.org/drawingml/2006/main">
              <a:ext uri="{FF2B5EF4-FFF2-40B4-BE49-F238E27FC236}">
                <a16:creationId xmlns:a16="http://schemas.microsoft.com/office/drawing/2014/main" id="{891F3555-6CEC-4419-8596-E79BD7F7378E}"/>
              </a:ext>
            </a:extLst>
          </p:cNvPr>
          <p:cNvSpPr>
            <a:spLocks xmlns:a="http://schemas.openxmlformats.org/drawingml/2006/main" noGrp="1"/>
          </p:cNvSpPr>
          <p:nvPr/>
        </p:nvSpPr>
        <p:spPr>
          <a:xfrm xmlns:a="http://schemas.openxmlformats.org/drawingml/2006/main">
            <a:off x="9172575" y="4638675"/>
            <a:ext cx="2095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E74B5"/>
                </a:solidFill>
                <a:latin typeface="Aptos"/>
                <a:ea typeface="Aptos"/>
                <a:cs typeface="Aptos"/>
              </a:defRPr>
            </a:pPr>
            <a:r>
              <a:t>4</a:t>
            </a:r>
          </a:p>
        </p:txBody>
      </p:sp>
      <p:sp>
        <p:nvSpPr>
          <p:cNvPr id="83" name="">
            <a:extLst xmlns:a="http://schemas.openxmlformats.org/drawingml/2006/main">
              <a:ext uri="{FF2B5EF4-FFF2-40B4-BE49-F238E27FC236}">
                <a16:creationId xmlns:a16="http://schemas.microsoft.com/office/drawing/2014/main" id="{0CC500B5-A366-4D9B-9DC2-5AD3CCBEDE20}"/>
              </a:ext>
            </a:extLst>
          </p:cNvPr>
          <p:cNvSpPr>
            <a:spLocks xmlns:a="http://schemas.openxmlformats.org/drawingml/2006/main" noGrp="1"/>
          </p:cNvSpPr>
          <p:nvPr/>
        </p:nvSpPr>
        <p:spPr>
          <a:xfrm xmlns:a="http://schemas.openxmlformats.org/drawingml/2006/main">
            <a:off x="9401175" y="4610100"/>
            <a:ext cx="619125" cy="228600"/>
          </a:xfrm>
          <a:prstGeom xmlns:a="http://schemas.openxmlformats.org/drawingml/2006/main" prst="rect">
            <a:avLst/>
          </a:prstGeom>
        </p:spPr>
        <p:txBody>
          <a:bodyPr xmlns:a="http://schemas.openxmlformats.org/drawingml/2006/main" wrap="square" lIns="0" tIns="0" rIns="0" bIns="0" anchor="t">
            <a:normAutofit fontScale="99934"/>
          </a:bodyPr>
          <a:lstStyle xmlns:a="http://schemas.openxmlformats.org/drawingml/2006/main"/>
          <a:p xmlns:a="http://schemas.openxmlformats.org/drawingml/2006/main">
            <a:pPr algn="l">
              <a:defRPr sz="1200" b="1" i="0">
                <a:solidFill>
                  <a:srgbClr val="0B2545"/>
                </a:solidFill>
                <a:latin typeface="Aptos"/>
                <a:ea typeface="Aptos"/>
                <a:cs typeface="Aptos"/>
              </a:defRPr>
            </a:pPr>
            <a:r>
              <a:t>aggregate</a:t>
            </a:r>
          </a:p>
        </p:txBody>
      </p:sp>
      <p:sp>
        <p:nvSpPr>
          <p:cNvPr id="84" name="">
            <a:extLst xmlns:a="http://schemas.openxmlformats.org/drawingml/2006/main">
              <a:ext uri="{FF2B5EF4-FFF2-40B4-BE49-F238E27FC236}">
                <a16:creationId xmlns:a16="http://schemas.microsoft.com/office/drawing/2014/main" id="{03EDBB76-04F0-4CFD-AFEE-FBC656A61983}"/>
              </a:ext>
            </a:extLst>
          </p:cNvPr>
          <p:cNvSpPr>
            <a:spLocks xmlns:a="http://schemas.openxmlformats.org/drawingml/2006/main" noGrp="1"/>
          </p:cNvSpPr>
          <p:nvPr/>
        </p:nvSpPr>
        <p:spPr>
          <a:xfrm xmlns:a="http://schemas.openxmlformats.org/drawingml/2006/main">
            <a:off x="9172575" y="4953000"/>
            <a:ext cx="8382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5B677A"/>
                </a:solidFill>
                <a:latin typeface="Aptos"/>
                <a:ea typeface="Aptos"/>
                <a:cs typeface="Aptos"/>
              </a:defRPr>
            </a:pPr>
            <a:r>
              <a:t>severity-aware</a:t>
            </a:r>
          </a:p>
        </p:txBody>
      </p:sp>
      <p:sp>
        <p:nvSpPr>
          <p:cNvPr id="85" name="">
            <a:extLst xmlns:a="http://schemas.openxmlformats.org/drawingml/2006/main">
              <a:ext uri="{FF2B5EF4-FFF2-40B4-BE49-F238E27FC236}">
                <a16:creationId xmlns:a16="http://schemas.microsoft.com/office/drawing/2014/main" id="{C06BD165-A83F-4491-9FC1-1AF43B6411E2}"/>
              </a:ext>
            </a:extLst>
          </p:cNvPr>
          <p:cNvSpPr>
            <a:spLocks xmlns:a="http://schemas.openxmlformats.org/drawingml/2006/main" noGrp="1"/>
          </p:cNvSpPr>
          <p:nvPr/>
        </p:nvSpPr>
        <p:spPr>
          <a:xfrm xmlns:a="http://schemas.openxmlformats.org/drawingml/2006/main">
            <a:off x="10144125" y="4857750"/>
            <a:ext cx="152400" cy="171450"/>
          </a:xfrm>
          <a:prstGeom xmlns:a="http://schemas.openxmlformats.org/drawingml/2006/main" prst="rightArrow">
            <a:avLst/>
          </a:prstGeom>
          <a:solidFill xmlns:a="http://schemas.openxmlformats.org/drawingml/2006/main">
            <a:srgbClr val="D7DFE9"/>
          </a:solidFill>
          <a:ln xmlns:a="http://schemas.openxmlformats.org/drawingml/2006/main" w="0">
            <a:solidFill>
              <a:srgbClr val="D7DFE9"/>
            </a:solidFill>
            <a:prstDash val="solid"/>
          </a:ln>
        </p:spPr>
      </p:sp>
      <p:sp>
        <p:nvSpPr>
          <p:cNvPr id="86" name="">
            <a:extLst xmlns:a="http://schemas.openxmlformats.org/drawingml/2006/main">
              <a:ext uri="{FF2B5EF4-FFF2-40B4-BE49-F238E27FC236}">
                <a16:creationId xmlns:a16="http://schemas.microsoft.com/office/drawing/2014/main" id="{3C07C32C-4280-493D-8CB5-96F84513884B}"/>
              </a:ext>
            </a:extLst>
          </p:cNvPr>
          <p:cNvSpPr>
            <a:spLocks xmlns:a="http://schemas.openxmlformats.org/drawingml/2006/main" noGrp="1"/>
          </p:cNvSpPr>
          <p:nvPr/>
        </p:nvSpPr>
        <p:spPr>
          <a:xfrm xmlns:a="http://schemas.openxmlformats.org/drawingml/2006/main">
            <a:off x="10315575" y="4524375"/>
            <a:ext cx="1066800" cy="876300"/>
          </a:xfrm>
          <a:prstGeom xmlns:a="http://schemas.openxmlformats.org/drawingml/2006/main" prst="roundRect">
            <a:avLst>
              <a:gd name="adj" fmla="val 8696"/>
            </a:avLst>
          </a:prstGeom>
          <a:solidFill xmlns:a="http://schemas.openxmlformats.org/drawingml/2006/main">
            <a:srgbClr val="FFF5DC"/>
          </a:solidFill>
          <a:ln xmlns:a="http://schemas.openxmlformats.org/drawingml/2006/main" w="9525">
            <a:solidFill>
              <a:srgbClr val="D48A00"/>
            </a:solidFill>
            <a:prstDash val="solid"/>
          </a:ln>
        </p:spPr>
      </p:sp>
      <p:sp>
        <p:nvSpPr>
          <p:cNvPr id="87" name="">
            <a:extLst xmlns:a="http://schemas.openxmlformats.org/drawingml/2006/main">
              <a:ext uri="{FF2B5EF4-FFF2-40B4-BE49-F238E27FC236}">
                <a16:creationId xmlns:a16="http://schemas.microsoft.com/office/drawing/2014/main" id="{44E434DB-4EBC-44DF-A300-F7A10A30211D}"/>
              </a:ext>
            </a:extLst>
          </p:cNvPr>
          <p:cNvSpPr>
            <a:spLocks xmlns:a="http://schemas.openxmlformats.org/drawingml/2006/main" noGrp="1"/>
          </p:cNvSpPr>
          <p:nvPr/>
        </p:nvSpPr>
        <p:spPr>
          <a:xfrm xmlns:a="http://schemas.openxmlformats.org/drawingml/2006/main">
            <a:off x="10429875" y="4638675"/>
            <a:ext cx="2095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D48A00"/>
                </a:solidFill>
                <a:latin typeface="Aptos"/>
                <a:ea typeface="Aptos"/>
                <a:cs typeface="Aptos"/>
              </a:defRPr>
            </a:pPr>
            <a:r>
              <a:t>5</a:t>
            </a:r>
          </a:p>
        </p:txBody>
      </p:sp>
      <p:sp>
        <p:nvSpPr>
          <p:cNvPr id="88" name="">
            <a:extLst xmlns:a="http://schemas.openxmlformats.org/drawingml/2006/main">
              <a:ext uri="{FF2B5EF4-FFF2-40B4-BE49-F238E27FC236}">
                <a16:creationId xmlns:a16="http://schemas.microsoft.com/office/drawing/2014/main" id="{A6E73B3C-16B1-4CEA-9901-65CEC276AD6E}"/>
              </a:ext>
            </a:extLst>
          </p:cNvPr>
          <p:cNvSpPr>
            <a:spLocks xmlns:a="http://schemas.openxmlformats.org/drawingml/2006/main" noGrp="1"/>
          </p:cNvSpPr>
          <p:nvPr/>
        </p:nvSpPr>
        <p:spPr>
          <a:xfrm xmlns:a="http://schemas.openxmlformats.org/drawingml/2006/main">
            <a:off x="10658475" y="4610100"/>
            <a:ext cx="619125"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B2545"/>
                </a:solidFill>
                <a:latin typeface="Aptos"/>
                <a:ea typeface="Aptos"/>
                <a:cs typeface="Aptos"/>
              </a:defRPr>
            </a:pPr>
            <a:r>
              <a:t>gate</a:t>
            </a:r>
          </a:p>
        </p:txBody>
      </p:sp>
      <p:sp>
        <p:nvSpPr>
          <p:cNvPr id="89" name="">
            <a:extLst xmlns:a="http://schemas.openxmlformats.org/drawingml/2006/main">
              <a:ext uri="{FF2B5EF4-FFF2-40B4-BE49-F238E27FC236}">
                <a16:creationId xmlns:a16="http://schemas.microsoft.com/office/drawing/2014/main" id="{954C7B71-0DDD-4CD4-9F1A-06A5D72C1A3B}"/>
              </a:ext>
            </a:extLst>
          </p:cNvPr>
          <p:cNvSpPr>
            <a:spLocks xmlns:a="http://schemas.openxmlformats.org/drawingml/2006/main" noGrp="1"/>
          </p:cNvSpPr>
          <p:nvPr/>
        </p:nvSpPr>
        <p:spPr>
          <a:xfrm xmlns:a="http://schemas.openxmlformats.org/drawingml/2006/main">
            <a:off x="10429875" y="4953000"/>
            <a:ext cx="8382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5B677A"/>
                </a:solidFill>
                <a:latin typeface="Aptos"/>
                <a:ea typeface="Aptos"/>
                <a:cs typeface="Aptos"/>
              </a:defRPr>
            </a:pPr>
            <a:r>
              <a:t>calibration + expert review</a:t>
            </a:r>
          </a:p>
        </p:txBody>
      </p:sp>
      <p:sp>
        <p:nvSpPr>
          <p:cNvPr id="90" name="">
            <a:extLst xmlns:a="http://schemas.openxmlformats.org/drawingml/2006/main">
              <a:ext uri="{FF2B5EF4-FFF2-40B4-BE49-F238E27FC236}">
                <a16:creationId xmlns:a16="http://schemas.microsoft.com/office/drawing/2014/main" id="{9FE70BE7-656F-44CF-9680-EB6527D2B927}"/>
              </a:ext>
            </a:extLst>
          </p:cNvPr>
          <p:cNvSpPr>
            <a:spLocks xmlns:a="http://schemas.openxmlformats.org/drawingml/2006/main" noGrp="1"/>
          </p:cNvSpPr>
          <p:nvPr/>
        </p:nvSpPr>
        <p:spPr>
          <a:xfrm xmlns:a="http://schemas.openxmlformats.org/drawingml/2006/main">
            <a:off x="552450" y="5619750"/>
            <a:ext cx="4238625" cy="552450"/>
          </a:xfrm>
          <a:prstGeom xmlns:a="http://schemas.openxmlformats.org/drawingml/2006/main" prst="roundRect">
            <a:avLst>
              <a:gd name="adj" fmla="val 13793"/>
            </a:avLst>
          </a:prstGeom>
          <a:solidFill xmlns:a="http://schemas.openxmlformats.org/drawingml/2006/main">
            <a:srgbClr val="FDEBEC"/>
          </a:solidFill>
          <a:ln xmlns:a="http://schemas.openxmlformats.org/drawingml/2006/main" w="0">
            <a:solidFill>
              <a:srgbClr val="FDEBEC"/>
            </a:solidFill>
            <a:prstDash val="solid"/>
          </a:ln>
        </p:spPr>
      </p:sp>
      <p:sp>
        <p:nvSpPr>
          <p:cNvPr id="91" name="">
            <a:extLst xmlns:a="http://schemas.openxmlformats.org/drawingml/2006/main">
              <a:ext uri="{FF2B5EF4-FFF2-40B4-BE49-F238E27FC236}">
                <a16:creationId xmlns:a16="http://schemas.microsoft.com/office/drawing/2014/main" id="{B0DD5F6E-34AD-4EBD-AC17-DE954656B9B5}"/>
              </a:ext>
            </a:extLst>
          </p:cNvPr>
          <p:cNvSpPr>
            <a:spLocks xmlns:a="http://schemas.openxmlformats.org/drawingml/2006/main" noGrp="1"/>
          </p:cNvSpPr>
          <p:nvPr/>
        </p:nvSpPr>
        <p:spPr>
          <a:xfrm xmlns:a="http://schemas.openxmlformats.org/drawingml/2006/main">
            <a:off x="742950" y="5762625"/>
            <a:ext cx="1428750" cy="2190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D94B4B"/>
                </a:solidFill>
                <a:latin typeface="Aptos"/>
                <a:ea typeface="Aptos"/>
                <a:cs typeface="Aptos"/>
              </a:defRPr>
            </a:pPr>
            <a:r>
              <a:t>Blindness limitation</a:t>
            </a:r>
          </a:p>
        </p:txBody>
      </p:sp>
      <p:sp>
        <p:nvSpPr>
          <p:cNvPr id="92" name="">
            <a:extLst xmlns:a="http://schemas.openxmlformats.org/drawingml/2006/main">
              <a:ext uri="{FF2B5EF4-FFF2-40B4-BE49-F238E27FC236}">
                <a16:creationId xmlns:a16="http://schemas.microsoft.com/office/drawing/2014/main" id="{0CD86512-0245-4FEF-BF41-7093B86CB177}"/>
              </a:ext>
            </a:extLst>
          </p:cNvPr>
          <p:cNvSpPr>
            <a:spLocks xmlns:a="http://schemas.openxmlformats.org/drawingml/2006/main" noGrp="1"/>
          </p:cNvSpPr>
          <p:nvPr/>
        </p:nvSpPr>
        <p:spPr>
          <a:xfrm xmlns:a="http://schemas.openxmlformats.org/drawingml/2006/main">
            <a:off x="2190750" y="5734050"/>
            <a:ext cx="2381250" cy="381000"/>
          </a:xfrm>
          <a:prstGeom xmlns:a="http://schemas.openxmlformats.org/drawingml/2006/main" prst="rect">
            <a:avLst/>
          </a:prstGeom>
        </p:spPr>
        <p:txBody>
          <a:bodyPr xmlns:a="http://schemas.openxmlformats.org/drawingml/2006/main" wrap="square" lIns="0" tIns="0" rIns="0" bIns="0" anchor="t">
            <a:normAutofit fontScale="99181"/>
          </a:bodyPr>
          <a:lstStyle xmlns:a="http://schemas.openxmlformats.org/drawingml/2006/main"/>
          <a:p xmlns:a="http://schemas.openxmlformats.org/drawingml/2006/main">
            <a:pPr algn="l">
              <a:defRPr sz="975" b="0" i="0">
                <a:solidFill>
                  <a:srgbClr val="172033"/>
                </a:solidFill>
                <a:latin typeface="Aptos"/>
                <a:ea typeface="Aptos"/>
                <a:cs typeface="Aptos"/>
              </a:defRPr>
            </a:pPr>
            <a:r>
              <a:t>The original 7 held-out rows were later inspected; a new sealed test set is still required.</a:t>
            </a:r>
          </a:p>
        </p:txBody>
      </p:sp>
    </p:spTree>
    <p:extLst>
      <p:ext uri="{BB962C8B-B14F-4D97-AF65-F5344CB8AC3E}">
        <p14:creationId xmlns:p14="http://schemas.microsoft.com/office/powerpoint/2010/main" val="44637529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1A325C1-AF97-4AD3-92A0-B7BB338CC326}"/>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4EF09174-523D-44E8-8695-88020DA9CCE2}"/>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172033"/>
                </a:solidFill>
                <a:latin typeface="Aptos"/>
                <a:ea typeface="Aptos"/>
                <a:cs typeface="Aptos"/>
              </a:defRPr>
            </a:pPr>
            <a:r>
              <a:t>Mistral leads at 85.8/100, but α=0.755 misses the 0.80 gate</a:t>
            </a:r>
          </a:p>
        </p:txBody>
      </p:sp>
      <p:cxnSp>
        <p:nvCxnSpPr>
          <p:cNvPr id="39"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879E30F0-6619-42F0-A872-7D0C050365D7}"/>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04</a:t>
            </a:r>
          </a:p>
        </p:txBody>
      </p:sp>
      <p:sp>
        <p:nvSpPr>
          <p:cNvPr id="5" name="">
            <a:extLst xmlns:a="http://schemas.openxmlformats.org/drawingml/2006/main">
              <a:ext uri="{FF2B5EF4-FFF2-40B4-BE49-F238E27FC236}">
                <a16:creationId xmlns:a16="http://schemas.microsoft.com/office/drawing/2014/main" id="{1DF73817-569F-4BB5-8A1F-21B5531A1E83}"/>
              </a:ext>
            </a:extLst>
          </p:cNvPr>
          <p:cNvSpPr>
            <a:spLocks xmlns:a="http://schemas.openxmlformats.org/drawingml/2006/main" noGrp="1"/>
          </p:cNvSpPr>
          <p:nvPr/>
        </p:nvSpPr>
        <p:spPr>
          <a:xfrm xmlns:a="http://schemas.openxmlformats.org/drawingml/2006/main">
            <a:off x="609600" y="1562100"/>
            <a:ext cx="4000500" cy="238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5B677A"/>
                </a:solidFill>
                <a:latin typeface="Aptos"/>
                <a:ea typeface="Aptos"/>
                <a:cs typeface="Aptos"/>
              </a:defRPr>
            </a:pPr>
            <a:r>
              <a:t>Diagnostic proxy · higher is better</a:t>
            </a:r>
          </a:p>
        </p:txBody>
      </p:sp>
      <p:sp>
        <p:nvSpPr>
          <p:cNvPr id="6" name="">
            <a:extLst xmlns:a="http://schemas.openxmlformats.org/drawingml/2006/main">
              <a:ext uri="{FF2B5EF4-FFF2-40B4-BE49-F238E27FC236}">
                <a16:creationId xmlns:a16="http://schemas.microsoft.com/office/drawing/2014/main" id="{C333BA7C-63BE-406C-8D4D-0008AE406FFC}"/>
              </a:ext>
            </a:extLst>
          </p:cNvPr>
          <p:cNvSpPr>
            <a:spLocks xmlns:a="http://schemas.openxmlformats.org/drawingml/2006/main" noGrp="1"/>
          </p:cNvSpPr>
          <p:nvPr/>
        </p:nvSpPr>
        <p:spPr>
          <a:xfrm xmlns:a="http://schemas.openxmlformats.org/drawingml/2006/main">
            <a:off x="685800" y="1876425"/>
            <a:ext cx="561975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FLAN-T5 Base</a:t>
            </a:r>
          </a:p>
        </p:txBody>
      </p:sp>
      <p:sp>
        <p:nvSpPr>
          <p:cNvPr id="7" name="">
            <a:extLst xmlns:a="http://schemas.openxmlformats.org/drawingml/2006/main">
              <a:ext uri="{FF2B5EF4-FFF2-40B4-BE49-F238E27FC236}">
                <a16:creationId xmlns:a16="http://schemas.microsoft.com/office/drawing/2014/main" id="{9E53457C-0C0C-4B58-AEBB-8F92D14715AF}"/>
              </a:ext>
            </a:extLst>
          </p:cNvPr>
          <p:cNvSpPr>
            <a:spLocks xmlns:a="http://schemas.openxmlformats.org/drawingml/2006/main" noGrp="1"/>
          </p:cNvSpPr>
          <p:nvPr/>
        </p:nvSpPr>
        <p:spPr>
          <a:xfrm xmlns:a="http://schemas.openxmlformats.org/drawingml/2006/main">
            <a:off x="685800" y="2095500"/>
            <a:ext cx="5619750" cy="266700"/>
          </a:xfrm>
          <a:prstGeom xmlns:a="http://schemas.openxmlformats.org/drawingml/2006/main" prst="roundRect">
            <a:avLst>
              <a:gd name="adj" fmla="val 28571"/>
            </a:avLst>
          </a:prstGeom>
          <a:solidFill xmlns:a="http://schemas.openxmlformats.org/drawingml/2006/main">
            <a:srgbClr val="F4F7FA"/>
          </a:solidFill>
          <a:ln xmlns:a="http://schemas.openxmlformats.org/drawingml/2006/main" w="0">
            <a:solidFill>
              <a:srgbClr val="F4F7FA"/>
            </a:solidFill>
            <a:prstDash val="solid"/>
          </a:ln>
        </p:spPr>
      </p:sp>
      <p:sp>
        <p:nvSpPr>
          <p:cNvPr id="8" name="">
            <a:extLst xmlns:a="http://schemas.openxmlformats.org/drawingml/2006/main">
              <a:ext uri="{FF2B5EF4-FFF2-40B4-BE49-F238E27FC236}">
                <a16:creationId xmlns:a16="http://schemas.microsoft.com/office/drawing/2014/main" id="{21854031-88DF-45EA-9805-C46FCE291B27}"/>
              </a:ext>
            </a:extLst>
          </p:cNvPr>
          <p:cNvSpPr>
            <a:spLocks xmlns:a="http://schemas.openxmlformats.org/drawingml/2006/main" noGrp="1"/>
          </p:cNvSpPr>
          <p:nvPr/>
        </p:nvSpPr>
        <p:spPr>
          <a:xfrm xmlns:a="http://schemas.openxmlformats.org/drawingml/2006/main">
            <a:off x="685800" y="2095500"/>
            <a:ext cx="3652838" cy="266700"/>
          </a:xfrm>
          <a:prstGeom xmlns:a="http://schemas.openxmlformats.org/drawingml/2006/main" prst="roundRect">
            <a:avLst>
              <a:gd name="adj" fmla="val 28571"/>
            </a:avLst>
          </a:prstGeom>
          <a:solidFill xmlns:a="http://schemas.openxmlformats.org/drawingml/2006/main">
            <a:srgbClr val="67BDE5"/>
          </a:solidFill>
          <a:ln xmlns:a="http://schemas.openxmlformats.org/drawingml/2006/main" w="0">
            <a:solidFill>
              <a:srgbClr val="67BDE5"/>
            </a:solidFill>
            <a:prstDash val="solid"/>
          </a:ln>
        </p:spPr>
      </p:sp>
      <p:sp>
        <p:nvSpPr>
          <p:cNvPr id="9" name="">
            <a:extLst xmlns:a="http://schemas.openxmlformats.org/drawingml/2006/main">
              <a:ext uri="{FF2B5EF4-FFF2-40B4-BE49-F238E27FC236}">
                <a16:creationId xmlns:a16="http://schemas.microsoft.com/office/drawing/2014/main" id="{04A8E169-A320-49AC-A7EA-0A3BD8747340}"/>
              </a:ext>
            </a:extLst>
          </p:cNvPr>
          <p:cNvSpPr>
            <a:spLocks xmlns:a="http://schemas.openxmlformats.org/drawingml/2006/main" noGrp="1"/>
          </p:cNvSpPr>
          <p:nvPr/>
        </p:nvSpPr>
        <p:spPr>
          <a:xfrm xmlns:a="http://schemas.openxmlformats.org/drawingml/2006/main">
            <a:off x="6419850" y="2047875"/>
            <a:ext cx="781050" cy="3619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7BDE5"/>
                </a:solidFill>
                <a:latin typeface="Aptos"/>
                <a:ea typeface="Aptos"/>
                <a:cs typeface="Aptos"/>
              </a:defRPr>
            </a:pPr>
            <a:r>
              <a:t>65.0</a:t>
            </a:r>
          </a:p>
        </p:txBody>
      </p:sp>
      <p:sp>
        <p:nvSpPr>
          <p:cNvPr id="10" name="">
            <a:extLst xmlns:a="http://schemas.openxmlformats.org/drawingml/2006/main">
              <a:ext uri="{FF2B5EF4-FFF2-40B4-BE49-F238E27FC236}">
                <a16:creationId xmlns:a16="http://schemas.microsoft.com/office/drawing/2014/main" id="{D6503CDB-6EAF-42BA-9108-0FCD59D727FB}"/>
              </a:ext>
            </a:extLst>
          </p:cNvPr>
          <p:cNvSpPr>
            <a:spLocks xmlns:a="http://schemas.openxmlformats.org/drawingml/2006/main" noGrp="1"/>
          </p:cNvSpPr>
          <p:nvPr/>
        </p:nvSpPr>
        <p:spPr>
          <a:xfrm xmlns:a="http://schemas.openxmlformats.org/drawingml/2006/main">
            <a:off x="685800" y="2714625"/>
            <a:ext cx="561975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Llama 3.1 8B</a:t>
            </a:r>
          </a:p>
        </p:txBody>
      </p:sp>
      <p:sp>
        <p:nvSpPr>
          <p:cNvPr id="11" name="">
            <a:extLst xmlns:a="http://schemas.openxmlformats.org/drawingml/2006/main">
              <a:ext uri="{FF2B5EF4-FFF2-40B4-BE49-F238E27FC236}">
                <a16:creationId xmlns:a16="http://schemas.microsoft.com/office/drawing/2014/main" id="{0BDC54BA-7AF3-498C-80B9-E8A7EAD964C0}"/>
              </a:ext>
            </a:extLst>
          </p:cNvPr>
          <p:cNvSpPr>
            <a:spLocks xmlns:a="http://schemas.openxmlformats.org/drawingml/2006/main" noGrp="1"/>
          </p:cNvSpPr>
          <p:nvPr/>
        </p:nvSpPr>
        <p:spPr>
          <a:xfrm xmlns:a="http://schemas.openxmlformats.org/drawingml/2006/main">
            <a:off x="685800" y="2933700"/>
            <a:ext cx="5619750" cy="266700"/>
          </a:xfrm>
          <a:prstGeom xmlns:a="http://schemas.openxmlformats.org/drawingml/2006/main" prst="roundRect">
            <a:avLst>
              <a:gd name="adj" fmla="val 28571"/>
            </a:avLst>
          </a:prstGeom>
          <a:solidFill xmlns:a="http://schemas.openxmlformats.org/drawingml/2006/main">
            <a:srgbClr val="F4F7FA"/>
          </a:solidFill>
          <a:ln xmlns:a="http://schemas.openxmlformats.org/drawingml/2006/main" w="0">
            <a:solidFill>
              <a:srgbClr val="F4F7FA"/>
            </a:solidFill>
            <a:prstDash val="solid"/>
          </a:ln>
        </p:spPr>
      </p:sp>
      <p:sp>
        <p:nvSpPr>
          <p:cNvPr id="12" name="">
            <a:extLst xmlns:a="http://schemas.openxmlformats.org/drawingml/2006/main">
              <a:ext uri="{FF2B5EF4-FFF2-40B4-BE49-F238E27FC236}">
                <a16:creationId xmlns:a16="http://schemas.microsoft.com/office/drawing/2014/main" id="{3A5B03DD-39A4-4AFC-93C1-E1405CCF1077}"/>
              </a:ext>
            </a:extLst>
          </p:cNvPr>
          <p:cNvSpPr>
            <a:spLocks xmlns:a="http://schemas.openxmlformats.org/drawingml/2006/main" noGrp="1"/>
          </p:cNvSpPr>
          <p:nvPr/>
        </p:nvSpPr>
        <p:spPr>
          <a:xfrm xmlns:a="http://schemas.openxmlformats.org/drawingml/2006/main">
            <a:off x="685800" y="2933700"/>
            <a:ext cx="4507040" cy="266700"/>
          </a:xfrm>
          <a:prstGeom xmlns:a="http://schemas.openxmlformats.org/drawingml/2006/main" prst="roundRect">
            <a:avLst>
              <a:gd name="adj" fmla="val 28571"/>
            </a:avLst>
          </a:prstGeom>
          <a:solidFill xmlns:a="http://schemas.openxmlformats.org/drawingml/2006/main">
            <a:srgbClr val="9AA5B1"/>
          </a:solidFill>
          <a:ln xmlns:a="http://schemas.openxmlformats.org/drawingml/2006/main" w="0">
            <a:solidFill>
              <a:srgbClr val="9AA5B1"/>
            </a:solidFill>
            <a:prstDash val="solid"/>
          </a:ln>
        </p:spPr>
      </p:sp>
      <p:sp>
        <p:nvSpPr>
          <p:cNvPr id="13" name="">
            <a:extLst xmlns:a="http://schemas.openxmlformats.org/drawingml/2006/main">
              <a:ext uri="{FF2B5EF4-FFF2-40B4-BE49-F238E27FC236}">
                <a16:creationId xmlns:a16="http://schemas.microsoft.com/office/drawing/2014/main" id="{8071AC1C-3FFF-44E8-8FEC-22776013FCEC}"/>
              </a:ext>
            </a:extLst>
          </p:cNvPr>
          <p:cNvSpPr>
            <a:spLocks xmlns:a="http://schemas.openxmlformats.org/drawingml/2006/main" noGrp="1"/>
          </p:cNvSpPr>
          <p:nvPr/>
        </p:nvSpPr>
        <p:spPr>
          <a:xfrm xmlns:a="http://schemas.openxmlformats.org/drawingml/2006/main">
            <a:off x="6419850" y="2886075"/>
            <a:ext cx="781050" cy="3619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9AA5B1"/>
                </a:solidFill>
                <a:latin typeface="Aptos"/>
                <a:ea typeface="Aptos"/>
                <a:cs typeface="Aptos"/>
              </a:defRPr>
            </a:pPr>
            <a:r>
              <a:t>80.2</a:t>
            </a:r>
          </a:p>
        </p:txBody>
      </p:sp>
      <p:sp>
        <p:nvSpPr>
          <p:cNvPr id="14" name="">
            <a:extLst xmlns:a="http://schemas.openxmlformats.org/drawingml/2006/main">
              <a:ext uri="{FF2B5EF4-FFF2-40B4-BE49-F238E27FC236}">
                <a16:creationId xmlns:a16="http://schemas.microsoft.com/office/drawing/2014/main" id="{0EE21F71-AE14-45E4-AD12-26EF8ABA1E54}"/>
              </a:ext>
            </a:extLst>
          </p:cNvPr>
          <p:cNvSpPr>
            <a:spLocks xmlns:a="http://schemas.openxmlformats.org/drawingml/2006/main" noGrp="1"/>
          </p:cNvSpPr>
          <p:nvPr/>
        </p:nvSpPr>
        <p:spPr>
          <a:xfrm xmlns:a="http://schemas.openxmlformats.org/drawingml/2006/main">
            <a:off x="685800" y="3552825"/>
            <a:ext cx="561975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Mistral 7B v0.2</a:t>
            </a:r>
          </a:p>
        </p:txBody>
      </p:sp>
      <p:sp>
        <p:nvSpPr>
          <p:cNvPr id="15" name="">
            <a:extLst xmlns:a="http://schemas.openxmlformats.org/drawingml/2006/main">
              <a:ext uri="{FF2B5EF4-FFF2-40B4-BE49-F238E27FC236}">
                <a16:creationId xmlns:a16="http://schemas.microsoft.com/office/drawing/2014/main" id="{D734A614-A4F6-4327-97B7-912BA7682C02}"/>
              </a:ext>
            </a:extLst>
          </p:cNvPr>
          <p:cNvSpPr>
            <a:spLocks xmlns:a="http://schemas.openxmlformats.org/drawingml/2006/main" noGrp="1"/>
          </p:cNvSpPr>
          <p:nvPr/>
        </p:nvSpPr>
        <p:spPr>
          <a:xfrm xmlns:a="http://schemas.openxmlformats.org/drawingml/2006/main">
            <a:off x="685800" y="3771900"/>
            <a:ext cx="5619750" cy="266700"/>
          </a:xfrm>
          <a:prstGeom xmlns:a="http://schemas.openxmlformats.org/drawingml/2006/main" prst="roundRect">
            <a:avLst>
              <a:gd name="adj" fmla="val 28571"/>
            </a:avLst>
          </a:prstGeom>
          <a:solidFill xmlns:a="http://schemas.openxmlformats.org/drawingml/2006/main">
            <a:srgbClr val="F4F7FA"/>
          </a:solidFill>
          <a:ln xmlns:a="http://schemas.openxmlformats.org/drawingml/2006/main" w="0">
            <a:solidFill>
              <a:srgbClr val="F4F7FA"/>
            </a:solidFill>
            <a:prstDash val="solid"/>
          </a:ln>
        </p:spPr>
      </p:sp>
      <p:sp>
        <p:nvSpPr>
          <p:cNvPr id="16" name="">
            <a:extLst xmlns:a="http://schemas.openxmlformats.org/drawingml/2006/main">
              <a:ext uri="{FF2B5EF4-FFF2-40B4-BE49-F238E27FC236}">
                <a16:creationId xmlns:a16="http://schemas.microsoft.com/office/drawing/2014/main" id="{C91F0E50-1ABD-4576-BE65-B4CC5C372695}"/>
              </a:ext>
            </a:extLst>
          </p:cNvPr>
          <p:cNvSpPr>
            <a:spLocks xmlns:a="http://schemas.openxmlformats.org/drawingml/2006/main" noGrp="1"/>
          </p:cNvSpPr>
          <p:nvPr/>
        </p:nvSpPr>
        <p:spPr>
          <a:xfrm xmlns:a="http://schemas.openxmlformats.org/drawingml/2006/main">
            <a:off x="685800" y="3771900"/>
            <a:ext cx="4821746" cy="266700"/>
          </a:xfrm>
          <a:prstGeom xmlns:a="http://schemas.openxmlformats.org/drawingml/2006/main" prst="roundRect">
            <a:avLst>
              <a:gd name="adj" fmla="val 28571"/>
            </a:avLst>
          </a:prstGeom>
          <a:solidFill xmlns:a="http://schemas.openxmlformats.org/drawingml/2006/main">
            <a:srgbClr val="2563EB"/>
          </a:solidFill>
          <a:ln xmlns:a="http://schemas.openxmlformats.org/drawingml/2006/main" w="0">
            <a:solidFill>
              <a:srgbClr val="2563EB"/>
            </a:solidFill>
            <a:prstDash val="solid"/>
          </a:ln>
        </p:spPr>
      </p:sp>
      <p:sp>
        <p:nvSpPr>
          <p:cNvPr id="17" name="">
            <a:extLst xmlns:a="http://schemas.openxmlformats.org/drawingml/2006/main">
              <a:ext uri="{FF2B5EF4-FFF2-40B4-BE49-F238E27FC236}">
                <a16:creationId xmlns:a16="http://schemas.microsoft.com/office/drawing/2014/main" id="{023519F4-A324-48C4-9A7A-2C261D464C69}"/>
              </a:ext>
            </a:extLst>
          </p:cNvPr>
          <p:cNvSpPr>
            <a:spLocks xmlns:a="http://schemas.openxmlformats.org/drawingml/2006/main" noGrp="1"/>
          </p:cNvSpPr>
          <p:nvPr/>
        </p:nvSpPr>
        <p:spPr>
          <a:xfrm xmlns:a="http://schemas.openxmlformats.org/drawingml/2006/main">
            <a:off x="6419850" y="3724275"/>
            <a:ext cx="781050" cy="3619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2563EB"/>
                </a:solidFill>
                <a:latin typeface="Aptos"/>
                <a:ea typeface="Aptos"/>
                <a:cs typeface="Aptos"/>
              </a:defRPr>
            </a:pPr>
            <a:r>
              <a:t>85.8</a:t>
            </a:r>
          </a:p>
        </p:txBody>
      </p:sp>
      <p:sp>
        <p:nvSpPr>
          <p:cNvPr id="18" name="">
            <a:extLst xmlns:a="http://schemas.openxmlformats.org/drawingml/2006/main">
              <a:ext uri="{FF2B5EF4-FFF2-40B4-BE49-F238E27FC236}">
                <a16:creationId xmlns:a16="http://schemas.microsoft.com/office/drawing/2014/main" id="{490E9A4B-B8DC-4096-B76C-A58A5DE8B4CA}"/>
              </a:ext>
            </a:extLst>
          </p:cNvPr>
          <p:cNvSpPr>
            <a:spLocks xmlns:a="http://schemas.openxmlformats.org/drawingml/2006/main" noGrp="1"/>
          </p:cNvSpPr>
          <p:nvPr/>
        </p:nvSpPr>
        <p:spPr>
          <a:xfrm xmlns:a="http://schemas.openxmlformats.org/drawingml/2006/main">
            <a:off x="685800" y="4686300"/>
            <a:ext cx="26670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D94B4B"/>
                </a:solidFill>
                <a:latin typeface="Aptos"/>
                <a:ea typeface="Aptos"/>
                <a:cs typeface="Aptos"/>
              </a:defRPr>
            </a:pPr>
            <a:r>
              <a:t>No production ranking</a:t>
            </a:r>
          </a:p>
        </p:txBody>
      </p:sp>
      <p:sp>
        <p:nvSpPr>
          <p:cNvPr id="19" name="">
            <a:extLst xmlns:a="http://schemas.openxmlformats.org/drawingml/2006/main">
              <a:ext uri="{FF2B5EF4-FFF2-40B4-BE49-F238E27FC236}">
                <a16:creationId xmlns:a16="http://schemas.microsoft.com/office/drawing/2014/main" id="{8B43997D-EBC4-4931-80DB-8E91C03F71EA}"/>
              </a:ext>
            </a:extLst>
          </p:cNvPr>
          <p:cNvSpPr>
            <a:spLocks xmlns:a="http://schemas.openxmlformats.org/drawingml/2006/main" noGrp="1"/>
          </p:cNvSpPr>
          <p:nvPr/>
        </p:nvSpPr>
        <p:spPr>
          <a:xfrm xmlns:a="http://schemas.openxmlformats.org/drawingml/2006/main">
            <a:off x="685800" y="5095875"/>
            <a:ext cx="5524500" cy="590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The score combines diagnostic Task and Grounding proxies. Coverage and calibration remain separate.</a:t>
            </a:r>
          </a:p>
        </p:txBody>
      </p:sp>
      <p:sp>
        <p:nvSpPr>
          <p:cNvPr id="20" name="">
            <a:extLst xmlns:a="http://schemas.openxmlformats.org/drawingml/2006/main">
              <a:ext uri="{FF2B5EF4-FFF2-40B4-BE49-F238E27FC236}">
                <a16:creationId xmlns:a16="http://schemas.microsoft.com/office/drawing/2014/main" id="{BB864B5C-0208-4818-AC32-89CABEA15BF6}"/>
              </a:ext>
            </a:extLst>
          </p:cNvPr>
          <p:cNvSpPr>
            <a:spLocks xmlns:a="http://schemas.openxmlformats.org/drawingml/2006/main" noGrp="1"/>
          </p:cNvSpPr>
          <p:nvPr/>
        </p:nvSpPr>
        <p:spPr>
          <a:xfrm xmlns:a="http://schemas.openxmlformats.org/drawingml/2006/main">
            <a:off x="7096125" y="1543050"/>
            <a:ext cx="4381500" cy="1695450"/>
          </a:xfrm>
          <a:prstGeom xmlns:a="http://schemas.openxmlformats.org/drawingml/2006/main" prst="roundRect">
            <a:avLst>
              <a:gd name="adj" fmla="val 4494"/>
            </a:avLst>
          </a:prstGeom>
          <a:solidFill xmlns:a="http://schemas.openxmlformats.org/drawingml/2006/main">
            <a:srgbClr val="FDEBEC"/>
          </a:solidFill>
          <a:ln xmlns:a="http://schemas.openxmlformats.org/drawingml/2006/main" w="0">
            <a:solidFill>
              <a:srgbClr val="FDEBEC"/>
            </a:solidFill>
            <a:prstDash val="solid"/>
          </a:ln>
        </p:spPr>
      </p:sp>
      <p:sp>
        <p:nvSpPr>
          <p:cNvPr id="21" name="">
            <a:extLst xmlns:a="http://schemas.openxmlformats.org/drawingml/2006/main">
              <a:ext uri="{FF2B5EF4-FFF2-40B4-BE49-F238E27FC236}">
                <a16:creationId xmlns:a16="http://schemas.microsoft.com/office/drawing/2014/main" id="{C82CCAA1-F4F3-4B3A-A421-EC4C20C5B3CE}"/>
              </a:ext>
            </a:extLst>
          </p:cNvPr>
          <p:cNvSpPr>
            <a:spLocks xmlns:a="http://schemas.openxmlformats.org/drawingml/2006/main" noGrp="1"/>
          </p:cNvSpPr>
          <p:nvPr/>
        </p:nvSpPr>
        <p:spPr>
          <a:xfrm xmlns:a="http://schemas.openxmlformats.org/drawingml/2006/main">
            <a:off x="7391400" y="1771650"/>
            <a:ext cx="1905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D94B4B"/>
                </a:solidFill>
                <a:latin typeface="Aptos"/>
                <a:ea typeface="Aptos"/>
                <a:cs typeface="Aptos"/>
              </a:defRPr>
            </a:pPr>
            <a:r>
              <a:t>Calibration gate</a:t>
            </a:r>
          </a:p>
        </p:txBody>
      </p:sp>
      <p:sp>
        <p:nvSpPr>
          <p:cNvPr id="22" name="">
            <a:extLst xmlns:a="http://schemas.openxmlformats.org/drawingml/2006/main">
              <a:ext uri="{FF2B5EF4-FFF2-40B4-BE49-F238E27FC236}">
                <a16:creationId xmlns:a16="http://schemas.microsoft.com/office/drawing/2014/main" id="{35DE267E-5D9C-41CA-AF53-80801D30FE15}"/>
              </a:ext>
            </a:extLst>
          </p:cNvPr>
          <p:cNvSpPr>
            <a:spLocks xmlns:a="http://schemas.openxmlformats.org/drawingml/2006/main" noGrp="1"/>
          </p:cNvSpPr>
          <p:nvPr/>
        </p:nvSpPr>
        <p:spPr>
          <a:xfrm xmlns:a="http://schemas.openxmlformats.org/drawingml/2006/main">
            <a:off x="7391400" y="2114550"/>
            <a:ext cx="180975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D94B4B"/>
                </a:solidFill>
                <a:latin typeface="Aptos"/>
                <a:ea typeface="Aptos"/>
                <a:cs typeface="Aptos"/>
              </a:defRPr>
            </a:pPr>
            <a:r>
              <a:t>0.7551</a:t>
            </a:r>
          </a:p>
        </p:txBody>
      </p:sp>
      <p:sp>
        <p:nvSpPr>
          <p:cNvPr id="23" name="">
            <a:extLst xmlns:a="http://schemas.openxmlformats.org/drawingml/2006/main">
              <a:ext uri="{FF2B5EF4-FFF2-40B4-BE49-F238E27FC236}">
                <a16:creationId xmlns:a16="http://schemas.microsoft.com/office/drawing/2014/main" id="{35CF5697-383C-4536-BCB6-C70CCBBF4FA9}"/>
              </a:ext>
            </a:extLst>
          </p:cNvPr>
          <p:cNvSpPr>
            <a:spLocks xmlns:a="http://schemas.openxmlformats.org/drawingml/2006/main" noGrp="1"/>
          </p:cNvSpPr>
          <p:nvPr/>
        </p:nvSpPr>
        <p:spPr>
          <a:xfrm xmlns:a="http://schemas.openxmlformats.org/drawingml/2006/main">
            <a:off x="9201150" y="2209800"/>
            <a:ext cx="20002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72033"/>
                </a:solidFill>
                <a:latin typeface="Aptos"/>
                <a:ea typeface="Aptos"/>
                <a:cs typeface="Aptos"/>
              </a:defRPr>
            </a:pPr>
            <a:r>
              <a:t>ordinal Krippendorff α</a:t>
            </a:r>
          </a:p>
        </p:txBody>
      </p:sp>
      <p:cxnSp>
        <p:nvCxnSpPr>
          <p:cNvPr id="60" name=""/>
          <p:cNvCxnSpPr/>
          <p:nvPr/>
        </p:nvCxnSpPr>
        <p:spPr>
          <a:xfrm xmlns:a="http://schemas.openxmlformats.org/drawingml/2006/main">
            <a:off x="7391400" y="2781300"/>
            <a:ext cx="3333750" cy="95"/>
          </a:xfrm>
          <a:prstGeom xmlns:a="http://schemas.openxmlformats.org/drawingml/2006/main" prst="straightConnector1">
            <a:avLst/>
          </a:prstGeom>
          <a:ln xmlns:a="http://schemas.openxmlformats.org/drawingml/2006/main" w="28575">
            <a:solidFill>
              <a:srgbClr val="D94B4B"/>
            </a:solidFill>
            <a:prstDash val="solid"/>
          </a:ln>
        </p:spPr>
      </p:cxnSp>
      <p:sp>
        <p:nvSpPr>
          <p:cNvPr id="25" name="">
            <a:extLst xmlns:a="http://schemas.openxmlformats.org/drawingml/2006/main">
              <a:ext uri="{FF2B5EF4-FFF2-40B4-BE49-F238E27FC236}">
                <a16:creationId xmlns:a16="http://schemas.microsoft.com/office/drawing/2014/main" id="{EC89D488-ADDE-487A-B216-7DCE346B26DC}"/>
              </a:ext>
            </a:extLst>
          </p:cNvPr>
          <p:cNvSpPr>
            <a:spLocks xmlns:a="http://schemas.openxmlformats.org/drawingml/2006/main" noGrp="1"/>
          </p:cNvSpPr>
          <p:nvPr/>
        </p:nvSpPr>
        <p:spPr>
          <a:xfrm xmlns:a="http://schemas.openxmlformats.org/drawingml/2006/main">
            <a:off x="7391400" y="2876550"/>
            <a:ext cx="1905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D94B4B"/>
                </a:solidFill>
                <a:latin typeface="Aptos"/>
                <a:ea typeface="Aptos"/>
                <a:cs typeface="Aptos"/>
              </a:defRPr>
            </a:pPr>
            <a:r>
              <a:t>required ≥ 0.80</a:t>
            </a:r>
          </a:p>
        </p:txBody>
      </p:sp>
      <p:sp>
        <p:nvSpPr>
          <p:cNvPr id="26" name="">
            <a:extLst xmlns:a="http://schemas.openxmlformats.org/drawingml/2006/main">
              <a:ext uri="{FF2B5EF4-FFF2-40B4-BE49-F238E27FC236}">
                <a16:creationId xmlns:a16="http://schemas.microsoft.com/office/drawing/2014/main" id="{8EC57DB0-9B7F-483B-A0F5-3C8C58C75B4C}"/>
              </a:ext>
            </a:extLst>
          </p:cNvPr>
          <p:cNvSpPr>
            <a:spLocks xmlns:a="http://schemas.openxmlformats.org/drawingml/2006/main" noGrp="1"/>
          </p:cNvSpPr>
          <p:nvPr/>
        </p:nvSpPr>
        <p:spPr>
          <a:xfrm xmlns:a="http://schemas.openxmlformats.org/drawingml/2006/main">
            <a:off x="7096125" y="3524250"/>
            <a:ext cx="4381500" cy="1885950"/>
          </a:xfrm>
          <a:prstGeom xmlns:a="http://schemas.openxmlformats.org/drawingml/2006/main" prst="roundRect">
            <a:avLst>
              <a:gd name="adj" fmla="val 4040"/>
            </a:avLst>
          </a:prstGeom>
          <a:solidFill xmlns:a="http://schemas.openxmlformats.org/drawingml/2006/main">
            <a:srgbClr val="F4F7FA"/>
          </a:solidFill>
          <a:ln xmlns:a="http://schemas.openxmlformats.org/drawingml/2006/main" w="0">
            <a:solidFill>
              <a:srgbClr val="F4F7FA"/>
            </a:solidFill>
            <a:prstDash val="solid"/>
          </a:ln>
        </p:spPr>
      </p:sp>
      <p:sp>
        <p:nvSpPr>
          <p:cNvPr id="27" name="">
            <a:extLst xmlns:a="http://schemas.openxmlformats.org/drawingml/2006/main">
              <a:ext uri="{FF2B5EF4-FFF2-40B4-BE49-F238E27FC236}">
                <a16:creationId xmlns:a16="http://schemas.microsoft.com/office/drawing/2014/main" id="{87BCB86E-6755-44E5-A8FA-7FED56A76D4B}"/>
              </a:ext>
            </a:extLst>
          </p:cNvPr>
          <p:cNvSpPr>
            <a:spLocks xmlns:a="http://schemas.openxmlformats.org/drawingml/2006/main" noGrp="1"/>
          </p:cNvSpPr>
          <p:nvPr/>
        </p:nvSpPr>
        <p:spPr>
          <a:xfrm xmlns:a="http://schemas.openxmlformats.org/drawingml/2006/main">
            <a:off x="7391400" y="3733800"/>
            <a:ext cx="34290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2545"/>
                </a:solidFill>
                <a:latin typeface="Aptos"/>
                <a:ea typeface="Aptos"/>
                <a:cs typeface="Aptos"/>
              </a:defRPr>
            </a:pPr>
            <a:r>
              <a:t>Observed unsafe labels · 105 answers</a:t>
            </a:r>
          </a:p>
        </p:txBody>
      </p:sp>
      <p:sp>
        <p:nvSpPr>
          <p:cNvPr id="28" name="">
            <a:extLst xmlns:a="http://schemas.openxmlformats.org/drawingml/2006/main">
              <a:ext uri="{FF2B5EF4-FFF2-40B4-BE49-F238E27FC236}">
                <a16:creationId xmlns:a16="http://schemas.microsoft.com/office/drawing/2014/main" id="{CD53FFF4-6BFB-44A8-98AE-78ABBECA06F9}"/>
              </a:ext>
            </a:extLst>
          </p:cNvPr>
          <p:cNvSpPr>
            <a:spLocks xmlns:a="http://schemas.openxmlformats.org/drawingml/2006/main" noGrp="1"/>
          </p:cNvSpPr>
          <p:nvPr/>
        </p:nvSpPr>
        <p:spPr>
          <a:xfrm xmlns:a="http://schemas.openxmlformats.org/drawingml/2006/main">
            <a:off x="7543800" y="4162425"/>
            <a:ext cx="8191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D94B4B"/>
                </a:solidFill>
                <a:latin typeface="Aptos"/>
                <a:ea typeface="Aptos"/>
                <a:cs typeface="Aptos"/>
              </a:defRPr>
            </a:pPr>
            <a:r>
              <a:t>6</a:t>
            </a:r>
          </a:p>
        </p:txBody>
      </p:sp>
      <p:sp>
        <p:nvSpPr>
          <p:cNvPr id="29" name="">
            <a:extLst xmlns:a="http://schemas.openxmlformats.org/drawingml/2006/main">
              <a:ext uri="{FF2B5EF4-FFF2-40B4-BE49-F238E27FC236}">
                <a16:creationId xmlns:a16="http://schemas.microsoft.com/office/drawing/2014/main" id="{058038EF-212C-46F4-9CAE-F512194E542F}"/>
              </a:ext>
            </a:extLst>
          </p:cNvPr>
          <p:cNvSpPr>
            <a:spLocks xmlns:a="http://schemas.openxmlformats.org/drawingml/2006/main" noGrp="1"/>
          </p:cNvSpPr>
          <p:nvPr/>
        </p:nvSpPr>
        <p:spPr>
          <a:xfrm xmlns:a="http://schemas.openxmlformats.org/drawingml/2006/main">
            <a:off x="7543800" y="4667250"/>
            <a:ext cx="819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5B677A"/>
                </a:solidFill>
                <a:latin typeface="Aptos"/>
                <a:ea typeface="Aptos"/>
                <a:cs typeface="Aptos"/>
              </a:defRPr>
            </a:pPr>
            <a:r>
              <a:t>FLAN</a:t>
            </a:r>
          </a:p>
        </p:txBody>
      </p:sp>
      <p:sp>
        <p:nvSpPr>
          <p:cNvPr id="30" name="">
            <a:extLst xmlns:a="http://schemas.openxmlformats.org/drawingml/2006/main">
              <a:ext uri="{FF2B5EF4-FFF2-40B4-BE49-F238E27FC236}">
                <a16:creationId xmlns:a16="http://schemas.microsoft.com/office/drawing/2014/main" id="{8D1ED76B-A6A5-46A4-9FF2-AA08C6A92B52}"/>
              </a:ext>
            </a:extLst>
          </p:cNvPr>
          <p:cNvSpPr>
            <a:spLocks xmlns:a="http://schemas.openxmlformats.org/drawingml/2006/main" noGrp="1"/>
          </p:cNvSpPr>
          <p:nvPr/>
        </p:nvSpPr>
        <p:spPr>
          <a:xfrm xmlns:a="http://schemas.openxmlformats.org/drawingml/2006/main">
            <a:off x="8743950" y="4162425"/>
            <a:ext cx="8191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D48A00"/>
                </a:solidFill>
                <a:latin typeface="Aptos"/>
                <a:ea typeface="Aptos"/>
                <a:cs typeface="Aptos"/>
              </a:defRPr>
            </a:pPr>
            <a:r>
              <a:t>1</a:t>
            </a:r>
          </a:p>
        </p:txBody>
      </p:sp>
      <p:sp>
        <p:nvSpPr>
          <p:cNvPr id="31" name="">
            <a:extLst xmlns:a="http://schemas.openxmlformats.org/drawingml/2006/main">
              <a:ext uri="{FF2B5EF4-FFF2-40B4-BE49-F238E27FC236}">
                <a16:creationId xmlns:a16="http://schemas.microsoft.com/office/drawing/2014/main" id="{61AE46F6-E77B-4BC4-B7C6-CBCD049853EF}"/>
              </a:ext>
            </a:extLst>
          </p:cNvPr>
          <p:cNvSpPr>
            <a:spLocks xmlns:a="http://schemas.openxmlformats.org/drawingml/2006/main" noGrp="1"/>
          </p:cNvSpPr>
          <p:nvPr/>
        </p:nvSpPr>
        <p:spPr>
          <a:xfrm xmlns:a="http://schemas.openxmlformats.org/drawingml/2006/main">
            <a:off x="8743950" y="4667250"/>
            <a:ext cx="819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5B677A"/>
                </a:solidFill>
                <a:latin typeface="Aptos"/>
                <a:ea typeface="Aptos"/>
                <a:cs typeface="Aptos"/>
              </a:defRPr>
            </a:pPr>
            <a:r>
              <a:t>Llama</a:t>
            </a:r>
          </a:p>
        </p:txBody>
      </p:sp>
      <p:sp>
        <p:nvSpPr>
          <p:cNvPr id="32" name="">
            <a:extLst xmlns:a="http://schemas.openxmlformats.org/drawingml/2006/main">
              <a:ext uri="{FF2B5EF4-FFF2-40B4-BE49-F238E27FC236}">
                <a16:creationId xmlns:a16="http://schemas.microsoft.com/office/drawing/2014/main" id="{D3A24618-EA12-4D29-B0CB-1ABF687BE3C5}"/>
              </a:ext>
            </a:extLst>
          </p:cNvPr>
          <p:cNvSpPr>
            <a:spLocks xmlns:a="http://schemas.openxmlformats.org/drawingml/2006/main" noGrp="1"/>
          </p:cNvSpPr>
          <p:nvPr/>
        </p:nvSpPr>
        <p:spPr>
          <a:xfrm xmlns:a="http://schemas.openxmlformats.org/drawingml/2006/main">
            <a:off x="9944100" y="4162425"/>
            <a:ext cx="8191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2E8B57"/>
                </a:solidFill>
                <a:latin typeface="Aptos"/>
                <a:ea typeface="Aptos"/>
                <a:cs typeface="Aptos"/>
              </a:defRPr>
            </a:pPr>
            <a:r>
              <a:t>0</a:t>
            </a:r>
          </a:p>
        </p:txBody>
      </p:sp>
      <p:sp>
        <p:nvSpPr>
          <p:cNvPr id="33" name="">
            <a:extLst xmlns:a="http://schemas.openxmlformats.org/drawingml/2006/main">
              <a:ext uri="{FF2B5EF4-FFF2-40B4-BE49-F238E27FC236}">
                <a16:creationId xmlns:a16="http://schemas.microsoft.com/office/drawing/2014/main" id="{6D37C93C-8242-448D-B564-381F6E541168}"/>
              </a:ext>
            </a:extLst>
          </p:cNvPr>
          <p:cNvSpPr>
            <a:spLocks xmlns:a="http://schemas.openxmlformats.org/drawingml/2006/main" noGrp="1"/>
          </p:cNvSpPr>
          <p:nvPr/>
        </p:nvSpPr>
        <p:spPr>
          <a:xfrm xmlns:a="http://schemas.openxmlformats.org/drawingml/2006/main">
            <a:off x="9944100" y="4667250"/>
            <a:ext cx="819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5B677A"/>
                </a:solidFill>
                <a:latin typeface="Aptos"/>
                <a:ea typeface="Aptos"/>
                <a:cs typeface="Aptos"/>
              </a:defRPr>
            </a:pPr>
            <a:r>
              <a:t>Mistral</a:t>
            </a:r>
          </a:p>
        </p:txBody>
      </p:sp>
      <p:sp>
        <p:nvSpPr>
          <p:cNvPr id="34" name="">
            <a:extLst xmlns:a="http://schemas.openxmlformats.org/drawingml/2006/main">
              <a:ext uri="{FF2B5EF4-FFF2-40B4-BE49-F238E27FC236}">
                <a16:creationId xmlns:a16="http://schemas.microsoft.com/office/drawing/2014/main" id="{5857C0F9-FD82-4583-88FD-3CE94A3A2584}"/>
              </a:ext>
            </a:extLst>
          </p:cNvPr>
          <p:cNvSpPr>
            <a:spLocks xmlns:a="http://schemas.openxmlformats.org/drawingml/2006/main" noGrp="1"/>
          </p:cNvSpPr>
          <p:nvPr/>
        </p:nvSpPr>
        <p:spPr>
          <a:xfrm xmlns:a="http://schemas.openxmlformats.org/drawingml/2006/main">
            <a:off x="7391400" y="5076825"/>
            <a:ext cx="3619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1">
                <a:solidFill>
                  <a:srgbClr val="5B677A"/>
                </a:solidFill>
                <a:latin typeface="Aptos"/>
                <a:ea typeface="Aptos"/>
                <a:cs typeface="Aptos"/>
              </a:defRPr>
            </a:pPr>
            <a:r>
              <a:t>Observed labels, not calibrated field rates</a:t>
            </a:r>
          </a:p>
        </p:txBody>
      </p:sp>
      <p:sp>
        <p:nvSpPr>
          <p:cNvPr id="35" name="">
            <a:extLst xmlns:a="http://schemas.openxmlformats.org/drawingml/2006/main">
              <a:ext uri="{FF2B5EF4-FFF2-40B4-BE49-F238E27FC236}">
                <a16:creationId xmlns:a16="http://schemas.microsoft.com/office/drawing/2014/main" id="{49E8B5A4-2CE5-447C-93EA-CB588BED5B2C}"/>
              </a:ext>
            </a:extLst>
          </p:cNvPr>
          <p:cNvSpPr>
            <a:spLocks xmlns:a="http://schemas.openxmlformats.org/drawingml/2006/main" noGrp="1"/>
          </p:cNvSpPr>
          <p:nvPr/>
        </p:nvSpPr>
        <p:spPr>
          <a:xfrm xmlns:a="http://schemas.openxmlformats.org/drawingml/2006/main">
            <a:off x="7096125" y="5619750"/>
            <a:ext cx="4381500" cy="552450"/>
          </a:xfrm>
          <a:prstGeom xmlns:a="http://schemas.openxmlformats.org/drawingml/2006/main" prst="roundRect">
            <a:avLst>
              <a:gd name="adj" fmla="val 13793"/>
            </a:avLst>
          </a:prstGeom>
          <a:solidFill xmlns:a="http://schemas.openxmlformats.org/drawingml/2006/main">
            <a:srgbClr val="EAF2FF"/>
          </a:solidFill>
          <a:ln xmlns:a="http://schemas.openxmlformats.org/drawingml/2006/main" w="0">
            <a:solidFill>
              <a:srgbClr val="EAF2FF"/>
            </a:solidFill>
            <a:prstDash val="solid"/>
          </a:ln>
        </p:spPr>
      </p:sp>
      <p:sp>
        <p:nvSpPr>
          <p:cNvPr id="36" name="">
            <a:extLst xmlns:a="http://schemas.openxmlformats.org/drawingml/2006/main">
              <a:ext uri="{FF2B5EF4-FFF2-40B4-BE49-F238E27FC236}">
                <a16:creationId xmlns:a16="http://schemas.microsoft.com/office/drawing/2014/main" id="{81B2A0E7-5831-422A-8664-AB34AD488EA5}"/>
              </a:ext>
            </a:extLst>
          </p:cNvPr>
          <p:cNvSpPr>
            <a:spLocks xmlns:a="http://schemas.openxmlformats.org/drawingml/2006/main" noGrp="1"/>
          </p:cNvSpPr>
          <p:nvPr/>
        </p:nvSpPr>
        <p:spPr>
          <a:xfrm xmlns:a="http://schemas.openxmlformats.org/drawingml/2006/main">
            <a:off x="7296150" y="5743575"/>
            <a:ext cx="40005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B2545"/>
                </a:solidFill>
                <a:latin typeface="Aptos"/>
                <a:ea typeface="Aptos"/>
                <a:cs typeface="Aptos"/>
              </a:defRPr>
            </a:pPr>
            <a:r>
              <a:t>Decision: advance Mistral to model-blind expert calibration; keep Llama as the comparison arm.</a:t>
            </a:r>
          </a:p>
        </p:txBody>
      </p:sp>
    </p:spTree>
    <p:extLst>
      <p:ext uri="{BB962C8B-B14F-4D97-AF65-F5344CB8AC3E}">
        <p14:creationId xmlns:p14="http://schemas.microsoft.com/office/powerpoint/2010/main" val="11747791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C8D23388-9137-4EA6-AE67-D4DDC9353D20}"/>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4AD8FF33-23CF-419F-86A6-0579989A02F6}"/>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172033"/>
                </a:solidFill>
                <a:latin typeface="Aptos"/>
                <a:ea typeface="Aptos"/>
                <a:cs typeface="Aptos"/>
              </a:defRPr>
            </a:pPr>
            <a:r>
              <a:t>RAG adds +0.656 relevance and +0.523 coverage—but +8.03s latency</a:t>
            </a:r>
          </a:p>
        </p:txBody>
      </p:sp>
      <p:cxnSp>
        <p:nvCxnSpPr>
          <p:cNvPr id="45"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E7DF5913-D12A-4761-9906-021BC3292A69}"/>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05</a:t>
            </a:r>
          </a:p>
        </p:txBody>
      </p:sp>
      <p:sp>
        <p:nvSpPr>
          <p:cNvPr id="5" name="">
            <a:extLst xmlns:a="http://schemas.openxmlformats.org/drawingml/2006/main">
              <a:ext uri="{FF2B5EF4-FFF2-40B4-BE49-F238E27FC236}">
                <a16:creationId xmlns:a16="http://schemas.microsoft.com/office/drawing/2014/main" id="{D2712F3D-9F82-4BC4-943F-6890CB48D198}"/>
              </a:ext>
            </a:extLst>
          </p:cNvPr>
          <p:cNvSpPr>
            <a:spLocks xmlns:a="http://schemas.openxmlformats.org/drawingml/2006/main" noGrp="1"/>
          </p:cNvSpPr>
          <p:nvPr/>
        </p:nvSpPr>
        <p:spPr>
          <a:xfrm xmlns:a="http://schemas.openxmlformats.org/drawingml/2006/main">
            <a:off x="590550" y="1495425"/>
            <a:ext cx="6191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5B677A"/>
                </a:solidFill>
                <a:latin typeface="Aptos"/>
                <a:ea typeface="Aptos"/>
                <a:cs typeface="Aptos"/>
              </a:defRPr>
            </a:pPr>
            <a:r>
              <a:t>Matched long-source evaluation · 40 governed questions</a:t>
            </a:r>
          </a:p>
        </p:txBody>
      </p:sp>
      <p:sp>
        <p:nvSpPr>
          <p:cNvPr id="6" name="">
            <a:extLst xmlns:a="http://schemas.openxmlformats.org/drawingml/2006/main">
              <a:ext uri="{FF2B5EF4-FFF2-40B4-BE49-F238E27FC236}">
                <a16:creationId xmlns:a16="http://schemas.microsoft.com/office/drawing/2014/main" id="{8F267C4D-0080-4D5F-9CE1-6BCDEA750D56}"/>
              </a:ext>
            </a:extLst>
          </p:cNvPr>
          <p:cNvSpPr>
            <a:spLocks xmlns:a="http://schemas.openxmlformats.org/drawingml/2006/main" noGrp="1"/>
          </p:cNvSpPr>
          <p:nvPr/>
        </p:nvSpPr>
        <p:spPr>
          <a:xfrm xmlns:a="http://schemas.openxmlformats.org/drawingml/2006/main">
            <a:off x="666750" y="1781175"/>
            <a:ext cx="2476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0B2545"/>
                </a:solidFill>
                <a:latin typeface="Aptos"/>
                <a:ea typeface="Aptos"/>
                <a:cs typeface="Aptos"/>
              </a:defRPr>
            </a:pPr>
            <a:r>
              <a:t>Answer relevance</a:t>
            </a:r>
          </a:p>
        </p:txBody>
      </p:sp>
      <p:sp>
        <p:nvSpPr>
          <p:cNvPr id="7" name="">
            <a:extLst xmlns:a="http://schemas.openxmlformats.org/drawingml/2006/main">
              <a:ext uri="{FF2B5EF4-FFF2-40B4-BE49-F238E27FC236}">
                <a16:creationId xmlns:a16="http://schemas.microsoft.com/office/drawing/2014/main" id="{7368FF75-9412-4ACE-8047-581FBCFD9F1C}"/>
              </a:ext>
            </a:extLst>
          </p:cNvPr>
          <p:cNvSpPr>
            <a:spLocks xmlns:a="http://schemas.openxmlformats.org/drawingml/2006/main" noGrp="1"/>
          </p:cNvSpPr>
          <p:nvPr/>
        </p:nvSpPr>
        <p:spPr>
          <a:xfrm xmlns:a="http://schemas.openxmlformats.org/drawingml/2006/main">
            <a:off x="666750" y="2076450"/>
            <a:ext cx="5619750" cy="266700"/>
          </a:xfrm>
          <a:prstGeom xmlns:a="http://schemas.openxmlformats.org/drawingml/2006/main" prst="roundRect">
            <a:avLst>
              <a:gd name="adj" fmla="val 28571"/>
            </a:avLst>
          </a:prstGeom>
          <a:solidFill xmlns:a="http://schemas.openxmlformats.org/drawingml/2006/main">
            <a:srgbClr val="F4F7FA"/>
          </a:solidFill>
          <a:ln xmlns:a="http://schemas.openxmlformats.org/drawingml/2006/main" w="0">
            <a:solidFill>
              <a:srgbClr val="F4F7FA"/>
            </a:solidFill>
            <a:prstDash val="solid"/>
          </a:ln>
        </p:spPr>
      </p:sp>
      <p:sp>
        <p:nvSpPr>
          <p:cNvPr id="8" name="">
            <a:extLst xmlns:a="http://schemas.openxmlformats.org/drawingml/2006/main">
              <a:ext uri="{FF2B5EF4-FFF2-40B4-BE49-F238E27FC236}">
                <a16:creationId xmlns:a16="http://schemas.microsoft.com/office/drawing/2014/main" id="{978374A7-5219-4B07-9029-28FA85632323}"/>
              </a:ext>
            </a:extLst>
          </p:cNvPr>
          <p:cNvSpPr>
            <a:spLocks xmlns:a="http://schemas.openxmlformats.org/drawingml/2006/main" noGrp="1"/>
          </p:cNvSpPr>
          <p:nvPr/>
        </p:nvSpPr>
        <p:spPr>
          <a:xfrm xmlns:a="http://schemas.openxmlformats.org/drawingml/2006/main">
            <a:off x="666750" y="2076450"/>
            <a:ext cx="1483614" cy="266700"/>
          </a:xfrm>
          <a:prstGeom xmlns:a="http://schemas.openxmlformats.org/drawingml/2006/main" prst="roundRect">
            <a:avLst>
              <a:gd name="adj" fmla="val 28571"/>
            </a:avLst>
          </a:prstGeom>
          <a:solidFill xmlns:a="http://schemas.openxmlformats.org/drawingml/2006/main">
            <a:srgbClr val="9AA5B1"/>
          </a:solidFill>
          <a:ln xmlns:a="http://schemas.openxmlformats.org/drawingml/2006/main" w="0">
            <a:solidFill>
              <a:srgbClr val="9AA5B1"/>
            </a:solidFill>
            <a:prstDash val="solid"/>
          </a:ln>
        </p:spPr>
      </p:sp>
      <p:sp>
        <p:nvSpPr>
          <p:cNvPr id="9" name="">
            <a:extLst xmlns:a="http://schemas.openxmlformats.org/drawingml/2006/main">
              <a:ext uri="{FF2B5EF4-FFF2-40B4-BE49-F238E27FC236}">
                <a16:creationId xmlns:a16="http://schemas.microsoft.com/office/drawing/2014/main" id="{8F00B3A7-AAB2-455F-AACE-8F48DFA7D22F}"/>
              </a:ext>
            </a:extLst>
          </p:cNvPr>
          <p:cNvSpPr>
            <a:spLocks xmlns:a="http://schemas.openxmlformats.org/drawingml/2006/main" noGrp="1"/>
          </p:cNvSpPr>
          <p:nvPr/>
        </p:nvSpPr>
        <p:spPr>
          <a:xfrm xmlns:a="http://schemas.openxmlformats.org/drawingml/2006/main">
            <a:off x="666750" y="2438400"/>
            <a:ext cx="15240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Base 0.264</a:t>
            </a:r>
          </a:p>
        </p:txBody>
      </p:sp>
      <p:sp>
        <p:nvSpPr>
          <p:cNvPr id="10" name="">
            <a:extLst xmlns:a="http://schemas.openxmlformats.org/drawingml/2006/main">
              <a:ext uri="{FF2B5EF4-FFF2-40B4-BE49-F238E27FC236}">
                <a16:creationId xmlns:a16="http://schemas.microsoft.com/office/drawing/2014/main" id="{5D3FA6C8-F253-43EE-B5E5-D418D2803C2C}"/>
              </a:ext>
            </a:extLst>
          </p:cNvPr>
          <p:cNvSpPr>
            <a:spLocks xmlns:a="http://schemas.openxmlformats.org/drawingml/2006/main" noGrp="1"/>
          </p:cNvSpPr>
          <p:nvPr/>
        </p:nvSpPr>
        <p:spPr>
          <a:xfrm xmlns:a="http://schemas.openxmlformats.org/drawingml/2006/main">
            <a:off x="666750" y="2724150"/>
            <a:ext cx="5619750" cy="266700"/>
          </a:xfrm>
          <a:prstGeom xmlns:a="http://schemas.openxmlformats.org/drawingml/2006/main" prst="roundRect">
            <a:avLst>
              <a:gd name="adj" fmla="val 28571"/>
            </a:avLst>
          </a:prstGeom>
          <a:solidFill xmlns:a="http://schemas.openxmlformats.org/drawingml/2006/main">
            <a:srgbClr val="F4F7FA"/>
          </a:solidFill>
          <a:ln xmlns:a="http://schemas.openxmlformats.org/drawingml/2006/main" w="0">
            <a:solidFill>
              <a:srgbClr val="F4F7FA"/>
            </a:solidFill>
            <a:prstDash val="solid"/>
          </a:ln>
        </p:spPr>
      </p:sp>
      <p:sp>
        <p:nvSpPr>
          <p:cNvPr id="11" name="">
            <a:extLst xmlns:a="http://schemas.openxmlformats.org/drawingml/2006/main">
              <a:ext uri="{FF2B5EF4-FFF2-40B4-BE49-F238E27FC236}">
                <a16:creationId xmlns:a16="http://schemas.microsoft.com/office/drawing/2014/main" id="{320069BC-B85C-4832-B8FA-D611AD2CDFA6}"/>
              </a:ext>
            </a:extLst>
          </p:cNvPr>
          <p:cNvSpPr>
            <a:spLocks xmlns:a="http://schemas.openxmlformats.org/drawingml/2006/main" noGrp="1"/>
          </p:cNvSpPr>
          <p:nvPr/>
        </p:nvSpPr>
        <p:spPr>
          <a:xfrm xmlns:a="http://schemas.openxmlformats.org/drawingml/2006/main">
            <a:off x="666750" y="2724150"/>
            <a:ext cx="5170170" cy="266700"/>
          </a:xfrm>
          <a:prstGeom xmlns:a="http://schemas.openxmlformats.org/drawingml/2006/main" prst="roundRect">
            <a:avLst>
              <a:gd name="adj" fmla="val 28571"/>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D45FDCA9-91FA-4308-8D04-FE72C7E91D18}"/>
              </a:ext>
            </a:extLst>
          </p:cNvPr>
          <p:cNvSpPr>
            <a:spLocks xmlns:a="http://schemas.openxmlformats.org/drawingml/2006/main" noGrp="1"/>
          </p:cNvSpPr>
          <p:nvPr/>
        </p:nvSpPr>
        <p:spPr>
          <a:xfrm xmlns:a="http://schemas.openxmlformats.org/drawingml/2006/main">
            <a:off x="666750" y="3086100"/>
            <a:ext cx="15240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563EB"/>
                </a:solidFill>
                <a:latin typeface="Aptos"/>
                <a:ea typeface="Aptos"/>
                <a:cs typeface="Aptos"/>
              </a:defRPr>
            </a:pPr>
            <a:r>
              <a:t>RAG 0.920</a:t>
            </a:r>
          </a:p>
        </p:txBody>
      </p:sp>
      <p:sp>
        <p:nvSpPr>
          <p:cNvPr id="13" name="">
            <a:extLst xmlns:a="http://schemas.openxmlformats.org/drawingml/2006/main">
              <a:ext uri="{FF2B5EF4-FFF2-40B4-BE49-F238E27FC236}">
                <a16:creationId xmlns:a16="http://schemas.microsoft.com/office/drawing/2014/main" id="{C8CCFB74-5C85-44DF-857F-901B47A23916}"/>
              </a:ext>
            </a:extLst>
          </p:cNvPr>
          <p:cNvSpPr>
            <a:spLocks xmlns:a="http://schemas.openxmlformats.org/drawingml/2006/main" noGrp="1"/>
          </p:cNvSpPr>
          <p:nvPr/>
        </p:nvSpPr>
        <p:spPr>
          <a:xfrm xmlns:a="http://schemas.openxmlformats.org/drawingml/2006/main">
            <a:off x="5238750" y="2371725"/>
            <a:ext cx="952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100" b="1" i="0">
                <a:solidFill>
                  <a:srgbClr val="2563EB"/>
                </a:solidFill>
                <a:latin typeface="Aptos"/>
                <a:ea typeface="Aptos"/>
                <a:cs typeface="Aptos"/>
              </a:defRPr>
            </a:pPr>
            <a:r>
              <a:t>+0.656</a:t>
            </a:r>
          </a:p>
        </p:txBody>
      </p:sp>
      <p:sp>
        <p:nvSpPr>
          <p:cNvPr id="14" name="">
            <a:extLst xmlns:a="http://schemas.openxmlformats.org/drawingml/2006/main">
              <a:ext uri="{FF2B5EF4-FFF2-40B4-BE49-F238E27FC236}">
                <a16:creationId xmlns:a16="http://schemas.microsoft.com/office/drawing/2014/main" id="{07441BD6-5A0B-4EC0-8A5B-998F6DBDEEBF}"/>
              </a:ext>
            </a:extLst>
          </p:cNvPr>
          <p:cNvSpPr>
            <a:spLocks xmlns:a="http://schemas.openxmlformats.org/drawingml/2006/main" noGrp="1"/>
          </p:cNvSpPr>
          <p:nvPr/>
        </p:nvSpPr>
        <p:spPr>
          <a:xfrm xmlns:a="http://schemas.openxmlformats.org/drawingml/2006/main">
            <a:off x="666750" y="3352800"/>
            <a:ext cx="2476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0B2545"/>
                </a:solidFill>
                <a:latin typeface="Aptos"/>
                <a:ea typeface="Aptos"/>
                <a:cs typeface="Aptos"/>
              </a:defRPr>
            </a:pPr>
            <a:r>
              <a:t>Required-point coverage</a:t>
            </a:r>
          </a:p>
        </p:txBody>
      </p:sp>
      <p:sp>
        <p:nvSpPr>
          <p:cNvPr id="15" name="">
            <a:extLst xmlns:a="http://schemas.openxmlformats.org/drawingml/2006/main">
              <a:ext uri="{FF2B5EF4-FFF2-40B4-BE49-F238E27FC236}">
                <a16:creationId xmlns:a16="http://schemas.microsoft.com/office/drawing/2014/main" id="{76B463CC-4278-4419-B889-98E230F665CD}"/>
              </a:ext>
            </a:extLst>
          </p:cNvPr>
          <p:cNvSpPr>
            <a:spLocks xmlns:a="http://schemas.openxmlformats.org/drawingml/2006/main" noGrp="1"/>
          </p:cNvSpPr>
          <p:nvPr/>
        </p:nvSpPr>
        <p:spPr>
          <a:xfrm xmlns:a="http://schemas.openxmlformats.org/drawingml/2006/main">
            <a:off x="666750" y="3648075"/>
            <a:ext cx="5619750" cy="266700"/>
          </a:xfrm>
          <a:prstGeom xmlns:a="http://schemas.openxmlformats.org/drawingml/2006/main" prst="roundRect">
            <a:avLst>
              <a:gd name="adj" fmla="val 28571"/>
            </a:avLst>
          </a:prstGeom>
          <a:solidFill xmlns:a="http://schemas.openxmlformats.org/drawingml/2006/main">
            <a:srgbClr val="F4F7FA"/>
          </a:solidFill>
          <a:ln xmlns:a="http://schemas.openxmlformats.org/drawingml/2006/main" w="0">
            <a:solidFill>
              <a:srgbClr val="F4F7FA"/>
            </a:solidFill>
            <a:prstDash val="solid"/>
          </a:ln>
        </p:spPr>
      </p:sp>
      <p:sp>
        <p:nvSpPr>
          <p:cNvPr id="16" name="">
            <a:extLst xmlns:a="http://schemas.openxmlformats.org/drawingml/2006/main">
              <a:ext uri="{FF2B5EF4-FFF2-40B4-BE49-F238E27FC236}">
                <a16:creationId xmlns:a16="http://schemas.microsoft.com/office/drawing/2014/main" id="{64ED4A02-DD34-4893-B6C4-F9A68C43C74A}"/>
              </a:ext>
            </a:extLst>
          </p:cNvPr>
          <p:cNvSpPr>
            <a:spLocks xmlns:a="http://schemas.openxmlformats.org/drawingml/2006/main" noGrp="1"/>
          </p:cNvSpPr>
          <p:nvPr/>
        </p:nvSpPr>
        <p:spPr>
          <a:xfrm xmlns:a="http://schemas.openxmlformats.org/drawingml/2006/main">
            <a:off x="666750" y="3648075"/>
            <a:ext cx="2017490" cy="266700"/>
          </a:xfrm>
          <a:prstGeom xmlns:a="http://schemas.openxmlformats.org/drawingml/2006/main" prst="roundRect">
            <a:avLst>
              <a:gd name="adj" fmla="val 28571"/>
            </a:avLst>
          </a:prstGeom>
          <a:solidFill xmlns:a="http://schemas.openxmlformats.org/drawingml/2006/main">
            <a:srgbClr val="9AA5B1"/>
          </a:solidFill>
          <a:ln xmlns:a="http://schemas.openxmlformats.org/drawingml/2006/main" w="0">
            <a:solidFill>
              <a:srgbClr val="9AA5B1"/>
            </a:solidFill>
            <a:prstDash val="solid"/>
          </a:ln>
        </p:spPr>
      </p:sp>
      <p:sp>
        <p:nvSpPr>
          <p:cNvPr id="17" name="">
            <a:extLst xmlns:a="http://schemas.openxmlformats.org/drawingml/2006/main">
              <a:ext uri="{FF2B5EF4-FFF2-40B4-BE49-F238E27FC236}">
                <a16:creationId xmlns:a16="http://schemas.microsoft.com/office/drawing/2014/main" id="{A38B4962-E605-4776-B7D1-8EFB3009345E}"/>
              </a:ext>
            </a:extLst>
          </p:cNvPr>
          <p:cNvSpPr>
            <a:spLocks xmlns:a="http://schemas.openxmlformats.org/drawingml/2006/main" noGrp="1"/>
          </p:cNvSpPr>
          <p:nvPr/>
        </p:nvSpPr>
        <p:spPr>
          <a:xfrm xmlns:a="http://schemas.openxmlformats.org/drawingml/2006/main">
            <a:off x="666750" y="4010025"/>
            <a:ext cx="15240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Base 0.359</a:t>
            </a:r>
          </a:p>
        </p:txBody>
      </p:sp>
      <p:sp>
        <p:nvSpPr>
          <p:cNvPr id="18" name="">
            <a:extLst xmlns:a="http://schemas.openxmlformats.org/drawingml/2006/main">
              <a:ext uri="{FF2B5EF4-FFF2-40B4-BE49-F238E27FC236}">
                <a16:creationId xmlns:a16="http://schemas.microsoft.com/office/drawing/2014/main" id="{7B91C144-2C93-45B7-A55B-29C915A31889}"/>
              </a:ext>
            </a:extLst>
          </p:cNvPr>
          <p:cNvSpPr>
            <a:spLocks xmlns:a="http://schemas.openxmlformats.org/drawingml/2006/main" noGrp="1"/>
          </p:cNvSpPr>
          <p:nvPr/>
        </p:nvSpPr>
        <p:spPr>
          <a:xfrm xmlns:a="http://schemas.openxmlformats.org/drawingml/2006/main">
            <a:off x="666750" y="4295775"/>
            <a:ext cx="5619750" cy="266700"/>
          </a:xfrm>
          <a:prstGeom xmlns:a="http://schemas.openxmlformats.org/drawingml/2006/main" prst="roundRect">
            <a:avLst>
              <a:gd name="adj" fmla="val 28571"/>
            </a:avLst>
          </a:prstGeom>
          <a:solidFill xmlns:a="http://schemas.openxmlformats.org/drawingml/2006/main">
            <a:srgbClr val="F4F7FA"/>
          </a:solidFill>
          <a:ln xmlns:a="http://schemas.openxmlformats.org/drawingml/2006/main" w="0">
            <a:solidFill>
              <a:srgbClr val="F4F7FA"/>
            </a:solidFill>
            <a:prstDash val="solid"/>
          </a:ln>
        </p:spPr>
      </p:sp>
      <p:sp>
        <p:nvSpPr>
          <p:cNvPr id="19" name="">
            <a:extLst xmlns:a="http://schemas.openxmlformats.org/drawingml/2006/main">
              <a:ext uri="{FF2B5EF4-FFF2-40B4-BE49-F238E27FC236}">
                <a16:creationId xmlns:a16="http://schemas.microsoft.com/office/drawing/2014/main" id="{47BA62AF-910D-45BC-AE4A-D02918B2294D}"/>
              </a:ext>
            </a:extLst>
          </p:cNvPr>
          <p:cNvSpPr>
            <a:spLocks xmlns:a="http://schemas.openxmlformats.org/drawingml/2006/main" noGrp="1"/>
          </p:cNvSpPr>
          <p:nvPr/>
        </p:nvSpPr>
        <p:spPr>
          <a:xfrm xmlns:a="http://schemas.openxmlformats.org/drawingml/2006/main">
            <a:off x="666750" y="4295775"/>
            <a:ext cx="4956620" cy="266700"/>
          </a:xfrm>
          <a:prstGeom xmlns:a="http://schemas.openxmlformats.org/drawingml/2006/main" prst="roundRect">
            <a:avLst>
              <a:gd name="adj" fmla="val 28571"/>
            </a:avLst>
          </a:prstGeom>
          <a:solidFill xmlns:a="http://schemas.openxmlformats.org/drawingml/2006/main">
            <a:srgbClr val="0F9D8A"/>
          </a:solidFill>
          <a:ln xmlns:a="http://schemas.openxmlformats.org/drawingml/2006/main" w="0">
            <a:solidFill>
              <a:srgbClr val="0F9D8A"/>
            </a:solidFill>
            <a:prstDash val="solid"/>
          </a:ln>
        </p:spPr>
      </p:sp>
      <p:sp>
        <p:nvSpPr>
          <p:cNvPr id="20" name="">
            <a:extLst xmlns:a="http://schemas.openxmlformats.org/drawingml/2006/main">
              <a:ext uri="{FF2B5EF4-FFF2-40B4-BE49-F238E27FC236}">
                <a16:creationId xmlns:a16="http://schemas.microsoft.com/office/drawing/2014/main" id="{57DD0653-4E84-4712-A191-37B0929F92B6}"/>
              </a:ext>
            </a:extLst>
          </p:cNvPr>
          <p:cNvSpPr>
            <a:spLocks xmlns:a="http://schemas.openxmlformats.org/drawingml/2006/main" noGrp="1"/>
          </p:cNvSpPr>
          <p:nvPr/>
        </p:nvSpPr>
        <p:spPr>
          <a:xfrm xmlns:a="http://schemas.openxmlformats.org/drawingml/2006/main">
            <a:off x="666750" y="4657725"/>
            <a:ext cx="15240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0F9D8A"/>
                </a:solidFill>
                <a:latin typeface="Aptos"/>
                <a:ea typeface="Aptos"/>
                <a:cs typeface="Aptos"/>
              </a:defRPr>
            </a:pPr>
            <a:r>
              <a:t>RAG 0.882</a:t>
            </a:r>
          </a:p>
        </p:txBody>
      </p:sp>
      <p:sp>
        <p:nvSpPr>
          <p:cNvPr id="21" name="">
            <a:extLst xmlns:a="http://schemas.openxmlformats.org/drawingml/2006/main">
              <a:ext uri="{FF2B5EF4-FFF2-40B4-BE49-F238E27FC236}">
                <a16:creationId xmlns:a16="http://schemas.microsoft.com/office/drawing/2014/main" id="{CA86D42A-9401-4EFB-8A75-BCFB36B8E1B0}"/>
              </a:ext>
            </a:extLst>
          </p:cNvPr>
          <p:cNvSpPr>
            <a:spLocks xmlns:a="http://schemas.openxmlformats.org/drawingml/2006/main" noGrp="1"/>
          </p:cNvSpPr>
          <p:nvPr/>
        </p:nvSpPr>
        <p:spPr>
          <a:xfrm xmlns:a="http://schemas.openxmlformats.org/drawingml/2006/main">
            <a:off x="5238750" y="3943350"/>
            <a:ext cx="952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100" b="1" i="0">
                <a:solidFill>
                  <a:srgbClr val="0F9D8A"/>
                </a:solidFill>
                <a:latin typeface="Aptos"/>
                <a:ea typeface="Aptos"/>
                <a:cs typeface="Aptos"/>
              </a:defRPr>
            </a:pPr>
            <a:r>
              <a:t>+0.523</a:t>
            </a:r>
          </a:p>
        </p:txBody>
      </p:sp>
      <p:sp>
        <p:nvSpPr>
          <p:cNvPr id="22" name="">
            <a:extLst xmlns:a="http://schemas.openxmlformats.org/drawingml/2006/main">
              <a:ext uri="{FF2B5EF4-FFF2-40B4-BE49-F238E27FC236}">
                <a16:creationId xmlns:a16="http://schemas.microsoft.com/office/drawing/2014/main" id="{7DA07638-FE78-4D76-91D5-CE40BAFD4CCA}"/>
              </a:ext>
            </a:extLst>
          </p:cNvPr>
          <p:cNvSpPr>
            <a:spLocks xmlns:a="http://schemas.openxmlformats.org/drawingml/2006/main" noGrp="1"/>
          </p:cNvSpPr>
          <p:nvPr/>
        </p:nvSpPr>
        <p:spPr>
          <a:xfrm xmlns:a="http://schemas.openxmlformats.org/drawingml/2006/main">
            <a:off x="6858000" y="1543050"/>
            <a:ext cx="4572000" cy="1428750"/>
          </a:xfrm>
          <a:prstGeom xmlns:a="http://schemas.openxmlformats.org/drawingml/2006/main" prst="roundRect">
            <a:avLst>
              <a:gd name="adj" fmla="val 5333"/>
            </a:avLst>
          </a:prstGeom>
          <a:solidFill xmlns:a="http://schemas.openxmlformats.org/drawingml/2006/main">
            <a:srgbClr val="FFF5DC"/>
          </a:solidFill>
          <a:ln xmlns:a="http://schemas.openxmlformats.org/drawingml/2006/main" w="0">
            <a:solidFill>
              <a:srgbClr val="FFF5DC"/>
            </a:solidFill>
            <a:prstDash val="solid"/>
          </a:ln>
        </p:spPr>
      </p:sp>
      <p:sp>
        <p:nvSpPr>
          <p:cNvPr id="23" name="">
            <a:extLst xmlns:a="http://schemas.openxmlformats.org/drawingml/2006/main">
              <a:ext uri="{FF2B5EF4-FFF2-40B4-BE49-F238E27FC236}">
                <a16:creationId xmlns:a16="http://schemas.microsoft.com/office/drawing/2014/main" id="{9EEECF18-75A1-46D0-8302-BAD838D34045}"/>
              </a:ext>
            </a:extLst>
          </p:cNvPr>
          <p:cNvSpPr>
            <a:spLocks xmlns:a="http://schemas.openxmlformats.org/drawingml/2006/main" noGrp="1"/>
          </p:cNvSpPr>
          <p:nvPr/>
        </p:nvSpPr>
        <p:spPr>
          <a:xfrm xmlns:a="http://schemas.openxmlformats.org/drawingml/2006/main">
            <a:off x="7124700" y="1743075"/>
            <a:ext cx="1714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D48A00"/>
                </a:solidFill>
                <a:latin typeface="Aptos"/>
                <a:ea typeface="Aptos"/>
                <a:cs typeface="Aptos"/>
              </a:defRPr>
            </a:pPr>
            <a:r>
              <a:t>Latency cost</a:t>
            </a:r>
          </a:p>
        </p:txBody>
      </p:sp>
      <p:sp>
        <p:nvSpPr>
          <p:cNvPr id="24" name="">
            <a:extLst xmlns:a="http://schemas.openxmlformats.org/drawingml/2006/main">
              <a:ext uri="{FF2B5EF4-FFF2-40B4-BE49-F238E27FC236}">
                <a16:creationId xmlns:a16="http://schemas.microsoft.com/office/drawing/2014/main" id="{6A10760F-6633-4918-BCC9-31BACC36406F}"/>
              </a:ext>
            </a:extLst>
          </p:cNvPr>
          <p:cNvSpPr>
            <a:spLocks xmlns:a="http://schemas.openxmlformats.org/drawingml/2006/main" noGrp="1"/>
          </p:cNvSpPr>
          <p:nvPr/>
        </p:nvSpPr>
        <p:spPr>
          <a:xfrm xmlns:a="http://schemas.openxmlformats.org/drawingml/2006/main">
            <a:off x="7124700" y="2095500"/>
            <a:ext cx="200025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D48A00"/>
                </a:solidFill>
                <a:latin typeface="Aptos"/>
                <a:ea typeface="Aptos"/>
                <a:cs typeface="Aptos"/>
              </a:defRPr>
            </a:pPr>
            <a:r>
              <a:t>+8.03 s</a:t>
            </a:r>
          </a:p>
        </p:txBody>
      </p:sp>
      <p:sp>
        <p:nvSpPr>
          <p:cNvPr id="25" name="">
            <a:extLst xmlns:a="http://schemas.openxmlformats.org/drawingml/2006/main">
              <a:ext uri="{FF2B5EF4-FFF2-40B4-BE49-F238E27FC236}">
                <a16:creationId xmlns:a16="http://schemas.microsoft.com/office/drawing/2014/main" id="{ACAEFF1D-95B5-4AFE-85BA-892186DCA59D}"/>
              </a:ext>
            </a:extLst>
          </p:cNvPr>
          <p:cNvSpPr>
            <a:spLocks xmlns:a="http://schemas.openxmlformats.org/drawingml/2006/main" noGrp="1"/>
          </p:cNvSpPr>
          <p:nvPr/>
        </p:nvSpPr>
        <p:spPr>
          <a:xfrm xmlns:a="http://schemas.openxmlformats.org/drawingml/2006/main">
            <a:off x="9086850" y="2209800"/>
            <a:ext cx="20002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172033"/>
                </a:solidFill>
                <a:latin typeface="Aptos"/>
                <a:ea typeface="Aptos"/>
                <a:cs typeface="Aptos"/>
              </a:defRPr>
            </a:pPr>
            <a:r>
              <a:t>mean matched request latency</a:t>
            </a:r>
          </a:p>
        </p:txBody>
      </p:sp>
      <p:sp>
        <p:nvSpPr>
          <p:cNvPr id="26" name="">
            <a:extLst xmlns:a="http://schemas.openxmlformats.org/drawingml/2006/main">
              <a:ext uri="{FF2B5EF4-FFF2-40B4-BE49-F238E27FC236}">
                <a16:creationId xmlns:a16="http://schemas.microsoft.com/office/drawing/2014/main" id="{2CAA67EC-F42A-49BB-8A43-A6E5C4AD7CA5}"/>
              </a:ext>
            </a:extLst>
          </p:cNvPr>
          <p:cNvSpPr>
            <a:spLocks xmlns:a="http://schemas.openxmlformats.org/drawingml/2006/main" noGrp="1"/>
          </p:cNvSpPr>
          <p:nvPr/>
        </p:nvSpPr>
        <p:spPr>
          <a:xfrm xmlns:a="http://schemas.openxmlformats.org/drawingml/2006/main">
            <a:off x="6858000" y="3219450"/>
            <a:ext cx="4572000" cy="1752600"/>
          </a:xfrm>
          <a:prstGeom xmlns:a="http://schemas.openxmlformats.org/drawingml/2006/main" prst="roundRect">
            <a:avLst>
              <a:gd name="adj" fmla="val 4348"/>
            </a:avLst>
          </a:prstGeom>
          <a:solidFill xmlns:a="http://schemas.openxmlformats.org/drawingml/2006/main">
            <a:srgbClr val="F4F7FA"/>
          </a:solidFill>
          <a:ln xmlns:a="http://schemas.openxmlformats.org/drawingml/2006/main" w="0">
            <a:solidFill>
              <a:srgbClr val="F4F7FA"/>
            </a:solidFill>
            <a:prstDash val="solid"/>
          </a:ln>
        </p:spPr>
      </p:sp>
      <p:sp>
        <p:nvSpPr>
          <p:cNvPr id="27" name="">
            <a:extLst xmlns:a="http://schemas.openxmlformats.org/drawingml/2006/main">
              <a:ext uri="{FF2B5EF4-FFF2-40B4-BE49-F238E27FC236}">
                <a16:creationId xmlns:a16="http://schemas.microsoft.com/office/drawing/2014/main" id="{4899E4BB-39FB-4F84-B3E0-1BC6F1E56206}"/>
              </a:ext>
            </a:extLst>
          </p:cNvPr>
          <p:cNvSpPr>
            <a:spLocks xmlns:a="http://schemas.openxmlformats.org/drawingml/2006/main" noGrp="1"/>
          </p:cNvSpPr>
          <p:nvPr/>
        </p:nvSpPr>
        <p:spPr>
          <a:xfrm xmlns:a="http://schemas.openxmlformats.org/drawingml/2006/main">
            <a:off x="7124700" y="3429000"/>
            <a:ext cx="2476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2545"/>
                </a:solidFill>
                <a:latin typeface="Aptos"/>
                <a:ea typeface="Aptos"/>
                <a:cs typeface="Aptos"/>
              </a:defRPr>
            </a:pPr>
            <a:r>
              <a:t>Retrieval diagnostics</a:t>
            </a:r>
          </a:p>
        </p:txBody>
      </p:sp>
      <p:sp>
        <p:nvSpPr>
          <p:cNvPr id="28" name="">
            <a:extLst xmlns:a="http://schemas.openxmlformats.org/drawingml/2006/main">
              <a:ext uri="{FF2B5EF4-FFF2-40B4-BE49-F238E27FC236}">
                <a16:creationId xmlns:a16="http://schemas.microsoft.com/office/drawing/2014/main" id="{F523745F-DD49-485F-AD03-CD552636224B}"/>
              </a:ext>
            </a:extLst>
          </p:cNvPr>
          <p:cNvSpPr>
            <a:spLocks xmlns:a="http://schemas.openxmlformats.org/drawingml/2006/main" noGrp="1"/>
          </p:cNvSpPr>
          <p:nvPr/>
        </p:nvSpPr>
        <p:spPr>
          <a:xfrm xmlns:a="http://schemas.openxmlformats.org/drawingml/2006/main">
            <a:off x="7124700" y="3848100"/>
            <a:ext cx="12573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7DFE9"/>
            </a:solidFill>
            <a:prstDash val="solid"/>
          </a:ln>
        </p:spPr>
      </p:sp>
      <p:sp>
        <p:nvSpPr>
          <p:cNvPr id="29" name="">
            <a:extLst xmlns:a="http://schemas.openxmlformats.org/drawingml/2006/main">
              <a:ext uri="{FF2B5EF4-FFF2-40B4-BE49-F238E27FC236}">
                <a16:creationId xmlns:a16="http://schemas.microsoft.com/office/drawing/2014/main" id="{0FD4F31F-42D4-4F03-84A4-BF4CE6C408F1}"/>
              </a:ext>
            </a:extLst>
          </p:cNvPr>
          <p:cNvSpPr>
            <a:spLocks xmlns:a="http://schemas.openxmlformats.org/drawingml/2006/main" noGrp="1"/>
          </p:cNvSpPr>
          <p:nvPr/>
        </p:nvSpPr>
        <p:spPr>
          <a:xfrm xmlns:a="http://schemas.openxmlformats.org/drawingml/2006/main">
            <a:off x="7124700" y="3848100"/>
            <a:ext cx="76200" cy="8953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30" name="">
            <a:extLst xmlns:a="http://schemas.openxmlformats.org/drawingml/2006/main">
              <a:ext uri="{FF2B5EF4-FFF2-40B4-BE49-F238E27FC236}">
                <a16:creationId xmlns:a16="http://schemas.microsoft.com/office/drawing/2014/main" id="{873C007C-A890-46AA-BECB-31DEF1678E0A}"/>
              </a:ext>
            </a:extLst>
          </p:cNvPr>
          <p:cNvSpPr>
            <a:spLocks xmlns:a="http://schemas.openxmlformats.org/drawingml/2006/main" noGrp="1"/>
          </p:cNvSpPr>
          <p:nvPr/>
        </p:nvSpPr>
        <p:spPr>
          <a:xfrm xmlns:a="http://schemas.openxmlformats.org/drawingml/2006/main">
            <a:off x="7315200" y="3943350"/>
            <a:ext cx="9144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2563EB"/>
                </a:solidFill>
                <a:latin typeface="Aptos"/>
                <a:ea typeface="Aptos"/>
                <a:cs typeface="Aptos"/>
              </a:defRPr>
            </a:pPr>
            <a:r>
              <a:t>1.000</a:t>
            </a:r>
          </a:p>
        </p:txBody>
      </p:sp>
      <p:sp>
        <p:nvSpPr>
          <p:cNvPr id="31" name="">
            <a:extLst xmlns:a="http://schemas.openxmlformats.org/drawingml/2006/main">
              <a:ext uri="{FF2B5EF4-FFF2-40B4-BE49-F238E27FC236}">
                <a16:creationId xmlns:a16="http://schemas.microsoft.com/office/drawing/2014/main" id="{EB429E6A-2196-478E-8252-4DCDE6B274E5}"/>
              </a:ext>
            </a:extLst>
          </p:cNvPr>
          <p:cNvSpPr>
            <a:spLocks xmlns:a="http://schemas.openxmlformats.org/drawingml/2006/main" noGrp="1"/>
          </p:cNvSpPr>
          <p:nvPr/>
        </p:nvSpPr>
        <p:spPr>
          <a:xfrm xmlns:a="http://schemas.openxmlformats.org/drawingml/2006/main">
            <a:off x="7315200" y="4267200"/>
            <a:ext cx="9144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2033"/>
                </a:solidFill>
                <a:latin typeface="Aptos"/>
                <a:ea typeface="Aptos"/>
                <a:cs typeface="Aptos"/>
              </a:defRPr>
            </a:pPr>
            <a:r>
              <a:t>doc recall@k</a:t>
            </a:r>
          </a:p>
        </p:txBody>
      </p:sp>
      <p:sp>
        <p:nvSpPr>
          <p:cNvPr id="32" name="">
            <a:extLst xmlns:a="http://schemas.openxmlformats.org/drawingml/2006/main">
              <a:ext uri="{FF2B5EF4-FFF2-40B4-BE49-F238E27FC236}">
                <a16:creationId xmlns:a16="http://schemas.microsoft.com/office/drawing/2014/main" id="{9BB197A5-119D-4453-BFA5-A341D6222118}"/>
              </a:ext>
            </a:extLst>
          </p:cNvPr>
          <p:cNvSpPr>
            <a:spLocks xmlns:a="http://schemas.openxmlformats.org/drawingml/2006/main" noGrp="1"/>
          </p:cNvSpPr>
          <p:nvPr/>
        </p:nvSpPr>
        <p:spPr>
          <a:xfrm xmlns:a="http://schemas.openxmlformats.org/drawingml/2006/main">
            <a:off x="8515350" y="3848100"/>
            <a:ext cx="12573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7DFE9"/>
            </a:solidFill>
            <a:prstDash val="solid"/>
          </a:ln>
        </p:spPr>
      </p:sp>
      <p:sp>
        <p:nvSpPr>
          <p:cNvPr id="33" name="">
            <a:extLst xmlns:a="http://schemas.openxmlformats.org/drawingml/2006/main">
              <a:ext uri="{FF2B5EF4-FFF2-40B4-BE49-F238E27FC236}">
                <a16:creationId xmlns:a16="http://schemas.microsoft.com/office/drawing/2014/main" id="{A439434D-5338-47B0-BE48-20DE45B51BAA}"/>
              </a:ext>
            </a:extLst>
          </p:cNvPr>
          <p:cNvSpPr>
            <a:spLocks xmlns:a="http://schemas.openxmlformats.org/drawingml/2006/main" noGrp="1"/>
          </p:cNvSpPr>
          <p:nvPr/>
        </p:nvSpPr>
        <p:spPr>
          <a:xfrm xmlns:a="http://schemas.openxmlformats.org/drawingml/2006/main">
            <a:off x="8515350" y="3848100"/>
            <a:ext cx="76200" cy="89535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34" name="">
            <a:extLst xmlns:a="http://schemas.openxmlformats.org/drawingml/2006/main">
              <a:ext uri="{FF2B5EF4-FFF2-40B4-BE49-F238E27FC236}">
                <a16:creationId xmlns:a16="http://schemas.microsoft.com/office/drawing/2014/main" id="{5CBB9EF7-5CE3-43B7-A2EA-CBCE12744D27}"/>
              </a:ext>
            </a:extLst>
          </p:cNvPr>
          <p:cNvSpPr>
            <a:spLocks xmlns:a="http://schemas.openxmlformats.org/drawingml/2006/main" noGrp="1"/>
          </p:cNvSpPr>
          <p:nvPr/>
        </p:nvSpPr>
        <p:spPr>
          <a:xfrm xmlns:a="http://schemas.openxmlformats.org/drawingml/2006/main">
            <a:off x="8705850" y="3943350"/>
            <a:ext cx="9144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0F9D8A"/>
                </a:solidFill>
                <a:latin typeface="Aptos"/>
                <a:ea typeface="Aptos"/>
                <a:cs typeface="Aptos"/>
              </a:defRPr>
            </a:pPr>
            <a:r>
              <a:t>0.900</a:t>
            </a:r>
          </a:p>
        </p:txBody>
      </p:sp>
      <p:sp>
        <p:nvSpPr>
          <p:cNvPr id="35" name="">
            <a:extLst xmlns:a="http://schemas.openxmlformats.org/drawingml/2006/main">
              <a:ext uri="{FF2B5EF4-FFF2-40B4-BE49-F238E27FC236}">
                <a16:creationId xmlns:a16="http://schemas.microsoft.com/office/drawing/2014/main" id="{27D3A454-DB20-428C-8084-400AEF756DC9}"/>
              </a:ext>
            </a:extLst>
          </p:cNvPr>
          <p:cNvSpPr>
            <a:spLocks xmlns:a="http://schemas.openxmlformats.org/drawingml/2006/main" noGrp="1"/>
          </p:cNvSpPr>
          <p:nvPr/>
        </p:nvSpPr>
        <p:spPr>
          <a:xfrm xmlns:a="http://schemas.openxmlformats.org/drawingml/2006/main">
            <a:off x="8705850" y="4267200"/>
            <a:ext cx="9144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2033"/>
                </a:solidFill>
                <a:latin typeface="Aptos"/>
                <a:ea typeface="Aptos"/>
                <a:cs typeface="Aptos"/>
              </a:defRPr>
            </a:pPr>
            <a:r>
              <a:t>fact recall@k</a:t>
            </a:r>
          </a:p>
        </p:txBody>
      </p:sp>
      <p:sp>
        <p:nvSpPr>
          <p:cNvPr id="36" name="">
            <a:extLst xmlns:a="http://schemas.openxmlformats.org/drawingml/2006/main">
              <a:ext uri="{FF2B5EF4-FFF2-40B4-BE49-F238E27FC236}">
                <a16:creationId xmlns:a16="http://schemas.microsoft.com/office/drawing/2014/main" id="{AD0FE9E3-644A-40BA-8BB5-A5C68D771D98}"/>
              </a:ext>
            </a:extLst>
          </p:cNvPr>
          <p:cNvSpPr>
            <a:spLocks xmlns:a="http://schemas.openxmlformats.org/drawingml/2006/main" noGrp="1"/>
          </p:cNvSpPr>
          <p:nvPr/>
        </p:nvSpPr>
        <p:spPr>
          <a:xfrm xmlns:a="http://schemas.openxmlformats.org/drawingml/2006/main">
            <a:off x="9906000" y="3848100"/>
            <a:ext cx="12573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7DFE9"/>
            </a:solidFill>
            <a:prstDash val="solid"/>
          </a:ln>
        </p:spPr>
      </p:sp>
      <p:sp>
        <p:nvSpPr>
          <p:cNvPr id="37" name="">
            <a:extLst xmlns:a="http://schemas.openxmlformats.org/drawingml/2006/main">
              <a:ext uri="{FF2B5EF4-FFF2-40B4-BE49-F238E27FC236}">
                <a16:creationId xmlns:a16="http://schemas.microsoft.com/office/drawing/2014/main" id="{5EFDB8E4-685B-4D75-A5E6-B5DB8797977C}"/>
              </a:ext>
            </a:extLst>
          </p:cNvPr>
          <p:cNvSpPr>
            <a:spLocks xmlns:a="http://schemas.openxmlformats.org/drawingml/2006/main" noGrp="1"/>
          </p:cNvSpPr>
          <p:nvPr/>
        </p:nvSpPr>
        <p:spPr>
          <a:xfrm xmlns:a="http://schemas.openxmlformats.org/drawingml/2006/main">
            <a:off x="9906000" y="3848100"/>
            <a:ext cx="76200" cy="8953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8" name="">
            <a:extLst xmlns:a="http://schemas.openxmlformats.org/drawingml/2006/main">
              <a:ext uri="{FF2B5EF4-FFF2-40B4-BE49-F238E27FC236}">
                <a16:creationId xmlns:a16="http://schemas.microsoft.com/office/drawing/2014/main" id="{1B3D7CBA-0094-4B7E-9A4F-0A88482EC277}"/>
              </a:ext>
            </a:extLst>
          </p:cNvPr>
          <p:cNvSpPr>
            <a:spLocks xmlns:a="http://schemas.openxmlformats.org/drawingml/2006/main" noGrp="1"/>
          </p:cNvSpPr>
          <p:nvPr/>
        </p:nvSpPr>
        <p:spPr>
          <a:xfrm xmlns:a="http://schemas.openxmlformats.org/drawingml/2006/main">
            <a:off x="10096500" y="3943350"/>
            <a:ext cx="9144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2E74B5"/>
                </a:solidFill>
                <a:latin typeface="Aptos"/>
                <a:ea typeface="Aptos"/>
                <a:cs typeface="Aptos"/>
              </a:defRPr>
            </a:pPr>
            <a:r>
              <a:t>0.975</a:t>
            </a:r>
          </a:p>
        </p:txBody>
      </p:sp>
      <p:sp>
        <p:nvSpPr>
          <p:cNvPr id="39" name="">
            <a:extLst xmlns:a="http://schemas.openxmlformats.org/drawingml/2006/main">
              <a:ext uri="{FF2B5EF4-FFF2-40B4-BE49-F238E27FC236}">
                <a16:creationId xmlns:a16="http://schemas.microsoft.com/office/drawing/2014/main" id="{6D547D9E-153A-49A6-A6BE-CC5FDA8CE186}"/>
              </a:ext>
            </a:extLst>
          </p:cNvPr>
          <p:cNvSpPr>
            <a:spLocks xmlns:a="http://schemas.openxmlformats.org/drawingml/2006/main" noGrp="1"/>
          </p:cNvSpPr>
          <p:nvPr/>
        </p:nvSpPr>
        <p:spPr>
          <a:xfrm xmlns:a="http://schemas.openxmlformats.org/drawingml/2006/main">
            <a:off x="10096500" y="4267200"/>
            <a:ext cx="9144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2033"/>
                </a:solidFill>
                <a:latin typeface="Aptos"/>
                <a:ea typeface="Aptos"/>
                <a:cs typeface="Aptos"/>
              </a:defRPr>
            </a:pPr>
            <a:r>
              <a:t>MRR</a:t>
            </a:r>
          </a:p>
        </p:txBody>
      </p:sp>
      <p:sp>
        <p:nvSpPr>
          <p:cNvPr id="40" name="">
            <a:extLst xmlns:a="http://schemas.openxmlformats.org/drawingml/2006/main">
              <a:ext uri="{FF2B5EF4-FFF2-40B4-BE49-F238E27FC236}">
                <a16:creationId xmlns:a16="http://schemas.microsoft.com/office/drawing/2014/main" id="{E23E0849-AC3D-4573-AB6B-9D0284CFAF84}"/>
              </a:ext>
            </a:extLst>
          </p:cNvPr>
          <p:cNvSpPr>
            <a:spLocks xmlns:a="http://schemas.openxmlformats.org/drawingml/2006/main" noGrp="1"/>
          </p:cNvSpPr>
          <p:nvPr/>
        </p:nvSpPr>
        <p:spPr>
          <a:xfrm xmlns:a="http://schemas.openxmlformats.org/drawingml/2006/main">
            <a:off x="6858000" y="5219700"/>
            <a:ext cx="4572000" cy="781050"/>
          </a:xfrm>
          <a:prstGeom xmlns:a="http://schemas.openxmlformats.org/drawingml/2006/main" prst="roundRect">
            <a:avLst>
              <a:gd name="adj" fmla="val 9756"/>
            </a:avLst>
          </a:prstGeom>
          <a:solidFill xmlns:a="http://schemas.openxmlformats.org/drawingml/2006/main">
            <a:srgbClr val="FDEBEC"/>
          </a:solidFill>
          <a:ln xmlns:a="http://schemas.openxmlformats.org/drawingml/2006/main" w="0">
            <a:solidFill>
              <a:srgbClr val="FDEBEC"/>
            </a:solidFill>
            <a:prstDash val="solid"/>
          </a:ln>
        </p:spPr>
      </p:sp>
      <p:sp>
        <p:nvSpPr>
          <p:cNvPr id="41" name="">
            <a:extLst xmlns:a="http://schemas.openxmlformats.org/drawingml/2006/main">
              <a:ext uri="{FF2B5EF4-FFF2-40B4-BE49-F238E27FC236}">
                <a16:creationId xmlns:a16="http://schemas.microsoft.com/office/drawing/2014/main" id="{88ACD952-9DBA-48B2-8834-810D6CE4D18D}"/>
              </a:ext>
            </a:extLst>
          </p:cNvPr>
          <p:cNvSpPr>
            <a:spLocks xmlns:a="http://schemas.openxmlformats.org/drawingml/2006/main" noGrp="1"/>
          </p:cNvSpPr>
          <p:nvPr/>
        </p:nvSpPr>
        <p:spPr>
          <a:xfrm xmlns:a="http://schemas.openxmlformats.org/drawingml/2006/main">
            <a:off x="7105650" y="5381625"/>
            <a:ext cx="1809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D94B4B"/>
                </a:solidFill>
                <a:latin typeface="Aptos"/>
                <a:ea typeface="Aptos"/>
                <a:cs typeface="Aptos"/>
              </a:defRPr>
            </a:pPr>
            <a:r>
              <a:t>Interpretation boundary</a:t>
            </a:r>
          </a:p>
        </p:txBody>
      </p:sp>
      <p:sp>
        <p:nvSpPr>
          <p:cNvPr id="42" name="">
            <a:extLst xmlns:a="http://schemas.openxmlformats.org/drawingml/2006/main">
              <a:ext uri="{FF2B5EF4-FFF2-40B4-BE49-F238E27FC236}">
                <a16:creationId xmlns:a16="http://schemas.microsoft.com/office/drawing/2014/main" id="{FF909B83-AA51-445F-9E5D-DC0706E8CE3B}"/>
              </a:ext>
            </a:extLst>
          </p:cNvPr>
          <p:cNvSpPr>
            <a:spLocks xmlns:a="http://schemas.openxmlformats.org/drawingml/2006/main" noGrp="1"/>
          </p:cNvSpPr>
          <p:nvPr/>
        </p:nvSpPr>
        <p:spPr>
          <a:xfrm xmlns:a="http://schemas.openxmlformats.org/drawingml/2006/main">
            <a:off x="8915400" y="5343525"/>
            <a:ext cx="22669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172033"/>
                </a:solidFill>
                <a:latin typeface="Aptos"/>
                <a:ea typeface="Aptos"/>
                <a:cs typeface="Aptos"/>
              </a:defRPr>
            </a:pPr>
            <a:r>
              <a:t>Faithfulness can reproduce an authoritative-looking but wrong or stale source precisely.</a:t>
            </a:r>
          </a:p>
        </p:txBody>
      </p:sp>
    </p:spTree>
    <p:extLst>
      <p:ext uri="{BB962C8B-B14F-4D97-AF65-F5344CB8AC3E}">
        <p14:creationId xmlns:p14="http://schemas.microsoft.com/office/powerpoint/2010/main" val="21064087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F745AEEF-5157-484F-A111-31FCC5038C96}"/>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AFE6420C-161B-4407-9C9F-136B5B081FA2}"/>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172033"/>
                </a:solidFill>
                <a:latin typeface="Aptos"/>
                <a:ea typeface="Aptos"/>
                <a:cs typeface="Aptos"/>
              </a:defRPr>
            </a:pPr>
            <a:r>
              <a:t>0.914 consistency concealed 25 stable failures</a:t>
            </a:r>
          </a:p>
        </p:txBody>
      </p:sp>
      <p:cxnSp>
        <p:nvCxnSpPr>
          <p:cNvPr id="44"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8E4B573A-252F-4BB2-BC3F-CDCB7F81B116}"/>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06</a:t>
            </a:r>
          </a:p>
        </p:txBody>
      </p:sp>
      <p:sp>
        <p:nvSpPr>
          <p:cNvPr id="5" name="">
            <a:extLst xmlns:a="http://schemas.openxmlformats.org/drawingml/2006/main">
              <a:ext uri="{FF2B5EF4-FFF2-40B4-BE49-F238E27FC236}">
                <a16:creationId xmlns:a16="http://schemas.microsoft.com/office/drawing/2014/main" id="{FBC0D609-4015-4358-83B0-00E4E474D06D}"/>
              </a:ext>
            </a:extLst>
          </p:cNvPr>
          <p:cNvSpPr>
            <a:spLocks xmlns:a="http://schemas.openxmlformats.org/drawingml/2006/main" noGrp="1"/>
          </p:cNvSpPr>
          <p:nvPr/>
        </p:nvSpPr>
        <p:spPr>
          <a:xfrm xmlns:a="http://schemas.openxmlformats.org/drawingml/2006/main">
            <a:off x="685800" y="1504950"/>
            <a:ext cx="32385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2545"/>
                </a:solidFill>
                <a:latin typeface="Aptos"/>
                <a:ea typeface="Aptos"/>
                <a:cs typeface="Aptos"/>
              </a:defRPr>
            </a:pPr>
            <a:r>
              <a:t>Semantic consistency</a:t>
            </a:r>
          </a:p>
        </p:txBody>
      </p:sp>
      <p:sp>
        <p:nvSpPr>
          <p:cNvPr id="6" name="">
            <a:extLst xmlns:a="http://schemas.openxmlformats.org/drawingml/2006/main">
              <a:ext uri="{FF2B5EF4-FFF2-40B4-BE49-F238E27FC236}">
                <a16:creationId xmlns:a16="http://schemas.microsoft.com/office/drawing/2014/main" id="{038D9053-DDB1-4B7E-8B55-55319CF0F1EB}"/>
              </a:ext>
            </a:extLst>
          </p:cNvPr>
          <p:cNvSpPr>
            <a:spLocks xmlns:a="http://schemas.openxmlformats.org/drawingml/2006/main" noGrp="1"/>
          </p:cNvSpPr>
          <p:nvPr/>
        </p:nvSpPr>
        <p:spPr>
          <a:xfrm xmlns:a="http://schemas.openxmlformats.org/drawingml/2006/main">
            <a:off x="6448425" y="1504950"/>
            <a:ext cx="42862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2545"/>
                </a:solidFill>
                <a:latin typeface="Aptos"/>
                <a:ea typeface="Aptos"/>
                <a:cs typeface="Aptos"/>
              </a:defRPr>
            </a:pPr>
            <a:r>
              <a:t>Correctness pattern across 35 scenarios</a:t>
            </a:r>
          </a:p>
        </p:txBody>
      </p:sp>
      <p:sp>
        <p:nvSpPr>
          <p:cNvPr id="7" name="">
            <a:extLst xmlns:a="http://schemas.openxmlformats.org/drawingml/2006/main">
              <a:ext uri="{FF2B5EF4-FFF2-40B4-BE49-F238E27FC236}">
                <a16:creationId xmlns:a16="http://schemas.microsoft.com/office/drawing/2014/main" id="{089FF190-B39A-4C72-9948-0E608D6E123C}"/>
              </a:ext>
            </a:extLst>
          </p:cNvPr>
          <p:cNvSpPr>
            <a:spLocks xmlns:a="http://schemas.openxmlformats.org/drawingml/2006/main" noGrp="1"/>
          </p:cNvSpPr>
          <p:nvPr/>
        </p:nvSpPr>
        <p:spPr>
          <a:xfrm xmlns:a="http://schemas.openxmlformats.org/drawingml/2006/main">
            <a:off x="685800" y="1924050"/>
            <a:ext cx="40005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FLAN</a:t>
            </a:r>
          </a:p>
        </p:txBody>
      </p:sp>
      <p:sp>
        <p:nvSpPr>
          <p:cNvPr id="8" name="">
            <a:extLst xmlns:a="http://schemas.openxmlformats.org/drawingml/2006/main">
              <a:ext uri="{FF2B5EF4-FFF2-40B4-BE49-F238E27FC236}">
                <a16:creationId xmlns:a16="http://schemas.microsoft.com/office/drawing/2014/main" id="{CE66E0CA-E6E4-4A2D-A744-A14F4F13E100}"/>
              </a:ext>
            </a:extLst>
          </p:cNvPr>
          <p:cNvSpPr>
            <a:spLocks xmlns:a="http://schemas.openxmlformats.org/drawingml/2006/main" noGrp="1"/>
          </p:cNvSpPr>
          <p:nvPr/>
        </p:nvSpPr>
        <p:spPr>
          <a:xfrm xmlns:a="http://schemas.openxmlformats.org/drawingml/2006/main">
            <a:off x="685800" y="2143125"/>
            <a:ext cx="4000500" cy="247650"/>
          </a:xfrm>
          <a:prstGeom xmlns:a="http://schemas.openxmlformats.org/drawingml/2006/main" prst="roundRect">
            <a:avLst>
              <a:gd name="adj" fmla="val 30769"/>
            </a:avLst>
          </a:prstGeom>
          <a:solidFill xmlns:a="http://schemas.openxmlformats.org/drawingml/2006/main">
            <a:srgbClr val="F4F7FA"/>
          </a:solidFill>
          <a:ln xmlns:a="http://schemas.openxmlformats.org/drawingml/2006/main" w="0">
            <a:solidFill>
              <a:srgbClr val="F4F7FA"/>
            </a:solidFill>
            <a:prstDash val="solid"/>
          </a:ln>
        </p:spPr>
      </p:sp>
      <p:sp>
        <p:nvSpPr>
          <p:cNvPr id="9" name="">
            <a:extLst xmlns:a="http://schemas.openxmlformats.org/drawingml/2006/main">
              <a:ext uri="{FF2B5EF4-FFF2-40B4-BE49-F238E27FC236}">
                <a16:creationId xmlns:a16="http://schemas.microsoft.com/office/drawing/2014/main" id="{0343BB84-41FC-417E-9E26-7CC38C5480A4}"/>
              </a:ext>
            </a:extLst>
          </p:cNvPr>
          <p:cNvSpPr>
            <a:spLocks xmlns:a="http://schemas.openxmlformats.org/drawingml/2006/main" noGrp="1"/>
          </p:cNvSpPr>
          <p:nvPr/>
        </p:nvSpPr>
        <p:spPr>
          <a:xfrm xmlns:a="http://schemas.openxmlformats.org/drawingml/2006/main">
            <a:off x="685800" y="2143125"/>
            <a:ext cx="3657657" cy="247650"/>
          </a:xfrm>
          <a:prstGeom xmlns:a="http://schemas.openxmlformats.org/drawingml/2006/main" prst="roundRect">
            <a:avLst>
              <a:gd name="adj" fmla="val 30769"/>
            </a:avLst>
          </a:prstGeom>
          <a:solidFill xmlns:a="http://schemas.openxmlformats.org/drawingml/2006/main">
            <a:srgbClr val="67BDE5"/>
          </a:solidFill>
          <a:ln xmlns:a="http://schemas.openxmlformats.org/drawingml/2006/main" w="0">
            <a:solidFill>
              <a:srgbClr val="67BDE5"/>
            </a:solidFill>
            <a:prstDash val="solid"/>
          </a:ln>
        </p:spPr>
      </p:sp>
      <p:sp>
        <p:nvSpPr>
          <p:cNvPr id="10" name="">
            <a:extLst xmlns:a="http://schemas.openxmlformats.org/drawingml/2006/main">
              <a:ext uri="{FF2B5EF4-FFF2-40B4-BE49-F238E27FC236}">
                <a16:creationId xmlns:a16="http://schemas.microsoft.com/office/drawing/2014/main" id="{900D0860-BF45-4F86-9D0B-C9A7BF69D9FB}"/>
              </a:ext>
            </a:extLst>
          </p:cNvPr>
          <p:cNvSpPr>
            <a:spLocks xmlns:a="http://schemas.openxmlformats.org/drawingml/2006/main" noGrp="1"/>
          </p:cNvSpPr>
          <p:nvPr/>
        </p:nvSpPr>
        <p:spPr>
          <a:xfrm xmlns:a="http://schemas.openxmlformats.org/drawingml/2006/main">
            <a:off x="4800600" y="2095500"/>
            <a:ext cx="781050" cy="3429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7BDE5"/>
                </a:solidFill>
                <a:latin typeface="Aptos"/>
                <a:ea typeface="Aptos"/>
                <a:cs typeface="Aptos"/>
              </a:defRPr>
            </a:pPr>
            <a:r>
              <a:t>0.914</a:t>
            </a:r>
          </a:p>
        </p:txBody>
      </p:sp>
      <p:sp>
        <p:nvSpPr>
          <p:cNvPr id="11" name="">
            <a:extLst xmlns:a="http://schemas.openxmlformats.org/drawingml/2006/main">
              <a:ext uri="{FF2B5EF4-FFF2-40B4-BE49-F238E27FC236}">
                <a16:creationId xmlns:a16="http://schemas.microsoft.com/office/drawing/2014/main" id="{9DC69010-85DB-4E80-8F60-878FB01530CE}"/>
              </a:ext>
            </a:extLst>
          </p:cNvPr>
          <p:cNvSpPr>
            <a:spLocks xmlns:a="http://schemas.openxmlformats.org/drawingml/2006/main" noGrp="1"/>
          </p:cNvSpPr>
          <p:nvPr/>
        </p:nvSpPr>
        <p:spPr>
          <a:xfrm xmlns:a="http://schemas.openxmlformats.org/drawingml/2006/main">
            <a:off x="685800" y="2781300"/>
            <a:ext cx="40005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Llama</a:t>
            </a:r>
          </a:p>
        </p:txBody>
      </p:sp>
      <p:sp>
        <p:nvSpPr>
          <p:cNvPr id="12" name="">
            <a:extLst xmlns:a="http://schemas.openxmlformats.org/drawingml/2006/main">
              <a:ext uri="{FF2B5EF4-FFF2-40B4-BE49-F238E27FC236}">
                <a16:creationId xmlns:a16="http://schemas.microsoft.com/office/drawing/2014/main" id="{D49A232D-5CFB-4BFC-B4C2-4EC76BF5BBC7}"/>
              </a:ext>
            </a:extLst>
          </p:cNvPr>
          <p:cNvSpPr>
            <a:spLocks xmlns:a="http://schemas.openxmlformats.org/drawingml/2006/main" noGrp="1"/>
          </p:cNvSpPr>
          <p:nvPr/>
        </p:nvSpPr>
        <p:spPr>
          <a:xfrm xmlns:a="http://schemas.openxmlformats.org/drawingml/2006/main">
            <a:off x="685800" y="3000375"/>
            <a:ext cx="4000500" cy="247650"/>
          </a:xfrm>
          <a:prstGeom xmlns:a="http://schemas.openxmlformats.org/drawingml/2006/main" prst="roundRect">
            <a:avLst>
              <a:gd name="adj" fmla="val 30769"/>
            </a:avLst>
          </a:prstGeom>
          <a:solidFill xmlns:a="http://schemas.openxmlformats.org/drawingml/2006/main">
            <a:srgbClr val="F4F7FA"/>
          </a:solidFill>
          <a:ln xmlns:a="http://schemas.openxmlformats.org/drawingml/2006/main" w="0">
            <a:solidFill>
              <a:srgbClr val="F4F7FA"/>
            </a:solidFill>
            <a:prstDash val="solid"/>
          </a:ln>
        </p:spPr>
      </p:sp>
      <p:sp>
        <p:nvSpPr>
          <p:cNvPr id="13" name="">
            <a:extLst xmlns:a="http://schemas.openxmlformats.org/drawingml/2006/main">
              <a:ext uri="{FF2B5EF4-FFF2-40B4-BE49-F238E27FC236}">
                <a16:creationId xmlns:a16="http://schemas.microsoft.com/office/drawing/2014/main" id="{805868FD-500B-4775-B139-39728F4EBD43}"/>
              </a:ext>
            </a:extLst>
          </p:cNvPr>
          <p:cNvSpPr>
            <a:spLocks xmlns:a="http://schemas.openxmlformats.org/drawingml/2006/main" noGrp="1"/>
          </p:cNvSpPr>
          <p:nvPr/>
        </p:nvSpPr>
        <p:spPr>
          <a:xfrm xmlns:a="http://schemas.openxmlformats.org/drawingml/2006/main">
            <a:off x="685800" y="3000375"/>
            <a:ext cx="3428829" cy="247650"/>
          </a:xfrm>
          <a:prstGeom xmlns:a="http://schemas.openxmlformats.org/drawingml/2006/main" prst="roundRect">
            <a:avLst>
              <a:gd name="adj" fmla="val 30769"/>
            </a:avLst>
          </a:prstGeom>
          <a:solidFill xmlns:a="http://schemas.openxmlformats.org/drawingml/2006/main">
            <a:srgbClr val="9AA5B1"/>
          </a:solidFill>
          <a:ln xmlns:a="http://schemas.openxmlformats.org/drawingml/2006/main" w="0">
            <a:solidFill>
              <a:srgbClr val="9AA5B1"/>
            </a:solidFill>
            <a:prstDash val="solid"/>
          </a:ln>
        </p:spPr>
      </p:sp>
      <p:sp>
        <p:nvSpPr>
          <p:cNvPr id="14" name="">
            <a:extLst xmlns:a="http://schemas.openxmlformats.org/drawingml/2006/main">
              <a:ext uri="{FF2B5EF4-FFF2-40B4-BE49-F238E27FC236}">
                <a16:creationId xmlns:a16="http://schemas.microsoft.com/office/drawing/2014/main" id="{6A735512-344A-4114-96B6-FBD592485CF6}"/>
              </a:ext>
            </a:extLst>
          </p:cNvPr>
          <p:cNvSpPr>
            <a:spLocks xmlns:a="http://schemas.openxmlformats.org/drawingml/2006/main" noGrp="1"/>
          </p:cNvSpPr>
          <p:nvPr/>
        </p:nvSpPr>
        <p:spPr>
          <a:xfrm xmlns:a="http://schemas.openxmlformats.org/drawingml/2006/main">
            <a:off x="4800600" y="2952750"/>
            <a:ext cx="781050" cy="3429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9AA5B1"/>
                </a:solidFill>
                <a:latin typeface="Aptos"/>
                <a:ea typeface="Aptos"/>
                <a:cs typeface="Aptos"/>
              </a:defRPr>
            </a:pPr>
            <a:r>
              <a:t>0.857</a:t>
            </a:r>
          </a:p>
        </p:txBody>
      </p:sp>
      <p:sp>
        <p:nvSpPr>
          <p:cNvPr id="15" name="">
            <a:extLst xmlns:a="http://schemas.openxmlformats.org/drawingml/2006/main">
              <a:ext uri="{FF2B5EF4-FFF2-40B4-BE49-F238E27FC236}">
                <a16:creationId xmlns:a16="http://schemas.microsoft.com/office/drawing/2014/main" id="{7650B129-CD34-4CC4-914C-CFA8E5F4AEA6}"/>
              </a:ext>
            </a:extLst>
          </p:cNvPr>
          <p:cNvSpPr>
            <a:spLocks xmlns:a="http://schemas.openxmlformats.org/drawingml/2006/main" noGrp="1"/>
          </p:cNvSpPr>
          <p:nvPr/>
        </p:nvSpPr>
        <p:spPr>
          <a:xfrm xmlns:a="http://schemas.openxmlformats.org/drawingml/2006/main">
            <a:off x="685800" y="3638550"/>
            <a:ext cx="40005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Mistral</a:t>
            </a:r>
          </a:p>
        </p:txBody>
      </p:sp>
      <p:sp>
        <p:nvSpPr>
          <p:cNvPr id="16" name="">
            <a:extLst xmlns:a="http://schemas.openxmlformats.org/drawingml/2006/main">
              <a:ext uri="{FF2B5EF4-FFF2-40B4-BE49-F238E27FC236}">
                <a16:creationId xmlns:a16="http://schemas.microsoft.com/office/drawing/2014/main" id="{252C6688-272A-437A-B6BA-2455E7E77C8E}"/>
              </a:ext>
            </a:extLst>
          </p:cNvPr>
          <p:cNvSpPr>
            <a:spLocks xmlns:a="http://schemas.openxmlformats.org/drawingml/2006/main" noGrp="1"/>
          </p:cNvSpPr>
          <p:nvPr/>
        </p:nvSpPr>
        <p:spPr>
          <a:xfrm xmlns:a="http://schemas.openxmlformats.org/drawingml/2006/main">
            <a:off x="685800" y="3857625"/>
            <a:ext cx="4000500" cy="247650"/>
          </a:xfrm>
          <a:prstGeom xmlns:a="http://schemas.openxmlformats.org/drawingml/2006/main" prst="roundRect">
            <a:avLst>
              <a:gd name="adj" fmla="val 30769"/>
            </a:avLst>
          </a:prstGeom>
          <a:solidFill xmlns:a="http://schemas.openxmlformats.org/drawingml/2006/main">
            <a:srgbClr val="F4F7FA"/>
          </a:solidFill>
          <a:ln xmlns:a="http://schemas.openxmlformats.org/drawingml/2006/main" w="0">
            <a:solidFill>
              <a:srgbClr val="F4F7FA"/>
            </a:solidFill>
            <a:prstDash val="solid"/>
          </a:ln>
        </p:spPr>
      </p:sp>
      <p:sp>
        <p:nvSpPr>
          <p:cNvPr id="17" name="">
            <a:extLst xmlns:a="http://schemas.openxmlformats.org/drawingml/2006/main">
              <a:ext uri="{FF2B5EF4-FFF2-40B4-BE49-F238E27FC236}">
                <a16:creationId xmlns:a16="http://schemas.microsoft.com/office/drawing/2014/main" id="{7EA5CCF3-27C0-4422-B861-D76BD86C7139}"/>
              </a:ext>
            </a:extLst>
          </p:cNvPr>
          <p:cNvSpPr>
            <a:spLocks xmlns:a="http://schemas.openxmlformats.org/drawingml/2006/main" noGrp="1"/>
          </p:cNvSpPr>
          <p:nvPr/>
        </p:nvSpPr>
        <p:spPr>
          <a:xfrm xmlns:a="http://schemas.openxmlformats.org/drawingml/2006/main">
            <a:off x="685800" y="3857625"/>
            <a:ext cx="3428829" cy="247650"/>
          </a:xfrm>
          <a:prstGeom xmlns:a="http://schemas.openxmlformats.org/drawingml/2006/main" prst="roundRect">
            <a:avLst>
              <a:gd name="adj" fmla="val 30769"/>
            </a:avLst>
          </a:prstGeom>
          <a:solidFill xmlns:a="http://schemas.openxmlformats.org/drawingml/2006/main">
            <a:srgbClr val="2563EB"/>
          </a:solidFill>
          <a:ln xmlns:a="http://schemas.openxmlformats.org/drawingml/2006/main" w="0">
            <a:solidFill>
              <a:srgbClr val="2563EB"/>
            </a:solidFill>
            <a:prstDash val="solid"/>
          </a:ln>
        </p:spPr>
      </p:sp>
      <p:sp>
        <p:nvSpPr>
          <p:cNvPr id="18" name="">
            <a:extLst xmlns:a="http://schemas.openxmlformats.org/drawingml/2006/main">
              <a:ext uri="{FF2B5EF4-FFF2-40B4-BE49-F238E27FC236}">
                <a16:creationId xmlns:a16="http://schemas.microsoft.com/office/drawing/2014/main" id="{E33BD32C-DE11-44A4-8A5B-A62712A2BECD}"/>
              </a:ext>
            </a:extLst>
          </p:cNvPr>
          <p:cNvSpPr>
            <a:spLocks xmlns:a="http://schemas.openxmlformats.org/drawingml/2006/main" noGrp="1"/>
          </p:cNvSpPr>
          <p:nvPr/>
        </p:nvSpPr>
        <p:spPr>
          <a:xfrm xmlns:a="http://schemas.openxmlformats.org/drawingml/2006/main">
            <a:off x="4800600" y="3810000"/>
            <a:ext cx="781050" cy="3429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2563EB"/>
                </a:solidFill>
                <a:latin typeface="Aptos"/>
                <a:ea typeface="Aptos"/>
                <a:cs typeface="Aptos"/>
              </a:defRPr>
            </a:pPr>
            <a:r>
              <a:t>0.857</a:t>
            </a:r>
          </a:p>
        </p:txBody>
      </p:sp>
      <p:sp>
        <p:nvSpPr>
          <p:cNvPr id="19" name="">
            <a:extLst xmlns:a="http://schemas.openxmlformats.org/drawingml/2006/main">
              <a:ext uri="{FF2B5EF4-FFF2-40B4-BE49-F238E27FC236}">
                <a16:creationId xmlns:a16="http://schemas.microsoft.com/office/drawing/2014/main" id="{4B63A6B4-79D7-4F45-AD3F-4FDACDCF6AD7}"/>
              </a:ext>
            </a:extLst>
          </p:cNvPr>
          <p:cNvSpPr>
            <a:spLocks xmlns:a="http://schemas.openxmlformats.org/drawingml/2006/main" noGrp="1"/>
          </p:cNvSpPr>
          <p:nvPr/>
        </p:nvSpPr>
        <p:spPr>
          <a:xfrm xmlns:a="http://schemas.openxmlformats.org/drawingml/2006/main">
            <a:off x="6477000" y="2085975"/>
            <a:ext cx="7810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FLAN</a:t>
            </a:r>
          </a:p>
        </p:txBody>
      </p:sp>
      <p:sp>
        <p:nvSpPr>
          <p:cNvPr id="20" name="">
            <a:extLst xmlns:a="http://schemas.openxmlformats.org/drawingml/2006/main">
              <a:ext uri="{FF2B5EF4-FFF2-40B4-BE49-F238E27FC236}">
                <a16:creationId xmlns:a16="http://schemas.microsoft.com/office/drawing/2014/main" id="{F0BF1FDC-ADB6-4570-80C5-36FEB1078720}"/>
              </a:ext>
            </a:extLst>
          </p:cNvPr>
          <p:cNvSpPr>
            <a:spLocks xmlns:a="http://schemas.openxmlformats.org/drawingml/2006/main" noGrp="1"/>
          </p:cNvSpPr>
          <p:nvPr/>
        </p:nvSpPr>
        <p:spPr>
          <a:xfrm xmlns:a="http://schemas.openxmlformats.org/drawingml/2006/main">
            <a:off x="7334250" y="2038350"/>
            <a:ext cx="3143250" cy="323850"/>
          </a:xfrm>
          <a:prstGeom xmlns:a="http://schemas.openxmlformats.org/drawingml/2006/main" prst="roundRect">
            <a:avLst>
              <a:gd name="adj" fmla="val 23529"/>
            </a:avLst>
          </a:prstGeom>
          <a:solidFill xmlns:a="http://schemas.openxmlformats.org/drawingml/2006/main">
            <a:srgbClr val="F4F7FA"/>
          </a:solidFill>
          <a:ln xmlns:a="http://schemas.openxmlformats.org/drawingml/2006/main" w="0">
            <a:solidFill>
              <a:srgbClr val="F4F7FA"/>
            </a:solidFill>
            <a:prstDash val="solid"/>
          </a:ln>
        </p:spPr>
      </p:sp>
      <p:sp>
        <p:nvSpPr>
          <p:cNvPr id="21" name="">
            <a:extLst xmlns:a="http://schemas.openxmlformats.org/drawingml/2006/main">
              <a:ext uri="{FF2B5EF4-FFF2-40B4-BE49-F238E27FC236}">
                <a16:creationId xmlns:a16="http://schemas.microsoft.com/office/drawing/2014/main" id="{E5D34A7D-3A15-4DA9-86FC-D11851A9351D}"/>
              </a:ext>
            </a:extLst>
          </p:cNvPr>
          <p:cNvSpPr>
            <a:spLocks xmlns:a="http://schemas.openxmlformats.org/drawingml/2006/main" noGrp="1"/>
          </p:cNvSpPr>
          <p:nvPr/>
        </p:nvSpPr>
        <p:spPr>
          <a:xfrm xmlns:a="http://schemas.openxmlformats.org/drawingml/2006/main">
            <a:off x="7334250" y="2038350"/>
            <a:ext cx="687586" cy="323850"/>
          </a:xfrm>
          <a:prstGeom xmlns:a="http://schemas.openxmlformats.org/drawingml/2006/main" prst="roundRect">
            <a:avLst>
              <a:gd name="adj" fmla="val 23529"/>
            </a:avLst>
          </a:prstGeom>
          <a:solidFill xmlns:a="http://schemas.openxmlformats.org/drawingml/2006/main">
            <a:srgbClr val="2E8B57"/>
          </a:solidFill>
          <a:ln xmlns:a="http://schemas.openxmlformats.org/drawingml/2006/main" w="0">
            <a:solidFill>
              <a:srgbClr val="2E8B57"/>
            </a:solidFill>
            <a:prstDash val="solid"/>
          </a:ln>
        </p:spPr>
      </p:sp>
      <p:sp>
        <p:nvSpPr>
          <p:cNvPr id="22" name="">
            <a:extLst xmlns:a="http://schemas.openxmlformats.org/drawingml/2006/main">
              <a:ext uri="{FF2B5EF4-FFF2-40B4-BE49-F238E27FC236}">
                <a16:creationId xmlns:a16="http://schemas.microsoft.com/office/drawing/2014/main" id="{91A93DBB-59FD-4913-BD82-DDDAEC269D8B}"/>
              </a:ext>
            </a:extLst>
          </p:cNvPr>
          <p:cNvSpPr>
            <a:spLocks xmlns:a="http://schemas.openxmlformats.org/drawingml/2006/main" noGrp="1"/>
          </p:cNvSpPr>
          <p:nvPr/>
        </p:nvSpPr>
        <p:spPr>
          <a:xfrm xmlns:a="http://schemas.openxmlformats.org/drawingml/2006/main">
            <a:off x="8021836" y="2038350"/>
            <a:ext cx="2455664" cy="323850"/>
          </a:xfrm>
          <a:prstGeom xmlns:a="http://schemas.openxmlformats.org/drawingml/2006/main" prst="roundRect">
            <a:avLst>
              <a:gd name="adj" fmla="val 23529"/>
            </a:avLst>
          </a:prstGeom>
          <a:solidFill xmlns:a="http://schemas.openxmlformats.org/drawingml/2006/main">
            <a:srgbClr val="D94B4B"/>
          </a:solidFill>
          <a:ln xmlns:a="http://schemas.openxmlformats.org/drawingml/2006/main" w="0">
            <a:solidFill>
              <a:srgbClr val="D94B4B"/>
            </a:solidFill>
            <a:prstDash val="solid"/>
          </a:ln>
        </p:spPr>
      </p:sp>
      <p:sp>
        <p:nvSpPr>
          <p:cNvPr id="23" name="">
            <a:extLst xmlns:a="http://schemas.openxmlformats.org/drawingml/2006/main">
              <a:ext uri="{FF2B5EF4-FFF2-40B4-BE49-F238E27FC236}">
                <a16:creationId xmlns:a16="http://schemas.microsoft.com/office/drawing/2014/main" id="{5D9DD25E-DBCE-440D-9545-AC6AF573FB5F}"/>
              </a:ext>
            </a:extLst>
          </p:cNvPr>
          <p:cNvSpPr>
            <a:spLocks xmlns:a="http://schemas.openxmlformats.org/drawingml/2006/main" noGrp="1"/>
          </p:cNvSpPr>
          <p:nvPr/>
        </p:nvSpPr>
        <p:spPr>
          <a:xfrm xmlns:a="http://schemas.openxmlformats.org/drawingml/2006/main">
            <a:off x="7448550" y="2114550"/>
            <a:ext cx="13144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FFFFFF"/>
                </a:solidFill>
                <a:latin typeface="Aptos"/>
                <a:ea typeface="Aptos"/>
                <a:cs typeface="Aptos"/>
              </a:defRPr>
            </a:pPr>
            <a:r>
              <a:t>7 stable pass</a:t>
            </a:r>
          </a:p>
        </p:txBody>
      </p:sp>
      <p:sp>
        <p:nvSpPr>
          <p:cNvPr id="24" name="">
            <a:extLst xmlns:a="http://schemas.openxmlformats.org/drawingml/2006/main">
              <a:ext uri="{FF2B5EF4-FFF2-40B4-BE49-F238E27FC236}">
                <a16:creationId xmlns:a16="http://schemas.microsoft.com/office/drawing/2014/main" id="{F698503D-536F-436D-A155-CC413DEDD226}"/>
              </a:ext>
            </a:extLst>
          </p:cNvPr>
          <p:cNvSpPr>
            <a:spLocks xmlns:a="http://schemas.openxmlformats.org/drawingml/2006/main" noGrp="1"/>
          </p:cNvSpPr>
          <p:nvPr/>
        </p:nvSpPr>
        <p:spPr>
          <a:xfrm xmlns:a="http://schemas.openxmlformats.org/drawingml/2006/main">
            <a:off x="9172575" y="2114550"/>
            <a:ext cx="12001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FFFFFF"/>
                </a:solidFill>
                <a:latin typeface="Aptos"/>
                <a:ea typeface="Aptos"/>
                <a:cs typeface="Aptos"/>
              </a:defRPr>
            </a:pPr>
            <a:r>
              <a:t>25 stable fail</a:t>
            </a:r>
          </a:p>
        </p:txBody>
      </p:sp>
      <p:sp>
        <p:nvSpPr>
          <p:cNvPr id="25" name="">
            <a:extLst xmlns:a="http://schemas.openxmlformats.org/drawingml/2006/main">
              <a:ext uri="{FF2B5EF4-FFF2-40B4-BE49-F238E27FC236}">
                <a16:creationId xmlns:a16="http://schemas.microsoft.com/office/drawing/2014/main" id="{6E268237-89B8-4DEE-BA0E-C1AF57B6CF20}"/>
              </a:ext>
            </a:extLst>
          </p:cNvPr>
          <p:cNvSpPr>
            <a:spLocks xmlns:a="http://schemas.openxmlformats.org/drawingml/2006/main" noGrp="1"/>
          </p:cNvSpPr>
          <p:nvPr/>
        </p:nvSpPr>
        <p:spPr>
          <a:xfrm xmlns:a="http://schemas.openxmlformats.org/drawingml/2006/main">
            <a:off x="6477000" y="3152775"/>
            <a:ext cx="7810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Llama</a:t>
            </a:r>
          </a:p>
        </p:txBody>
      </p:sp>
      <p:sp>
        <p:nvSpPr>
          <p:cNvPr id="26" name="">
            <a:extLst xmlns:a="http://schemas.openxmlformats.org/drawingml/2006/main">
              <a:ext uri="{FF2B5EF4-FFF2-40B4-BE49-F238E27FC236}">
                <a16:creationId xmlns:a16="http://schemas.microsoft.com/office/drawing/2014/main" id="{59AEA169-1E78-4046-8969-2100BAE5AA37}"/>
              </a:ext>
            </a:extLst>
          </p:cNvPr>
          <p:cNvSpPr>
            <a:spLocks xmlns:a="http://schemas.openxmlformats.org/drawingml/2006/main" noGrp="1"/>
          </p:cNvSpPr>
          <p:nvPr/>
        </p:nvSpPr>
        <p:spPr>
          <a:xfrm xmlns:a="http://schemas.openxmlformats.org/drawingml/2006/main">
            <a:off x="7334250" y="3105150"/>
            <a:ext cx="3143250" cy="323850"/>
          </a:xfrm>
          <a:prstGeom xmlns:a="http://schemas.openxmlformats.org/drawingml/2006/main" prst="roundRect">
            <a:avLst>
              <a:gd name="adj" fmla="val 23529"/>
            </a:avLst>
          </a:prstGeom>
          <a:solidFill xmlns:a="http://schemas.openxmlformats.org/drawingml/2006/main">
            <a:srgbClr val="F4F7FA"/>
          </a:solidFill>
          <a:ln xmlns:a="http://schemas.openxmlformats.org/drawingml/2006/main" w="0">
            <a:solidFill>
              <a:srgbClr val="F4F7FA"/>
            </a:solidFill>
            <a:prstDash val="solid"/>
          </a:ln>
        </p:spPr>
      </p:sp>
      <p:sp>
        <p:nvSpPr>
          <p:cNvPr id="27" name="">
            <a:extLst xmlns:a="http://schemas.openxmlformats.org/drawingml/2006/main">
              <a:ext uri="{FF2B5EF4-FFF2-40B4-BE49-F238E27FC236}">
                <a16:creationId xmlns:a16="http://schemas.microsoft.com/office/drawing/2014/main" id="{474834ED-CB98-4B0D-9304-14133FD420D7}"/>
              </a:ext>
            </a:extLst>
          </p:cNvPr>
          <p:cNvSpPr>
            <a:spLocks xmlns:a="http://schemas.openxmlformats.org/drawingml/2006/main" noGrp="1"/>
          </p:cNvSpPr>
          <p:nvPr/>
        </p:nvSpPr>
        <p:spPr>
          <a:xfrm xmlns:a="http://schemas.openxmlformats.org/drawingml/2006/main">
            <a:off x="7334250" y="3105150"/>
            <a:ext cx="2724150" cy="323850"/>
          </a:xfrm>
          <a:prstGeom xmlns:a="http://schemas.openxmlformats.org/drawingml/2006/main" prst="roundRect">
            <a:avLst>
              <a:gd name="adj" fmla="val 23529"/>
            </a:avLst>
          </a:prstGeom>
          <a:solidFill xmlns:a="http://schemas.openxmlformats.org/drawingml/2006/main">
            <a:srgbClr val="2E8B57"/>
          </a:solidFill>
          <a:ln xmlns:a="http://schemas.openxmlformats.org/drawingml/2006/main" w="0">
            <a:solidFill>
              <a:srgbClr val="2E8B57"/>
            </a:solidFill>
            <a:prstDash val="solid"/>
          </a:ln>
        </p:spPr>
      </p:sp>
      <p:sp>
        <p:nvSpPr>
          <p:cNvPr id="28" name="">
            <a:extLst xmlns:a="http://schemas.openxmlformats.org/drawingml/2006/main">
              <a:ext uri="{FF2B5EF4-FFF2-40B4-BE49-F238E27FC236}">
                <a16:creationId xmlns:a16="http://schemas.microsoft.com/office/drawing/2014/main" id="{7026E2DF-E4B1-4D62-9314-3921204D7ED8}"/>
              </a:ext>
            </a:extLst>
          </p:cNvPr>
          <p:cNvSpPr>
            <a:spLocks xmlns:a="http://schemas.openxmlformats.org/drawingml/2006/main" noGrp="1"/>
          </p:cNvSpPr>
          <p:nvPr/>
        </p:nvSpPr>
        <p:spPr>
          <a:xfrm xmlns:a="http://schemas.openxmlformats.org/drawingml/2006/main">
            <a:off x="10058400" y="3105150"/>
            <a:ext cx="419100" cy="323850"/>
          </a:xfrm>
          <a:prstGeom xmlns:a="http://schemas.openxmlformats.org/drawingml/2006/main" prst="roundRect">
            <a:avLst>
              <a:gd name="adj" fmla="val 23529"/>
            </a:avLst>
          </a:prstGeom>
          <a:solidFill xmlns:a="http://schemas.openxmlformats.org/drawingml/2006/main">
            <a:srgbClr val="D94B4B"/>
          </a:solidFill>
          <a:ln xmlns:a="http://schemas.openxmlformats.org/drawingml/2006/main" w="0">
            <a:solidFill>
              <a:srgbClr val="D94B4B"/>
            </a:solidFill>
            <a:prstDash val="solid"/>
          </a:ln>
        </p:spPr>
      </p:sp>
      <p:sp>
        <p:nvSpPr>
          <p:cNvPr id="29" name="">
            <a:extLst xmlns:a="http://schemas.openxmlformats.org/drawingml/2006/main">
              <a:ext uri="{FF2B5EF4-FFF2-40B4-BE49-F238E27FC236}">
                <a16:creationId xmlns:a16="http://schemas.microsoft.com/office/drawing/2014/main" id="{9856DB80-7333-43DC-84BF-AD83FF5A52E1}"/>
              </a:ext>
            </a:extLst>
          </p:cNvPr>
          <p:cNvSpPr>
            <a:spLocks xmlns:a="http://schemas.openxmlformats.org/drawingml/2006/main" noGrp="1"/>
          </p:cNvSpPr>
          <p:nvPr/>
        </p:nvSpPr>
        <p:spPr>
          <a:xfrm xmlns:a="http://schemas.openxmlformats.org/drawingml/2006/main">
            <a:off x="7448550" y="3181350"/>
            <a:ext cx="13144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FFFFFF"/>
                </a:solidFill>
                <a:latin typeface="Aptos"/>
                <a:ea typeface="Aptos"/>
                <a:cs typeface="Aptos"/>
              </a:defRPr>
            </a:pPr>
            <a:r>
              <a:t>26 stable pass</a:t>
            </a:r>
          </a:p>
        </p:txBody>
      </p:sp>
      <p:sp>
        <p:nvSpPr>
          <p:cNvPr id="30" name="">
            <a:extLst xmlns:a="http://schemas.openxmlformats.org/drawingml/2006/main">
              <a:ext uri="{FF2B5EF4-FFF2-40B4-BE49-F238E27FC236}">
                <a16:creationId xmlns:a16="http://schemas.microsoft.com/office/drawing/2014/main" id="{69D89B1B-E755-447B-AFD3-1AC14C1331AF}"/>
              </a:ext>
            </a:extLst>
          </p:cNvPr>
          <p:cNvSpPr>
            <a:spLocks xmlns:a="http://schemas.openxmlformats.org/drawingml/2006/main" noGrp="1"/>
          </p:cNvSpPr>
          <p:nvPr/>
        </p:nvSpPr>
        <p:spPr>
          <a:xfrm xmlns:a="http://schemas.openxmlformats.org/drawingml/2006/main">
            <a:off x="9172575" y="3181350"/>
            <a:ext cx="12001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FFFFFF"/>
                </a:solidFill>
                <a:latin typeface="Aptos"/>
                <a:ea typeface="Aptos"/>
                <a:cs typeface="Aptos"/>
              </a:defRPr>
            </a:pPr>
            <a:r>
              <a:t>4 stable fail</a:t>
            </a:r>
          </a:p>
        </p:txBody>
      </p:sp>
      <p:sp>
        <p:nvSpPr>
          <p:cNvPr id="31" name="">
            <a:extLst xmlns:a="http://schemas.openxmlformats.org/drawingml/2006/main">
              <a:ext uri="{FF2B5EF4-FFF2-40B4-BE49-F238E27FC236}">
                <a16:creationId xmlns:a16="http://schemas.microsoft.com/office/drawing/2014/main" id="{C05A6552-7DD8-42D7-ACFC-6450DEBCEAF5}"/>
              </a:ext>
            </a:extLst>
          </p:cNvPr>
          <p:cNvSpPr>
            <a:spLocks xmlns:a="http://schemas.openxmlformats.org/drawingml/2006/main" noGrp="1"/>
          </p:cNvSpPr>
          <p:nvPr/>
        </p:nvSpPr>
        <p:spPr>
          <a:xfrm xmlns:a="http://schemas.openxmlformats.org/drawingml/2006/main">
            <a:off x="6477000" y="4219575"/>
            <a:ext cx="7810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Mistral</a:t>
            </a:r>
          </a:p>
        </p:txBody>
      </p:sp>
      <p:sp>
        <p:nvSpPr>
          <p:cNvPr id="32" name="">
            <a:extLst xmlns:a="http://schemas.openxmlformats.org/drawingml/2006/main">
              <a:ext uri="{FF2B5EF4-FFF2-40B4-BE49-F238E27FC236}">
                <a16:creationId xmlns:a16="http://schemas.microsoft.com/office/drawing/2014/main" id="{21305149-1EAD-43EA-BC4C-A3B92075A7BC}"/>
              </a:ext>
            </a:extLst>
          </p:cNvPr>
          <p:cNvSpPr>
            <a:spLocks xmlns:a="http://schemas.openxmlformats.org/drawingml/2006/main" noGrp="1"/>
          </p:cNvSpPr>
          <p:nvPr/>
        </p:nvSpPr>
        <p:spPr>
          <a:xfrm xmlns:a="http://schemas.openxmlformats.org/drawingml/2006/main">
            <a:off x="7334250" y="4171950"/>
            <a:ext cx="3143250" cy="323850"/>
          </a:xfrm>
          <a:prstGeom xmlns:a="http://schemas.openxmlformats.org/drawingml/2006/main" prst="roundRect">
            <a:avLst>
              <a:gd name="adj" fmla="val 23529"/>
            </a:avLst>
          </a:prstGeom>
          <a:solidFill xmlns:a="http://schemas.openxmlformats.org/drawingml/2006/main">
            <a:srgbClr val="F4F7FA"/>
          </a:solidFill>
          <a:ln xmlns:a="http://schemas.openxmlformats.org/drawingml/2006/main" w="0">
            <a:solidFill>
              <a:srgbClr val="F4F7FA"/>
            </a:solidFill>
            <a:prstDash val="solid"/>
          </a:ln>
        </p:spPr>
      </p:sp>
      <p:sp>
        <p:nvSpPr>
          <p:cNvPr id="33" name="">
            <a:extLst xmlns:a="http://schemas.openxmlformats.org/drawingml/2006/main">
              <a:ext uri="{FF2B5EF4-FFF2-40B4-BE49-F238E27FC236}">
                <a16:creationId xmlns:a16="http://schemas.microsoft.com/office/drawing/2014/main" id="{233F522E-305D-4783-B910-4913D7E6EE7A}"/>
              </a:ext>
            </a:extLst>
          </p:cNvPr>
          <p:cNvSpPr>
            <a:spLocks xmlns:a="http://schemas.openxmlformats.org/drawingml/2006/main" noGrp="1"/>
          </p:cNvSpPr>
          <p:nvPr/>
        </p:nvSpPr>
        <p:spPr>
          <a:xfrm xmlns:a="http://schemas.openxmlformats.org/drawingml/2006/main">
            <a:off x="7334250" y="4171950"/>
            <a:ext cx="3143250" cy="323850"/>
          </a:xfrm>
          <a:prstGeom xmlns:a="http://schemas.openxmlformats.org/drawingml/2006/main" prst="roundRect">
            <a:avLst>
              <a:gd name="adj" fmla="val 23529"/>
            </a:avLst>
          </a:prstGeom>
          <a:solidFill xmlns:a="http://schemas.openxmlformats.org/drawingml/2006/main">
            <a:srgbClr val="2E8B57"/>
          </a:solidFill>
          <a:ln xmlns:a="http://schemas.openxmlformats.org/drawingml/2006/main" w="0">
            <a:solidFill>
              <a:srgbClr val="2E8B57"/>
            </a:solidFill>
            <a:prstDash val="solid"/>
          </a:ln>
        </p:spPr>
      </p:sp>
      <p:sp>
        <p:nvSpPr>
          <p:cNvPr id="34" name="">
            <a:extLst xmlns:a="http://schemas.openxmlformats.org/drawingml/2006/main">
              <a:ext uri="{FF2B5EF4-FFF2-40B4-BE49-F238E27FC236}">
                <a16:creationId xmlns:a16="http://schemas.microsoft.com/office/drawing/2014/main" id="{5980FFCA-CF16-4D71-8322-6CA60EB36BDB}"/>
              </a:ext>
            </a:extLst>
          </p:cNvPr>
          <p:cNvSpPr>
            <a:spLocks xmlns:a="http://schemas.openxmlformats.org/drawingml/2006/main" noGrp="1"/>
          </p:cNvSpPr>
          <p:nvPr/>
        </p:nvSpPr>
        <p:spPr>
          <a:xfrm xmlns:a="http://schemas.openxmlformats.org/drawingml/2006/main">
            <a:off x="7448550" y="4248150"/>
            <a:ext cx="13144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FFFFFF"/>
                </a:solidFill>
                <a:latin typeface="Aptos"/>
                <a:ea typeface="Aptos"/>
                <a:cs typeface="Aptos"/>
              </a:defRPr>
            </a:pPr>
            <a:r>
              <a:t>30 stable pass</a:t>
            </a:r>
          </a:p>
        </p:txBody>
      </p:sp>
      <p:sp>
        <p:nvSpPr>
          <p:cNvPr id="35" name="">
            <a:extLst xmlns:a="http://schemas.openxmlformats.org/drawingml/2006/main">
              <a:ext uri="{FF2B5EF4-FFF2-40B4-BE49-F238E27FC236}">
                <a16:creationId xmlns:a16="http://schemas.microsoft.com/office/drawing/2014/main" id="{5E56DE2B-CC31-42EE-8BEE-AC7EE051BF25}"/>
              </a:ext>
            </a:extLst>
          </p:cNvPr>
          <p:cNvSpPr>
            <a:spLocks xmlns:a="http://schemas.openxmlformats.org/drawingml/2006/main" noGrp="1"/>
          </p:cNvSpPr>
          <p:nvPr/>
        </p:nvSpPr>
        <p:spPr>
          <a:xfrm xmlns:a="http://schemas.openxmlformats.org/drawingml/2006/main">
            <a:off x="9172575" y="4248150"/>
            <a:ext cx="12001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FFFFFF"/>
                </a:solidFill>
                <a:latin typeface="Aptos"/>
                <a:ea typeface="Aptos"/>
                <a:cs typeface="Aptos"/>
              </a:defRPr>
            </a:pPr>
            <a:r>
              <a:t>0 stable fail</a:t>
            </a:r>
          </a:p>
        </p:txBody>
      </p:sp>
      <p:sp>
        <p:nvSpPr>
          <p:cNvPr id="36" name="">
            <a:extLst xmlns:a="http://schemas.openxmlformats.org/drawingml/2006/main">
              <a:ext uri="{FF2B5EF4-FFF2-40B4-BE49-F238E27FC236}">
                <a16:creationId xmlns:a16="http://schemas.microsoft.com/office/drawing/2014/main" id="{346F1692-67BC-46FB-86F1-60AEB7205C0E}"/>
              </a:ext>
            </a:extLst>
          </p:cNvPr>
          <p:cNvSpPr>
            <a:spLocks xmlns:a="http://schemas.openxmlformats.org/drawingml/2006/main" noGrp="1"/>
          </p:cNvSpPr>
          <p:nvPr/>
        </p:nvSpPr>
        <p:spPr>
          <a:xfrm xmlns:a="http://schemas.openxmlformats.org/drawingml/2006/main">
            <a:off x="685800" y="5000625"/>
            <a:ext cx="4762500" cy="914400"/>
          </a:xfrm>
          <a:prstGeom xmlns:a="http://schemas.openxmlformats.org/drawingml/2006/main" prst="roundRect">
            <a:avLst>
              <a:gd name="adj" fmla="val 8333"/>
            </a:avLst>
          </a:prstGeom>
          <a:solidFill xmlns:a="http://schemas.openxmlformats.org/drawingml/2006/main">
            <a:srgbClr val="FDEBEC"/>
          </a:solidFill>
          <a:ln xmlns:a="http://schemas.openxmlformats.org/drawingml/2006/main" w="0">
            <a:solidFill>
              <a:srgbClr val="FDEBEC"/>
            </a:solidFill>
            <a:prstDash val="solid"/>
          </a:ln>
        </p:spPr>
      </p:sp>
      <p:sp>
        <p:nvSpPr>
          <p:cNvPr id="37" name="">
            <a:extLst xmlns:a="http://schemas.openxmlformats.org/drawingml/2006/main">
              <a:ext uri="{FF2B5EF4-FFF2-40B4-BE49-F238E27FC236}">
                <a16:creationId xmlns:a16="http://schemas.microsoft.com/office/drawing/2014/main" id="{62C305FD-991F-4A75-993B-8D1C842EFFC0}"/>
              </a:ext>
            </a:extLst>
          </p:cNvPr>
          <p:cNvSpPr>
            <a:spLocks xmlns:a="http://schemas.openxmlformats.org/drawingml/2006/main" noGrp="1"/>
          </p:cNvSpPr>
          <p:nvPr/>
        </p:nvSpPr>
        <p:spPr>
          <a:xfrm xmlns:a="http://schemas.openxmlformats.org/drawingml/2006/main">
            <a:off x="914400" y="5200650"/>
            <a:ext cx="2476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D94B4B"/>
                </a:solidFill>
                <a:latin typeface="Aptos"/>
                <a:ea typeface="Aptos"/>
                <a:cs typeface="Aptos"/>
              </a:defRPr>
            </a:pPr>
            <a:r>
              <a:t>Consistency ≠ correctness</a:t>
            </a:r>
          </a:p>
        </p:txBody>
      </p:sp>
      <p:sp>
        <p:nvSpPr>
          <p:cNvPr id="38" name="">
            <a:extLst xmlns:a="http://schemas.openxmlformats.org/drawingml/2006/main">
              <a:ext uri="{FF2B5EF4-FFF2-40B4-BE49-F238E27FC236}">
                <a16:creationId xmlns:a16="http://schemas.microsoft.com/office/drawing/2014/main" id="{060BD4AE-4509-4421-B7A7-5D6660BC086B}"/>
              </a:ext>
            </a:extLst>
          </p:cNvPr>
          <p:cNvSpPr>
            <a:spLocks xmlns:a="http://schemas.openxmlformats.org/drawingml/2006/main" noGrp="1"/>
          </p:cNvSpPr>
          <p:nvPr/>
        </p:nvSpPr>
        <p:spPr>
          <a:xfrm xmlns:a="http://schemas.openxmlformats.org/drawingml/2006/main">
            <a:off x="914400" y="5524500"/>
            <a:ext cx="40957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2033"/>
                </a:solidFill>
                <a:latin typeface="Aptos"/>
                <a:ea typeface="Aptos"/>
                <a:cs typeface="Aptos"/>
              </a:defRPr>
            </a:pPr>
            <a:r>
              <a:t>A model can repeat the same wrong answer across paraphrases.</a:t>
            </a:r>
          </a:p>
        </p:txBody>
      </p:sp>
      <p:sp>
        <p:nvSpPr>
          <p:cNvPr id="39" name="">
            <a:extLst xmlns:a="http://schemas.openxmlformats.org/drawingml/2006/main">
              <a:ext uri="{FF2B5EF4-FFF2-40B4-BE49-F238E27FC236}">
                <a16:creationId xmlns:a16="http://schemas.microsoft.com/office/drawing/2014/main" id="{608E2FB6-349B-4A59-A66F-9E9159C05E85}"/>
              </a:ext>
            </a:extLst>
          </p:cNvPr>
          <p:cNvSpPr>
            <a:spLocks xmlns:a="http://schemas.openxmlformats.org/drawingml/2006/main" noGrp="1"/>
          </p:cNvSpPr>
          <p:nvPr/>
        </p:nvSpPr>
        <p:spPr>
          <a:xfrm xmlns:a="http://schemas.openxmlformats.org/drawingml/2006/main">
            <a:off x="5943600" y="5000625"/>
            <a:ext cx="5238750" cy="914400"/>
          </a:xfrm>
          <a:prstGeom xmlns:a="http://schemas.openxmlformats.org/drawingml/2006/main" prst="roundRect">
            <a:avLst>
              <a:gd name="adj" fmla="val 8333"/>
            </a:avLst>
          </a:prstGeom>
          <a:solidFill xmlns:a="http://schemas.openxmlformats.org/drawingml/2006/main">
            <a:srgbClr val="EAF2FF"/>
          </a:solidFill>
          <a:ln xmlns:a="http://schemas.openxmlformats.org/drawingml/2006/main" w="0">
            <a:solidFill>
              <a:srgbClr val="EAF2FF"/>
            </a:solidFill>
            <a:prstDash val="solid"/>
          </a:ln>
        </p:spPr>
      </p:sp>
      <p:sp>
        <p:nvSpPr>
          <p:cNvPr id="40" name="">
            <a:extLst xmlns:a="http://schemas.openxmlformats.org/drawingml/2006/main">
              <a:ext uri="{FF2B5EF4-FFF2-40B4-BE49-F238E27FC236}">
                <a16:creationId xmlns:a16="http://schemas.microsoft.com/office/drawing/2014/main" id="{C1B0ADF7-4AD3-4151-9615-180C03B4CB2F}"/>
              </a:ext>
            </a:extLst>
          </p:cNvPr>
          <p:cNvSpPr>
            <a:spLocks xmlns:a="http://schemas.openxmlformats.org/drawingml/2006/main" noGrp="1"/>
          </p:cNvSpPr>
          <p:nvPr/>
        </p:nvSpPr>
        <p:spPr>
          <a:xfrm xmlns:a="http://schemas.openxmlformats.org/drawingml/2006/main">
            <a:off x="6172200" y="5200650"/>
            <a:ext cx="2476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2E74B5"/>
                </a:solidFill>
                <a:latin typeface="Aptos"/>
                <a:ea typeface="Aptos"/>
                <a:cs typeface="Aptos"/>
              </a:defRPr>
            </a:pPr>
            <a:r>
              <a:t>Masked input is a text proxy</a:t>
            </a:r>
          </a:p>
        </p:txBody>
      </p:sp>
      <p:sp>
        <p:nvSpPr>
          <p:cNvPr id="41" name="">
            <a:extLst xmlns:a="http://schemas.openxmlformats.org/drawingml/2006/main">
              <a:ext uri="{FF2B5EF4-FFF2-40B4-BE49-F238E27FC236}">
                <a16:creationId xmlns:a16="http://schemas.microsoft.com/office/drawing/2014/main" id="{A7508FB6-03EE-445C-8C9A-F6459E7436F1}"/>
              </a:ext>
            </a:extLst>
          </p:cNvPr>
          <p:cNvSpPr>
            <a:spLocks xmlns:a="http://schemas.openxmlformats.org/drawingml/2006/main" noGrp="1"/>
          </p:cNvSpPr>
          <p:nvPr/>
        </p:nvSpPr>
        <p:spPr>
          <a:xfrm xmlns:a="http://schemas.openxmlformats.org/drawingml/2006/main">
            <a:off x="6172200" y="5524500"/>
            <a:ext cx="4762500" cy="304800"/>
          </a:xfrm>
          <a:prstGeom xmlns:a="http://schemas.openxmlformats.org/drawingml/2006/main" prst="rect">
            <a:avLst/>
          </a:prstGeom>
        </p:spPr>
        <p:txBody>
          <a:bodyPr xmlns:a="http://schemas.openxmlformats.org/drawingml/2006/main" wrap="square" lIns="0" tIns="0" rIns="0" bIns="0" anchor="t">
            <a:normAutofit fontScale="89147"/>
          </a:bodyPr>
          <a:lstStyle xmlns:a="http://schemas.openxmlformats.org/drawingml/2006/main"/>
          <a:p xmlns:a="http://schemas.openxmlformats.org/drawingml/2006/main">
            <a:pPr algn="l">
              <a:defRPr sz="1200" b="0" i="0">
                <a:solidFill>
                  <a:srgbClr val="172033"/>
                </a:solidFill>
                <a:latin typeface="Aptos"/>
                <a:ea typeface="Aptos"/>
                <a:cs typeface="Aptos"/>
              </a:defRPr>
            </a:pPr>
            <a:r>
              <a:t>Evidence deletion is not real camera, LiDAR, odometry, audio, or force-sensor dropout.</a:t>
            </a:r>
          </a:p>
        </p:txBody>
      </p:sp>
    </p:spTree>
    <p:extLst>
      <p:ext uri="{BB962C8B-B14F-4D97-AF65-F5344CB8AC3E}">
        <p14:creationId xmlns:p14="http://schemas.microsoft.com/office/powerpoint/2010/main" val="61638175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498543B5-45BD-4AA8-B805-74863BF6E726}"/>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363F164B-F380-42AD-984A-6D4983115F94}"/>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172033"/>
                </a:solidFill>
                <a:latin typeface="Aptos"/>
                <a:ea typeface="Aptos"/>
                <a:cs typeface="Aptos"/>
              </a:defRPr>
            </a:pPr>
            <a:r>
              <a:t>19 of 20 clean VLM cases tied; LLaVA mean was 1.51s faster</a:t>
            </a:r>
          </a:p>
        </p:txBody>
      </p:sp>
      <p:cxnSp>
        <p:nvCxnSpPr>
          <p:cNvPr id="50"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39317F17-1C63-4C16-BFF4-0276028CC0B3}"/>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07</a:t>
            </a:r>
          </a:p>
        </p:txBody>
      </p:sp>
      <p:sp>
        <p:nvSpPr>
          <p:cNvPr id="5" name="">
            <a:extLst xmlns:a="http://schemas.openxmlformats.org/drawingml/2006/main">
              <a:ext uri="{FF2B5EF4-FFF2-40B4-BE49-F238E27FC236}">
                <a16:creationId xmlns:a16="http://schemas.microsoft.com/office/drawing/2014/main" id="{FAE13D00-E48E-428D-92D7-4D2836A56B5B}"/>
              </a:ext>
            </a:extLst>
          </p:cNvPr>
          <p:cNvSpPr>
            <a:spLocks xmlns:a="http://schemas.openxmlformats.org/drawingml/2006/main" noGrp="1"/>
          </p:cNvSpPr>
          <p:nvPr/>
        </p:nvSpPr>
        <p:spPr>
          <a:xfrm xmlns:a="http://schemas.openxmlformats.org/drawingml/2006/main">
            <a:off x="571500" y="1543050"/>
            <a:ext cx="5048250" cy="4048125"/>
          </a:xfrm>
          <a:prstGeom xmlns:a="http://schemas.openxmlformats.org/drawingml/2006/main" prst="roundRect">
            <a:avLst>
              <a:gd name="adj" fmla="val 1882"/>
            </a:avLst>
          </a:prstGeom>
          <a:solidFill xmlns:a="http://schemas.openxmlformats.org/drawingml/2006/main">
            <a:srgbClr val="F4F7FA"/>
          </a:solidFill>
          <a:ln xmlns:a="http://schemas.openxmlformats.org/drawingml/2006/main" w="0">
            <a:solidFill>
              <a:srgbClr val="F4F7FA"/>
            </a:solidFill>
            <a:prstDash val="solid"/>
          </a:ln>
        </p:spPr>
      </p:sp>
      <p:sp>
        <p:nvSpPr>
          <p:cNvPr id="6" name="">
            <a:extLst xmlns:a="http://schemas.openxmlformats.org/drawingml/2006/main">
              <a:ext uri="{FF2B5EF4-FFF2-40B4-BE49-F238E27FC236}">
                <a16:creationId xmlns:a16="http://schemas.microsoft.com/office/drawing/2014/main" id="{C27A581E-8EC0-4DD7-96B4-16517372F8CB}"/>
              </a:ext>
            </a:extLst>
          </p:cNvPr>
          <p:cNvSpPr>
            <a:spLocks xmlns:a="http://schemas.openxmlformats.org/drawingml/2006/main" noGrp="1"/>
          </p:cNvSpPr>
          <p:nvPr/>
        </p:nvSpPr>
        <p:spPr>
          <a:xfrm xmlns:a="http://schemas.openxmlformats.org/drawingml/2006/main">
            <a:off x="838200" y="1752600"/>
            <a:ext cx="4000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2545"/>
                </a:solidFill>
                <a:latin typeface="Aptos"/>
                <a:ea typeface="Aptos"/>
                <a:cs typeface="Aptos"/>
              </a:defRPr>
            </a:pPr>
            <a:r>
              <a:t>Quality comparison · 20 public images</a:t>
            </a:r>
          </a:p>
        </p:txBody>
      </p:sp>
      <p:sp>
        <p:nvSpPr>
          <p:cNvPr id="7" name="">
            <a:extLst xmlns:a="http://schemas.openxmlformats.org/drawingml/2006/main">
              <a:ext uri="{FF2B5EF4-FFF2-40B4-BE49-F238E27FC236}">
                <a16:creationId xmlns:a16="http://schemas.microsoft.com/office/drawing/2014/main" id="{11DBF017-26F8-4269-B3CD-976EB6DB000F}"/>
              </a:ext>
            </a:extLst>
          </p:cNvPr>
          <p:cNvSpPr>
            <a:spLocks xmlns:a="http://schemas.openxmlformats.org/drawingml/2006/main" noGrp="1"/>
          </p:cNvSpPr>
          <p:nvPr/>
        </p:nvSpPr>
        <p:spPr>
          <a:xfrm xmlns:a="http://schemas.openxmlformats.org/drawingml/2006/main">
            <a:off x="838200" y="2162175"/>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Clean</a:t>
            </a:r>
          </a:p>
        </p:txBody>
      </p:sp>
      <p:sp>
        <p:nvSpPr>
          <p:cNvPr id="8" name="">
            <a:extLst xmlns:a="http://schemas.openxmlformats.org/drawingml/2006/main">
              <a:ext uri="{FF2B5EF4-FFF2-40B4-BE49-F238E27FC236}">
                <a16:creationId xmlns:a16="http://schemas.microsoft.com/office/drawing/2014/main" id="{668C400D-6099-4C76-BAE6-9E7060147AF6}"/>
              </a:ext>
            </a:extLst>
          </p:cNvPr>
          <p:cNvSpPr>
            <a:spLocks xmlns:a="http://schemas.openxmlformats.org/drawingml/2006/main" noGrp="1"/>
          </p:cNvSpPr>
          <p:nvPr/>
        </p:nvSpPr>
        <p:spPr>
          <a:xfrm xmlns:a="http://schemas.openxmlformats.org/drawingml/2006/main">
            <a:off x="2362200" y="2400300"/>
            <a:ext cx="2146935" cy="228600"/>
          </a:xfrm>
          <a:prstGeom xmlns:a="http://schemas.openxmlformats.org/drawingml/2006/main" prst="roundRect">
            <a:avLst>
              <a:gd name="adj" fmla="val 33333"/>
            </a:avLst>
          </a:prstGeom>
          <a:solidFill xmlns:a="http://schemas.openxmlformats.org/drawingml/2006/main">
            <a:srgbClr val="2563EB"/>
          </a:solidFill>
          <a:ln xmlns:a="http://schemas.openxmlformats.org/drawingml/2006/main" w="0">
            <a:solidFill>
              <a:srgbClr val="2563EB"/>
            </a:solidFill>
            <a:prstDash val="solid"/>
          </a:ln>
        </p:spPr>
      </p:sp>
      <p:sp>
        <p:nvSpPr>
          <p:cNvPr id="9" name="">
            <a:extLst xmlns:a="http://schemas.openxmlformats.org/drawingml/2006/main">
              <a:ext uri="{FF2B5EF4-FFF2-40B4-BE49-F238E27FC236}">
                <a16:creationId xmlns:a16="http://schemas.microsoft.com/office/drawing/2014/main" id="{8A546FA7-59BF-49FF-BE6E-6094B5AC0E01}"/>
              </a:ext>
            </a:extLst>
          </p:cNvPr>
          <p:cNvSpPr>
            <a:spLocks xmlns:a="http://schemas.openxmlformats.org/drawingml/2006/main" noGrp="1"/>
          </p:cNvSpPr>
          <p:nvPr/>
        </p:nvSpPr>
        <p:spPr>
          <a:xfrm xmlns:a="http://schemas.openxmlformats.org/drawingml/2006/main">
            <a:off x="4629150" y="2381250"/>
            <a:ext cx="5905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563EB"/>
                </a:solidFill>
                <a:latin typeface="Aptos"/>
                <a:ea typeface="Aptos"/>
                <a:cs typeface="Aptos"/>
              </a:defRPr>
            </a:pPr>
            <a:r>
              <a:t>4.90</a:t>
            </a:r>
          </a:p>
        </p:txBody>
      </p:sp>
      <p:sp>
        <p:nvSpPr>
          <p:cNvPr id="10" name="">
            <a:extLst xmlns:a="http://schemas.openxmlformats.org/drawingml/2006/main">
              <a:ext uri="{FF2B5EF4-FFF2-40B4-BE49-F238E27FC236}">
                <a16:creationId xmlns:a16="http://schemas.microsoft.com/office/drawing/2014/main" id="{2B34CDBE-F92D-4195-815E-A03B72C390C0}"/>
              </a:ext>
            </a:extLst>
          </p:cNvPr>
          <p:cNvSpPr>
            <a:spLocks xmlns:a="http://schemas.openxmlformats.org/drawingml/2006/main" noGrp="1"/>
          </p:cNvSpPr>
          <p:nvPr/>
        </p:nvSpPr>
        <p:spPr>
          <a:xfrm xmlns:a="http://schemas.openxmlformats.org/drawingml/2006/main">
            <a:off x="2362200" y="2724150"/>
            <a:ext cx="2103120" cy="228600"/>
          </a:xfrm>
          <a:prstGeom xmlns:a="http://schemas.openxmlformats.org/drawingml/2006/main" prst="roundRect">
            <a:avLst>
              <a:gd name="adj" fmla="val 33333"/>
            </a:avLst>
          </a:prstGeom>
          <a:solidFill xmlns:a="http://schemas.openxmlformats.org/drawingml/2006/main">
            <a:srgbClr val="D48A00"/>
          </a:solidFill>
          <a:ln xmlns:a="http://schemas.openxmlformats.org/drawingml/2006/main" w="0">
            <a:solidFill>
              <a:srgbClr val="D48A00"/>
            </a:solidFill>
            <a:prstDash val="solid"/>
          </a:ln>
        </p:spPr>
      </p:sp>
      <p:sp>
        <p:nvSpPr>
          <p:cNvPr id="11" name="">
            <a:extLst xmlns:a="http://schemas.openxmlformats.org/drawingml/2006/main">
              <a:ext uri="{FF2B5EF4-FFF2-40B4-BE49-F238E27FC236}">
                <a16:creationId xmlns:a16="http://schemas.microsoft.com/office/drawing/2014/main" id="{203BB66B-27AA-42B2-B6F1-A42887B4EA62}"/>
              </a:ext>
            </a:extLst>
          </p:cNvPr>
          <p:cNvSpPr>
            <a:spLocks xmlns:a="http://schemas.openxmlformats.org/drawingml/2006/main" noGrp="1"/>
          </p:cNvSpPr>
          <p:nvPr/>
        </p:nvSpPr>
        <p:spPr>
          <a:xfrm xmlns:a="http://schemas.openxmlformats.org/drawingml/2006/main">
            <a:off x="4629150" y="2705100"/>
            <a:ext cx="5905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D48A00"/>
                </a:solidFill>
                <a:latin typeface="Aptos"/>
                <a:ea typeface="Aptos"/>
                <a:cs typeface="Aptos"/>
              </a:defRPr>
            </a:pPr>
            <a:r>
              <a:t>4.80</a:t>
            </a:r>
          </a:p>
        </p:txBody>
      </p:sp>
      <p:sp>
        <p:nvSpPr>
          <p:cNvPr id="12" name="">
            <a:extLst xmlns:a="http://schemas.openxmlformats.org/drawingml/2006/main">
              <a:ext uri="{FF2B5EF4-FFF2-40B4-BE49-F238E27FC236}">
                <a16:creationId xmlns:a16="http://schemas.microsoft.com/office/drawing/2014/main" id="{25C88852-2EE6-448C-85FB-1322582D8764}"/>
              </a:ext>
            </a:extLst>
          </p:cNvPr>
          <p:cNvSpPr>
            <a:spLocks xmlns:a="http://schemas.openxmlformats.org/drawingml/2006/main" noGrp="1"/>
          </p:cNvSpPr>
          <p:nvPr/>
        </p:nvSpPr>
        <p:spPr>
          <a:xfrm xmlns:a="http://schemas.openxmlformats.org/drawingml/2006/main">
            <a:off x="838200" y="3114675"/>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Noise σ=0.08</a:t>
            </a:r>
          </a:p>
        </p:txBody>
      </p:sp>
      <p:sp>
        <p:nvSpPr>
          <p:cNvPr id="13" name="">
            <a:extLst xmlns:a="http://schemas.openxmlformats.org/drawingml/2006/main">
              <a:ext uri="{FF2B5EF4-FFF2-40B4-BE49-F238E27FC236}">
                <a16:creationId xmlns:a16="http://schemas.microsoft.com/office/drawing/2014/main" id="{E7C61E15-DF02-46F6-AAE6-E8E9CA36CC17}"/>
              </a:ext>
            </a:extLst>
          </p:cNvPr>
          <p:cNvSpPr>
            <a:spLocks xmlns:a="http://schemas.openxmlformats.org/drawingml/2006/main" noGrp="1"/>
          </p:cNvSpPr>
          <p:nvPr/>
        </p:nvSpPr>
        <p:spPr>
          <a:xfrm xmlns:a="http://schemas.openxmlformats.org/drawingml/2006/main">
            <a:off x="2362200" y="3352800"/>
            <a:ext cx="2103120" cy="228600"/>
          </a:xfrm>
          <a:prstGeom xmlns:a="http://schemas.openxmlformats.org/drawingml/2006/main" prst="roundRect">
            <a:avLst>
              <a:gd name="adj" fmla="val 33333"/>
            </a:avLst>
          </a:prstGeom>
          <a:solidFill xmlns:a="http://schemas.openxmlformats.org/drawingml/2006/main">
            <a:srgbClr val="2563EB"/>
          </a:solidFill>
          <a:ln xmlns:a="http://schemas.openxmlformats.org/drawingml/2006/main" w="0">
            <a:solidFill>
              <a:srgbClr val="2563EB"/>
            </a:solidFill>
            <a:prstDash val="solid"/>
          </a:ln>
        </p:spPr>
      </p:sp>
      <p:sp>
        <p:nvSpPr>
          <p:cNvPr id="14" name="">
            <a:extLst xmlns:a="http://schemas.openxmlformats.org/drawingml/2006/main">
              <a:ext uri="{FF2B5EF4-FFF2-40B4-BE49-F238E27FC236}">
                <a16:creationId xmlns:a16="http://schemas.microsoft.com/office/drawing/2014/main" id="{EC888EB6-7FF7-41EF-8F30-97C1A9BC86A5}"/>
              </a:ext>
            </a:extLst>
          </p:cNvPr>
          <p:cNvSpPr>
            <a:spLocks xmlns:a="http://schemas.openxmlformats.org/drawingml/2006/main" noGrp="1"/>
          </p:cNvSpPr>
          <p:nvPr/>
        </p:nvSpPr>
        <p:spPr>
          <a:xfrm xmlns:a="http://schemas.openxmlformats.org/drawingml/2006/main">
            <a:off x="4629150" y="3333750"/>
            <a:ext cx="5905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563EB"/>
                </a:solidFill>
                <a:latin typeface="Aptos"/>
                <a:ea typeface="Aptos"/>
                <a:cs typeface="Aptos"/>
              </a:defRPr>
            </a:pPr>
            <a:r>
              <a:t>4.80</a:t>
            </a:r>
          </a:p>
        </p:txBody>
      </p:sp>
      <p:sp>
        <p:nvSpPr>
          <p:cNvPr id="15" name="">
            <a:extLst xmlns:a="http://schemas.openxmlformats.org/drawingml/2006/main">
              <a:ext uri="{FF2B5EF4-FFF2-40B4-BE49-F238E27FC236}">
                <a16:creationId xmlns:a16="http://schemas.microsoft.com/office/drawing/2014/main" id="{694DD5DF-E391-4B3F-A57A-70951053DA92}"/>
              </a:ext>
            </a:extLst>
          </p:cNvPr>
          <p:cNvSpPr>
            <a:spLocks xmlns:a="http://schemas.openxmlformats.org/drawingml/2006/main" noGrp="1"/>
          </p:cNvSpPr>
          <p:nvPr/>
        </p:nvSpPr>
        <p:spPr>
          <a:xfrm xmlns:a="http://schemas.openxmlformats.org/drawingml/2006/main">
            <a:off x="2362200" y="3676650"/>
            <a:ext cx="2125028" cy="228600"/>
          </a:xfrm>
          <a:prstGeom xmlns:a="http://schemas.openxmlformats.org/drawingml/2006/main" prst="roundRect">
            <a:avLst>
              <a:gd name="adj" fmla="val 33333"/>
            </a:avLst>
          </a:prstGeom>
          <a:solidFill xmlns:a="http://schemas.openxmlformats.org/drawingml/2006/main">
            <a:srgbClr val="D48A00"/>
          </a:solidFill>
          <a:ln xmlns:a="http://schemas.openxmlformats.org/drawingml/2006/main" w="0">
            <a:solidFill>
              <a:srgbClr val="D48A00"/>
            </a:solidFill>
            <a:prstDash val="solid"/>
          </a:ln>
        </p:spPr>
      </p:sp>
      <p:sp>
        <p:nvSpPr>
          <p:cNvPr id="16" name="">
            <a:extLst xmlns:a="http://schemas.openxmlformats.org/drawingml/2006/main">
              <a:ext uri="{FF2B5EF4-FFF2-40B4-BE49-F238E27FC236}">
                <a16:creationId xmlns:a16="http://schemas.microsoft.com/office/drawing/2014/main" id="{F250D95A-58CF-492D-AF20-190E397838FC}"/>
              </a:ext>
            </a:extLst>
          </p:cNvPr>
          <p:cNvSpPr>
            <a:spLocks xmlns:a="http://schemas.openxmlformats.org/drawingml/2006/main" noGrp="1"/>
          </p:cNvSpPr>
          <p:nvPr/>
        </p:nvSpPr>
        <p:spPr>
          <a:xfrm xmlns:a="http://schemas.openxmlformats.org/drawingml/2006/main">
            <a:off x="4629150" y="3657600"/>
            <a:ext cx="5905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D48A00"/>
                </a:solidFill>
                <a:latin typeface="Aptos"/>
                <a:ea typeface="Aptos"/>
                <a:cs typeface="Aptos"/>
              </a:defRPr>
            </a:pPr>
            <a:r>
              <a:t>4.85</a:t>
            </a:r>
          </a:p>
        </p:txBody>
      </p:sp>
      <p:sp>
        <p:nvSpPr>
          <p:cNvPr id="17" name="">
            <a:extLst xmlns:a="http://schemas.openxmlformats.org/drawingml/2006/main">
              <a:ext uri="{FF2B5EF4-FFF2-40B4-BE49-F238E27FC236}">
                <a16:creationId xmlns:a16="http://schemas.microsoft.com/office/drawing/2014/main" id="{BB728683-41D9-41DA-98AA-A7CD9CF6D905}"/>
              </a:ext>
            </a:extLst>
          </p:cNvPr>
          <p:cNvSpPr>
            <a:spLocks xmlns:a="http://schemas.openxmlformats.org/drawingml/2006/main" noGrp="1"/>
          </p:cNvSpPr>
          <p:nvPr/>
        </p:nvSpPr>
        <p:spPr>
          <a:xfrm xmlns:a="http://schemas.openxmlformats.org/drawingml/2006/main">
            <a:off x="838200" y="4067175"/>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677A"/>
                </a:solidFill>
                <a:latin typeface="Aptos"/>
                <a:ea typeface="Aptos"/>
                <a:cs typeface="Aptos"/>
              </a:defRPr>
            </a:pPr>
            <a:r>
              <a:t>Brightness 0.60</a:t>
            </a:r>
          </a:p>
        </p:txBody>
      </p:sp>
      <p:sp>
        <p:nvSpPr>
          <p:cNvPr id="18" name="">
            <a:extLst xmlns:a="http://schemas.openxmlformats.org/drawingml/2006/main">
              <a:ext uri="{FF2B5EF4-FFF2-40B4-BE49-F238E27FC236}">
                <a16:creationId xmlns:a16="http://schemas.microsoft.com/office/drawing/2014/main" id="{C72CB814-483A-4990-BF8F-AC272EAEC16C}"/>
              </a:ext>
            </a:extLst>
          </p:cNvPr>
          <p:cNvSpPr>
            <a:spLocks xmlns:a="http://schemas.openxmlformats.org/drawingml/2006/main" noGrp="1"/>
          </p:cNvSpPr>
          <p:nvPr/>
        </p:nvSpPr>
        <p:spPr>
          <a:xfrm xmlns:a="http://schemas.openxmlformats.org/drawingml/2006/main">
            <a:off x="2362200" y="4305300"/>
            <a:ext cx="2081213" cy="228600"/>
          </a:xfrm>
          <a:prstGeom xmlns:a="http://schemas.openxmlformats.org/drawingml/2006/main" prst="roundRect">
            <a:avLst>
              <a:gd name="adj" fmla="val 33333"/>
            </a:avLst>
          </a:prstGeom>
          <a:solidFill xmlns:a="http://schemas.openxmlformats.org/drawingml/2006/main">
            <a:srgbClr val="2563EB"/>
          </a:solidFill>
          <a:ln xmlns:a="http://schemas.openxmlformats.org/drawingml/2006/main" w="0">
            <a:solidFill>
              <a:srgbClr val="2563EB"/>
            </a:solidFill>
            <a:prstDash val="solid"/>
          </a:ln>
        </p:spPr>
      </p:sp>
      <p:sp>
        <p:nvSpPr>
          <p:cNvPr id="19" name="">
            <a:extLst xmlns:a="http://schemas.openxmlformats.org/drawingml/2006/main">
              <a:ext uri="{FF2B5EF4-FFF2-40B4-BE49-F238E27FC236}">
                <a16:creationId xmlns:a16="http://schemas.microsoft.com/office/drawing/2014/main" id="{6E8F20FB-D0C6-4A24-9C7A-1584CAFE9197}"/>
              </a:ext>
            </a:extLst>
          </p:cNvPr>
          <p:cNvSpPr>
            <a:spLocks xmlns:a="http://schemas.openxmlformats.org/drawingml/2006/main" noGrp="1"/>
          </p:cNvSpPr>
          <p:nvPr/>
        </p:nvSpPr>
        <p:spPr>
          <a:xfrm xmlns:a="http://schemas.openxmlformats.org/drawingml/2006/main">
            <a:off x="4629150" y="4286250"/>
            <a:ext cx="5905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563EB"/>
                </a:solidFill>
                <a:latin typeface="Aptos"/>
                <a:ea typeface="Aptos"/>
                <a:cs typeface="Aptos"/>
              </a:defRPr>
            </a:pPr>
            <a:r>
              <a:t>4.75</a:t>
            </a:r>
          </a:p>
        </p:txBody>
      </p:sp>
      <p:sp>
        <p:nvSpPr>
          <p:cNvPr id="20" name="">
            <a:extLst xmlns:a="http://schemas.openxmlformats.org/drawingml/2006/main">
              <a:ext uri="{FF2B5EF4-FFF2-40B4-BE49-F238E27FC236}">
                <a16:creationId xmlns:a16="http://schemas.microsoft.com/office/drawing/2014/main" id="{6FD178BF-0B3E-486D-9EA4-01C437956F62}"/>
              </a:ext>
            </a:extLst>
          </p:cNvPr>
          <p:cNvSpPr>
            <a:spLocks xmlns:a="http://schemas.openxmlformats.org/drawingml/2006/main" noGrp="1"/>
          </p:cNvSpPr>
          <p:nvPr/>
        </p:nvSpPr>
        <p:spPr>
          <a:xfrm xmlns:a="http://schemas.openxmlformats.org/drawingml/2006/main">
            <a:off x="2362200" y="4629150"/>
            <a:ext cx="2059305" cy="228600"/>
          </a:xfrm>
          <a:prstGeom xmlns:a="http://schemas.openxmlformats.org/drawingml/2006/main" prst="roundRect">
            <a:avLst>
              <a:gd name="adj" fmla="val 33333"/>
            </a:avLst>
          </a:prstGeom>
          <a:solidFill xmlns:a="http://schemas.openxmlformats.org/drawingml/2006/main">
            <a:srgbClr val="D48A00"/>
          </a:solidFill>
          <a:ln xmlns:a="http://schemas.openxmlformats.org/drawingml/2006/main" w="0">
            <a:solidFill>
              <a:srgbClr val="D48A00"/>
            </a:solidFill>
            <a:prstDash val="solid"/>
          </a:ln>
        </p:spPr>
      </p:sp>
      <p:sp>
        <p:nvSpPr>
          <p:cNvPr id="21" name="">
            <a:extLst xmlns:a="http://schemas.openxmlformats.org/drawingml/2006/main">
              <a:ext uri="{FF2B5EF4-FFF2-40B4-BE49-F238E27FC236}">
                <a16:creationId xmlns:a16="http://schemas.microsoft.com/office/drawing/2014/main" id="{93E616A8-3CE9-47EF-82B6-678995669053}"/>
              </a:ext>
            </a:extLst>
          </p:cNvPr>
          <p:cNvSpPr>
            <a:spLocks xmlns:a="http://schemas.openxmlformats.org/drawingml/2006/main" noGrp="1"/>
          </p:cNvSpPr>
          <p:nvPr/>
        </p:nvSpPr>
        <p:spPr>
          <a:xfrm xmlns:a="http://schemas.openxmlformats.org/drawingml/2006/main">
            <a:off x="4629150" y="4610100"/>
            <a:ext cx="5905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D48A00"/>
                </a:solidFill>
                <a:latin typeface="Aptos"/>
                <a:ea typeface="Aptos"/>
                <a:cs typeface="Aptos"/>
              </a:defRPr>
            </a:pPr>
            <a:r>
              <a:t>4.70</a:t>
            </a:r>
          </a:p>
        </p:txBody>
      </p:sp>
      <p:sp>
        <p:nvSpPr>
          <p:cNvPr id="22" name="">
            <a:extLst xmlns:a="http://schemas.openxmlformats.org/drawingml/2006/main">
              <a:ext uri="{FF2B5EF4-FFF2-40B4-BE49-F238E27FC236}">
                <a16:creationId xmlns:a16="http://schemas.microsoft.com/office/drawing/2014/main" id="{2FE2074F-ACB1-4813-AE37-6D93F6B201E2}"/>
              </a:ext>
            </a:extLst>
          </p:cNvPr>
          <p:cNvSpPr>
            <a:spLocks xmlns:a="http://schemas.openxmlformats.org/drawingml/2006/main" noGrp="1"/>
          </p:cNvSpPr>
          <p:nvPr/>
        </p:nvSpPr>
        <p:spPr>
          <a:xfrm xmlns:a="http://schemas.openxmlformats.org/drawingml/2006/main">
            <a:off x="838200" y="4829175"/>
            <a:ext cx="1428750" cy="28575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0">
            <a:solidFill>
              <a:srgbClr val="EAF2FF"/>
            </a:solidFill>
            <a:prstDash val="solid"/>
          </a:ln>
        </p:spPr>
      </p:sp>
      <p:sp>
        <p:nvSpPr>
          <p:cNvPr id="23" name="">
            <a:extLst xmlns:a="http://schemas.openxmlformats.org/drawingml/2006/main">
              <a:ext uri="{FF2B5EF4-FFF2-40B4-BE49-F238E27FC236}">
                <a16:creationId xmlns:a16="http://schemas.microsoft.com/office/drawing/2014/main" id="{0B215993-0DDB-49FF-876B-CCDB364DAC2D}"/>
              </a:ext>
            </a:extLst>
          </p:cNvPr>
          <p:cNvSpPr>
            <a:spLocks xmlns:a="http://schemas.openxmlformats.org/drawingml/2006/main" noGrp="1"/>
          </p:cNvSpPr>
          <p:nvPr/>
        </p:nvSpPr>
        <p:spPr>
          <a:xfrm xmlns:a="http://schemas.openxmlformats.org/drawingml/2006/main">
            <a:off x="933450" y="4886325"/>
            <a:ext cx="123825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2563EB"/>
                </a:solidFill>
                <a:latin typeface="Aptos"/>
                <a:ea typeface="Aptos"/>
                <a:cs typeface="Aptos"/>
              </a:defRPr>
            </a:pPr>
            <a:r>
              <a:t>Idefics2</a:t>
            </a:r>
          </a:p>
        </p:txBody>
      </p:sp>
      <p:sp>
        <p:nvSpPr>
          <p:cNvPr id="24" name="">
            <a:extLst xmlns:a="http://schemas.openxmlformats.org/drawingml/2006/main">
              <a:ext uri="{FF2B5EF4-FFF2-40B4-BE49-F238E27FC236}">
                <a16:creationId xmlns:a16="http://schemas.microsoft.com/office/drawing/2014/main" id="{4AE30D9E-2B8B-45B8-829F-C0DE1C7852E7}"/>
              </a:ext>
            </a:extLst>
          </p:cNvPr>
          <p:cNvSpPr>
            <a:spLocks xmlns:a="http://schemas.openxmlformats.org/drawingml/2006/main" noGrp="1"/>
          </p:cNvSpPr>
          <p:nvPr/>
        </p:nvSpPr>
        <p:spPr>
          <a:xfrm xmlns:a="http://schemas.openxmlformats.org/drawingml/2006/main">
            <a:off x="2400300" y="4829175"/>
            <a:ext cx="1714500" cy="285750"/>
          </a:xfrm>
          <a:prstGeom xmlns:a="http://schemas.openxmlformats.org/drawingml/2006/main" prst="roundRect">
            <a:avLst>
              <a:gd name="adj" fmla="val 26667"/>
            </a:avLst>
          </a:prstGeom>
          <a:solidFill xmlns:a="http://schemas.openxmlformats.org/drawingml/2006/main">
            <a:srgbClr val="FFF5DC"/>
          </a:solidFill>
          <a:ln xmlns:a="http://schemas.openxmlformats.org/drawingml/2006/main" w="0">
            <a:solidFill>
              <a:srgbClr val="FFF5DC"/>
            </a:solidFill>
            <a:prstDash val="solid"/>
          </a:ln>
        </p:spPr>
      </p:sp>
      <p:sp>
        <p:nvSpPr>
          <p:cNvPr id="25" name="">
            <a:extLst xmlns:a="http://schemas.openxmlformats.org/drawingml/2006/main">
              <a:ext uri="{FF2B5EF4-FFF2-40B4-BE49-F238E27FC236}">
                <a16:creationId xmlns:a16="http://schemas.microsoft.com/office/drawing/2014/main" id="{C45BFD6E-F640-4CAA-A05E-59FBD44735E7}"/>
              </a:ext>
            </a:extLst>
          </p:cNvPr>
          <p:cNvSpPr>
            <a:spLocks xmlns:a="http://schemas.openxmlformats.org/drawingml/2006/main" noGrp="1"/>
          </p:cNvSpPr>
          <p:nvPr/>
        </p:nvSpPr>
        <p:spPr>
          <a:xfrm xmlns:a="http://schemas.openxmlformats.org/drawingml/2006/main">
            <a:off x="2495550" y="4886325"/>
            <a:ext cx="15240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D48A00"/>
                </a:solidFill>
                <a:latin typeface="Aptos"/>
                <a:ea typeface="Aptos"/>
                <a:cs typeface="Aptos"/>
              </a:defRPr>
            </a:pPr>
            <a:r>
              <a:t>LLaVA-1.5-7B</a:t>
            </a:r>
          </a:p>
        </p:txBody>
      </p:sp>
      <p:sp>
        <p:nvSpPr>
          <p:cNvPr id="26" name="">
            <a:extLst xmlns:a="http://schemas.openxmlformats.org/drawingml/2006/main">
              <a:ext uri="{FF2B5EF4-FFF2-40B4-BE49-F238E27FC236}">
                <a16:creationId xmlns:a16="http://schemas.microsoft.com/office/drawing/2014/main" id="{38201B7B-77B1-4B12-B8EC-D50895C882C0}"/>
              </a:ext>
            </a:extLst>
          </p:cNvPr>
          <p:cNvSpPr>
            <a:spLocks xmlns:a="http://schemas.openxmlformats.org/drawingml/2006/main" noGrp="1"/>
          </p:cNvSpPr>
          <p:nvPr/>
        </p:nvSpPr>
        <p:spPr>
          <a:xfrm xmlns:a="http://schemas.openxmlformats.org/drawingml/2006/main">
            <a:off x="6000750" y="1543050"/>
            <a:ext cx="55245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7DFE9"/>
            </a:solidFill>
            <a:prstDash val="solid"/>
          </a:ln>
        </p:spPr>
      </p:sp>
      <p:sp>
        <p:nvSpPr>
          <p:cNvPr id="27" name="">
            <a:extLst xmlns:a="http://schemas.openxmlformats.org/drawingml/2006/main">
              <a:ext uri="{FF2B5EF4-FFF2-40B4-BE49-F238E27FC236}">
                <a16:creationId xmlns:a16="http://schemas.microsoft.com/office/drawing/2014/main" id="{4A451A00-9C89-4407-88E9-DD04A4CC6747}"/>
              </a:ext>
            </a:extLst>
          </p:cNvPr>
          <p:cNvSpPr>
            <a:spLocks xmlns:a="http://schemas.openxmlformats.org/drawingml/2006/main" noGrp="1"/>
          </p:cNvSpPr>
          <p:nvPr/>
        </p:nvSpPr>
        <p:spPr>
          <a:xfrm xmlns:a="http://schemas.openxmlformats.org/drawingml/2006/main">
            <a:off x="6286500" y="1752600"/>
            <a:ext cx="23812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2545"/>
                </a:solidFill>
                <a:latin typeface="Aptos"/>
                <a:ea typeface="Aptos"/>
                <a:cs typeface="Aptos"/>
              </a:defRPr>
            </a:pPr>
            <a:r>
              <a:t>Clean-case outcome</a:t>
            </a:r>
          </a:p>
        </p:txBody>
      </p:sp>
      <p:sp>
        <p:nvSpPr>
          <p:cNvPr id="28" name="">
            <a:extLst xmlns:a="http://schemas.openxmlformats.org/drawingml/2006/main">
              <a:ext uri="{FF2B5EF4-FFF2-40B4-BE49-F238E27FC236}">
                <a16:creationId xmlns:a16="http://schemas.microsoft.com/office/drawing/2014/main" id="{EF609424-24A6-4CA1-A858-5CF93571ED03}"/>
              </a:ext>
            </a:extLst>
          </p:cNvPr>
          <p:cNvSpPr>
            <a:spLocks xmlns:a="http://schemas.openxmlformats.org/drawingml/2006/main" noGrp="1"/>
          </p:cNvSpPr>
          <p:nvPr/>
        </p:nvSpPr>
        <p:spPr>
          <a:xfrm xmlns:a="http://schemas.openxmlformats.org/drawingml/2006/main">
            <a:off x="6286500" y="2133600"/>
            <a:ext cx="104775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0B2545"/>
                </a:solidFill>
                <a:latin typeface="Aptos"/>
                <a:ea typeface="Aptos"/>
                <a:cs typeface="Aptos"/>
              </a:defRPr>
            </a:pPr>
            <a:r>
              <a:t>19</a:t>
            </a:r>
          </a:p>
        </p:txBody>
      </p:sp>
      <p:sp>
        <p:nvSpPr>
          <p:cNvPr id="29" name="">
            <a:extLst xmlns:a="http://schemas.openxmlformats.org/drawingml/2006/main">
              <a:ext uri="{FF2B5EF4-FFF2-40B4-BE49-F238E27FC236}">
                <a16:creationId xmlns:a16="http://schemas.microsoft.com/office/drawing/2014/main" id="{53BB46B8-BE1E-4848-B62C-1AF952891EA1}"/>
              </a:ext>
            </a:extLst>
          </p:cNvPr>
          <p:cNvSpPr>
            <a:spLocks xmlns:a="http://schemas.openxmlformats.org/drawingml/2006/main" noGrp="1"/>
          </p:cNvSpPr>
          <p:nvPr/>
        </p:nvSpPr>
        <p:spPr>
          <a:xfrm xmlns:a="http://schemas.openxmlformats.org/drawingml/2006/main">
            <a:off x="7296150" y="2295525"/>
            <a:ext cx="8572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5B677A"/>
                </a:solidFill>
                <a:latin typeface="Aptos"/>
                <a:ea typeface="Aptos"/>
                <a:cs typeface="Aptos"/>
              </a:defRPr>
            </a:pPr>
            <a:r>
              <a:t>ties</a:t>
            </a:r>
          </a:p>
        </p:txBody>
      </p:sp>
      <p:cxnSp>
        <p:nvCxnSpPr>
          <p:cNvPr id="77" name=""/>
          <p:cNvCxnSpPr/>
          <p:nvPr/>
        </p:nvCxnSpPr>
        <p:spPr>
          <a:xfrm xmlns:a="http://schemas.openxmlformats.org/drawingml/2006/main">
            <a:off x="8401050" y="2076450"/>
            <a:ext cx="95" cy="742950"/>
          </a:xfrm>
          <a:prstGeom xmlns:a="http://schemas.openxmlformats.org/drawingml/2006/main" prst="straightConnector1">
            <a:avLst/>
          </a:prstGeom>
          <a:ln xmlns:a="http://schemas.openxmlformats.org/drawingml/2006/main" w="19050">
            <a:solidFill>
              <a:srgbClr val="D7DFE9"/>
            </a:solidFill>
            <a:prstDash val="solid"/>
          </a:ln>
        </p:spPr>
      </p:cxnSp>
      <p:sp>
        <p:nvSpPr>
          <p:cNvPr id="31" name="">
            <a:extLst xmlns:a="http://schemas.openxmlformats.org/drawingml/2006/main">
              <a:ext uri="{FF2B5EF4-FFF2-40B4-BE49-F238E27FC236}">
                <a16:creationId xmlns:a16="http://schemas.microsoft.com/office/drawing/2014/main" id="{1DC371D8-0206-4D7D-B88D-85DC83C4204F}"/>
              </a:ext>
            </a:extLst>
          </p:cNvPr>
          <p:cNvSpPr>
            <a:spLocks xmlns:a="http://schemas.openxmlformats.org/drawingml/2006/main" noGrp="1"/>
          </p:cNvSpPr>
          <p:nvPr/>
        </p:nvSpPr>
        <p:spPr>
          <a:xfrm xmlns:a="http://schemas.openxmlformats.org/drawingml/2006/main">
            <a:off x="8743950" y="2133600"/>
            <a:ext cx="85725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2563EB"/>
                </a:solidFill>
                <a:latin typeface="Aptos"/>
                <a:ea typeface="Aptos"/>
                <a:cs typeface="Aptos"/>
              </a:defRPr>
            </a:pPr>
            <a:r>
              <a:t>1</a:t>
            </a:r>
          </a:p>
        </p:txBody>
      </p:sp>
      <p:sp>
        <p:nvSpPr>
          <p:cNvPr id="32" name="">
            <a:extLst xmlns:a="http://schemas.openxmlformats.org/drawingml/2006/main">
              <a:ext uri="{FF2B5EF4-FFF2-40B4-BE49-F238E27FC236}">
                <a16:creationId xmlns:a16="http://schemas.microsoft.com/office/drawing/2014/main" id="{D23C796F-2441-47DC-B025-20467230B730}"/>
              </a:ext>
            </a:extLst>
          </p:cNvPr>
          <p:cNvSpPr>
            <a:spLocks xmlns:a="http://schemas.openxmlformats.org/drawingml/2006/main" noGrp="1"/>
          </p:cNvSpPr>
          <p:nvPr/>
        </p:nvSpPr>
        <p:spPr>
          <a:xfrm xmlns:a="http://schemas.openxmlformats.org/drawingml/2006/main">
            <a:off x="9563100" y="2209800"/>
            <a:ext cx="16192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72033"/>
                </a:solidFill>
                <a:latin typeface="Aptos"/>
                <a:ea typeface="Aptos"/>
                <a:cs typeface="Aptos"/>
              </a:defRPr>
            </a:pPr>
            <a:r>
              <a:t>Idefics2 win</a:t>
            </a:r>
          </a:p>
        </p:txBody>
      </p:sp>
      <p:sp>
        <p:nvSpPr>
          <p:cNvPr id="33" name="">
            <a:extLst xmlns:a="http://schemas.openxmlformats.org/drawingml/2006/main">
              <a:ext uri="{FF2B5EF4-FFF2-40B4-BE49-F238E27FC236}">
                <a16:creationId xmlns:a16="http://schemas.microsoft.com/office/drawing/2014/main" id="{20E68A72-F9BE-46F2-BB59-12ED231FF269}"/>
              </a:ext>
            </a:extLst>
          </p:cNvPr>
          <p:cNvSpPr>
            <a:spLocks xmlns:a="http://schemas.openxmlformats.org/drawingml/2006/main" noGrp="1"/>
          </p:cNvSpPr>
          <p:nvPr/>
        </p:nvSpPr>
        <p:spPr>
          <a:xfrm xmlns:a="http://schemas.openxmlformats.org/drawingml/2006/main">
            <a:off x="6286500" y="2952750"/>
            <a:ext cx="4857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77A"/>
                </a:solidFill>
                <a:latin typeface="Aptos"/>
                <a:ea typeface="Aptos"/>
                <a:cs typeface="Aptos"/>
              </a:defRPr>
            </a:pPr>
            <a:r>
              <a:t>The diagnostic quality ceiling does not support a general architecture winner.</a:t>
            </a:r>
          </a:p>
        </p:txBody>
      </p:sp>
      <p:sp>
        <p:nvSpPr>
          <p:cNvPr id="34" name="">
            <a:extLst xmlns:a="http://schemas.openxmlformats.org/drawingml/2006/main">
              <a:ext uri="{FF2B5EF4-FFF2-40B4-BE49-F238E27FC236}">
                <a16:creationId xmlns:a16="http://schemas.microsoft.com/office/drawing/2014/main" id="{DF4FF496-94B3-4C16-92DE-9F65ABF99594}"/>
              </a:ext>
            </a:extLst>
          </p:cNvPr>
          <p:cNvSpPr>
            <a:spLocks xmlns:a="http://schemas.openxmlformats.org/drawingml/2006/main" noGrp="1"/>
          </p:cNvSpPr>
          <p:nvPr/>
        </p:nvSpPr>
        <p:spPr>
          <a:xfrm xmlns:a="http://schemas.openxmlformats.org/drawingml/2006/main">
            <a:off x="6000750" y="3790950"/>
            <a:ext cx="5524500" cy="1800225"/>
          </a:xfrm>
          <a:prstGeom xmlns:a="http://schemas.openxmlformats.org/drawingml/2006/main" prst="roundRect">
            <a:avLst>
              <a:gd name="adj" fmla="val 4233"/>
            </a:avLst>
          </a:prstGeom>
          <a:solidFill xmlns:a="http://schemas.openxmlformats.org/drawingml/2006/main">
            <a:srgbClr val="F4F7FA"/>
          </a:solidFill>
          <a:ln xmlns:a="http://schemas.openxmlformats.org/drawingml/2006/main" w="0">
            <a:solidFill>
              <a:srgbClr val="F4F7FA"/>
            </a:solidFill>
            <a:prstDash val="solid"/>
          </a:ln>
        </p:spPr>
      </p:sp>
      <p:sp>
        <p:nvSpPr>
          <p:cNvPr id="35" name="">
            <a:extLst xmlns:a="http://schemas.openxmlformats.org/drawingml/2006/main">
              <a:ext uri="{FF2B5EF4-FFF2-40B4-BE49-F238E27FC236}">
                <a16:creationId xmlns:a16="http://schemas.microsoft.com/office/drawing/2014/main" id="{8B9929F5-7AB3-4EA2-89F3-E6CD2ACE554A}"/>
              </a:ext>
            </a:extLst>
          </p:cNvPr>
          <p:cNvSpPr>
            <a:spLocks xmlns:a="http://schemas.openxmlformats.org/drawingml/2006/main" noGrp="1"/>
          </p:cNvSpPr>
          <p:nvPr/>
        </p:nvSpPr>
        <p:spPr>
          <a:xfrm xmlns:a="http://schemas.openxmlformats.org/drawingml/2006/main">
            <a:off x="6286500" y="4000500"/>
            <a:ext cx="2476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2545"/>
                </a:solidFill>
                <a:latin typeface="Aptos"/>
                <a:ea typeface="Aptos"/>
                <a:cs typeface="Aptos"/>
              </a:defRPr>
            </a:pPr>
            <a:r>
              <a:t>System cost on one A40</a:t>
            </a:r>
          </a:p>
        </p:txBody>
      </p:sp>
      <p:sp>
        <p:nvSpPr>
          <p:cNvPr id="36" name="">
            <a:extLst xmlns:a="http://schemas.openxmlformats.org/drawingml/2006/main">
              <a:ext uri="{FF2B5EF4-FFF2-40B4-BE49-F238E27FC236}">
                <a16:creationId xmlns:a16="http://schemas.microsoft.com/office/drawing/2014/main" id="{B650F08F-DF00-4CA0-9B8C-AD42314D38C2}"/>
              </a:ext>
            </a:extLst>
          </p:cNvPr>
          <p:cNvSpPr>
            <a:spLocks xmlns:a="http://schemas.openxmlformats.org/drawingml/2006/main" noGrp="1"/>
          </p:cNvSpPr>
          <p:nvPr/>
        </p:nvSpPr>
        <p:spPr>
          <a:xfrm xmlns:a="http://schemas.openxmlformats.org/drawingml/2006/main">
            <a:off x="6286500" y="4400550"/>
            <a:ext cx="238125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D7DFE9"/>
            </a:solidFill>
            <a:prstDash val="solid"/>
          </a:ln>
        </p:spPr>
      </p:sp>
      <p:sp>
        <p:nvSpPr>
          <p:cNvPr id="37" name="">
            <a:extLst xmlns:a="http://schemas.openxmlformats.org/drawingml/2006/main">
              <a:ext uri="{FF2B5EF4-FFF2-40B4-BE49-F238E27FC236}">
                <a16:creationId xmlns:a16="http://schemas.microsoft.com/office/drawing/2014/main" id="{7A381E4C-FADF-4A25-9644-01717D9D7DDE}"/>
              </a:ext>
            </a:extLst>
          </p:cNvPr>
          <p:cNvSpPr>
            <a:spLocks xmlns:a="http://schemas.openxmlformats.org/drawingml/2006/main" noGrp="1"/>
          </p:cNvSpPr>
          <p:nvPr/>
        </p:nvSpPr>
        <p:spPr>
          <a:xfrm xmlns:a="http://schemas.openxmlformats.org/drawingml/2006/main">
            <a:off x="6286500" y="4400550"/>
            <a:ext cx="76200" cy="93345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38" name="">
            <a:extLst xmlns:a="http://schemas.openxmlformats.org/drawingml/2006/main">
              <a:ext uri="{FF2B5EF4-FFF2-40B4-BE49-F238E27FC236}">
                <a16:creationId xmlns:a16="http://schemas.microsoft.com/office/drawing/2014/main" id="{00893AB0-F3C6-4125-BBE3-A9B3E8D06F49}"/>
              </a:ext>
            </a:extLst>
          </p:cNvPr>
          <p:cNvSpPr>
            <a:spLocks xmlns:a="http://schemas.openxmlformats.org/drawingml/2006/main" noGrp="1"/>
          </p:cNvSpPr>
          <p:nvPr/>
        </p:nvSpPr>
        <p:spPr>
          <a:xfrm xmlns:a="http://schemas.openxmlformats.org/drawingml/2006/main">
            <a:off x="6477000" y="4495800"/>
            <a:ext cx="203835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0F9D8A"/>
                </a:solidFill>
                <a:latin typeface="Aptos"/>
                <a:ea typeface="Aptos"/>
                <a:cs typeface="Aptos"/>
              </a:defRPr>
            </a:pPr>
            <a:r>
              <a:t>4.39 s</a:t>
            </a:r>
          </a:p>
        </p:txBody>
      </p:sp>
      <p:sp>
        <p:nvSpPr>
          <p:cNvPr id="39" name="">
            <a:extLst xmlns:a="http://schemas.openxmlformats.org/drawingml/2006/main">
              <a:ext uri="{FF2B5EF4-FFF2-40B4-BE49-F238E27FC236}">
                <a16:creationId xmlns:a16="http://schemas.microsoft.com/office/drawing/2014/main" id="{431785C4-48FB-49B5-A48F-CDEF8BD6FF13}"/>
              </a:ext>
            </a:extLst>
          </p:cNvPr>
          <p:cNvSpPr>
            <a:spLocks xmlns:a="http://schemas.openxmlformats.org/drawingml/2006/main" noGrp="1"/>
          </p:cNvSpPr>
          <p:nvPr/>
        </p:nvSpPr>
        <p:spPr>
          <a:xfrm xmlns:a="http://schemas.openxmlformats.org/drawingml/2006/main">
            <a:off x="6477000" y="4819650"/>
            <a:ext cx="2038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2033"/>
                </a:solidFill>
                <a:latin typeface="Aptos"/>
                <a:ea typeface="Aptos"/>
                <a:cs typeface="Aptos"/>
              </a:defRPr>
            </a:pPr>
            <a:r>
              <a:t>LLaVA p50 latency</a:t>
            </a:r>
          </a:p>
        </p:txBody>
      </p:sp>
      <p:sp>
        <p:nvSpPr>
          <p:cNvPr id="40" name="">
            <a:extLst xmlns:a="http://schemas.openxmlformats.org/drawingml/2006/main">
              <a:ext uri="{FF2B5EF4-FFF2-40B4-BE49-F238E27FC236}">
                <a16:creationId xmlns:a16="http://schemas.microsoft.com/office/drawing/2014/main" id="{C863A339-ED04-4F65-A87D-137E922DBC8B}"/>
              </a:ext>
            </a:extLst>
          </p:cNvPr>
          <p:cNvSpPr>
            <a:spLocks xmlns:a="http://schemas.openxmlformats.org/drawingml/2006/main" noGrp="1"/>
          </p:cNvSpPr>
          <p:nvPr/>
        </p:nvSpPr>
        <p:spPr>
          <a:xfrm xmlns:a="http://schemas.openxmlformats.org/drawingml/2006/main">
            <a:off x="6477000" y="5067300"/>
            <a:ext cx="20383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5B677A"/>
                </a:solidFill>
                <a:latin typeface="Aptos"/>
                <a:ea typeface="Aptos"/>
                <a:cs typeface="Aptos"/>
              </a:defRPr>
            </a:pPr>
            <a:r>
              <a:t>mean 4.49 s · peak 14.15 GiB</a:t>
            </a:r>
          </a:p>
        </p:txBody>
      </p:sp>
      <p:sp>
        <p:nvSpPr>
          <p:cNvPr id="41" name="">
            <a:extLst xmlns:a="http://schemas.openxmlformats.org/drawingml/2006/main">
              <a:ext uri="{FF2B5EF4-FFF2-40B4-BE49-F238E27FC236}">
                <a16:creationId xmlns:a16="http://schemas.microsoft.com/office/drawing/2014/main" id="{7EC3FA57-BFEA-4B5B-8E6E-320B4A0DD3E3}"/>
              </a:ext>
            </a:extLst>
          </p:cNvPr>
          <p:cNvSpPr>
            <a:spLocks xmlns:a="http://schemas.openxmlformats.org/drawingml/2006/main" noGrp="1"/>
          </p:cNvSpPr>
          <p:nvPr/>
        </p:nvSpPr>
        <p:spPr>
          <a:xfrm xmlns:a="http://schemas.openxmlformats.org/drawingml/2006/main">
            <a:off x="8858250" y="4400550"/>
            <a:ext cx="238125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D7DFE9"/>
            </a:solidFill>
            <a:prstDash val="solid"/>
          </a:ln>
        </p:spPr>
      </p:sp>
      <p:sp>
        <p:nvSpPr>
          <p:cNvPr id="42" name="">
            <a:extLst xmlns:a="http://schemas.openxmlformats.org/drawingml/2006/main">
              <a:ext uri="{FF2B5EF4-FFF2-40B4-BE49-F238E27FC236}">
                <a16:creationId xmlns:a16="http://schemas.microsoft.com/office/drawing/2014/main" id="{E27FE0E8-B487-41AC-81F5-B4304E0684C2}"/>
              </a:ext>
            </a:extLst>
          </p:cNvPr>
          <p:cNvSpPr>
            <a:spLocks xmlns:a="http://schemas.openxmlformats.org/drawingml/2006/main" noGrp="1"/>
          </p:cNvSpPr>
          <p:nvPr/>
        </p:nvSpPr>
        <p:spPr>
          <a:xfrm xmlns:a="http://schemas.openxmlformats.org/drawingml/2006/main">
            <a:off x="8858250" y="4400550"/>
            <a:ext cx="76200" cy="933450"/>
          </a:xfrm>
          <a:prstGeom xmlns:a="http://schemas.openxmlformats.org/drawingml/2006/main" prst="rect">
            <a:avLst/>
          </a:prstGeom>
          <a:solidFill xmlns:a="http://schemas.openxmlformats.org/drawingml/2006/main">
            <a:srgbClr val="D48A00"/>
          </a:solidFill>
          <a:ln xmlns:a="http://schemas.openxmlformats.org/drawingml/2006/main" w="0">
            <a:solidFill>
              <a:srgbClr val="D48A00"/>
            </a:solidFill>
            <a:prstDash val="solid"/>
          </a:ln>
        </p:spPr>
      </p:sp>
      <p:sp>
        <p:nvSpPr>
          <p:cNvPr id="43" name="">
            <a:extLst xmlns:a="http://schemas.openxmlformats.org/drawingml/2006/main">
              <a:ext uri="{FF2B5EF4-FFF2-40B4-BE49-F238E27FC236}">
                <a16:creationId xmlns:a16="http://schemas.microsoft.com/office/drawing/2014/main" id="{9E8A0A05-D517-49A3-B26C-A10B7CD9B4BF}"/>
              </a:ext>
            </a:extLst>
          </p:cNvPr>
          <p:cNvSpPr>
            <a:spLocks xmlns:a="http://schemas.openxmlformats.org/drawingml/2006/main" noGrp="1"/>
          </p:cNvSpPr>
          <p:nvPr/>
        </p:nvSpPr>
        <p:spPr>
          <a:xfrm xmlns:a="http://schemas.openxmlformats.org/drawingml/2006/main">
            <a:off x="9048750" y="4495800"/>
            <a:ext cx="203835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D48A00"/>
                </a:solidFill>
                <a:latin typeface="Aptos"/>
                <a:ea typeface="Aptos"/>
                <a:cs typeface="Aptos"/>
              </a:defRPr>
            </a:pPr>
            <a:r>
              <a:t>6.31 s</a:t>
            </a:r>
          </a:p>
        </p:txBody>
      </p:sp>
      <p:sp>
        <p:nvSpPr>
          <p:cNvPr id="44" name="">
            <a:extLst xmlns:a="http://schemas.openxmlformats.org/drawingml/2006/main">
              <a:ext uri="{FF2B5EF4-FFF2-40B4-BE49-F238E27FC236}">
                <a16:creationId xmlns:a16="http://schemas.microsoft.com/office/drawing/2014/main" id="{966249D6-F8E1-4896-80E1-46581625C74F}"/>
              </a:ext>
            </a:extLst>
          </p:cNvPr>
          <p:cNvSpPr>
            <a:spLocks xmlns:a="http://schemas.openxmlformats.org/drawingml/2006/main" noGrp="1"/>
          </p:cNvSpPr>
          <p:nvPr/>
        </p:nvSpPr>
        <p:spPr>
          <a:xfrm xmlns:a="http://schemas.openxmlformats.org/drawingml/2006/main">
            <a:off x="9048750" y="4819650"/>
            <a:ext cx="2038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2033"/>
                </a:solidFill>
                <a:latin typeface="Aptos"/>
                <a:ea typeface="Aptos"/>
                <a:cs typeface="Aptos"/>
              </a:defRPr>
            </a:pPr>
            <a:r>
              <a:t>Idefics2 p50 latency</a:t>
            </a:r>
          </a:p>
        </p:txBody>
      </p:sp>
      <p:sp>
        <p:nvSpPr>
          <p:cNvPr id="45" name="">
            <a:extLst xmlns:a="http://schemas.openxmlformats.org/drawingml/2006/main">
              <a:ext uri="{FF2B5EF4-FFF2-40B4-BE49-F238E27FC236}">
                <a16:creationId xmlns:a16="http://schemas.microsoft.com/office/drawing/2014/main" id="{8B7B3909-6748-4DAE-A461-05D118E26CA7}"/>
              </a:ext>
            </a:extLst>
          </p:cNvPr>
          <p:cNvSpPr>
            <a:spLocks xmlns:a="http://schemas.openxmlformats.org/drawingml/2006/main" noGrp="1"/>
          </p:cNvSpPr>
          <p:nvPr/>
        </p:nvSpPr>
        <p:spPr>
          <a:xfrm xmlns:a="http://schemas.openxmlformats.org/drawingml/2006/main">
            <a:off x="9048750" y="5067300"/>
            <a:ext cx="20383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5B677A"/>
                </a:solidFill>
                <a:latin typeface="Aptos"/>
                <a:ea typeface="Aptos"/>
                <a:cs typeface="Aptos"/>
              </a:defRPr>
            </a:pPr>
            <a:r>
              <a:t>mean 6.00 s · peak 18.23 GiB</a:t>
            </a:r>
          </a:p>
        </p:txBody>
      </p:sp>
      <p:sp>
        <p:nvSpPr>
          <p:cNvPr id="46" name="">
            <a:extLst xmlns:a="http://schemas.openxmlformats.org/drawingml/2006/main">
              <a:ext uri="{FF2B5EF4-FFF2-40B4-BE49-F238E27FC236}">
                <a16:creationId xmlns:a16="http://schemas.microsoft.com/office/drawing/2014/main" id="{5248D937-32D2-4500-9A59-63B6267D2746}"/>
              </a:ext>
            </a:extLst>
          </p:cNvPr>
          <p:cNvSpPr>
            <a:spLocks xmlns:a="http://schemas.openxmlformats.org/drawingml/2006/main" noGrp="1"/>
          </p:cNvSpPr>
          <p:nvPr/>
        </p:nvSpPr>
        <p:spPr>
          <a:xfrm xmlns:a="http://schemas.openxmlformats.org/drawingml/2006/main">
            <a:off x="571500" y="5810250"/>
            <a:ext cx="10953750" cy="438150"/>
          </a:xfrm>
          <a:prstGeom xmlns:a="http://schemas.openxmlformats.org/drawingml/2006/main" prst="roundRect">
            <a:avLst>
              <a:gd name="adj" fmla="val 17391"/>
            </a:avLst>
          </a:prstGeom>
          <a:solidFill xmlns:a="http://schemas.openxmlformats.org/drawingml/2006/main">
            <a:srgbClr val="EAF2FF"/>
          </a:solidFill>
          <a:ln xmlns:a="http://schemas.openxmlformats.org/drawingml/2006/main" w="0">
            <a:solidFill>
              <a:srgbClr val="EAF2FF"/>
            </a:solidFill>
            <a:prstDash val="solid"/>
          </a:ln>
        </p:spPr>
      </p:sp>
      <p:sp>
        <p:nvSpPr>
          <p:cNvPr id="47" name="">
            <a:extLst xmlns:a="http://schemas.openxmlformats.org/drawingml/2006/main">
              <a:ext uri="{FF2B5EF4-FFF2-40B4-BE49-F238E27FC236}">
                <a16:creationId xmlns:a16="http://schemas.microsoft.com/office/drawing/2014/main" id="{1B88A9DC-05F2-4EB5-8723-53AA4D215155}"/>
              </a:ext>
            </a:extLst>
          </p:cNvPr>
          <p:cNvSpPr>
            <a:spLocks xmlns:a="http://schemas.openxmlformats.org/drawingml/2006/main" noGrp="1"/>
          </p:cNvSpPr>
          <p:nvPr/>
        </p:nvSpPr>
        <p:spPr>
          <a:xfrm xmlns:a="http://schemas.openxmlformats.org/drawingml/2006/main">
            <a:off x="781050" y="5915025"/>
            <a:ext cx="105727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0B2545"/>
                </a:solidFill>
                <a:latin typeface="Aptos"/>
                <a:ea typeface="Aptos"/>
                <a:cs typeface="Aptos"/>
              </a:defRPr>
            </a:pPr>
            <a:r>
              <a:t>Decision: select LLaVA as the efficiency candidate; withhold a quality winner until synchronised sensor and safe-recovery tests exist.</a:t>
            </a:r>
          </a:p>
        </p:txBody>
      </p:sp>
    </p:spTree>
    <p:extLst>
      <p:ext uri="{BB962C8B-B14F-4D97-AF65-F5344CB8AC3E}">
        <p14:creationId xmlns:p14="http://schemas.microsoft.com/office/powerpoint/2010/main" val="81961621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C1D7EC8D-C958-4341-83EC-AAF663058E9E}"/>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07ACBF2C-4B57-4620-8FC9-DBED769FA8E8}"/>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172033"/>
                </a:solidFill>
                <a:latin typeface="Aptos"/>
                <a:ea typeface="Aptos"/>
                <a:cs typeface="Aptos"/>
              </a:defRPr>
            </a:pPr>
            <a:r>
              <a:t>6 PIC tracks expose 1 largest gap: 0 direct CRL-MRS execution tests</a:t>
            </a:r>
          </a:p>
        </p:txBody>
      </p:sp>
      <p:cxnSp>
        <p:nvCxnSpPr>
          <p:cNvPr id="51"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889340DE-9E48-400C-9505-55B7D13B3D01}"/>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08</a:t>
            </a:r>
          </a:p>
        </p:txBody>
      </p:sp>
      <p:sp>
        <p:nvSpPr>
          <p:cNvPr id="5" name="">
            <a:extLst xmlns:a="http://schemas.openxmlformats.org/drawingml/2006/main">
              <a:ext uri="{FF2B5EF4-FFF2-40B4-BE49-F238E27FC236}">
                <a16:creationId xmlns:a16="http://schemas.microsoft.com/office/drawing/2014/main" id="{560C2400-DAB3-41B0-A3EF-CFB179977831}"/>
              </a:ext>
            </a:extLst>
          </p:cNvPr>
          <p:cNvSpPr>
            <a:spLocks xmlns:a="http://schemas.openxmlformats.org/drawingml/2006/main" noGrp="1"/>
          </p:cNvSpPr>
          <p:nvPr/>
        </p:nvSpPr>
        <p:spPr>
          <a:xfrm xmlns:a="http://schemas.openxmlformats.org/drawingml/2006/main">
            <a:off x="666750" y="1466850"/>
            <a:ext cx="857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Track</a:t>
            </a:r>
          </a:p>
        </p:txBody>
      </p:sp>
      <p:sp>
        <p:nvSpPr>
          <p:cNvPr id="6" name="">
            <a:extLst xmlns:a="http://schemas.openxmlformats.org/drawingml/2006/main">
              <a:ext uri="{FF2B5EF4-FFF2-40B4-BE49-F238E27FC236}">
                <a16:creationId xmlns:a16="http://schemas.microsoft.com/office/drawing/2014/main" id="{5F4E46B3-F6B5-4682-8763-719E28D8CAC7}"/>
              </a:ext>
            </a:extLst>
          </p:cNvPr>
          <p:cNvSpPr>
            <a:spLocks xmlns:a="http://schemas.openxmlformats.org/drawingml/2006/main" noGrp="1"/>
          </p:cNvSpPr>
          <p:nvPr/>
        </p:nvSpPr>
        <p:spPr>
          <a:xfrm xmlns:a="http://schemas.openxmlformats.org/drawingml/2006/main">
            <a:off x="1666875" y="1466850"/>
            <a:ext cx="2857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Strongest current evidence</a:t>
            </a:r>
          </a:p>
        </p:txBody>
      </p:sp>
      <p:sp>
        <p:nvSpPr>
          <p:cNvPr id="7" name="">
            <a:extLst xmlns:a="http://schemas.openxmlformats.org/drawingml/2006/main">
              <a:ext uri="{FF2B5EF4-FFF2-40B4-BE49-F238E27FC236}">
                <a16:creationId xmlns:a16="http://schemas.microsoft.com/office/drawing/2014/main" id="{7C8CEAF1-2C85-48A9-A41A-79B7800C455D}"/>
              </a:ext>
            </a:extLst>
          </p:cNvPr>
          <p:cNvSpPr>
            <a:spLocks xmlns:a="http://schemas.openxmlformats.org/drawingml/2006/main" noGrp="1"/>
          </p:cNvSpPr>
          <p:nvPr/>
        </p:nvSpPr>
        <p:spPr>
          <a:xfrm xmlns:a="http://schemas.openxmlformats.org/drawingml/2006/main">
            <a:off x="4762500" y="1466850"/>
            <a:ext cx="3714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677A"/>
                </a:solidFill>
                <a:latin typeface="Aptos"/>
                <a:ea typeface="Aptos"/>
                <a:cs typeface="Aptos"/>
              </a:defRPr>
            </a:pPr>
            <a:r>
              <a:t>Highest-priority missing test</a:t>
            </a:r>
          </a:p>
        </p:txBody>
      </p:sp>
      <p:sp>
        <p:nvSpPr>
          <p:cNvPr id="8" name="">
            <a:extLst xmlns:a="http://schemas.openxmlformats.org/drawingml/2006/main">
              <a:ext uri="{FF2B5EF4-FFF2-40B4-BE49-F238E27FC236}">
                <a16:creationId xmlns:a16="http://schemas.microsoft.com/office/drawing/2014/main" id="{A3EFD095-206A-46AF-9A9D-D81950F9F3B4}"/>
              </a:ext>
            </a:extLst>
          </p:cNvPr>
          <p:cNvSpPr>
            <a:spLocks xmlns:a="http://schemas.openxmlformats.org/drawingml/2006/main" noGrp="1"/>
          </p:cNvSpPr>
          <p:nvPr/>
        </p:nvSpPr>
        <p:spPr>
          <a:xfrm xmlns:a="http://schemas.openxmlformats.org/drawingml/2006/main">
            <a:off x="8763000" y="1466850"/>
            <a:ext cx="2571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5B677A"/>
                </a:solidFill>
                <a:latin typeface="Aptos"/>
                <a:ea typeface="Aptos"/>
                <a:cs typeface="Aptos"/>
              </a:defRPr>
            </a:pPr>
            <a:r>
              <a:t>Decision status</a:t>
            </a:r>
          </a:p>
        </p:txBody>
      </p:sp>
      <p:sp>
        <p:nvSpPr>
          <p:cNvPr id="9" name="">
            <a:extLst xmlns:a="http://schemas.openxmlformats.org/drawingml/2006/main">
              <a:ext uri="{FF2B5EF4-FFF2-40B4-BE49-F238E27FC236}">
                <a16:creationId xmlns:a16="http://schemas.microsoft.com/office/drawing/2014/main" id="{ACBB0BB7-3BED-49ED-85BD-A7DD1EE01744}"/>
              </a:ext>
            </a:extLst>
          </p:cNvPr>
          <p:cNvSpPr>
            <a:spLocks xmlns:a="http://schemas.openxmlformats.org/drawingml/2006/main" noGrp="1"/>
          </p:cNvSpPr>
          <p:nvPr/>
        </p:nvSpPr>
        <p:spPr>
          <a:xfrm xmlns:a="http://schemas.openxmlformats.org/drawingml/2006/main">
            <a:off x="666750" y="1828800"/>
            <a:ext cx="857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GRPO</a:t>
            </a:r>
          </a:p>
        </p:txBody>
      </p:sp>
      <p:sp>
        <p:nvSpPr>
          <p:cNvPr id="10" name="">
            <a:extLst xmlns:a="http://schemas.openxmlformats.org/drawingml/2006/main">
              <a:ext uri="{FF2B5EF4-FFF2-40B4-BE49-F238E27FC236}">
                <a16:creationId xmlns:a16="http://schemas.microsoft.com/office/drawing/2014/main" id="{C51EC7DA-E958-4B9E-A67B-85DA5D3BEC09}"/>
              </a:ext>
            </a:extLst>
          </p:cNvPr>
          <p:cNvSpPr>
            <a:spLocks xmlns:a="http://schemas.openxmlformats.org/drawingml/2006/main" noGrp="1"/>
          </p:cNvSpPr>
          <p:nvPr/>
        </p:nvSpPr>
        <p:spPr>
          <a:xfrm xmlns:a="http://schemas.openxmlformats.org/drawingml/2006/main">
            <a:off x="1666875" y="1800225"/>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2033"/>
                </a:solidFill>
                <a:latin typeface="Aptos"/>
                <a:ea typeface="Aptos"/>
                <a:cs typeface="Aptos"/>
              </a:defRPr>
            </a:pPr>
            <a:r>
              <a:t>7 Rover plans × 3 models</a:t>
            </a:r>
          </a:p>
        </p:txBody>
      </p:sp>
      <p:sp>
        <p:nvSpPr>
          <p:cNvPr id="11" name="">
            <a:extLst xmlns:a="http://schemas.openxmlformats.org/drawingml/2006/main">
              <a:ext uri="{FF2B5EF4-FFF2-40B4-BE49-F238E27FC236}">
                <a16:creationId xmlns:a16="http://schemas.microsoft.com/office/drawing/2014/main" id="{4C9A53A2-F7D2-4374-A84A-76FD16C683C6}"/>
              </a:ext>
            </a:extLst>
          </p:cNvPr>
          <p:cNvSpPr>
            <a:spLocks xmlns:a="http://schemas.openxmlformats.org/drawingml/2006/main" noGrp="1"/>
          </p:cNvSpPr>
          <p:nvPr/>
        </p:nvSpPr>
        <p:spPr>
          <a:xfrm xmlns:a="http://schemas.openxmlformats.org/drawingml/2006/main">
            <a:off x="4762500" y="1800225"/>
            <a:ext cx="3714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closed-loop goals + recovery</a:t>
            </a:r>
          </a:p>
        </p:txBody>
      </p:sp>
      <p:sp>
        <p:nvSpPr>
          <p:cNvPr id="12" name="">
            <a:extLst xmlns:a="http://schemas.openxmlformats.org/drawingml/2006/main">
              <a:ext uri="{FF2B5EF4-FFF2-40B4-BE49-F238E27FC236}">
                <a16:creationId xmlns:a16="http://schemas.microsoft.com/office/drawing/2014/main" id="{3FD8220B-D524-4294-B2FF-2A2CE6DA3536}"/>
              </a:ext>
            </a:extLst>
          </p:cNvPr>
          <p:cNvSpPr>
            <a:spLocks xmlns:a="http://schemas.openxmlformats.org/drawingml/2006/main" noGrp="1"/>
          </p:cNvSpPr>
          <p:nvPr/>
        </p:nvSpPr>
        <p:spPr>
          <a:xfrm xmlns:a="http://schemas.openxmlformats.org/drawingml/2006/main">
            <a:off x="8763000" y="1790700"/>
            <a:ext cx="2571750" cy="361950"/>
          </a:xfrm>
          <a:prstGeom xmlns:a="http://schemas.openxmlformats.org/drawingml/2006/main" prst="roundRect">
            <a:avLst>
              <a:gd name="adj" fmla="val 21053"/>
            </a:avLst>
          </a:prstGeom>
          <a:solidFill xmlns:a="http://schemas.openxmlformats.org/drawingml/2006/main">
            <a:srgbClr val="FFF5DC"/>
          </a:solidFill>
          <a:ln xmlns:a="http://schemas.openxmlformats.org/drawingml/2006/main" w="0">
            <a:solidFill>
              <a:srgbClr val="FFF5DC"/>
            </a:solidFill>
            <a:prstDash val="solid"/>
          </a:ln>
        </p:spPr>
      </p:sp>
      <p:sp>
        <p:nvSpPr>
          <p:cNvPr id="13" name="">
            <a:extLst xmlns:a="http://schemas.openxmlformats.org/drawingml/2006/main">
              <a:ext uri="{FF2B5EF4-FFF2-40B4-BE49-F238E27FC236}">
                <a16:creationId xmlns:a16="http://schemas.microsoft.com/office/drawing/2014/main" id="{CBF4B1D0-C1DC-4EBE-AD8F-1C3DD54322F2}"/>
              </a:ext>
            </a:extLst>
          </p:cNvPr>
          <p:cNvSpPr>
            <a:spLocks xmlns:a="http://schemas.openxmlformats.org/drawingml/2006/main" noGrp="1"/>
          </p:cNvSpPr>
          <p:nvPr/>
        </p:nvSpPr>
        <p:spPr>
          <a:xfrm xmlns:a="http://schemas.openxmlformats.org/drawingml/2006/main">
            <a:off x="8877300" y="1866900"/>
            <a:ext cx="2343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D48A00"/>
                </a:solidFill>
                <a:latin typeface="Aptos"/>
                <a:ea typeface="Aptos"/>
                <a:cs typeface="Aptos"/>
              </a:defRPr>
            </a:pPr>
            <a:r>
              <a:t>DESIGN READY · VALIDATION MISSING</a:t>
            </a:r>
          </a:p>
        </p:txBody>
      </p:sp>
      <p:cxnSp>
        <p:nvCxnSpPr>
          <p:cNvPr id="62" name=""/>
          <p:cNvCxnSpPr/>
          <p:nvPr/>
        </p:nvCxnSpPr>
        <p:spPr>
          <a:xfrm xmlns:a="http://schemas.openxmlformats.org/drawingml/2006/main">
            <a:off x="666750" y="2238375"/>
            <a:ext cx="10668000" cy="95"/>
          </a:xfrm>
          <a:prstGeom xmlns:a="http://schemas.openxmlformats.org/drawingml/2006/main" prst="straightConnector1">
            <a:avLst/>
          </a:prstGeom>
          <a:ln xmlns:a="http://schemas.openxmlformats.org/drawingml/2006/main" w="9525">
            <a:solidFill>
              <a:srgbClr val="D7DFE9"/>
            </a:solidFill>
            <a:prstDash val="solid"/>
          </a:ln>
        </p:spPr>
      </p:cxnSp>
      <p:sp>
        <p:nvSpPr>
          <p:cNvPr id="15" name="">
            <a:extLst xmlns:a="http://schemas.openxmlformats.org/drawingml/2006/main">
              <a:ext uri="{FF2B5EF4-FFF2-40B4-BE49-F238E27FC236}">
                <a16:creationId xmlns:a16="http://schemas.microsoft.com/office/drawing/2014/main" id="{561648FE-507F-445D-9DE2-7F8E536A3EE6}"/>
              </a:ext>
            </a:extLst>
          </p:cNvPr>
          <p:cNvSpPr>
            <a:spLocks xmlns:a="http://schemas.openxmlformats.org/drawingml/2006/main" noGrp="1"/>
          </p:cNvSpPr>
          <p:nvPr/>
        </p:nvSpPr>
        <p:spPr>
          <a:xfrm xmlns:a="http://schemas.openxmlformats.org/drawingml/2006/main">
            <a:off x="666750" y="2381250"/>
            <a:ext cx="857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STUM</a:t>
            </a:r>
          </a:p>
        </p:txBody>
      </p:sp>
      <p:sp>
        <p:nvSpPr>
          <p:cNvPr id="16" name="">
            <a:extLst xmlns:a="http://schemas.openxmlformats.org/drawingml/2006/main">
              <a:ext uri="{FF2B5EF4-FFF2-40B4-BE49-F238E27FC236}">
                <a16:creationId xmlns:a16="http://schemas.microsoft.com/office/drawing/2014/main" id="{50D75053-1B5B-4675-AFDC-44AB4D7BDE78}"/>
              </a:ext>
            </a:extLst>
          </p:cNvPr>
          <p:cNvSpPr>
            <a:spLocks xmlns:a="http://schemas.openxmlformats.org/drawingml/2006/main" noGrp="1"/>
          </p:cNvSpPr>
          <p:nvPr/>
        </p:nvSpPr>
        <p:spPr>
          <a:xfrm xmlns:a="http://schemas.openxmlformats.org/drawingml/2006/main">
            <a:off x="1666875" y="2352675"/>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2033"/>
                </a:solidFill>
                <a:latin typeface="Aptos"/>
                <a:ea typeface="Aptos"/>
                <a:cs typeface="Aptos"/>
              </a:defRPr>
            </a:pPr>
            <a:r>
              <a:t>2 ordering/state proxies</a:t>
            </a:r>
          </a:p>
        </p:txBody>
      </p:sp>
      <p:sp>
        <p:nvSpPr>
          <p:cNvPr id="17" name="">
            <a:extLst xmlns:a="http://schemas.openxmlformats.org/drawingml/2006/main">
              <a:ext uri="{FF2B5EF4-FFF2-40B4-BE49-F238E27FC236}">
                <a16:creationId xmlns:a16="http://schemas.microsoft.com/office/drawing/2014/main" id="{1D3D4013-C1AC-4B45-BF1C-719B32E6E9F4}"/>
              </a:ext>
            </a:extLst>
          </p:cNvPr>
          <p:cNvSpPr>
            <a:spLocks xmlns:a="http://schemas.openxmlformats.org/drawingml/2006/main" noGrp="1"/>
          </p:cNvSpPr>
          <p:nvPr/>
        </p:nvSpPr>
        <p:spPr>
          <a:xfrm xmlns:a="http://schemas.openxmlformats.org/drawingml/2006/main">
            <a:off x="4762500" y="2352675"/>
            <a:ext cx="3714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corrected long-horizon histories</a:t>
            </a:r>
          </a:p>
        </p:txBody>
      </p:sp>
      <p:sp>
        <p:nvSpPr>
          <p:cNvPr id="18" name="">
            <a:extLst xmlns:a="http://schemas.openxmlformats.org/drawingml/2006/main">
              <a:ext uri="{FF2B5EF4-FFF2-40B4-BE49-F238E27FC236}">
                <a16:creationId xmlns:a16="http://schemas.microsoft.com/office/drawing/2014/main" id="{167FAC7E-AA43-4DED-BA7F-A21E8ABFDB19}"/>
              </a:ext>
            </a:extLst>
          </p:cNvPr>
          <p:cNvSpPr>
            <a:spLocks xmlns:a="http://schemas.openxmlformats.org/drawingml/2006/main" noGrp="1"/>
          </p:cNvSpPr>
          <p:nvPr/>
        </p:nvSpPr>
        <p:spPr>
          <a:xfrm xmlns:a="http://schemas.openxmlformats.org/drawingml/2006/main">
            <a:off x="8763000" y="2343150"/>
            <a:ext cx="2571750" cy="361950"/>
          </a:xfrm>
          <a:prstGeom xmlns:a="http://schemas.openxmlformats.org/drawingml/2006/main" prst="roundRect">
            <a:avLst>
              <a:gd name="adj" fmla="val 21053"/>
            </a:avLst>
          </a:prstGeom>
          <a:solidFill xmlns:a="http://schemas.openxmlformats.org/drawingml/2006/main">
            <a:srgbClr val="FDEBEC"/>
          </a:solidFill>
          <a:ln xmlns:a="http://schemas.openxmlformats.org/drawingml/2006/main" w="0">
            <a:solidFill>
              <a:srgbClr val="FDEBEC"/>
            </a:solidFill>
            <a:prstDash val="solid"/>
          </a:ln>
        </p:spPr>
      </p:sp>
      <p:sp>
        <p:nvSpPr>
          <p:cNvPr id="19" name="">
            <a:extLst xmlns:a="http://schemas.openxmlformats.org/drawingml/2006/main">
              <a:ext uri="{FF2B5EF4-FFF2-40B4-BE49-F238E27FC236}">
                <a16:creationId xmlns:a16="http://schemas.microsoft.com/office/drawing/2014/main" id="{186B1C24-CD14-4552-9838-D0F56AFD4FB7}"/>
              </a:ext>
            </a:extLst>
          </p:cNvPr>
          <p:cNvSpPr>
            <a:spLocks xmlns:a="http://schemas.openxmlformats.org/drawingml/2006/main" noGrp="1"/>
          </p:cNvSpPr>
          <p:nvPr/>
        </p:nvSpPr>
        <p:spPr>
          <a:xfrm xmlns:a="http://schemas.openxmlformats.org/drawingml/2006/main">
            <a:off x="8877300" y="2419350"/>
            <a:ext cx="2343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D94B4B"/>
                </a:solidFill>
                <a:latin typeface="Aptos"/>
                <a:ea typeface="Aptos"/>
                <a:cs typeface="Aptos"/>
              </a:defRPr>
            </a:pPr>
            <a:r>
              <a:t>TERMINOLOGY + DATA MISSING</a:t>
            </a:r>
          </a:p>
        </p:txBody>
      </p:sp>
      <p:cxnSp>
        <p:nvCxnSpPr>
          <p:cNvPr id="68" name=""/>
          <p:cNvCxnSpPr/>
          <p:nvPr/>
        </p:nvCxnSpPr>
        <p:spPr>
          <a:xfrm xmlns:a="http://schemas.openxmlformats.org/drawingml/2006/main">
            <a:off x="666750" y="2790825"/>
            <a:ext cx="10668000" cy="95"/>
          </a:xfrm>
          <a:prstGeom xmlns:a="http://schemas.openxmlformats.org/drawingml/2006/main" prst="straightConnector1">
            <a:avLst/>
          </a:prstGeom>
          <a:ln xmlns:a="http://schemas.openxmlformats.org/drawingml/2006/main" w="9525">
            <a:solidFill>
              <a:srgbClr val="D7DFE9"/>
            </a:solidFill>
            <a:prstDash val="solid"/>
          </a:ln>
        </p:spPr>
      </p:cxnSp>
      <p:sp>
        <p:nvSpPr>
          <p:cNvPr id="21" name="">
            <a:extLst xmlns:a="http://schemas.openxmlformats.org/drawingml/2006/main">
              <a:ext uri="{FF2B5EF4-FFF2-40B4-BE49-F238E27FC236}">
                <a16:creationId xmlns:a16="http://schemas.microsoft.com/office/drawing/2014/main" id="{632BCF72-BDD7-4108-A777-55D77C61F461}"/>
              </a:ext>
            </a:extLst>
          </p:cNvPr>
          <p:cNvSpPr>
            <a:spLocks xmlns:a="http://schemas.openxmlformats.org/drawingml/2006/main" noGrp="1"/>
          </p:cNvSpPr>
          <p:nvPr/>
        </p:nvSpPr>
        <p:spPr>
          <a:xfrm xmlns:a="http://schemas.openxmlformats.org/drawingml/2006/main">
            <a:off x="666750" y="2933700"/>
            <a:ext cx="857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SEOM</a:t>
            </a:r>
          </a:p>
        </p:txBody>
      </p:sp>
      <p:sp>
        <p:nvSpPr>
          <p:cNvPr id="22" name="">
            <a:extLst xmlns:a="http://schemas.openxmlformats.org/drawingml/2006/main">
              <a:ext uri="{FF2B5EF4-FFF2-40B4-BE49-F238E27FC236}">
                <a16:creationId xmlns:a16="http://schemas.microsoft.com/office/drawing/2014/main" id="{80581B19-557D-439F-A6BE-B6B698C4D43E}"/>
              </a:ext>
            </a:extLst>
          </p:cNvPr>
          <p:cNvSpPr>
            <a:spLocks xmlns:a="http://schemas.openxmlformats.org/drawingml/2006/main" noGrp="1"/>
          </p:cNvSpPr>
          <p:nvPr/>
        </p:nvSpPr>
        <p:spPr>
          <a:xfrm xmlns:a="http://schemas.openxmlformats.org/drawingml/2006/main">
            <a:off x="1666875" y="2905125"/>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2033"/>
                </a:solidFill>
                <a:latin typeface="Aptos"/>
                <a:ea typeface="Aptos"/>
                <a:cs typeface="Aptos"/>
              </a:defRPr>
            </a:pPr>
            <a:r>
              <a:t>120 static image/prompt rows</a:t>
            </a:r>
          </a:p>
        </p:txBody>
      </p:sp>
      <p:sp>
        <p:nvSpPr>
          <p:cNvPr id="23" name="">
            <a:extLst xmlns:a="http://schemas.openxmlformats.org/drawingml/2006/main">
              <a:ext uri="{FF2B5EF4-FFF2-40B4-BE49-F238E27FC236}">
                <a16:creationId xmlns:a16="http://schemas.microsoft.com/office/drawing/2014/main" id="{3A4427C2-77A1-4EB3-9380-B42B44F4C1FD}"/>
              </a:ext>
            </a:extLst>
          </p:cNvPr>
          <p:cNvSpPr>
            <a:spLocks xmlns:a="http://schemas.openxmlformats.org/drawingml/2006/main" noGrp="1"/>
          </p:cNvSpPr>
          <p:nvPr/>
        </p:nvSpPr>
        <p:spPr>
          <a:xfrm xmlns:a="http://schemas.openxmlformats.org/drawingml/2006/main">
            <a:off x="4762500" y="2905125"/>
            <a:ext cx="3714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viewpoint-stable localisation</a:t>
            </a:r>
          </a:p>
        </p:txBody>
      </p:sp>
      <p:sp>
        <p:nvSpPr>
          <p:cNvPr id="24" name="">
            <a:extLst xmlns:a="http://schemas.openxmlformats.org/drawingml/2006/main">
              <a:ext uri="{FF2B5EF4-FFF2-40B4-BE49-F238E27FC236}">
                <a16:creationId xmlns:a16="http://schemas.microsoft.com/office/drawing/2014/main" id="{0FF8A134-FEB0-4838-9054-B262370C5FC6}"/>
              </a:ext>
            </a:extLst>
          </p:cNvPr>
          <p:cNvSpPr>
            <a:spLocks xmlns:a="http://schemas.openxmlformats.org/drawingml/2006/main" noGrp="1"/>
          </p:cNvSpPr>
          <p:nvPr/>
        </p:nvSpPr>
        <p:spPr>
          <a:xfrm xmlns:a="http://schemas.openxmlformats.org/drawingml/2006/main">
            <a:off x="8763000" y="2895600"/>
            <a:ext cx="2571750" cy="361950"/>
          </a:xfrm>
          <a:prstGeom xmlns:a="http://schemas.openxmlformats.org/drawingml/2006/main" prst="roundRect">
            <a:avLst>
              <a:gd name="adj" fmla="val 21053"/>
            </a:avLst>
          </a:prstGeom>
          <a:solidFill xmlns:a="http://schemas.openxmlformats.org/drawingml/2006/main">
            <a:srgbClr val="FDEBEC"/>
          </a:solidFill>
          <a:ln xmlns:a="http://schemas.openxmlformats.org/drawingml/2006/main" w="0">
            <a:solidFill>
              <a:srgbClr val="FDEBEC"/>
            </a:solidFill>
            <a:prstDash val="solid"/>
          </a:ln>
        </p:spPr>
      </p:sp>
      <p:sp>
        <p:nvSpPr>
          <p:cNvPr id="25" name="">
            <a:extLst xmlns:a="http://schemas.openxmlformats.org/drawingml/2006/main">
              <a:ext uri="{FF2B5EF4-FFF2-40B4-BE49-F238E27FC236}">
                <a16:creationId xmlns:a16="http://schemas.microsoft.com/office/drawing/2014/main" id="{1FD62D02-FA87-4F3C-9E66-29006877CB6B}"/>
              </a:ext>
            </a:extLst>
          </p:cNvPr>
          <p:cNvSpPr>
            <a:spLocks xmlns:a="http://schemas.openxmlformats.org/drawingml/2006/main" noGrp="1"/>
          </p:cNvSpPr>
          <p:nvPr/>
        </p:nvSpPr>
        <p:spPr>
          <a:xfrm xmlns:a="http://schemas.openxmlformats.org/drawingml/2006/main">
            <a:off x="8877300" y="2971800"/>
            <a:ext cx="2343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D94B4B"/>
                </a:solidFill>
                <a:latin typeface="Aptos"/>
                <a:ea typeface="Aptos"/>
                <a:cs typeface="Aptos"/>
              </a:defRPr>
            </a:pPr>
            <a:r>
              <a:t>CLOSED-LOOP EVIDENCE MISSING</a:t>
            </a:r>
          </a:p>
        </p:txBody>
      </p:sp>
      <p:cxnSp>
        <p:nvCxnSpPr>
          <p:cNvPr id="74" name=""/>
          <p:cNvCxnSpPr/>
          <p:nvPr/>
        </p:nvCxnSpPr>
        <p:spPr>
          <a:xfrm xmlns:a="http://schemas.openxmlformats.org/drawingml/2006/main">
            <a:off x="666750" y="3343275"/>
            <a:ext cx="10668000" cy="95"/>
          </a:xfrm>
          <a:prstGeom xmlns:a="http://schemas.openxmlformats.org/drawingml/2006/main" prst="straightConnector1">
            <a:avLst/>
          </a:prstGeom>
          <a:ln xmlns:a="http://schemas.openxmlformats.org/drawingml/2006/main" w="9525">
            <a:solidFill>
              <a:srgbClr val="D7DFE9"/>
            </a:solidFill>
            <a:prstDash val="solid"/>
          </a:ln>
        </p:spPr>
      </p:cxnSp>
      <p:sp>
        <p:nvSpPr>
          <p:cNvPr id="27" name="">
            <a:extLst xmlns:a="http://schemas.openxmlformats.org/drawingml/2006/main">
              <a:ext uri="{FF2B5EF4-FFF2-40B4-BE49-F238E27FC236}">
                <a16:creationId xmlns:a16="http://schemas.microsoft.com/office/drawing/2014/main" id="{EB6D5487-6565-47B3-A732-CD983A303619}"/>
              </a:ext>
            </a:extLst>
          </p:cNvPr>
          <p:cNvSpPr>
            <a:spLocks xmlns:a="http://schemas.openxmlformats.org/drawingml/2006/main" noGrp="1"/>
          </p:cNvSpPr>
          <p:nvPr/>
        </p:nvSpPr>
        <p:spPr>
          <a:xfrm xmlns:a="http://schemas.openxmlformats.org/drawingml/2006/main">
            <a:off x="666750" y="3486150"/>
            <a:ext cx="857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AMDC</a:t>
            </a:r>
          </a:p>
        </p:txBody>
      </p:sp>
      <p:sp>
        <p:nvSpPr>
          <p:cNvPr id="28" name="">
            <a:extLst xmlns:a="http://schemas.openxmlformats.org/drawingml/2006/main">
              <a:ext uri="{FF2B5EF4-FFF2-40B4-BE49-F238E27FC236}">
                <a16:creationId xmlns:a16="http://schemas.microsoft.com/office/drawing/2014/main" id="{DA055050-68EB-4F74-BA4C-C0C93FCD28C6}"/>
              </a:ext>
            </a:extLst>
          </p:cNvPr>
          <p:cNvSpPr>
            <a:spLocks xmlns:a="http://schemas.openxmlformats.org/drawingml/2006/main" noGrp="1"/>
          </p:cNvSpPr>
          <p:nvPr/>
        </p:nvSpPr>
        <p:spPr>
          <a:xfrm xmlns:a="http://schemas.openxmlformats.org/drawingml/2006/main">
            <a:off x="1666875" y="3457575"/>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2033"/>
                </a:solidFill>
                <a:latin typeface="Aptos"/>
                <a:ea typeface="Aptos"/>
                <a:cs typeface="Aptos"/>
              </a:defRPr>
            </a:pPr>
            <a:r>
              <a:t>2 VLMs × 3 conditions</a:t>
            </a:r>
          </a:p>
        </p:txBody>
      </p:sp>
      <p:sp>
        <p:nvSpPr>
          <p:cNvPr id="29" name="">
            <a:extLst xmlns:a="http://schemas.openxmlformats.org/drawingml/2006/main">
              <a:ext uri="{FF2B5EF4-FFF2-40B4-BE49-F238E27FC236}">
                <a16:creationId xmlns:a16="http://schemas.microsoft.com/office/drawing/2014/main" id="{BEB3208D-FAB9-4861-9959-686678D10E33}"/>
              </a:ext>
            </a:extLst>
          </p:cNvPr>
          <p:cNvSpPr>
            <a:spLocks xmlns:a="http://schemas.openxmlformats.org/drawingml/2006/main" noGrp="1"/>
          </p:cNvSpPr>
          <p:nvPr/>
        </p:nvSpPr>
        <p:spPr>
          <a:xfrm xmlns:a="http://schemas.openxmlformats.org/drawingml/2006/main">
            <a:off x="4762500" y="3457575"/>
            <a:ext cx="3714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conflicting/missing modalities</a:t>
            </a:r>
          </a:p>
        </p:txBody>
      </p:sp>
      <p:sp>
        <p:nvSpPr>
          <p:cNvPr id="30" name="">
            <a:extLst xmlns:a="http://schemas.openxmlformats.org/drawingml/2006/main">
              <a:ext uri="{FF2B5EF4-FFF2-40B4-BE49-F238E27FC236}">
                <a16:creationId xmlns:a16="http://schemas.microsoft.com/office/drawing/2014/main" id="{488AEF31-B198-4AE0-A4C3-B1FF597B2606}"/>
              </a:ext>
            </a:extLst>
          </p:cNvPr>
          <p:cNvSpPr>
            <a:spLocks xmlns:a="http://schemas.openxmlformats.org/drawingml/2006/main" noGrp="1"/>
          </p:cNvSpPr>
          <p:nvPr/>
        </p:nvSpPr>
        <p:spPr>
          <a:xfrm xmlns:a="http://schemas.openxmlformats.org/drawingml/2006/main">
            <a:off x="8763000" y="3448050"/>
            <a:ext cx="2571750" cy="361950"/>
          </a:xfrm>
          <a:prstGeom xmlns:a="http://schemas.openxmlformats.org/drawingml/2006/main" prst="roundRect">
            <a:avLst>
              <a:gd name="adj" fmla="val 21053"/>
            </a:avLst>
          </a:prstGeom>
          <a:solidFill xmlns:a="http://schemas.openxmlformats.org/drawingml/2006/main">
            <a:srgbClr val="EAF2FF"/>
          </a:solidFill>
          <a:ln xmlns:a="http://schemas.openxmlformats.org/drawingml/2006/main" w="0">
            <a:solidFill>
              <a:srgbClr val="EAF2FF"/>
            </a:solidFill>
            <a:prstDash val="solid"/>
          </a:ln>
        </p:spPr>
      </p:sp>
      <p:sp>
        <p:nvSpPr>
          <p:cNvPr id="31" name="">
            <a:extLst xmlns:a="http://schemas.openxmlformats.org/drawingml/2006/main">
              <a:ext uri="{FF2B5EF4-FFF2-40B4-BE49-F238E27FC236}">
                <a16:creationId xmlns:a16="http://schemas.microsoft.com/office/drawing/2014/main" id="{5BE9143E-7C6F-4DA8-8E63-41D35715BB65}"/>
              </a:ext>
            </a:extLst>
          </p:cNvPr>
          <p:cNvSpPr>
            <a:spLocks xmlns:a="http://schemas.openxmlformats.org/drawingml/2006/main" noGrp="1"/>
          </p:cNvSpPr>
          <p:nvPr/>
        </p:nvSpPr>
        <p:spPr>
          <a:xfrm xmlns:a="http://schemas.openxmlformats.org/drawingml/2006/main">
            <a:off x="8877300" y="3524250"/>
            <a:ext cx="2343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2E74B5"/>
                </a:solidFill>
                <a:latin typeface="Aptos"/>
                <a:ea typeface="Aptos"/>
                <a:cs typeface="Aptos"/>
              </a:defRPr>
            </a:pPr>
            <a:r>
              <a:t>CANDIDATE TESTBENCH READY</a:t>
            </a:r>
          </a:p>
        </p:txBody>
      </p:sp>
      <p:cxnSp>
        <p:nvCxnSpPr>
          <p:cNvPr id="80" name=""/>
          <p:cNvCxnSpPr/>
          <p:nvPr/>
        </p:nvCxnSpPr>
        <p:spPr>
          <a:xfrm xmlns:a="http://schemas.openxmlformats.org/drawingml/2006/main">
            <a:off x="666750" y="3895725"/>
            <a:ext cx="10668000" cy="95"/>
          </a:xfrm>
          <a:prstGeom xmlns:a="http://schemas.openxmlformats.org/drawingml/2006/main" prst="straightConnector1">
            <a:avLst/>
          </a:prstGeom>
          <a:ln xmlns:a="http://schemas.openxmlformats.org/drawingml/2006/main" w="9525">
            <a:solidFill>
              <a:srgbClr val="D7DFE9"/>
            </a:solidFill>
            <a:prstDash val="solid"/>
          </a:ln>
        </p:spPr>
      </p:cxnSp>
      <p:sp>
        <p:nvSpPr>
          <p:cNvPr id="33" name="">
            <a:extLst xmlns:a="http://schemas.openxmlformats.org/drawingml/2006/main">
              <a:ext uri="{FF2B5EF4-FFF2-40B4-BE49-F238E27FC236}">
                <a16:creationId xmlns:a16="http://schemas.microsoft.com/office/drawing/2014/main" id="{F5D2A1FB-5DFA-4F26-BAF4-5EA090155769}"/>
              </a:ext>
            </a:extLst>
          </p:cNvPr>
          <p:cNvSpPr>
            <a:spLocks xmlns:a="http://schemas.openxmlformats.org/drawingml/2006/main" noGrp="1"/>
          </p:cNvSpPr>
          <p:nvPr/>
        </p:nvSpPr>
        <p:spPr>
          <a:xfrm xmlns:a="http://schemas.openxmlformats.org/drawingml/2006/main">
            <a:off x="666750" y="4038600"/>
            <a:ext cx="857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HTD-IRL</a:t>
            </a:r>
          </a:p>
        </p:txBody>
      </p:sp>
      <p:sp>
        <p:nvSpPr>
          <p:cNvPr id="34" name="">
            <a:extLst xmlns:a="http://schemas.openxmlformats.org/drawingml/2006/main">
              <a:ext uri="{FF2B5EF4-FFF2-40B4-BE49-F238E27FC236}">
                <a16:creationId xmlns:a16="http://schemas.microsoft.com/office/drawing/2014/main" id="{948800D1-4631-4B91-AD07-44706690ACAA}"/>
              </a:ext>
            </a:extLst>
          </p:cNvPr>
          <p:cNvSpPr>
            <a:spLocks xmlns:a="http://schemas.openxmlformats.org/drawingml/2006/main" noGrp="1"/>
          </p:cNvSpPr>
          <p:nvPr/>
        </p:nvSpPr>
        <p:spPr>
          <a:xfrm xmlns:a="http://schemas.openxmlformats.org/drawingml/2006/main">
            <a:off x="1666875" y="4010025"/>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2033"/>
                </a:solidFill>
                <a:latin typeface="Aptos"/>
                <a:ea typeface="Aptos"/>
                <a:cs typeface="Aptos"/>
              </a:defRPr>
            </a:pPr>
            <a:r>
              <a:t>7 Humanoid plans × 3 models</a:t>
            </a:r>
          </a:p>
        </p:txBody>
      </p:sp>
      <p:sp>
        <p:nvSpPr>
          <p:cNvPr id="35" name="">
            <a:extLst xmlns:a="http://schemas.openxmlformats.org/drawingml/2006/main">
              <a:ext uri="{FF2B5EF4-FFF2-40B4-BE49-F238E27FC236}">
                <a16:creationId xmlns:a16="http://schemas.microsoft.com/office/drawing/2014/main" id="{C96F3004-68F2-46E9-AB91-56209391ECFA}"/>
              </a:ext>
            </a:extLst>
          </p:cNvPr>
          <p:cNvSpPr>
            <a:spLocks xmlns:a="http://schemas.openxmlformats.org/drawingml/2006/main" noGrp="1"/>
          </p:cNvSpPr>
          <p:nvPr/>
        </p:nvSpPr>
        <p:spPr>
          <a:xfrm xmlns:a="http://schemas.openxmlformats.org/drawingml/2006/main">
            <a:off x="4762500" y="4010025"/>
            <a:ext cx="3714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executed graph after subtask failure</a:t>
            </a:r>
          </a:p>
        </p:txBody>
      </p:sp>
      <p:sp>
        <p:nvSpPr>
          <p:cNvPr id="36" name="">
            <a:extLst xmlns:a="http://schemas.openxmlformats.org/drawingml/2006/main">
              <a:ext uri="{FF2B5EF4-FFF2-40B4-BE49-F238E27FC236}">
                <a16:creationId xmlns:a16="http://schemas.microsoft.com/office/drawing/2014/main" id="{3B9EE392-2292-43EB-9506-B02D4F304B50}"/>
              </a:ext>
            </a:extLst>
          </p:cNvPr>
          <p:cNvSpPr>
            <a:spLocks xmlns:a="http://schemas.openxmlformats.org/drawingml/2006/main" noGrp="1"/>
          </p:cNvSpPr>
          <p:nvPr/>
        </p:nvSpPr>
        <p:spPr>
          <a:xfrm xmlns:a="http://schemas.openxmlformats.org/drawingml/2006/main">
            <a:off x="8763000" y="4000500"/>
            <a:ext cx="2571750" cy="361950"/>
          </a:xfrm>
          <a:prstGeom xmlns:a="http://schemas.openxmlformats.org/drawingml/2006/main" prst="roundRect">
            <a:avLst>
              <a:gd name="adj" fmla="val 21053"/>
            </a:avLst>
          </a:prstGeom>
          <a:solidFill xmlns:a="http://schemas.openxmlformats.org/drawingml/2006/main">
            <a:srgbClr val="FFF5DC"/>
          </a:solidFill>
          <a:ln xmlns:a="http://schemas.openxmlformats.org/drawingml/2006/main" w="0">
            <a:solidFill>
              <a:srgbClr val="FFF5DC"/>
            </a:solidFill>
            <a:prstDash val="solid"/>
          </a:ln>
        </p:spPr>
      </p:sp>
      <p:sp>
        <p:nvSpPr>
          <p:cNvPr id="37" name="">
            <a:extLst xmlns:a="http://schemas.openxmlformats.org/drawingml/2006/main">
              <a:ext uri="{FF2B5EF4-FFF2-40B4-BE49-F238E27FC236}">
                <a16:creationId xmlns:a16="http://schemas.microsoft.com/office/drawing/2014/main" id="{CDBA7044-A785-4E74-99F1-CDCF7C2FE421}"/>
              </a:ext>
            </a:extLst>
          </p:cNvPr>
          <p:cNvSpPr>
            <a:spLocks xmlns:a="http://schemas.openxmlformats.org/drawingml/2006/main" noGrp="1"/>
          </p:cNvSpPr>
          <p:nvPr/>
        </p:nvSpPr>
        <p:spPr>
          <a:xfrm xmlns:a="http://schemas.openxmlformats.org/drawingml/2006/main">
            <a:off x="8877300" y="4076700"/>
            <a:ext cx="2343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D48A00"/>
                </a:solidFill>
                <a:latin typeface="Aptos"/>
                <a:ea typeface="Aptos"/>
                <a:cs typeface="Aptos"/>
              </a:defRPr>
            </a:pPr>
            <a:r>
              <a:t>RECOVERY EVIDENCE MISSING</a:t>
            </a:r>
          </a:p>
        </p:txBody>
      </p:sp>
      <p:cxnSp>
        <p:nvCxnSpPr>
          <p:cNvPr id="86" name=""/>
          <p:cNvCxnSpPr/>
          <p:nvPr/>
        </p:nvCxnSpPr>
        <p:spPr>
          <a:xfrm xmlns:a="http://schemas.openxmlformats.org/drawingml/2006/main">
            <a:off x="666750" y="4448175"/>
            <a:ext cx="10668000" cy="95"/>
          </a:xfrm>
          <a:prstGeom xmlns:a="http://schemas.openxmlformats.org/drawingml/2006/main" prst="straightConnector1">
            <a:avLst/>
          </a:prstGeom>
          <a:ln xmlns:a="http://schemas.openxmlformats.org/drawingml/2006/main" w="9525">
            <a:solidFill>
              <a:srgbClr val="D7DFE9"/>
            </a:solidFill>
            <a:prstDash val="solid"/>
          </a:ln>
        </p:spPr>
      </p:cxnSp>
      <p:sp>
        <p:nvSpPr>
          <p:cNvPr id="39" name="">
            <a:extLst xmlns:a="http://schemas.openxmlformats.org/drawingml/2006/main">
              <a:ext uri="{FF2B5EF4-FFF2-40B4-BE49-F238E27FC236}">
                <a16:creationId xmlns:a16="http://schemas.microsoft.com/office/drawing/2014/main" id="{07AAFE18-E0E3-4895-9241-D38A695D52E3}"/>
              </a:ext>
            </a:extLst>
          </p:cNvPr>
          <p:cNvSpPr>
            <a:spLocks xmlns:a="http://schemas.openxmlformats.org/drawingml/2006/main" noGrp="1"/>
          </p:cNvSpPr>
          <p:nvPr/>
        </p:nvSpPr>
        <p:spPr>
          <a:xfrm xmlns:a="http://schemas.openxmlformats.org/drawingml/2006/main">
            <a:off x="666750" y="4591050"/>
            <a:ext cx="857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2545"/>
                </a:solidFill>
                <a:latin typeface="Aptos"/>
                <a:ea typeface="Aptos"/>
                <a:cs typeface="Aptos"/>
              </a:defRPr>
            </a:pPr>
            <a:r>
              <a:t>CRL-MRS</a:t>
            </a:r>
          </a:p>
        </p:txBody>
      </p:sp>
      <p:sp>
        <p:nvSpPr>
          <p:cNvPr id="40" name="">
            <a:extLst xmlns:a="http://schemas.openxmlformats.org/drawingml/2006/main">
              <a:ext uri="{FF2B5EF4-FFF2-40B4-BE49-F238E27FC236}">
                <a16:creationId xmlns:a16="http://schemas.microsoft.com/office/drawing/2014/main" id="{56D4F8CC-7CBF-4D3E-84CB-65675B1EED91}"/>
              </a:ext>
            </a:extLst>
          </p:cNvPr>
          <p:cNvSpPr>
            <a:spLocks xmlns:a="http://schemas.openxmlformats.org/drawingml/2006/main" noGrp="1"/>
          </p:cNvSpPr>
          <p:nvPr/>
        </p:nvSpPr>
        <p:spPr>
          <a:xfrm xmlns:a="http://schemas.openxmlformats.org/drawingml/2006/main">
            <a:off x="1666875" y="4562475"/>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2033"/>
                </a:solidFill>
                <a:latin typeface="Aptos"/>
                <a:ea typeface="Aptos"/>
                <a:cs typeface="Aptos"/>
              </a:defRPr>
            </a:pPr>
            <a:r>
              <a:t>1 closest coordination text case</a:t>
            </a:r>
          </a:p>
        </p:txBody>
      </p:sp>
      <p:sp>
        <p:nvSpPr>
          <p:cNvPr id="41" name="">
            <a:extLst xmlns:a="http://schemas.openxmlformats.org/drawingml/2006/main">
              <a:ext uri="{FF2B5EF4-FFF2-40B4-BE49-F238E27FC236}">
                <a16:creationId xmlns:a16="http://schemas.microsoft.com/office/drawing/2014/main" id="{BB11C33B-5748-4303-92CA-BA05866FB212}"/>
              </a:ext>
            </a:extLst>
          </p:cNvPr>
          <p:cNvSpPr>
            <a:spLocks xmlns:a="http://schemas.openxmlformats.org/drawingml/2006/main" noGrp="1"/>
          </p:cNvSpPr>
          <p:nvPr/>
        </p:nvSpPr>
        <p:spPr>
          <a:xfrm xmlns:a="http://schemas.openxmlformats.org/drawingml/2006/main">
            <a:off x="4762500" y="4562475"/>
            <a:ext cx="3714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joint execution under message loss</a:t>
            </a:r>
          </a:p>
        </p:txBody>
      </p:sp>
      <p:sp>
        <p:nvSpPr>
          <p:cNvPr id="42" name="">
            <a:extLst xmlns:a="http://schemas.openxmlformats.org/drawingml/2006/main">
              <a:ext uri="{FF2B5EF4-FFF2-40B4-BE49-F238E27FC236}">
                <a16:creationId xmlns:a16="http://schemas.microsoft.com/office/drawing/2014/main" id="{EB0FD605-7886-475B-8EDA-73B4BD1A1102}"/>
              </a:ext>
            </a:extLst>
          </p:cNvPr>
          <p:cNvSpPr>
            <a:spLocks xmlns:a="http://schemas.openxmlformats.org/drawingml/2006/main" noGrp="1"/>
          </p:cNvSpPr>
          <p:nvPr/>
        </p:nvSpPr>
        <p:spPr>
          <a:xfrm xmlns:a="http://schemas.openxmlformats.org/drawingml/2006/main">
            <a:off x="8763000" y="4552950"/>
            <a:ext cx="2571750" cy="361950"/>
          </a:xfrm>
          <a:prstGeom xmlns:a="http://schemas.openxmlformats.org/drawingml/2006/main" prst="roundRect">
            <a:avLst>
              <a:gd name="adj" fmla="val 21053"/>
            </a:avLst>
          </a:prstGeom>
          <a:solidFill xmlns:a="http://schemas.openxmlformats.org/drawingml/2006/main">
            <a:srgbClr val="FDEBEC"/>
          </a:solidFill>
          <a:ln xmlns:a="http://schemas.openxmlformats.org/drawingml/2006/main" w="0">
            <a:solidFill>
              <a:srgbClr val="FDEBEC"/>
            </a:solidFill>
            <a:prstDash val="solid"/>
          </a:ln>
        </p:spPr>
      </p:sp>
      <p:sp>
        <p:nvSpPr>
          <p:cNvPr id="43" name="">
            <a:extLst xmlns:a="http://schemas.openxmlformats.org/drawingml/2006/main">
              <a:ext uri="{FF2B5EF4-FFF2-40B4-BE49-F238E27FC236}">
                <a16:creationId xmlns:a16="http://schemas.microsoft.com/office/drawing/2014/main" id="{65248BE8-4470-4917-9B2A-DD34C31753A0}"/>
              </a:ext>
            </a:extLst>
          </p:cNvPr>
          <p:cNvSpPr>
            <a:spLocks xmlns:a="http://schemas.openxmlformats.org/drawingml/2006/main" noGrp="1"/>
          </p:cNvSpPr>
          <p:nvPr/>
        </p:nvSpPr>
        <p:spPr>
          <a:xfrm xmlns:a="http://schemas.openxmlformats.org/drawingml/2006/main">
            <a:off x="8877300" y="4629150"/>
            <a:ext cx="2343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D94B4B"/>
                </a:solidFill>
                <a:latin typeface="Aptos"/>
                <a:ea typeface="Aptos"/>
                <a:cs typeface="Aptos"/>
              </a:defRPr>
            </a:pPr>
            <a:r>
              <a:t>0 DIRECT EXECUTION TESTS</a:t>
            </a:r>
          </a:p>
        </p:txBody>
      </p:sp>
      <p:cxnSp>
        <p:nvCxnSpPr>
          <p:cNvPr id="92" name=""/>
          <p:cNvCxnSpPr/>
          <p:nvPr/>
        </p:nvCxnSpPr>
        <p:spPr>
          <a:xfrm xmlns:a="http://schemas.openxmlformats.org/drawingml/2006/main">
            <a:off x="666750" y="5000625"/>
            <a:ext cx="10668000" cy="95"/>
          </a:xfrm>
          <a:prstGeom xmlns:a="http://schemas.openxmlformats.org/drawingml/2006/main" prst="straightConnector1">
            <a:avLst/>
          </a:prstGeom>
          <a:ln xmlns:a="http://schemas.openxmlformats.org/drawingml/2006/main" w="9525">
            <a:solidFill>
              <a:srgbClr val="D7DFE9"/>
            </a:solidFill>
            <a:prstDash val="solid"/>
          </a:ln>
        </p:spPr>
      </p:cxnSp>
      <p:sp>
        <p:nvSpPr>
          <p:cNvPr id="45" name="">
            <a:extLst xmlns:a="http://schemas.openxmlformats.org/drawingml/2006/main">
              <a:ext uri="{FF2B5EF4-FFF2-40B4-BE49-F238E27FC236}">
                <a16:creationId xmlns:a16="http://schemas.microsoft.com/office/drawing/2014/main" id="{4E430D68-3AB3-41D9-A25D-B0282B11D468}"/>
              </a:ext>
            </a:extLst>
          </p:cNvPr>
          <p:cNvSpPr>
            <a:spLocks xmlns:a="http://schemas.openxmlformats.org/drawingml/2006/main" noGrp="1"/>
          </p:cNvSpPr>
          <p:nvPr/>
        </p:nvSpPr>
        <p:spPr>
          <a:xfrm xmlns:a="http://schemas.openxmlformats.org/drawingml/2006/main">
            <a:off x="666750" y="5286375"/>
            <a:ext cx="10668000" cy="838200"/>
          </a:xfrm>
          <a:prstGeom xmlns:a="http://schemas.openxmlformats.org/drawingml/2006/main" prst="roundRect">
            <a:avLst>
              <a:gd name="adj" fmla="val 9091"/>
            </a:avLst>
          </a:prstGeom>
          <a:solidFill xmlns:a="http://schemas.openxmlformats.org/drawingml/2006/main">
            <a:srgbClr val="FDEBEC"/>
          </a:solidFill>
          <a:ln xmlns:a="http://schemas.openxmlformats.org/drawingml/2006/main" w="0">
            <a:solidFill>
              <a:srgbClr val="FDEBEC"/>
            </a:solidFill>
            <a:prstDash val="solid"/>
          </a:ln>
        </p:spPr>
      </p:sp>
      <p:sp>
        <p:nvSpPr>
          <p:cNvPr id="46" name="">
            <a:extLst xmlns:a="http://schemas.openxmlformats.org/drawingml/2006/main">
              <a:ext uri="{FF2B5EF4-FFF2-40B4-BE49-F238E27FC236}">
                <a16:creationId xmlns:a16="http://schemas.microsoft.com/office/drawing/2014/main" id="{3972C846-B37E-442A-A256-C124D980D3F9}"/>
              </a:ext>
            </a:extLst>
          </p:cNvPr>
          <p:cNvSpPr>
            <a:spLocks xmlns:a="http://schemas.openxmlformats.org/drawingml/2006/main" noGrp="1"/>
          </p:cNvSpPr>
          <p:nvPr/>
        </p:nvSpPr>
        <p:spPr>
          <a:xfrm xmlns:a="http://schemas.openxmlformats.org/drawingml/2006/main">
            <a:off x="895350" y="5457825"/>
            <a:ext cx="20002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D94B4B"/>
                </a:solidFill>
                <a:latin typeface="Aptos"/>
                <a:ea typeface="Aptos"/>
                <a:cs typeface="Aptos"/>
              </a:defRPr>
            </a:pPr>
            <a:r>
              <a:t>Largest readiness gap</a:t>
            </a:r>
          </a:p>
        </p:txBody>
      </p:sp>
      <p:sp>
        <p:nvSpPr>
          <p:cNvPr id="47" name="">
            <a:extLst xmlns:a="http://schemas.openxmlformats.org/drawingml/2006/main">
              <a:ext uri="{FF2B5EF4-FFF2-40B4-BE49-F238E27FC236}">
                <a16:creationId xmlns:a16="http://schemas.microsoft.com/office/drawing/2014/main" id="{90F14D68-BF72-4802-BFF8-7C75F11AFBCB}"/>
              </a:ext>
            </a:extLst>
          </p:cNvPr>
          <p:cNvSpPr>
            <a:spLocks xmlns:a="http://schemas.openxmlformats.org/drawingml/2006/main" noGrp="1"/>
          </p:cNvSpPr>
          <p:nvPr/>
        </p:nvSpPr>
        <p:spPr>
          <a:xfrm xmlns:a="http://schemas.openxmlformats.org/drawingml/2006/main">
            <a:off x="2952750" y="5410200"/>
            <a:ext cx="8077200" cy="4095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72033"/>
                </a:solidFill>
                <a:latin typeface="Aptos"/>
                <a:ea typeface="Aptos"/>
                <a:cs typeface="Aptos"/>
              </a:defRPr>
            </a:pPr>
            <a:r>
              <a:t>CRL-MRS has no measurement of multi-agent execution, communication loss, continual learning, or forgetting.</a:t>
            </a:r>
          </a:p>
        </p:txBody>
      </p:sp>
      <p:sp>
        <p:nvSpPr>
          <p:cNvPr id="48" name="">
            <a:extLst xmlns:a="http://schemas.openxmlformats.org/drawingml/2006/main">
              <a:ext uri="{FF2B5EF4-FFF2-40B4-BE49-F238E27FC236}">
                <a16:creationId xmlns:a16="http://schemas.microsoft.com/office/drawing/2014/main" id="{853BC2D2-5EFC-457D-8CCB-CEF0BA6399C2}"/>
              </a:ext>
            </a:extLst>
          </p:cNvPr>
          <p:cNvSpPr>
            <a:spLocks xmlns:a="http://schemas.openxmlformats.org/drawingml/2006/main" noGrp="1"/>
          </p:cNvSpPr>
          <p:nvPr/>
        </p:nvSpPr>
        <p:spPr>
          <a:xfrm xmlns:a="http://schemas.openxmlformats.org/drawingml/2006/main">
            <a:off x="2952750" y="5838825"/>
            <a:ext cx="7810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77A"/>
                </a:solidFill>
                <a:latin typeface="Aptos"/>
                <a:ea typeface="Aptos"/>
                <a:cs typeface="Aptos"/>
              </a:defRPr>
            </a:pPr>
            <a:r>
              <a:t>Readiness is reported as evidence coverage by class—not one invented fleet score.</a:t>
            </a:r>
          </a:p>
        </p:txBody>
      </p:sp>
    </p:spTree>
    <p:extLst>
      <p:ext uri="{BB962C8B-B14F-4D97-AF65-F5344CB8AC3E}">
        <p14:creationId xmlns:p14="http://schemas.microsoft.com/office/powerpoint/2010/main" val="176091468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0AA2209-C4EA-4F43-BD9D-9550766E8187}"/>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2A15B9C7-63AA-418D-B904-C2F29F1CB34E}"/>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172033"/>
                </a:solidFill>
                <a:latin typeface="Aptos"/>
                <a:ea typeface="Aptos"/>
                <a:cs typeface="Aptos"/>
              </a:defRPr>
            </a:pPr>
            <a:r>
              <a:t>3 personas read 11 frozen CSVs without rerunning inference</a:t>
            </a:r>
          </a:p>
        </p:txBody>
      </p:sp>
      <p:cxnSp>
        <p:nvCxnSpPr>
          <p:cNvPr id="22"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9C6E4BCC-9106-4750-9CB5-0986A8A71A20}"/>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09</a:t>
            </a:r>
          </a:p>
        </p:txBody>
      </p:sp>
      <p:sp>
        <p:nvSpPr>
          <p:cNvPr id="5" name="">
            <a:extLst xmlns:a="http://schemas.openxmlformats.org/drawingml/2006/main">
              <a:ext uri="{FF2B5EF4-FFF2-40B4-BE49-F238E27FC236}">
                <a16:creationId xmlns:a16="http://schemas.microsoft.com/office/drawing/2014/main" id="{AFE41AE6-66FA-4BFA-B9BE-8B72AD0E4CA0}"/>
              </a:ext>
            </a:extLst>
          </p:cNvPr>
          <p:cNvSpPr>
            <a:spLocks xmlns:a="http://schemas.openxmlformats.org/drawingml/2006/main" noGrp="1"/>
          </p:cNvSpPr>
          <p:nvPr/>
        </p:nvSpPr>
        <p:spPr>
          <a:xfrm xmlns:a="http://schemas.openxmlformats.org/drawingml/2006/main">
            <a:off x="504825" y="1495425"/>
            <a:ext cx="7096125" cy="4457700"/>
          </a:xfrm>
          <a:prstGeom xmlns:a="http://schemas.openxmlformats.org/drawingml/2006/main" prst="roundRect">
            <a:avLst>
              <a:gd name="adj" fmla="val 1709"/>
            </a:avLst>
          </a:prstGeom>
          <a:solidFill xmlns:a="http://schemas.openxmlformats.org/drawingml/2006/main">
            <a:srgbClr val="F4F7FA"/>
          </a:solidFill>
          <a:ln xmlns:a="http://schemas.openxmlformats.org/drawingml/2006/main" w="0">
            <a:solidFill>
              <a:srgbClr val="F4F7FA"/>
            </a:solidFill>
            <a:prstDash val="solid"/>
          </a:ln>
        </p:spPr>
      </p:sp>
      <p:sp>
        <p:nvSpPr>
          <p:cNvPr id="6" name="">
            <a:extLst xmlns:a="http://schemas.openxmlformats.org/drawingml/2006/main">
              <a:ext uri="{FF2B5EF4-FFF2-40B4-BE49-F238E27FC236}">
                <a16:creationId xmlns:a16="http://schemas.microsoft.com/office/drawing/2014/main" id="{1AD269CD-DF98-4E01-AEF4-5B2012FB1932}"/>
              </a:ext>
            </a:extLst>
          </p:cNvPr>
          <p:cNvSpPr>
            <a:spLocks xmlns:a="http://schemas.openxmlformats.org/drawingml/2006/main" noGrp="1"/>
          </p:cNvSpPr>
          <p:nvPr/>
        </p:nvSpPr>
        <p:spPr>
          <a:xfrm xmlns:a="http://schemas.openxmlformats.org/drawingml/2006/main">
            <a:off x="619125" y="1609725"/>
            <a:ext cx="6867525" cy="4229100"/>
          </a:xfrm>
          <a:prstGeom xmlns:a="http://schemas.openxmlformats.org/drawingml/2006/main" prst="roundRect">
            <a:avLst>
              <a:gd name="adj" fmla="val 1802"/>
            </a:avLst>
          </a:prstGeom>
          <a:noFill xmlns:a="http://schemas.openxmlformats.org/drawingml/2006/main"/>
          <a:ln xmlns:a="http://schemas.openxmlformats.org/drawingml/2006/main" w="19050">
            <a:solidFill>
              <a:srgbClr val="D7DFE9"/>
            </a:solidFill>
            <a:prstDash val="solid"/>
          </a:ln>
        </p:spPr>
      </p:sp>
      <p:sp>
        <p:nvSpPr>
          <p:cNvPr id="7" name="">
            <a:extLst xmlns:a="http://schemas.openxmlformats.org/drawingml/2006/main">
              <a:ext uri="{FF2B5EF4-FFF2-40B4-BE49-F238E27FC236}">
                <a16:creationId xmlns:a16="http://schemas.microsoft.com/office/drawing/2014/main" id="{7AE38A9F-A12C-4F6C-9E36-7C11A94B63B4}"/>
              </a:ext>
            </a:extLst>
          </p:cNvPr>
          <p:cNvSpPr>
            <a:spLocks xmlns:a="http://schemas.openxmlformats.org/drawingml/2006/main" noGrp="1"/>
          </p:cNvSpPr>
          <p:nvPr/>
        </p:nvSpPr>
        <p:spPr>
          <a:xfrm xmlns:a="http://schemas.openxmlformats.org/drawingml/2006/main">
            <a:off x="7924800" y="1504950"/>
            <a:ext cx="352425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7DFE9"/>
            </a:solidFill>
            <a:prstDash val="solid"/>
          </a:ln>
        </p:spPr>
      </p:sp>
      <p:sp>
        <p:nvSpPr>
          <p:cNvPr id="8" name="">
            <a:extLst xmlns:a="http://schemas.openxmlformats.org/drawingml/2006/main">
              <a:ext uri="{FF2B5EF4-FFF2-40B4-BE49-F238E27FC236}">
                <a16:creationId xmlns:a16="http://schemas.microsoft.com/office/drawing/2014/main" id="{5497424E-D662-42EC-82F5-36A5772D196F}"/>
              </a:ext>
            </a:extLst>
          </p:cNvPr>
          <p:cNvSpPr>
            <a:spLocks xmlns:a="http://schemas.openxmlformats.org/drawingml/2006/main" noGrp="1"/>
          </p:cNvSpPr>
          <p:nvPr/>
        </p:nvSpPr>
        <p:spPr>
          <a:xfrm xmlns:a="http://schemas.openxmlformats.org/drawingml/2006/main">
            <a:off x="8172450" y="1695450"/>
            <a:ext cx="3000375"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B2545"/>
                </a:solidFill>
                <a:latin typeface="Aptos"/>
                <a:ea typeface="Aptos"/>
                <a:cs typeface="Aptos"/>
              </a:defRPr>
            </a:pPr>
            <a:r>
              <a:t>3 distinct decision paths</a:t>
            </a:r>
          </a:p>
        </p:txBody>
      </p:sp>
      <p:sp>
        <p:nvSpPr>
          <p:cNvPr id="9" name="">
            <a:extLst xmlns:a="http://schemas.openxmlformats.org/drawingml/2006/main">
              <a:ext uri="{FF2B5EF4-FFF2-40B4-BE49-F238E27FC236}">
                <a16:creationId xmlns:a16="http://schemas.microsoft.com/office/drawing/2014/main" id="{045BF8DF-E89A-4CD5-B299-9E82ADDF5896}"/>
              </a:ext>
            </a:extLst>
          </p:cNvPr>
          <p:cNvSpPr>
            <a:spLocks xmlns:a="http://schemas.openxmlformats.org/drawingml/2006/main" noGrp="1"/>
          </p:cNvSpPr>
          <p:nvPr/>
        </p:nvSpPr>
        <p:spPr>
          <a:xfrm xmlns:a="http://schemas.openxmlformats.org/drawingml/2006/main">
            <a:off x="8172450" y="2057400"/>
            <a:ext cx="3000375"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77A"/>
                </a:solidFill>
                <a:latin typeface="Aptos"/>
                <a:ea typeface="Aptos"/>
                <a:cs typeface="Aptos"/>
              </a:defRPr>
            </a:pPr>
            <a:r>
              <a:t>Engineer · Product manager · Executive</a:t>
            </a:r>
          </a:p>
        </p:txBody>
      </p:sp>
      <p:sp>
        <p:nvSpPr>
          <p:cNvPr id="10" name="">
            <a:extLst xmlns:a="http://schemas.openxmlformats.org/drawingml/2006/main">
              <a:ext uri="{FF2B5EF4-FFF2-40B4-BE49-F238E27FC236}">
                <a16:creationId xmlns:a16="http://schemas.microsoft.com/office/drawing/2014/main" id="{F2ED2040-79AB-4535-A1B2-19C362393FDD}"/>
              </a:ext>
            </a:extLst>
          </p:cNvPr>
          <p:cNvSpPr>
            <a:spLocks xmlns:a="http://schemas.openxmlformats.org/drawingml/2006/main" noGrp="1"/>
          </p:cNvSpPr>
          <p:nvPr/>
        </p:nvSpPr>
        <p:spPr>
          <a:xfrm xmlns:a="http://schemas.openxmlformats.org/drawingml/2006/main">
            <a:off x="7924800" y="2609850"/>
            <a:ext cx="352425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7DFE9"/>
            </a:solidFill>
            <a:prstDash val="solid"/>
          </a:ln>
        </p:spPr>
      </p:sp>
      <p:sp>
        <p:nvSpPr>
          <p:cNvPr id="11" name="">
            <a:extLst xmlns:a="http://schemas.openxmlformats.org/drawingml/2006/main">
              <a:ext uri="{FF2B5EF4-FFF2-40B4-BE49-F238E27FC236}">
                <a16:creationId xmlns:a16="http://schemas.microsoft.com/office/drawing/2014/main" id="{2D7A1679-CB85-4D73-B7C3-6ECF9DE000C6}"/>
              </a:ext>
            </a:extLst>
          </p:cNvPr>
          <p:cNvSpPr>
            <a:spLocks xmlns:a="http://schemas.openxmlformats.org/drawingml/2006/main" noGrp="1"/>
          </p:cNvSpPr>
          <p:nvPr/>
        </p:nvSpPr>
        <p:spPr>
          <a:xfrm xmlns:a="http://schemas.openxmlformats.org/drawingml/2006/main">
            <a:off x="8172450" y="2800350"/>
            <a:ext cx="3000375"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563EB"/>
                </a:solidFill>
                <a:latin typeface="Aptos"/>
                <a:ea typeface="Aptos"/>
                <a:cs typeface="Aptos"/>
              </a:defRPr>
            </a:pPr>
            <a:r>
              <a:t>11 precomputed CSVs</a:t>
            </a:r>
          </a:p>
        </p:txBody>
      </p:sp>
      <p:sp>
        <p:nvSpPr>
          <p:cNvPr id="12" name="">
            <a:extLst xmlns:a="http://schemas.openxmlformats.org/drawingml/2006/main">
              <a:ext uri="{FF2B5EF4-FFF2-40B4-BE49-F238E27FC236}">
                <a16:creationId xmlns:a16="http://schemas.microsoft.com/office/drawing/2014/main" id="{1F836435-A6F6-4C4D-ABF6-1C4BBB5B4552}"/>
              </a:ext>
            </a:extLst>
          </p:cNvPr>
          <p:cNvSpPr>
            <a:spLocks xmlns:a="http://schemas.openxmlformats.org/drawingml/2006/main" noGrp="1"/>
          </p:cNvSpPr>
          <p:nvPr/>
        </p:nvSpPr>
        <p:spPr>
          <a:xfrm xmlns:a="http://schemas.openxmlformats.org/drawingml/2006/main">
            <a:off x="8172450" y="3162300"/>
            <a:ext cx="3000375"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77A"/>
                </a:solidFill>
                <a:latin typeface="Aptos"/>
                <a:ea typeface="Aptos"/>
                <a:cs typeface="Aptos"/>
              </a:defRPr>
            </a:pPr>
            <a:r>
              <a:t>No inference, retrieval, or scoring at launch</a:t>
            </a:r>
          </a:p>
        </p:txBody>
      </p:sp>
      <p:sp>
        <p:nvSpPr>
          <p:cNvPr id="13" name="">
            <a:extLst xmlns:a="http://schemas.openxmlformats.org/drawingml/2006/main">
              <a:ext uri="{FF2B5EF4-FFF2-40B4-BE49-F238E27FC236}">
                <a16:creationId xmlns:a16="http://schemas.microsoft.com/office/drawing/2014/main" id="{82E9EDDD-327D-4859-8D20-AB0951145E67}"/>
              </a:ext>
            </a:extLst>
          </p:cNvPr>
          <p:cNvSpPr>
            <a:spLocks xmlns:a="http://schemas.openxmlformats.org/drawingml/2006/main" noGrp="1"/>
          </p:cNvSpPr>
          <p:nvPr/>
        </p:nvSpPr>
        <p:spPr>
          <a:xfrm xmlns:a="http://schemas.openxmlformats.org/drawingml/2006/main">
            <a:off x="7924800" y="3714750"/>
            <a:ext cx="352425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7DFE9"/>
            </a:solidFill>
            <a:prstDash val="solid"/>
          </a:ln>
        </p:spPr>
      </p:sp>
      <p:sp>
        <p:nvSpPr>
          <p:cNvPr id="14" name="">
            <a:extLst xmlns:a="http://schemas.openxmlformats.org/drawingml/2006/main">
              <a:ext uri="{FF2B5EF4-FFF2-40B4-BE49-F238E27FC236}">
                <a16:creationId xmlns:a16="http://schemas.microsoft.com/office/drawing/2014/main" id="{94C5F6B5-5994-49B0-9679-B7734F42BD4C}"/>
              </a:ext>
            </a:extLst>
          </p:cNvPr>
          <p:cNvSpPr>
            <a:spLocks xmlns:a="http://schemas.openxmlformats.org/drawingml/2006/main" noGrp="1"/>
          </p:cNvSpPr>
          <p:nvPr/>
        </p:nvSpPr>
        <p:spPr>
          <a:xfrm xmlns:a="http://schemas.openxmlformats.org/drawingml/2006/main">
            <a:off x="8172450" y="3905250"/>
            <a:ext cx="3000375"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E8B57"/>
                </a:solidFill>
                <a:latin typeface="Aptos"/>
                <a:ea typeface="Aptos"/>
                <a:cs typeface="Aptos"/>
              </a:defRPr>
            </a:pPr>
            <a:r>
              <a:t>18 / 18 tests passed</a:t>
            </a:r>
          </a:p>
        </p:txBody>
      </p:sp>
      <p:sp>
        <p:nvSpPr>
          <p:cNvPr id="15" name="">
            <a:extLst xmlns:a="http://schemas.openxmlformats.org/drawingml/2006/main">
              <a:ext uri="{FF2B5EF4-FFF2-40B4-BE49-F238E27FC236}">
                <a16:creationId xmlns:a16="http://schemas.microsoft.com/office/drawing/2014/main" id="{4295F419-0A2D-45D9-BEA8-FB3CC655E3DE}"/>
              </a:ext>
            </a:extLst>
          </p:cNvPr>
          <p:cNvSpPr>
            <a:spLocks xmlns:a="http://schemas.openxmlformats.org/drawingml/2006/main" noGrp="1"/>
          </p:cNvSpPr>
          <p:nvPr/>
        </p:nvSpPr>
        <p:spPr>
          <a:xfrm xmlns:a="http://schemas.openxmlformats.org/drawingml/2006/main">
            <a:off x="8172450" y="4267200"/>
            <a:ext cx="3000375"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77A"/>
                </a:solidFill>
                <a:latin typeface="Aptos"/>
                <a:ea typeface="Aptos"/>
                <a:cs typeface="Aptos"/>
              </a:defRPr>
            </a:pPr>
            <a:r>
              <a:t>Contracts + Streamlit interactions</a:t>
            </a:r>
          </a:p>
        </p:txBody>
      </p:sp>
      <p:sp>
        <p:nvSpPr>
          <p:cNvPr id="16" name="">
            <a:extLst xmlns:a="http://schemas.openxmlformats.org/drawingml/2006/main">
              <a:ext uri="{FF2B5EF4-FFF2-40B4-BE49-F238E27FC236}">
                <a16:creationId xmlns:a16="http://schemas.microsoft.com/office/drawing/2014/main" id="{C76ACF87-30F8-4492-8C0C-10E559A33332}"/>
              </a:ext>
            </a:extLst>
          </p:cNvPr>
          <p:cNvSpPr>
            <a:spLocks xmlns:a="http://schemas.openxmlformats.org/drawingml/2006/main" noGrp="1"/>
          </p:cNvSpPr>
          <p:nvPr/>
        </p:nvSpPr>
        <p:spPr>
          <a:xfrm xmlns:a="http://schemas.openxmlformats.org/drawingml/2006/main">
            <a:off x="7924800" y="4819650"/>
            <a:ext cx="3524250" cy="1133475"/>
          </a:xfrm>
          <a:prstGeom xmlns:a="http://schemas.openxmlformats.org/drawingml/2006/main" prst="roundRect">
            <a:avLst>
              <a:gd name="adj" fmla="val 6723"/>
            </a:avLst>
          </a:prstGeom>
          <a:solidFill xmlns:a="http://schemas.openxmlformats.org/drawingml/2006/main">
            <a:srgbClr val="EAF2FF"/>
          </a:solidFill>
          <a:ln xmlns:a="http://schemas.openxmlformats.org/drawingml/2006/main" w="0">
            <a:solidFill>
              <a:srgbClr val="EAF2FF"/>
            </a:solidFill>
            <a:prstDash val="solid"/>
          </a:ln>
        </p:spPr>
      </p:sp>
      <p:sp>
        <p:nvSpPr>
          <p:cNvPr id="17" name="">
            <a:extLst xmlns:a="http://schemas.openxmlformats.org/drawingml/2006/main">
              <a:ext uri="{FF2B5EF4-FFF2-40B4-BE49-F238E27FC236}">
                <a16:creationId xmlns:a16="http://schemas.microsoft.com/office/drawing/2014/main" id="{E00665F5-1B3A-4C77-A269-685CDA52EDE1}"/>
              </a:ext>
            </a:extLst>
          </p:cNvPr>
          <p:cNvSpPr>
            <a:spLocks xmlns:a="http://schemas.openxmlformats.org/drawingml/2006/main" noGrp="1"/>
          </p:cNvSpPr>
          <p:nvPr/>
        </p:nvSpPr>
        <p:spPr>
          <a:xfrm xmlns:a="http://schemas.openxmlformats.org/drawingml/2006/main">
            <a:off x="8172450" y="5010150"/>
            <a:ext cx="1905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2E74B5"/>
                </a:solidFill>
                <a:latin typeface="Aptos"/>
                <a:ea typeface="Aptos"/>
                <a:cs typeface="Aptos"/>
              </a:defRPr>
            </a:pPr>
            <a:r>
              <a:t>v1.2 correction</a:t>
            </a:r>
          </a:p>
        </p:txBody>
      </p:sp>
      <p:sp>
        <p:nvSpPr>
          <p:cNvPr id="18" name="">
            <a:extLst xmlns:a="http://schemas.openxmlformats.org/drawingml/2006/main">
              <a:ext uri="{FF2B5EF4-FFF2-40B4-BE49-F238E27FC236}">
                <a16:creationId xmlns:a16="http://schemas.microsoft.com/office/drawing/2014/main" id="{FF568C65-E543-498A-82A4-999257F28C7D}"/>
              </a:ext>
            </a:extLst>
          </p:cNvPr>
          <p:cNvSpPr>
            <a:spLocks xmlns:a="http://schemas.openxmlformats.org/drawingml/2006/main" noGrp="1"/>
          </p:cNvSpPr>
          <p:nvPr/>
        </p:nvSpPr>
        <p:spPr>
          <a:xfrm xmlns:a="http://schemas.openxmlformats.org/drawingml/2006/main">
            <a:off x="8172450" y="5334000"/>
            <a:ext cx="3000375" cy="476250"/>
          </a:xfrm>
          <a:prstGeom xmlns:a="http://schemas.openxmlformats.org/drawingml/2006/main" prst="rect">
            <a:avLst/>
          </a:prstGeom>
        </p:spPr>
        <p:txBody>
          <a:bodyPr xmlns:a="http://schemas.openxmlformats.org/drawingml/2006/main" wrap="square" lIns="0" tIns="0" rIns="0" bIns="0" anchor="t">
            <a:normAutofit fontScale="98243"/>
          </a:bodyPr>
          <a:lstStyle xmlns:a="http://schemas.openxmlformats.org/drawingml/2006/main"/>
          <a:p xmlns:a="http://schemas.openxmlformats.org/drawingml/2006/main">
            <a:pPr algn="l">
              <a:defRPr sz="1125" b="0" i="0">
                <a:solidFill>
                  <a:srgbClr val="172033"/>
                </a:solidFill>
                <a:latin typeface="Aptos"/>
                <a:ea typeface="Aptos"/>
                <a:cs typeface="Aptos"/>
              </a:defRPr>
            </a:pPr>
            <a:r>
              <a:t>Role separation restored; white-on-white label candidates reduced to zero in headless visual checks.</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17faf9100a5f4ac4"/>
          <a:stretch xmlns:a="http://schemas.openxmlformats.org/drawingml/2006/main"/>
        </p:blipFill>
        <p:spPr>
          <a:xfrm xmlns:a="http://schemas.openxmlformats.org/drawingml/2006/main">
            <a:off x="771525" y="1676400"/>
            <a:ext cx="6553200" cy="4095750"/>
          </a:xfrm>
          <a:prstGeom xmlns:a="http://schemas.openxmlformats.org/drawingml/2006/main" prst="roundRect">
            <a:avLst>
              <a:gd name="adj" fmla="val 1860"/>
            </a:avLst>
          </a:prstGeom>
        </p:spPr>
      </p:pic>
    </p:spTree>
    <p:extLst>
      <p:ext uri="{BB962C8B-B14F-4D97-AF65-F5344CB8AC3E}">
        <p14:creationId xmlns:p14="http://schemas.microsoft.com/office/powerpoint/2010/main" val="17262777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EC5533B-95A3-4127-845A-4E85DB49B1BF}"/>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5FD493F9-240F-4D61-83F6-FA17F6DFDDBF}"/>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92133"/>
          </a:bodyPr>
          <a:lstStyle xmlns:a="http://schemas.openxmlformats.org/drawingml/2006/main"/>
          <a:p xmlns:a="http://schemas.openxmlformats.org/drawingml/2006/main">
            <a:pPr algn="l">
              <a:defRPr sz="2850" b="1" i="0">
                <a:solidFill>
                  <a:srgbClr val="172033"/>
                </a:solidFill>
                <a:latin typeface="Aptos"/>
                <a:ea typeface="Aptos"/>
                <a:cs typeface="Aptos"/>
              </a:defRPr>
            </a:pPr>
            <a:r>
              <a:t>3 deployment gates prioritize calibration, RAG latency, and closed-loop recovery</a:t>
            </a:r>
          </a:p>
        </p:txBody>
      </p:sp>
      <p:cxnSp>
        <p:nvCxnSpPr>
          <p:cNvPr id="33"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62A993DE-CCAC-43B6-9C32-A935CD1183F4}"/>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10</a:t>
            </a:r>
          </a:p>
        </p:txBody>
      </p:sp>
      <p:sp>
        <p:nvSpPr>
          <p:cNvPr id="5" name="">
            <a:extLst xmlns:a="http://schemas.openxmlformats.org/drawingml/2006/main">
              <a:ext uri="{FF2B5EF4-FFF2-40B4-BE49-F238E27FC236}">
                <a16:creationId xmlns:a16="http://schemas.microsoft.com/office/drawing/2014/main" id="{7A975FAC-A569-4A15-84C7-BE5BD444B72C}"/>
              </a:ext>
            </a:extLst>
          </p:cNvPr>
          <p:cNvSpPr>
            <a:spLocks xmlns:a="http://schemas.openxmlformats.org/drawingml/2006/main" noGrp="1"/>
          </p:cNvSpPr>
          <p:nvPr/>
        </p:nvSpPr>
        <p:spPr>
          <a:xfrm xmlns:a="http://schemas.openxmlformats.org/drawingml/2006/main">
            <a:off x="590550" y="1600200"/>
            <a:ext cx="10953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DFE9"/>
            </a:solidFill>
            <a:prstDash val="solid"/>
          </a:ln>
        </p:spPr>
      </p:sp>
      <p:sp>
        <p:nvSpPr>
          <p:cNvPr id="6" name="">
            <a:extLst xmlns:a="http://schemas.openxmlformats.org/drawingml/2006/main">
              <a:ext uri="{FF2B5EF4-FFF2-40B4-BE49-F238E27FC236}">
                <a16:creationId xmlns:a16="http://schemas.microsoft.com/office/drawing/2014/main" id="{4DAA5A7E-4EA8-4F1E-842B-271D4C1A2ABB}"/>
              </a:ext>
            </a:extLst>
          </p:cNvPr>
          <p:cNvSpPr>
            <a:spLocks xmlns:a="http://schemas.openxmlformats.org/drawingml/2006/main" noGrp="1"/>
          </p:cNvSpPr>
          <p:nvPr/>
        </p:nvSpPr>
        <p:spPr>
          <a:xfrm xmlns:a="http://schemas.openxmlformats.org/drawingml/2006/main">
            <a:off x="590550" y="1600200"/>
            <a:ext cx="133350" cy="11049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F58911D6-F5CB-4DB7-BE20-FF7CF392AA97}"/>
              </a:ext>
            </a:extLst>
          </p:cNvPr>
          <p:cNvSpPr>
            <a:spLocks xmlns:a="http://schemas.openxmlformats.org/drawingml/2006/main" noGrp="1"/>
          </p:cNvSpPr>
          <p:nvPr/>
        </p:nvSpPr>
        <p:spPr>
          <a:xfrm xmlns:a="http://schemas.openxmlformats.org/drawingml/2006/main">
            <a:off x="914400" y="1838325"/>
            <a:ext cx="6858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2563EB"/>
                </a:solidFill>
                <a:latin typeface="Aptos"/>
                <a:ea typeface="Aptos"/>
                <a:cs typeface="Aptos"/>
              </a:defRPr>
            </a:pPr>
            <a:r>
              <a:t>01</a:t>
            </a:r>
          </a:p>
        </p:txBody>
      </p:sp>
      <p:cxnSp>
        <p:nvCxnSpPr>
          <p:cNvPr id="38" name=""/>
          <p:cNvCxnSpPr/>
          <p:nvPr/>
        </p:nvCxnSpPr>
        <p:spPr>
          <a:xfrm xmlns:a="http://schemas.openxmlformats.org/drawingml/2006/main">
            <a:off x="1790700" y="1790700"/>
            <a:ext cx="95" cy="723900"/>
          </a:xfrm>
          <a:prstGeom xmlns:a="http://schemas.openxmlformats.org/drawingml/2006/main" prst="straightConnector1">
            <a:avLst/>
          </a:prstGeom>
          <a:ln xmlns:a="http://schemas.openxmlformats.org/drawingml/2006/main" w="19050">
            <a:solidFill>
              <a:srgbClr val="D7DFE9"/>
            </a:solidFill>
            <a:prstDash val="solid"/>
          </a:ln>
        </p:spPr>
      </p:cxnSp>
      <p:sp>
        <p:nvSpPr>
          <p:cNvPr id="9" name="">
            <a:extLst xmlns:a="http://schemas.openxmlformats.org/drawingml/2006/main">
              <a:ext uri="{FF2B5EF4-FFF2-40B4-BE49-F238E27FC236}">
                <a16:creationId xmlns:a16="http://schemas.microsoft.com/office/drawing/2014/main" id="{C1A77B07-F4C0-42B6-B0BF-D5B2EA224CD2}"/>
              </a:ext>
            </a:extLst>
          </p:cNvPr>
          <p:cNvSpPr>
            <a:spLocks xmlns:a="http://schemas.openxmlformats.org/drawingml/2006/main" noGrp="1"/>
          </p:cNvSpPr>
          <p:nvPr/>
        </p:nvSpPr>
        <p:spPr>
          <a:xfrm xmlns:a="http://schemas.openxmlformats.org/drawingml/2006/main">
            <a:off x="2095500" y="1771650"/>
            <a:ext cx="2857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B2545"/>
                </a:solidFill>
                <a:latin typeface="Aptos"/>
                <a:ea typeface="Aptos"/>
                <a:cs typeface="Aptos"/>
              </a:defRPr>
            </a:pPr>
            <a:r>
              <a:t>Text-model calibration</a:t>
            </a:r>
          </a:p>
        </p:txBody>
      </p:sp>
      <p:sp>
        <p:nvSpPr>
          <p:cNvPr id="10" name="">
            <a:extLst xmlns:a="http://schemas.openxmlformats.org/drawingml/2006/main">
              <a:ext uri="{FF2B5EF4-FFF2-40B4-BE49-F238E27FC236}">
                <a16:creationId xmlns:a16="http://schemas.microsoft.com/office/drawing/2014/main" id="{B4FAF66E-8BD1-4838-8E2D-EB82D8F885CF}"/>
              </a:ext>
            </a:extLst>
          </p:cNvPr>
          <p:cNvSpPr>
            <a:spLocks xmlns:a="http://schemas.openxmlformats.org/drawingml/2006/main" noGrp="1"/>
          </p:cNvSpPr>
          <p:nvPr/>
        </p:nvSpPr>
        <p:spPr>
          <a:xfrm xmlns:a="http://schemas.openxmlformats.org/drawingml/2006/main">
            <a:off x="2095500" y="2162175"/>
            <a:ext cx="33337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Mistral + Llama, model-blind</a:t>
            </a:r>
          </a:p>
        </p:txBody>
      </p:sp>
      <p:sp>
        <p:nvSpPr>
          <p:cNvPr id="11" name="">
            <a:extLst xmlns:a="http://schemas.openxmlformats.org/drawingml/2006/main">
              <a:ext uri="{FF2B5EF4-FFF2-40B4-BE49-F238E27FC236}">
                <a16:creationId xmlns:a16="http://schemas.microsoft.com/office/drawing/2014/main" id="{29177601-D115-42DF-B64A-8E0E0CD0CC11}"/>
              </a:ext>
            </a:extLst>
          </p:cNvPr>
          <p:cNvSpPr>
            <a:spLocks xmlns:a="http://schemas.openxmlformats.org/drawingml/2006/main" noGrp="1"/>
          </p:cNvSpPr>
          <p:nvPr/>
        </p:nvSpPr>
        <p:spPr>
          <a:xfrm xmlns:a="http://schemas.openxmlformats.org/drawingml/2006/main">
            <a:off x="5715000" y="1790700"/>
            <a:ext cx="5524500" cy="723900"/>
          </a:xfrm>
          <a:prstGeom xmlns:a="http://schemas.openxmlformats.org/drawingml/2006/main" prst="roundRect">
            <a:avLst>
              <a:gd name="adj" fmla="val 10526"/>
            </a:avLst>
          </a:prstGeom>
          <a:solidFill xmlns:a="http://schemas.openxmlformats.org/drawingml/2006/main">
            <a:srgbClr val="EAF2FF"/>
          </a:solidFill>
          <a:ln xmlns:a="http://schemas.openxmlformats.org/drawingml/2006/main" w="0">
            <a:solidFill>
              <a:srgbClr val="EAF2FF"/>
            </a:solidFill>
            <a:prstDash val="solid"/>
          </a:ln>
        </p:spPr>
      </p:sp>
      <p:sp>
        <p:nvSpPr>
          <p:cNvPr id="12" name="">
            <a:extLst xmlns:a="http://schemas.openxmlformats.org/drawingml/2006/main">
              <a:ext uri="{FF2B5EF4-FFF2-40B4-BE49-F238E27FC236}">
                <a16:creationId xmlns:a16="http://schemas.microsoft.com/office/drawing/2014/main" id="{E061A360-7FF7-436F-994A-CD48D54581FE}"/>
              </a:ext>
            </a:extLst>
          </p:cNvPr>
          <p:cNvSpPr>
            <a:spLocks xmlns:a="http://schemas.openxmlformats.org/drawingml/2006/main" noGrp="1"/>
          </p:cNvSpPr>
          <p:nvPr/>
        </p:nvSpPr>
        <p:spPr>
          <a:xfrm xmlns:a="http://schemas.openxmlformats.org/drawingml/2006/main">
            <a:off x="5924550" y="1933575"/>
            <a:ext cx="5105400" cy="4191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i="0">
                <a:solidFill>
                  <a:srgbClr val="172033"/>
                </a:solidFill>
                <a:latin typeface="Aptos"/>
                <a:ea typeface="Aptos"/>
                <a:cs typeface="Aptos"/>
              </a:defRPr>
            </a:pPr>
            <a:r>
              <a:t>≥2 domain experts · α ≥ 0.80 · adjudicate severity 5</a:t>
            </a:r>
          </a:p>
        </p:txBody>
      </p:sp>
      <p:sp>
        <p:nvSpPr>
          <p:cNvPr id="13" name="">
            <a:extLst xmlns:a="http://schemas.openxmlformats.org/drawingml/2006/main">
              <a:ext uri="{FF2B5EF4-FFF2-40B4-BE49-F238E27FC236}">
                <a16:creationId xmlns:a16="http://schemas.microsoft.com/office/drawing/2014/main" id="{1FE05F75-B29A-4DD0-B262-B8AC1C9FC5D5}"/>
              </a:ext>
            </a:extLst>
          </p:cNvPr>
          <p:cNvSpPr>
            <a:spLocks xmlns:a="http://schemas.openxmlformats.org/drawingml/2006/main" noGrp="1"/>
          </p:cNvSpPr>
          <p:nvPr/>
        </p:nvSpPr>
        <p:spPr>
          <a:xfrm xmlns:a="http://schemas.openxmlformats.org/drawingml/2006/main">
            <a:off x="590550" y="2981325"/>
            <a:ext cx="10953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DFE9"/>
            </a:solidFill>
            <a:prstDash val="solid"/>
          </a:ln>
        </p:spPr>
      </p:sp>
      <p:sp>
        <p:nvSpPr>
          <p:cNvPr id="14" name="">
            <a:extLst xmlns:a="http://schemas.openxmlformats.org/drawingml/2006/main">
              <a:ext uri="{FF2B5EF4-FFF2-40B4-BE49-F238E27FC236}">
                <a16:creationId xmlns:a16="http://schemas.microsoft.com/office/drawing/2014/main" id="{C06365A7-6977-4F8A-B39A-8D6BA49220AD}"/>
              </a:ext>
            </a:extLst>
          </p:cNvPr>
          <p:cNvSpPr>
            <a:spLocks xmlns:a="http://schemas.openxmlformats.org/drawingml/2006/main" noGrp="1"/>
          </p:cNvSpPr>
          <p:nvPr/>
        </p:nvSpPr>
        <p:spPr>
          <a:xfrm xmlns:a="http://schemas.openxmlformats.org/drawingml/2006/main">
            <a:off x="590550" y="2981325"/>
            <a:ext cx="133350" cy="110490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15" name="">
            <a:extLst xmlns:a="http://schemas.openxmlformats.org/drawingml/2006/main">
              <a:ext uri="{FF2B5EF4-FFF2-40B4-BE49-F238E27FC236}">
                <a16:creationId xmlns:a16="http://schemas.microsoft.com/office/drawing/2014/main" id="{1D339D43-AE4B-4B47-90EA-1E7C11B5FB3A}"/>
              </a:ext>
            </a:extLst>
          </p:cNvPr>
          <p:cNvSpPr>
            <a:spLocks xmlns:a="http://schemas.openxmlformats.org/drawingml/2006/main" noGrp="1"/>
          </p:cNvSpPr>
          <p:nvPr/>
        </p:nvSpPr>
        <p:spPr>
          <a:xfrm xmlns:a="http://schemas.openxmlformats.org/drawingml/2006/main">
            <a:off x="914400" y="3219450"/>
            <a:ext cx="6858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0F9D8A"/>
                </a:solidFill>
                <a:latin typeface="Aptos"/>
                <a:ea typeface="Aptos"/>
                <a:cs typeface="Aptos"/>
              </a:defRPr>
            </a:pPr>
            <a:r>
              <a:t>02</a:t>
            </a:r>
          </a:p>
        </p:txBody>
      </p:sp>
      <p:cxnSp>
        <p:nvCxnSpPr>
          <p:cNvPr id="46" name=""/>
          <p:cNvCxnSpPr/>
          <p:nvPr/>
        </p:nvCxnSpPr>
        <p:spPr>
          <a:xfrm xmlns:a="http://schemas.openxmlformats.org/drawingml/2006/main">
            <a:off x="1790700" y="3171825"/>
            <a:ext cx="95" cy="723900"/>
          </a:xfrm>
          <a:prstGeom xmlns:a="http://schemas.openxmlformats.org/drawingml/2006/main" prst="straightConnector1">
            <a:avLst/>
          </a:prstGeom>
          <a:ln xmlns:a="http://schemas.openxmlformats.org/drawingml/2006/main" w="19050">
            <a:solidFill>
              <a:srgbClr val="D7DFE9"/>
            </a:solidFill>
            <a:prstDash val="solid"/>
          </a:ln>
        </p:spPr>
      </p:cxnSp>
      <p:sp>
        <p:nvSpPr>
          <p:cNvPr id="17" name="">
            <a:extLst xmlns:a="http://schemas.openxmlformats.org/drawingml/2006/main">
              <a:ext uri="{FF2B5EF4-FFF2-40B4-BE49-F238E27FC236}">
                <a16:creationId xmlns:a16="http://schemas.microsoft.com/office/drawing/2014/main" id="{F2F6C207-EF22-49CB-B216-082EDEEE15BD}"/>
              </a:ext>
            </a:extLst>
          </p:cNvPr>
          <p:cNvSpPr>
            <a:spLocks xmlns:a="http://schemas.openxmlformats.org/drawingml/2006/main" noGrp="1"/>
          </p:cNvSpPr>
          <p:nvPr/>
        </p:nvSpPr>
        <p:spPr>
          <a:xfrm xmlns:a="http://schemas.openxmlformats.org/drawingml/2006/main">
            <a:off x="2095500" y="3152775"/>
            <a:ext cx="2857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B2545"/>
                </a:solidFill>
                <a:latin typeface="Aptos"/>
                <a:ea typeface="Aptos"/>
                <a:cs typeface="Aptos"/>
              </a:defRPr>
            </a:pPr>
            <a:r>
              <a:t>RAG service pilot</a:t>
            </a:r>
          </a:p>
        </p:txBody>
      </p:sp>
      <p:sp>
        <p:nvSpPr>
          <p:cNvPr id="18" name="">
            <a:extLst xmlns:a="http://schemas.openxmlformats.org/drawingml/2006/main">
              <a:ext uri="{FF2B5EF4-FFF2-40B4-BE49-F238E27FC236}">
                <a16:creationId xmlns:a16="http://schemas.microsoft.com/office/drawing/2014/main" id="{7B299EEF-6E7A-46A0-AD67-DC63D99BF424}"/>
              </a:ext>
            </a:extLst>
          </p:cNvPr>
          <p:cNvSpPr>
            <a:spLocks xmlns:a="http://schemas.openxmlformats.org/drawingml/2006/main" noGrp="1"/>
          </p:cNvSpPr>
          <p:nvPr/>
        </p:nvSpPr>
        <p:spPr>
          <a:xfrm xmlns:a="http://schemas.openxmlformats.org/drawingml/2006/main">
            <a:off x="2095500" y="3543300"/>
            <a:ext cx="33337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2 selected Pareto cells, authorised corpus</a:t>
            </a:r>
          </a:p>
        </p:txBody>
      </p:sp>
      <p:sp>
        <p:nvSpPr>
          <p:cNvPr id="19" name="">
            <a:extLst xmlns:a="http://schemas.openxmlformats.org/drawingml/2006/main">
              <a:ext uri="{FF2B5EF4-FFF2-40B4-BE49-F238E27FC236}">
                <a16:creationId xmlns:a16="http://schemas.microsoft.com/office/drawing/2014/main" id="{8216730C-0311-4F71-93E6-9BF819D1AAB8}"/>
              </a:ext>
            </a:extLst>
          </p:cNvPr>
          <p:cNvSpPr>
            <a:spLocks xmlns:a="http://schemas.openxmlformats.org/drawingml/2006/main" noGrp="1"/>
          </p:cNvSpPr>
          <p:nvPr/>
        </p:nvSpPr>
        <p:spPr>
          <a:xfrm xmlns:a="http://schemas.openxmlformats.org/drawingml/2006/main">
            <a:off x="5715000" y="3171825"/>
            <a:ext cx="5524500" cy="723900"/>
          </a:xfrm>
          <a:prstGeom xmlns:a="http://schemas.openxmlformats.org/drawingml/2006/main" prst="roundRect">
            <a:avLst>
              <a:gd name="adj" fmla="val 10526"/>
            </a:avLst>
          </a:prstGeom>
          <a:solidFill xmlns:a="http://schemas.openxmlformats.org/drawingml/2006/main">
            <a:srgbClr val="EAF2FF"/>
          </a:solidFill>
          <a:ln xmlns:a="http://schemas.openxmlformats.org/drawingml/2006/main" w="0">
            <a:solidFill>
              <a:srgbClr val="EAF2FF"/>
            </a:solidFill>
            <a:prstDash val="solid"/>
          </a:ln>
        </p:spPr>
      </p:sp>
      <p:sp>
        <p:nvSpPr>
          <p:cNvPr id="20" name="">
            <a:extLst xmlns:a="http://schemas.openxmlformats.org/drawingml/2006/main">
              <a:ext uri="{FF2B5EF4-FFF2-40B4-BE49-F238E27FC236}">
                <a16:creationId xmlns:a16="http://schemas.microsoft.com/office/drawing/2014/main" id="{2B27C634-8198-41F1-92B3-EE38B9332DFB}"/>
              </a:ext>
            </a:extLst>
          </p:cNvPr>
          <p:cNvSpPr>
            <a:spLocks xmlns:a="http://schemas.openxmlformats.org/drawingml/2006/main" noGrp="1"/>
          </p:cNvSpPr>
          <p:nvPr/>
        </p:nvSpPr>
        <p:spPr>
          <a:xfrm xmlns:a="http://schemas.openxmlformats.org/drawingml/2006/main">
            <a:off x="5924550" y="3314700"/>
            <a:ext cx="5105400" cy="4191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i="0">
                <a:solidFill>
                  <a:srgbClr val="172033"/>
                </a:solidFill>
                <a:latin typeface="Aptos"/>
                <a:ea typeface="Aptos"/>
                <a:cs typeface="Aptos"/>
              </a:defRPr>
            </a:pPr>
            <a:r>
              <a:t>quality-priority 1024/5/CE · latency-priority 512/5/CE</a:t>
            </a:r>
          </a:p>
        </p:txBody>
      </p:sp>
      <p:sp>
        <p:nvSpPr>
          <p:cNvPr id="21" name="">
            <a:extLst xmlns:a="http://schemas.openxmlformats.org/drawingml/2006/main">
              <a:ext uri="{FF2B5EF4-FFF2-40B4-BE49-F238E27FC236}">
                <a16:creationId xmlns:a16="http://schemas.microsoft.com/office/drawing/2014/main" id="{F35EE743-BBCE-4EA4-A5EE-C4DC05D05FA5}"/>
              </a:ext>
            </a:extLst>
          </p:cNvPr>
          <p:cNvSpPr>
            <a:spLocks xmlns:a="http://schemas.openxmlformats.org/drawingml/2006/main" noGrp="1"/>
          </p:cNvSpPr>
          <p:nvPr/>
        </p:nvSpPr>
        <p:spPr>
          <a:xfrm xmlns:a="http://schemas.openxmlformats.org/drawingml/2006/main">
            <a:off x="590550" y="4362450"/>
            <a:ext cx="10953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DFE9"/>
            </a:solidFill>
            <a:prstDash val="solid"/>
          </a:ln>
        </p:spPr>
      </p:sp>
      <p:sp>
        <p:nvSpPr>
          <p:cNvPr id="22" name="">
            <a:extLst xmlns:a="http://schemas.openxmlformats.org/drawingml/2006/main">
              <a:ext uri="{FF2B5EF4-FFF2-40B4-BE49-F238E27FC236}">
                <a16:creationId xmlns:a16="http://schemas.microsoft.com/office/drawing/2014/main" id="{C87F8E87-666E-45A0-AC22-A21A29676923}"/>
              </a:ext>
            </a:extLst>
          </p:cNvPr>
          <p:cNvSpPr>
            <a:spLocks xmlns:a="http://schemas.openxmlformats.org/drawingml/2006/main" noGrp="1"/>
          </p:cNvSpPr>
          <p:nvPr/>
        </p:nvSpPr>
        <p:spPr>
          <a:xfrm xmlns:a="http://schemas.openxmlformats.org/drawingml/2006/main">
            <a:off x="590550" y="4362450"/>
            <a:ext cx="133350" cy="1104900"/>
          </a:xfrm>
          <a:prstGeom xmlns:a="http://schemas.openxmlformats.org/drawingml/2006/main" prst="rect">
            <a:avLst/>
          </a:prstGeom>
          <a:solidFill xmlns:a="http://schemas.openxmlformats.org/drawingml/2006/main">
            <a:srgbClr val="D48A00"/>
          </a:solidFill>
          <a:ln xmlns:a="http://schemas.openxmlformats.org/drawingml/2006/main" w="0">
            <a:solidFill>
              <a:srgbClr val="D48A00"/>
            </a:solidFill>
            <a:prstDash val="solid"/>
          </a:ln>
        </p:spPr>
      </p:sp>
      <p:sp>
        <p:nvSpPr>
          <p:cNvPr id="23" name="">
            <a:extLst xmlns:a="http://schemas.openxmlformats.org/drawingml/2006/main">
              <a:ext uri="{FF2B5EF4-FFF2-40B4-BE49-F238E27FC236}">
                <a16:creationId xmlns:a16="http://schemas.microsoft.com/office/drawing/2014/main" id="{DBB933E0-C7F6-401B-ACB3-03E5B14E60A7}"/>
              </a:ext>
            </a:extLst>
          </p:cNvPr>
          <p:cNvSpPr>
            <a:spLocks xmlns:a="http://schemas.openxmlformats.org/drawingml/2006/main" noGrp="1"/>
          </p:cNvSpPr>
          <p:nvPr/>
        </p:nvSpPr>
        <p:spPr>
          <a:xfrm xmlns:a="http://schemas.openxmlformats.org/drawingml/2006/main">
            <a:off x="914400" y="4600575"/>
            <a:ext cx="6858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D48A00"/>
                </a:solidFill>
                <a:latin typeface="Aptos"/>
                <a:ea typeface="Aptos"/>
                <a:cs typeface="Aptos"/>
              </a:defRPr>
            </a:pPr>
            <a:r>
              <a:t>03</a:t>
            </a:r>
          </a:p>
        </p:txBody>
      </p:sp>
      <p:cxnSp>
        <p:nvCxnSpPr>
          <p:cNvPr id="54" name=""/>
          <p:cNvCxnSpPr/>
          <p:nvPr/>
        </p:nvCxnSpPr>
        <p:spPr>
          <a:xfrm xmlns:a="http://schemas.openxmlformats.org/drawingml/2006/main">
            <a:off x="1790700" y="4552950"/>
            <a:ext cx="95" cy="723900"/>
          </a:xfrm>
          <a:prstGeom xmlns:a="http://schemas.openxmlformats.org/drawingml/2006/main" prst="straightConnector1">
            <a:avLst/>
          </a:prstGeom>
          <a:ln xmlns:a="http://schemas.openxmlformats.org/drawingml/2006/main" w="19050">
            <a:solidFill>
              <a:srgbClr val="D7DFE9"/>
            </a:solidFill>
            <a:prstDash val="solid"/>
          </a:ln>
        </p:spPr>
      </p:cxnSp>
      <p:sp>
        <p:nvSpPr>
          <p:cNvPr id="25" name="">
            <a:extLst xmlns:a="http://schemas.openxmlformats.org/drawingml/2006/main">
              <a:ext uri="{FF2B5EF4-FFF2-40B4-BE49-F238E27FC236}">
                <a16:creationId xmlns:a16="http://schemas.microsoft.com/office/drawing/2014/main" id="{2F09FAEE-2B01-4A81-B77B-73BB7E843616}"/>
              </a:ext>
            </a:extLst>
          </p:cNvPr>
          <p:cNvSpPr>
            <a:spLocks xmlns:a="http://schemas.openxmlformats.org/drawingml/2006/main" noGrp="1"/>
          </p:cNvSpPr>
          <p:nvPr/>
        </p:nvSpPr>
        <p:spPr>
          <a:xfrm xmlns:a="http://schemas.openxmlformats.org/drawingml/2006/main">
            <a:off x="2095500" y="4533900"/>
            <a:ext cx="2857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B2545"/>
                </a:solidFill>
                <a:latin typeface="Aptos"/>
                <a:ea typeface="Aptos"/>
                <a:cs typeface="Aptos"/>
              </a:defRPr>
            </a:pPr>
            <a:r>
              <a:t>Closed-loop multimodal/PIC</a:t>
            </a:r>
          </a:p>
        </p:txBody>
      </p:sp>
      <p:sp>
        <p:nvSpPr>
          <p:cNvPr id="26" name="">
            <a:extLst xmlns:a="http://schemas.openxmlformats.org/drawingml/2006/main">
              <a:ext uri="{FF2B5EF4-FFF2-40B4-BE49-F238E27FC236}">
                <a16:creationId xmlns:a16="http://schemas.microsoft.com/office/drawing/2014/main" id="{98BA679C-D918-4FFF-9E08-775CEBF31477}"/>
              </a:ext>
            </a:extLst>
          </p:cNvPr>
          <p:cNvSpPr>
            <a:spLocks xmlns:a="http://schemas.openxmlformats.org/drawingml/2006/main" noGrp="1"/>
          </p:cNvSpPr>
          <p:nvPr/>
        </p:nvSpPr>
        <p:spPr>
          <a:xfrm xmlns:a="http://schemas.openxmlformats.org/drawingml/2006/main">
            <a:off x="2095500" y="4924425"/>
            <a:ext cx="33337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77A"/>
                </a:solidFill>
                <a:latin typeface="Aptos"/>
                <a:ea typeface="Aptos"/>
                <a:cs typeface="Aptos"/>
              </a:defRPr>
            </a:pPr>
            <a:r>
              <a:t>LLaVA + Idefics2, simulator/replay</a:t>
            </a:r>
          </a:p>
        </p:txBody>
      </p:sp>
      <p:sp>
        <p:nvSpPr>
          <p:cNvPr id="27" name="">
            <a:extLst xmlns:a="http://schemas.openxmlformats.org/drawingml/2006/main">
              <a:ext uri="{FF2B5EF4-FFF2-40B4-BE49-F238E27FC236}">
                <a16:creationId xmlns:a16="http://schemas.microsoft.com/office/drawing/2014/main" id="{E90BDF30-8D1B-4AAF-8A0C-D51AB3AE8A6E}"/>
              </a:ext>
            </a:extLst>
          </p:cNvPr>
          <p:cNvSpPr>
            <a:spLocks xmlns:a="http://schemas.openxmlformats.org/drawingml/2006/main" noGrp="1"/>
          </p:cNvSpPr>
          <p:nvPr/>
        </p:nvSpPr>
        <p:spPr>
          <a:xfrm xmlns:a="http://schemas.openxmlformats.org/drawingml/2006/main">
            <a:off x="5715000" y="4552950"/>
            <a:ext cx="5524500" cy="723900"/>
          </a:xfrm>
          <a:prstGeom xmlns:a="http://schemas.openxmlformats.org/drawingml/2006/main" prst="roundRect">
            <a:avLst>
              <a:gd name="adj" fmla="val 10526"/>
            </a:avLst>
          </a:prstGeom>
          <a:solidFill xmlns:a="http://schemas.openxmlformats.org/drawingml/2006/main">
            <a:srgbClr val="FFF5DC"/>
          </a:solidFill>
          <a:ln xmlns:a="http://schemas.openxmlformats.org/drawingml/2006/main" w="0">
            <a:solidFill>
              <a:srgbClr val="FFF5DC"/>
            </a:solidFill>
            <a:prstDash val="solid"/>
          </a:ln>
        </p:spPr>
      </p:sp>
      <p:sp>
        <p:nvSpPr>
          <p:cNvPr id="28" name="">
            <a:extLst xmlns:a="http://schemas.openxmlformats.org/drawingml/2006/main">
              <a:ext uri="{FF2B5EF4-FFF2-40B4-BE49-F238E27FC236}">
                <a16:creationId xmlns:a16="http://schemas.microsoft.com/office/drawing/2014/main" id="{A784B586-3FFB-4293-800F-8391FD20C25F}"/>
              </a:ext>
            </a:extLst>
          </p:cNvPr>
          <p:cNvSpPr>
            <a:spLocks xmlns:a="http://schemas.openxmlformats.org/drawingml/2006/main" noGrp="1"/>
          </p:cNvSpPr>
          <p:nvPr/>
        </p:nvSpPr>
        <p:spPr>
          <a:xfrm xmlns:a="http://schemas.openxmlformats.org/drawingml/2006/main">
            <a:off x="5924550" y="4695825"/>
            <a:ext cx="5105400" cy="4191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i="0">
                <a:solidFill>
                  <a:srgbClr val="172033"/>
                </a:solidFill>
                <a:latin typeface="Aptos"/>
                <a:ea typeface="Aptos"/>
                <a:cs typeface="Aptos"/>
              </a:defRPr>
            </a:pPr>
            <a:r>
              <a:t>unsafe action · recovery success · time to safe state</a:t>
            </a:r>
          </a:p>
        </p:txBody>
      </p:sp>
      <p:sp>
        <p:nvSpPr>
          <p:cNvPr id="29" name="">
            <a:extLst xmlns:a="http://schemas.openxmlformats.org/drawingml/2006/main">
              <a:ext uri="{FF2B5EF4-FFF2-40B4-BE49-F238E27FC236}">
                <a16:creationId xmlns:a16="http://schemas.microsoft.com/office/drawing/2014/main" id="{07881061-C797-4F4F-AAA9-3AA1804228B4}"/>
              </a:ext>
            </a:extLst>
          </p:cNvPr>
          <p:cNvSpPr>
            <a:spLocks xmlns:a="http://schemas.openxmlformats.org/drawingml/2006/main" noGrp="1"/>
          </p:cNvSpPr>
          <p:nvPr/>
        </p:nvSpPr>
        <p:spPr>
          <a:xfrm xmlns:a="http://schemas.openxmlformats.org/drawingml/2006/main">
            <a:off x="590550" y="5829300"/>
            <a:ext cx="10953750" cy="428625"/>
          </a:xfrm>
          <a:prstGeom xmlns:a="http://schemas.openxmlformats.org/drawingml/2006/main" prst="roundRect">
            <a:avLst>
              <a:gd name="adj" fmla="val 17778"/>
            </a:avLst>
          </a:prstGeom>
          <a:solidFill xmlns:a="http://schemas.openxmlformats.org/drawingml/2006/main">
            <a:srgbClr val="FDEBEC"/>
          </a:solidFill>
          <a:ln xmlns:a="http://schemas.openxmlformats.org/drawingml/2006/main" w="0">
            <a:solidFill>
              <a:srgbClr val="FDEBEC"/>
            </a:solidFill>
            <a:prstDash val="solid"/>
          </a:ln>
        </p:spPr>
      </p:sp>
      <p:sp>
        <p:nvSpPr>
          <p:cNvPr id="30" name="">
            <a:extLst xmlns:a="http://schemas.openxmlformats.org/drawingml/2006/main">
              <a:ext uri="{FF2B5EF4-FFF2-40B4-BE49-F238E27FC236}">
                <a16:creationId xmlns:a16="http://schemas.microsoft.com/office/drawing/2014/main" id="{38163BD0-3CEA-4487-8E11-C0186FFC8CCA}"/>
              </a:ext>
            </a:extLst>
          </p:cNvPr>
          <p:cNvSpPr>
            <a:spLocks xmlns:a="http://schemas.openxmlformats.org/drawingml/2006/main" noGrp="1"/>
          </p:cNvSpPr>
          <p:nvPr/>
        </p:nvSpPr>
        <p:spPr>
          <a:xfrm xmlns:a="http://schemas.openxmlformats.org/drawingml/2006/main">
            <a:off x="800100" y="5934075"/>
            <a:ext cx="10525125"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D94B4B"/>
                </a:solidFill>
                <a:latin typeface="Aptos"/>
                <a:ea typeface="Aptos"/>
                <a:cs typeface="Aptos"/>
              </a:defRPr>
            </a:pPr>
            <a:r>
              <a:t>Stop condition: no candidate becomes a deployment selection until its registered gate is passed on new, representative evidence.</a:t>
            </a:r>
          </a:p>
        </p:txBody>
      </p:sp>
    </p:spTree>
    <p:extLst>
      <p:ext uri="{BB962C8B-B14F-4D97-AF65-F5344CB8AC3E}">
        <p14:creationId xmlns:p14="http://schemas.microsoft.com/office/powerpoint/2010/main" val="111843138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FD3FEBD-F293-4F45-B1ED-156A4EE7D8A4}"/>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CE949CF2-0E01-4844-A596-7485BD17ED31}"/>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172033"/>
                </a:solidFill>
                <a:latin typeface="Aptos"/>
                <a:ea typeface="Aptos"/>
                <a:cs typeface="Aptos"/>
              </a:defRPr>
            </a:pPr>
            <a:r>
              <a:t>4 evidence gaps block a production ranking despite reproducible outputs</a:t>
            </a:r>
          </a:p>
        </p:txBody>
      </p:sp>
      <p:cxnSp>
        <p:nvCxnSpPr>
          <p:cNvPr id="30"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687086E2-3F2D-486A-85B7-43C54AEA0AD0}"/>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11</a:t>
            </a:r>
          </a:p>
        </p:txBody>
      </p:sp>
      <p:sp>
        <p:nvSpPr>
          <p:cNvPr id="5" name="">
            <a:extLst xmlns:a="http://schemas.openxmlformats.org/drawingml/2006/main">
              <a:ext uri="{FF2B5EF4-FFF2-40B4-BE49-F238E27FC236}">
                <a16:creationId xmlns:a16="http://schemas.microsoft.com/office/drawing/2014/main" id="{8300F6B0-4B49-4B69-8E66-0FF388E5B141}"/>
              </a:ext>
            </a:extLst>
          </p:cNvPr>
          <p:cNvSpPr>
            <a:spLocks xmlns:a="http://schemas.openxmlformats.org/drawingml/2006/main" noGrp="1"/>
          </p:cNvSpPr>
          <p:nvPr/>
        </p:nvSpPr>
        <p:spPr>
          <a:xfrm xmlns:a="http://schemas.openxmlformats.org/drawingml/2006/main">
            <a:off x="590550" y="1581150"/>
            <a:ext cx="52387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7DFE9"/>
            </a:solidFill>
            <a:prstDash val="solid"/>
          </a:ln>
        </p:spPr>
      </p:sp>
      <p:sp>
        <p:nvSpPr>
          <p:cNvPr id="6" name="">
            <a:extLst xmlns:a="http://schemas.openxmlformats.org/drawingml/2006/main">
              <a:ext uri="{FF2B5EF4-FFF2-40B4-BE49-F238E27FC236}">
                <a16:creationId xmlns:a16="http://schemas.microsoft.com/office/drawing/2014/main" id="{59A69CE9-51F6-44DF-B268-6E05CE35AA7F}"/>
              </a:ext>
            </a:extLst>
          </p:cNvPr>
          <p:cNvSpPr>
            <a:spLocks xmlns:a="http://schemas.openxmlformats.org/drawingml/2006/main" noGrp="1"/>
          </p:cNvSpPr>
          <p:nvPr/>
        </p:nvSpPr>
        <p:spPr>
          <a:xfrm xmlns:a="http://schemas.openxmlformats.org/drawingml/2006/main">
            <a:off x="590550" y="1581150"/>
            <a:ext cx="95250" cy="1476375"/>
          </a:xfrm>
          <a:prstGeom xmlns:a="http://schemas.openxmlformats.org/drawingml/2006/main" prst="rect">
            <a:avLst/>
          </a:prstGeom>
          <a:solidFill xmlns:a="http://schemas.openxmlformats.org/drawingml/2006/main">
            <a:srgbClr val="D94B4B"/>
          </a:solidFill>
          <a:ln xmlns:a="http://schemas.openxmlformats.org/drawingml/2006/main" w="0">
            <a:solidFill>
              <a:srgbClr val="D94B4B"/>
            </a:solidFill>
            <a:prstDash val="solid"/>
          </a:ln>
        </p:spPr>
      </p:sp>
      <p:sp>
        <p:nvSpPr>
          <p:cNvPr id="7" name="">
            <a:extLst xmlns:a="http://schemas.openxmlformats.org/drawingml/2006/main">
              <a:ext uri="{FF2B5EF4-FFF2-40B4-BE49-F238E27FC236}">
                <a16:creationId xmlns:a16="http://schemas.microsoft.com/office/drawing/2014/main" id="{A698595F-AF15-4607-965B-BDE0B3043C1C}"/>
              </a:ext>
            </a:extLst>
          </p:cNvPr>
          <p:cNvSpPr>
            <a:spLocks xmlns:a="http://schemas.openxmlformats.org/drawingml/2006/main" noGrp="1"/>
          </p:cNvSpPr>
          <p:nvPr/>
        </p:nvSpPr>
        <p:spPr>
          <a:xfrm xmlns:a="http://schemas.openxmlformats.org/drawingml/2006/main">
            <a:off x="876300" y="1819275"/>
            <a:ext cx="51435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D94B4B"/>
                </a:solidFill>
                <a:latin typeface="Aptos"/>
                <a:ea typeface="Aptos"/>
                <a:cs typeface="Aptos"/>
              </a:defRPr>
            </a:pPr>
            <a:r>
              <a:t>01</a:t>
            </a:r>
          </a:p>
        </p:txBody>
      </p:sp>
      <p:sp>
        <p:nvSpPr>
          <p:cNvPr id="8" name="">
            <a:extLst xmlns:a="http://schemas.openxmlformats.org/drawingml/2006/main">
              <a:ext uri="{FF2B5EF4-FFF2-40B4-BE49-F238E27FC236}">
                <a16:creationId xmlns:a16="http://schemas.microsoft.com/office/drawing/2014/main" id="{47C1693F-48D7-4017-B06B-843BC69B2ABF}"/>
              </a:ext>
            </a:extLst>
          </p:cNvPr>
          <p:cNvSpPr>
            <a:spLocks xmlns:a="http://schemas.openxmlformats.org/drawingml/2006/main" noGrp="1"/>
          </p:cNvSpPr>
          <p:nvPr/>
        </p:nvSpPr>
        <p:spPr>
          <a:xfrm xmlns:a="http://schemas.openxmlformats.org/drawingml/2006/main">
            <a:off x="1524000" y="1790700"/>
            <a:ext cx="390525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B2545"/>
                </a:solidFill>
                <a:latin typeface="Aptos"/>
                <a:ea typeface="Aptos"/>
                <a:cs typeface="Aptos"/>
              </a:defRPr>
            </a:pPr>
            <a:r>
              <a:t>Evaluator calibration</a:t>
            </a:r>
          </a:p>
        </p:txBody>
      </p:sp>
      <p:sp>
        <p:nvSpPr>
          <p:cNvPr id="9" name="">
            <a:extLst xmlns:a="http://schemas.openxmlformats.org/drawingml/2006/main">
              <a:ext uri="{FF2B5EF4-FFF2-40B4-BE49-F238E27FC236}">
                <a16:creationId xmlns:a16="http://schemas.microsoft.com/office/drawing/2014/main" id="{77E7A08D-F3B4-4D51-9750-305172061BF8}"/>
              </a:ext>
            </a:extLst>
          </p:cNvPr>
          <p:cNvSpPr>
            <a:spLocks xmlns:a="http://schemas.openxmlformats.org/drawingml/2006/main" noGrp="1"/>
          </p:cNvSpPr>
          <p:nvPr/>
        </p:nvSpPr>
        <p:spPr>
          <a:xfrm xmlns:a="http://schemas.openxmlformats.org/drawingml/2006/main">
            <a:off x="876300" y="2324100"/>
            <a:ext cx="4572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5B677A"/>
                </a:solidFill>
                <a:latin typeface="Aptos"/>
                <a:ea typeface="Aptos"/>
                <a:cs typeface="Aptos"/>
              </a:defRPr>
            </a:pPr>
            <a:r>
              <a:t>α 0.7551 &lt; 0.80; Failure Mode α 0.5673</a:t>
            </a:r>
          </a:p>
        </p:txBody>
      </p:sp>
      <p:sp>
        <p:nvSpPr>
          <p:cNvPr id="10" name="">
            <a:extLst xmlns:a="http://schemas.openxmlformats.org/drawingml/2006/main">
              <a:ext uri="{FF2B5EF4-FFF2-40B4-BE49-F238E27FC236}">
                <a16:creationId xmlns:a16="http://schemas.microsoft.com/office/drawing/2014/main" id="{8F023607-B42D-4BCB-8734-AAB1CB591AF6}"/>
              </a:ext>
            </a:extLst>
          </p:cNvPr>
          <p:cNvSpPr>
            <a:spLocks xmlns:a="http://schemas.openxmlformats.org/drawingml/2006/main" noGrp="1"/>
          </p:cNvSpPr>
          <p:nvPr/>
        </p:nvSpPr>
        <p:spPr>
          <a:xfrm xmlns:a="http://schemas.openxmlformats.org/drawingml/2006/main">
            <a:off x="6172200" y="1581150"/>
            <a:ext cx="52387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7DFE9"/>
            </a:solidFill>
            <a:prstDash val="solid"/>
          </a:ln>
        </p:spPr>
      </p:sp>
      <p:sp>
        <p:nvSpPr>
          <p:cNvPr id="11" name="">
            <a:extLst xmlns:a="http://schemas.openxmlformats.org/drawingml/2006/main">
              <a:ext uri="{FF2B5EF4-FFF2-40B4-BE49-F238E27FC236}">
                <a16:creationId xmlns:a16="http://schemas.microsoft.com/office/drawing/2014/main" id="{A31261B3-E5E2-4B6B-B73F-AC528E6CA724}"/>
              </a:ext>
            </a:extLst>
          </p:cNvPr>
          <p:cNvSpPr>
            <a:spLocks xmlns:a="http://schemas.openxmlformats.org/drawingml/2006/main" noGrp="1"/>
          </p:cNvSpPr>
          <p:nvPr/>
        </p:nvSpPr>
        <p:spPr>
          <a:xfrm xmlns:a="http://schemas.openxmlformats.org/drawingml/2006/main">
            <a:off x="6172200" y="1581150"/>
            <a:ext cx="95250" cy="1476375"/>
          </a:xfrm>
          <a:prstGeom xmlns:a="http://schemas.openxmlformats.org/drawingml/2006/main" prst="rect">
            <a:avLst/>
          </a:prstGeom>
          <a:solidFill xmlns:a="http://schemas.openxmlformats.org/drawingml/2006/main">
            <a:srgbClr val="D48A00"/>
          </a:solidFill>
          <a:ln xmlns:a="http://schemas.openxmlformats.org/drawingml/2006/main" w="0">
            <a:solidFill>
              <a:srgbClr val="D48A00"/>
            </a:solidFill>
            <a:prstDash val="solid"/>
          </a:ln>
        </p:spPr>
      </p:sp>
      <p:sp>
        <p:nvSpPr>
          <p:cNvPr id="12" name="">
            <a:extLst xmlns:a="http://schemas.openxmlformats.org/drawingml/2006/main">
              <a:ext uri="{FF2B5EF4-FFF2-40B4-BE49-F238E27FC236}">
                <a16:creationId xmlns:a16="http://schemas.microsoft.com/office/drawing/2014/main" id="{B40317A5-B4DD-4D30-94C6-DAFB114ABCDC}"/>
              </a:ext>
            </a:extLst>
          </p:cNvPr>
          <p:cNvSpPr>
            <a:spLocks xmlns:a="http://schemas.openxmlformats.org/drawingml/2006/main" noGrp="1"/>
          </p:cNvSpPr>
          <p:nvPr/>
        </p:nvSpPr>
        <p:spPr>
          <a:xfrm xmlns:a="http://schemas.openxmlformats.org/drawingml/2006/main">
            <a:off x="6457950" y="1819275"/>
            <a:ext cx="51435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D48A00"/>
                </a:solidFill>
                <a:latin typeface="Aptos"/>
                <a:ea typeface="Aptos"/>
                <a:cs typeface="Aptos"/>
              </a:defRPr>
            </a:pPr>
            <a:r>
              <a:t>02</a:t>
            </a:r>
          </a:p>
        </p:txBody>
      </p:sp>
      <p:sp>
        <p:nvSpPr>
          <p:cNvPr id="13" name="">
            <a:extLst xmlns:a="http://schemas.openxmlformats.org/drawingml/2006/main">
              <a:ext uri="{FF2B5EF4-FFF2-40B4-BE49-F238E27FC236}">
                <a16:creationId xmlns:a16="http://schemas.microsoft.com/office/drawing/2014/main" id="{70431ECC-DE46-44CD-98DB-28C5A4A38CF0}"/>
              </a:ext>
            </a:extLst>
          </p:cNvPr>
          <p:cNvSpPr>
            <a:spLocks xmlns:a="http://schemas.openxmlformats.org/drawingml/2006/main" noGrp="1"/>
          </p:cNvSpPr>
          <p:nvPr/>
        </p:nvSpPr>
        <p:spPr>
          <a:xfrm xmlns:a="http://schemas.openxmlformats.org/drawingml/2006/main">
            <a:off x="7105650" y="1790700"/>
            <a:ext cx="390525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B2545"/>
                </a:solidFill>
                <a:latin typeface="Aptos"/>
                <a:ea typeface="Aptos"/>
                <a:cs typeface="Aptos"/>
              </a:defRPr>
            </a:pPr>
            <a:r>
              <a:t>Product representativeness</a:t>
            </a:r>
          </a:p>
        </p:txBody>
      </p:sp>
      <p:sp>
        <p:nvSpPr>
          <p:cNvPr id="14" name="">
            <a:extLst xmlns:a="http://schemas.openxmlformats.org/drawingml/2006/main">
              <a:ext uri="{FF2B5EF4-FFF2-40B4-BE49-F238E27FC236}">
                <a16:creationId xmlns:a16="http://schemas.microsoft.com/office/drawing/2014/main" id="{0206A2CE-26F2-4642-88D8-6FA96DE76CF9}"/>
              </a:ext>
            </a:extLst>
          </p:cNvPr>
          <p:cNvSpPr>
            <a:spLocks xmlns:a="http://schemas.openxmlformats.org/drawingml/2006/main" noGrp="1"/>
          </p:cNvSpPr>
          <p:nvPr/>
        </p:nvSpPr>
        <p:spPr>
          <a:xfrm xmlns:a="http://schemas.openxmlformats.org/drawingml/2006/main">
            <a:off x="6457950" y="2324100"/>
            <a:ext cx="4572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5B677A"/>
                </a:solidFill>
                <a:latin typeface="Aptos"/>
                <a:ea typeface="Aptos"/>
                <a:cs typeface="Aptos"/>
              </a:defRPr>
            </a:pPr>
            <a:r>
              <a:t>public/synthetic evidence; no deployed InGen runtime</a:t>
            </a:r>
          </a:p>
        </p:txBody>
      </p:sp>
      <p:sp>
        <p:nvSpPr>
          <p:cNvPr id="15" name="">
            <a:extLst xmlns:a="http://schemas.openxmlformats.org/drawingml/2006/main">
              <a:ext uri="{FF2B5EF4-FFF2-40B4-BE49-F238E27FC236}">
                <a16:creationId xmlns:a16="http://schemas.microsoft.com/office/drawing/2014/main" id="{D2807DF3-BA93-4F0B-BB0B-27BCB522E1C3}"/>
              </a:ext>
            </a:extLst>
          </p:cNvPr>
          <p:cNvSpPr>
            <a:spLocks xmlns:a="http://schemas.openxmlformats.org/drawingml/2006/main" noGrp="1"/>
          </p:cNvSpPr>
          <p:nvPr/>
        </p:nvSpPr>
        <p:spPr>
          <a:xfrm xmlns:a="http://schemas.openxmlformats.org/drawingml/2006/main">
            <a:off x="590550" y="3343275"/>
            <a:ext cx="52387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7DFE9"/>
            </a:solidFill>
            <a:prstDash val="solid"/>
          </a:ln>
        </p:spPr>
      </p:sp>
      <p:sp>
        <p:nvSpPr>
          <p:cNvPr id="16" name="">
            <a:extLst xmlns:a="http://schemas.openxmlformats.org/drawingml/2006/main">
              <a:ext uri="{FF2B5EF4-FFF2-40B4-BE49-F238E27FC236}">
                <a16:creationId xmlns:a16="http://schemas.microsoft.com/office/drawing/2014/main" id="{88E57341-5D92-413A-8DC0-D6307D4B28D0}"/>
              </a:ext>
            </a:extLst>
          </p:cNvPr>
          <p:cNvSpPr>
            <a:spLocks xmlns:a="http://schemas.openxmlformats.org/drawingml/2006/main" noGrp="1"/>
          </p:cNvSpPr>
          <p:nvPr/>
        </p:nvSpPr>
        <p:spPr>
          <a:xfrm xmlns:a="http://schemas.openxmlformats.org/drawingml/2006/main">
            <a:off x="590550" y="3343275"/>
            <a:ext cx="95250" cy="14763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587AD699-7246-4EA4-A3C9-8C1A077C0C98}"/>
              </a:ext>
            </a:extLst>
          </p:cNvPr>
          <p:cNvSpPr>
            <a:spLocks xmlns:a="http://schemas.openxmlformats.org/drawingml/2006/main" noGrp="1"/>
          </p:cNvSpPr>
          <p:nvPr/>
        </p:nvSpPr>
        <p:spPr>
          <a:xfrm xmlns:a="http://schemas.openxmlformats.org/drawingml/2006/main">
            <a:off x="876300" y="3581400"/>
            <a:ext cx="51435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2E74B5"/>
                </a:solidFill>
                <a:latin typeface="Aptos"/>
                <a:ea typeface="Aptos"/>
                <a:cs typeface="Aptos"/>
              </a:defRPr>
            </a:pPr>
            <a:r>
              <a:t>03</a:t>
            </a:r>
          </a:p>
        </p:txBody>
      </p:sp>
      <p:sp>
        <p:nvSpPr>
          <p:cNvPr id="18" name="">
            <a:extLst xmlns:a="http://schemas.openxmlformats.org/drawingml/2006/main">
              <a:ext uri="{FF2B5EF4-FFF2-40B4-BE49-F238E27FC236}">
                <a16:creationId xmlns:a16="http://schemas.microsoft.com/office/drawing/2014/main" id="{9D48E323-E8EA-416C-9718-5867933748AC}"/>
              </a:ext>
            </a:extLst>
          </p:cNvPr>
          <p:cNvSpPr>
            <a:spLocks xmlns:a="http://schemas.openxmlformats.org/drawingml/2006/main" noGrp="1"/>
          </p:cNvSpPr>
          <p:nvPr/>
        </p:nvSpPr>
        <p:spPr>
          <a:xfrm xmlns:a="http://schemas.openxmlformats.org/drawingml/2006/main">
            <a:off x="1524000" y="3552825"/>
            <a:ext cx="390525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B2545"/>
                </a:solidFill>
                <a:latin typeface="Aptos"/>
                <a:ea typeface="Aptos"/>
                <a:cs typeface="Aptos"/>
              </a:defRPr>
            </a:pPr>
            <a:r>
              <a:t>Variance estimation</a:t>
            </a:r>
          </a:p>
        </p:txBody>
      </p:sp>
      <p:sp>
        <p:nvSpPr>
          <p:cNvPr id="19" name="">
            <a:extLst xmlns:a="http://schemas.openxmlformats.org/drawingml/2006/main">
              <a:ext uri="{FF2B5EF4-FFF2-40B4-BE49-F238E27FC236}">
                <a16:creationId xmlns:a16="http://schemas.microsoft.com/office/drawing/2014/main" id="{F1020C9B-5E9B-45AD-9BFA-C016C5C62CF6}"/>
              </a:ext>
            </a:extLst>
          </p:cNvPr>
          <p:cNvSpPr>
            <a:spLocks xmlns:a="http://schemas.openxmlformats.org/drawingml/2006/main" noGrp="1"/>
          </p:cNvSpPr>
          <p:nvPr/>
        </p:nvSpPr>
        <p:spPr>
          <a:xfrm xmlns:a="http://schemas.openxmlformats.org/drawingml/2006/main">
            <a:off x="876300" y="4086225"/>
            <a:ext cx="4572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5B677A"/>
                </a:solidFill>
                <a:latin typeface="Aptos"/>
                <a:ea typeface="Aptos"/>
                <a:cs typeface="Aptos"/>
              </a:defRPr>
            </a:pPr>
            <a:r>
              <a:t>mostly one seed, deterministic decoding, one A40</a:t>
            </a:r>
          </a:p>
        </p:txBody>
      </p:sp>
      <p:sp>
        <p:nvSpPr>
          <p:cNvPr id="20" name="">
            <a:extLst xmlns:a="http://schemas.openxmlformats.org/drawingml/2006/main">
              <a:ext uri="{FF2B5EF4-FFF2-40B4-BE49-F238E27FC236}">
                <a16:creationId xmlns:a16="http://schemas.microsoft.com/office/drawing/2014/main" id="{21D7B9F5-6D32-4D0A-B34B-663DA75E05D8}"/>
              </a:ext>
            </a:extLst>
          </p:cNvPr>
          <p:cNvSpPr>
            <a:spLocks xmlns:a="http://schemas.openxmlformats.org/drawingml/2006/main" noGrp="1"/>
          </p:cNvSpPr>
          <p:nvPr/>
        </p:nvSpPr>
        <p:spPr>
          <a:xfrm xmlns:a="http://schemas.openxmlformats.org/drawingml/2006/main">
            <a:off x="6172200" y="3343275"/>
            <a:ext cx="52387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7DFE9"/>
            </a:solidFill>
            <a:prstDash val="solid"/>
          </a:ln>
        </p:spPr>
      </p:sp>
      <p:sp>
        <p:nvSpPr>
          <p:cNvPr id="21" name="">
            <a:extLst xmlns:a="http://schemas.openxmlformats.org/drawingml/2006/main">
              <a:ext uri="{FF2B5EF4-FFF2-40B4-BE49-F238E27FC236}">
                <a16:creationId xmlns:a16="http://schemas.microsoft.com/office/drawing/2014/main" id="{CBDA3569-0264-451B-8A64-86D3A9722402}"/>
              </a:ext>
            </a:extLst>
          </p:cNvPr>
          <p:cNvSpPr>
            <a:spLocks xmlns:a="http://schemas.openxmlformats.org/drawingml/2006/main" noGrp="1"/>
          </p:cNvSpPr>
          <p:nvPr/>
        </p:nvSpPr>
        <p:spPr>
          <a:xfrm xmlns:a="http://schemas.openxmlformats.org/drawingml/2006/main">
            <a:off x="6172200" y="3343275"/>
            <a:ext cx="95250" cy="1476375"/>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22" name="">
            <a:extLst xmlns:a="http://schemas.openxmlformats.org/drawingml/2006/main">
              <a:ext uri="{FF2B5EF4-FFF2-40B4-BE49-F238E27FC236}">
                <a16:creationId xmlns:a16="http://schemas.microsoft.com/office/drawing/2014/main" id="{9EA75714-A5C4-438D-BE8D-F8D656F6E1FD}"/>
              </a:ext>
            </a:extLst>
          </p:cNvPr>
          <p:cNvSpPr>
            <a:spLocks xmlns:a="http://schemas.openxmlformats.org/drawingml/2006/main" noGrp="1"/>
          </p:cNvSpPr>
          <p:nvPr/>
        </p:nvSpPr>
        <p:spPr>
          <a:xfrm xmlns:a="http://schemas.openxmlformats.org/drawingml/2006/main">
            <a:off x="6457950" y="3581400"/>
            <a:ext cx="51435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0F9D8A"/>
                </a:solidFill>
                <a:latin typeface="Aptos"/>
                <a:ea typeface="Aptos"/>
                <a:cs typeface="Aptos"/>
              </a:defRPr>
            </a:pPr>
            <a:r>
              <a:t>04</a:t>
            </a:r>
          </a:p>
        </p:txBody>
      </p:sp>
      <p:sp>
        <p:nvSpPr>
          <p:cNvPr id="23" name="">
            <a:extLst xmlns:a="http://schemas.openxmlformats.org/drawingml/2006/main">
              <a:ext uri="{FF2B5EF4-FFF2-40B4-BE49-F238E27FC236}">
                <a16:creationId xmlns:a16="http://schemas.microsoft.com/office/drawing/2014/main" id="{71D929FF-222F-4FEF-A4E7-4C12DEAC03FB}"/>
              </a:ext>
            </a:extLst>
          </p:cNvPr>
          <p:cNvSpPr>
            <a:spLocks xmlns:a="http://schemas.openxmlformats.org/drawingml/2006/main" noGrp="1"/>
          </p:cNvSpPr>
          <p:nvPr/>
        </p:nvSpPr>
        <p:spPr>
          <a:xfrm xmlns:a="http://schemas.openxmlformats.org/drawingml/2006/main">
            <a:off x="7105650" y="3552825"/>
            <a:ext cx="390525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B2545"/>
                </a:solidFill>
                <a:latin typeface="Aptos"/>
                <a:ea typeface="Aptos"/>
                <a:cs typeface="Aptos"/>
              </a:defRPr>
            </a:pPr>
            <a:r>
              <a:t>Population size</a:t>
            </a:r>
          </a:p>
        </p:txBody>
      </p:sp>
      <p:sp>
        <p:nvSpPr>
          <p:cNvPr id="24" name="">
            <a:extLst xmlns:a="http://schemas.openxmlformats.org/drawingml/2006/main">
              <a:ext uri="{FF2B5EF4-FFF2-40B4-BE49-F238E27FC236}">
                <a16:creationId xmlns:a16="http://schemas.microsoft.com/office/drawing/2014/main" id="{1EA64E02-0E4E-43EE-9625-3CEBF449498E}"/>
              </a:ext>
            </a:extLst>
          </p:cNvPr>
          <p:cNvSpPr>
            <a:spLocks xmlns:a="http://schemas.openxmlformats.org/drawingml/2006/main" noGrp="1"/>
          </p:cNvSpPr>
          <p:nvPr/>
        </p:nvSpPr>
        <p:spPr>
          <a:xfrm xmlns:a="http://schemas.openxmlformats.org/drawingml/2006/main">
            <a:off x="6457950" y="4086225"/>
            <a:ext cx="4572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5B677A"/>
                </a:solidFill>
                <a:latin typeface="Aptos"/>
                <a:ea typeface="Aptos"/>
                <a:cs typeface="Aptos"/>
              </a:defRPr>
            </a:pPr>
            <a:r>
              <a:t>35 text · 40 long-RAG · 20 optimisation · 20 images</a:t>
            </a:r>
          </a:p>
        </p:txBody>
      </p:sp>
      <p:sp>
        <p:nvSpPr>
          <p:cNvPr id="25" name="">
            <a:extLst xmlns:a="http://schemas.openxmlformats.org/drawingml/2006/main">
              <a:ext uri="{FF2B5EF4-FFF2-40B4-BE49-F238E27FC236}">
                <a16:creationId xmlns:a16="http://schemas.microsoft.com/office/drawing/2014/main" id="{EF8125B7-BB58-43B6-BA62-76D9A4413CFF}"/>
              </a:ext>
            </a:extLst>
          </p:cNvPr>
          <p:cNvSpPr>
            <a:spLocks xmlns:a="http://schemas.openxmlformats.org/drawingml/2006/main" noGrp="1"/>
          </p:cNvSpPr>
          <p:nvPr/>
        </p:nvSpPr>
        <p:spPr>
          <a:xfrm xmlns:a="http://schemas.openxmlformats.org/drawingml/2006/main">
            <a:off x="590550" y="5286375"/>
            <a:ext cx="10820400" cy="857250"/>
          </a:xfrm>
          <a:prstGeom xmlns:a="http://schemas.openxmlformats.org/drawingml/2006/main" prst="roundRect">
            <a:avLst>
              <a:gd name="adj" fmla="val 8889"/>
            </a:avLst>
          </a:prstGeom>
          <a:solidFill xmlns:a="http://schemas.openxmlformats.org/drawingml/2006/main">
            <a:srgbClr val="EAF2FF"/>
          </a:solidFill>
          <a:ln xmlns:a="http://schemas.openxmlformats.org/drawingml/2006/main" w="0">
            <a:solidFill>
              <a:srgbClr val="EAF2FF"/>
            </a:solidFill>
            <a:prstDash val="solid"/>
          </a:ln>
        </p:spPr>
      </p:sp>
      <p:sp>
        <p:nvSpPr>
          <p:cNvPr id="26" name="">
            <a:extLst xmlns:a="http://schemas.openxmlformats.org/drawingml/2006/main">
              <a:ext uri="{FF2B5EF4-FFF2-40B4-BE49-F238E27FC236}">
                <a16:creationId xmlns:a16="http://schemas.microsoft.com/office/drawing/2014/main" id="{AA4A7FDE-2B4A-42FD-B7AA-31F1E0EFF606}"/>
              </a:ext>
            </a:extLst>
          </p:cNvPr>
          <p:cNvSpPr>
            <a:spLocks xmlns:a="http://schemas.openxmlformats.org/drawingml/2006/main" noGrp="1"/>
          </p:cNvSpPr>
          <p:nvPr/>
        </p:nvSpPr>
        <p:spPr>
          <a:xfrm xmlns:a="http://schemas.openxmlformats.org/drawingml/2006/main">
            <a:off x="838200" y="5457825"/>
            <a:ext cx="3238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E74B5"/>
                </a:solidFill>
                <a:latin typeface="Aptos"/>
                <a:ea typeface="Aptos"/>
                <a:cs typeface="Aptos"/>
              </a:defRPr>
            </a:pPr>
            <a:r>
              <a:t>What reproducibility does establish</a:t>
            </a:r>
          </a:p>
        </p:txBody>
      </p:sp>
      <p:sp>
        <p:nvSpPr>
          <p:cNvPr id="27" name="">
            <a:extLst xmlns:a="http://schemas.openxmlformats.org/drawingml/2006/main">
              <a:ext uri="{FF2B5EF4-FFF2-40B4-BE49-F238E27FC236}">
                <a16:creationId xmlns:a16="http://schemas.microsoft.com/office/drawing/2014/main" id="{192B2B84-9A4F-48A0-A887-4AB338D6EDA3}"/>
              </a:ext>
            </a:extLst>
          </p:cNvPr>
          <p:cNvSpPr>
            <a:spLocks xmlns:a="http://schemas.openxmlformats.org/drawingml/2006/main" noGrp="1"/>
          </p:cNvSpPr>
          <p:nvPr/>
        </p:nvSpPr>
        <p:spPr>
          <a:xfrm xmlns:a="http://schemas.openxmlformats.org/drawingml/2006/main">
            <a:off x="838200" y="5772150"/>
            <a:ext cx="102679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172033"/>
                </a:solidFill>
                <a:latin typeface="Aptos"/>
                <a:ea typeface="Aptos"/>
                <a:cs typeface="Aptos"/>
              </a:defRPr>
            </a:pPr>
            <a:r>
              <a:t>exact model revisions · frozen datasets · seed 42 · hashes · raw rows · 45 matched contrasts · deterministic Pareto membership</a:t>
            </a:r>
          </a:p>
        </p:txBody>
      </p:sp>
    </p:spTree>
    <p:extLst>
      <p:ext uri="{BB962C8B-B14F-4D97-AF65-F5344CB8AC3E}">
        <p14:creationId xmlns:p14="http://schemas.microsoft.com/office/powerpoint/2010/main" val="9234271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0275199-FC47-4356-B33B-CD4A1AD0E59E}"/>
              </a:ext>
            </a:extLst>
          </p:cNvPr>
          <p:cNvSpPr>
            <a:spLocks xmlns:a="http://schemas.openxmlformats.org/drawingml/2006/main" noGrp="1"/>
          </p:cNvSpPr>
          <p:nvPr/>
        </p:nvSpPr>
        <p:spPr>
          <a:xfrm xmlns:a="http://schemas.openxmlformats.org/drawingml/2006/main">
            <a:off x="400050" y="209550"/>
            <a:ext cx="5048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74B5"/>
                </a:solidFill>
                <a:latin typeface="Aptos"/>
                <a:ea typeface="Aptos"/>
                <a:cs typeface="Aptos"/>
              </a:defRPr>
            </a:pPr>
            <a:r>
              <a:t>WEEK 8 · CAPSTONE</a:t>
            </a:r>
          </a:p>
        </p:txBody>
      </p:sp>
      <p:sp>
        <p:nvSpPr>
          <p:cNvPr id="2" name="">
            <a:extLst xmlns:a="http://schemas.openxmlformats.org/drawingml/2006/main">
              <a:ext uri="{FF2B5EF4-FFF2-40B4-BE49-F238E27FC236}">
                <a16:creationId xmlns:a16="http://schemas.microsoft.com/office/drawing/2014/main" id="{0F9EF30A-9C4C-4C6D-A75F-D056F0EEE73E}"/>
              </a:ext>
            </a:extLst>
          </p:cNvPr>
          <p:cNvSpPr>
            <a:spLocks xmlns:a="http://schemas.openxmlformats.org/drawingml/2006/main" noGrp="1"/>
          </p:cNvSpPr>
          <p:nvPr/>
        </p:nvSpPr>
        <p:spPr>
          <a:xfrm xmlns:a="http://schemas.openxmlformats.org/drawingml/2006/main">
            <a:off x="400050" y="485775"/>
            <a:ext cx="11049000" cy="647700"/>
          </a:xfrm>
          <a:prstGeom xmlns:a="http://schemas.openxmlformats.org/drawingml/2006/main" prst="rect">
            <a:avLst/>
          </a:prstGeom>
        </p:spPr>
        <p:txBody>
          <a:bodyPr xmlns:a="http://schemas.openxmlformats.org/drawingml/2006/main" wrap="square" lIns="0" tIns="0" rIns="0" bIns="0" anchor="t">
            <a:normAutofit fontScale="96062"/>
          </a:bodyPr>
          <a:lstStyle xmlns:a="http://schemas.openxmlformats.org/drawingml/2006/main"/>
          <a:p xmlns:a="http://schemas.openxmlformats.org/drawingml/2006/main">
            <a:pPr algn="l">
              <a:defRPr sz="2850" b="1" i="0">
                <a:solidFill>
                  <a:srgbClr val="172033"/>
                </a:solidFill>
                <a:latin typeface="Aptos"/>
                <a:ea typeface="Aptos"/>
                <a:cs typeface="Aptos"/>
              </a:defRPr>
            </a:pPr>
            <a:r>
              <a:t>A 12-week extension adds 4 experiments that convert proxies into validation</a:t>
            </a:r>
          </a:p>
        </p:txBody>
      </p:sp>
      <p:cxnSp>
        <p:nvCxnSpPr>
          <p:cNvPr id="36" name=""/>
          <p:cNvCxnSpPr/>
          <p:nvPr/>
        </p:nvCxnSpPr>
        <p:spPr>
          <a:xfrm xmlns:a="http://schemas.openxmlformats.org/drawingml/2006/main">
            <a:off x="400050" y="1219200"/>
            <a:ext cx="11391900" cy="95"/>
          </a:xfrm>
          <a:prstGeom xmlns:a="http://schemas.openxmlformats.org/drawingml/2006/main" prst="straightConnector1">
            <a:avLst/>
          </a:prstGeom>
          <a:ln xmlns:a="http://schemas.openxmlformats.org/drawingml/2006/main" w="9525">
            <a:solidFill>
              <a:srgbClr val="D7DFE9"/>
            </a:solidFill>
            <a:prstDash val="solid"/>
          </a:ln>
        </p:spPr>
      </p:cxnSp>
      <p:sp>
        <p:nvSpPr>
          <p:cNvPr id="4" name="">
            <a:extLst xmlns:a="http://schemas.openxmlformats.org/drawingml/2006/main">
              <a:ext uri="{FF2B5EF4-FFF2-40B4-BE49-F238E27FC236}">
                <a16:creationId xmlns:a16="http://schemas.microsoft.com/office/drawing/2014/main" id="{7F9C2CDE-0B96-4075-AEC2-4A61619CA5AA}"/>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8792A3"/>
                </a:solidFill>
                <a:latin typeface="Aptos"/>
                <a:ea typeface="Aptos"/>
                <a:cs typeface="Aptos"/>
              </a:defRPr>
            </a:pPr>
            <a:r>
              <a:t>12</a:t>
            </a:r>
          </a:p>
        </p:txBody>
      </p:sp>
      <p:cxnSp>
        <p:nvCxnSpPr>
          <p:cNvPr id="38" name=""/>
          <p:cNvCxnSpPr/>
          <p:nvPr/>
        </p:nvCxnSpPr>
        <p:spPr>
          <a:xfrm xmlns:a="http://schemas.openxmlformats.org/drawingml/2006/main">
            <a:off x="971550" y="2343150"/>
            <a:ext cx="9810750" cy="95"/>
          </a:xfrm>
          <a:prstGeom xmlns:a="http://schemas.openxmlformats.org/drawingml/2006/main" prst="straightConnector1">
            <a:avLst/>
          </a:prstGeom>
          <a:ln xmlns:a="http://schemas.openxmlformats.org/drawingml/2006/main" w="38100">
            <a:solidFill>
              <a:srgbClr val="D7DFE9"/>
            </a:solidFill>
            <a:prstDash val="solid"/>
          </a:ln>
        </p:spPr>
      </p:cxnSp>
      <p:sp>
        <p:nvSpPr>
          <p:cNvPr id="6" name="">
            <a:extLst xmlns:a="http://schemas.openxmlformats.org/drawingml/2006/main">
              <a:ext uri="{FF2B5EF4-FFF2-40B4-BE49-F238E27FC236}">
                <a16:creationId xmlns:a16="http://schemas.microsoft.com/office/drawing/2014/main" id="{148A5876-A77F-4C37-9189-655BF74EC15F}"/>
              </a:ext>
            </a:extLst>
          </p:cNvPr>
          <p:cNvSpPr>
            <a:spLocks xmlns:a="http://schemas.openxmlformats.org/drawingml/2006/main" noGrp="1"/>
          </p:cNvSpPr>
          <p:nvPr/>
        </p:nvSpPr>
        <p:spPr>
          <a:xfrm xmlns:a="http://schemas.openxmlformats.org/drawingml/2006/main">
            <a:off x="1466850" y="2133600"/>
            <a:ext cx="438150" cy="438150"/>
          </a:xfrm>
          <a:prstGeom xmlns:a="http://schemas.openxmlformats.org/drawingml/2006/main" prst="ellipse">
            <a:avLst/>
          </a:prstGeom>
          <a:solidFill xmlns:a="http://schemas.openxmlformats.org/drawingml/2006/main">
            <a:srgbClr val="2563EB"/>
          </a:solidFill>
          <a:ln xmlns:a="http://schemas.openxmlformats.org/drawingml/2006/main" w="38100">
            <a:solidFill>
              <a:srgbClr val="FFFFFF"/>
            </a:solidFill>
            <a:prstDash val="solid"/>
          </a:ln>
        </p:spPr>
      </p:sp>
      <p:sp>
        <p:nvSpPr>
          <p:cNvPr id="7" name="">
            <a:extLst xmlns:a="http://schemas.openxmlformats.org/drawingml/2006/main">
              <a:ext uri="{FF2B5EF4-FFF2-40B4-BE49-F238E27FC236}">
                <a16:creationId xmlns:a16="http://schemas.microsoft.com/office/drawing/2014/main" id="{E8C0F52E-2267-4A16-B247-52DA3580318A}"/>
              </a:ext>
            </a:extLst>
          </p:cNvPr>
          <p:cNvSpPr>
            <a:spLocks xmlns:a="http://schemas.openxmlformats.org/drawingml/2006/main" noGrp="1"/>
          </p:cNvSpPr>
          <p:nvPr/>
        </p:nvSpPr>
        <p:spPr>
          <a:xfrm xmlns:a="http://schemas.openxmlformats.org/drawingml/2006/main">
            <a:off x="1581150" y="2228850"/>
            <a:ext cx="2095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FFF"/>
                </a:solidFill>
                <a:latin typeface="Aptos"/>
                <a:ea typeface="Aptos"/>
                <a:cs typeface="Aptos"/>
              </a:defRPr>
            </a:pPr>
            <a:r>
              <a:t>1</a:t>
            </a:r>
          </a:p>
        </p:txBody>
      </p:sp>
      <p:sp>
        <p:nvSpPr>
          <p:cNvPr id="8" name="">
            <a:extLst xmlns:a="http://schemas.openxmlformats.org/drawingml/2006/main">
              <a:ext uri="{FF2B5EF4-FFF2-40B4-BE49-F238E27FC236}">
                <a16:creationId xmlns:a16="http://schemas.microsoft.com/office/drawing/2014/main" id="{B7CC24C4-2414-4D88-8371-8E52F7D8B227}"/>
              </a:ext>
            </a:extLst>
          </p:cNvPr>
          <p:cNvSpPr>
            <a:spLocks xmlns:a="http://schemas.openxmlformats.org/drawingml/2006/main" noGrp="1"/>
          </p:cNvSpPr>
          <p:nvPr/>
        </p:nvSpPr>
        <p:spPr>
          <a:xfrm xmlns:a="http://schemas.openxmlformats.org/drawingml/2006/main">
            <a:off x="685800" y="2781300"/>
            <a:ext cx="2428875"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7DFE9"/>
            </a:solidFill>
            <a:prstDash val="solid"/>
          </a:ln>
        </p:spPr>
      </p:sp>
      <p:sp>
        <p:nvSpPr>
          <p:cNvPr id="9" name="">
            <a:extLst xmlns:a="http://schemas.openxmlformats.org/drawingml/2006/main">
              <a:ext uri="{FF2B5EF4-FFF2-40B4-BE49-F238E27FC236}">
                <a16:creationId xmlns:a16="http://schemas.microsoft.com/office/drawing/2014/main" id="{C82039D1-5187-435B-96DA-08BF3992F8D4}"/>
              </a:ext>
            </a:extLst>
          </p:cNvPr>
          <p:cNvSpPr>
            <a:spLocks xmlns:a="http://schemas.openxmlformats.org/drawingml/2006/main" noGrp="1"/>
          </p:cNvSpPr>
          <p:nvPr/>
        </p:nvSpPr>
        <p:spPr>
          <a:xfrm xmlns:a="http://schemas.openxmlformats.org/drawingml/2006/main">
            <a:off x="857250" y="2971800"/>
            <a:ext cx="2095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2563EB"/>
                </a:solidFill>
                <a:latin typeface="Aptos"/>
                <a:ea typeface="Aptos"/>
                <a:cs typeface="Aptos"/>
              </a:defRPr>
            </a:pPr>
            <a:r>
              <a:t>Weeks 1–3</a:t>
            </a:r>
          </a:p>
        </p:txBody>
      </p:sp>
      <p:sp>
        <p:nvSpPr>
          <p:cNvPr id="10" name="">
            <a:extLst xmlns:a="http://schemas.openxmlformats.org/drawingml/2006/main">
              <a:ext uri="{FF2B5EF4-FFF2-40B4-BE49-F238E27FC236}">
                <a16:creationId xmlns:a16="http://schemas.microsoft.com/office/drawing/2014/main" id="{D5AB6224-9E04-49E0-88A7-4BF98960FDD6}"/>
              </a:ext>
            </a:extLst>
          </p:cNvPr>
          <p:cNvSpPr>
            <a:spLocks xmlns:a="http://schemas.openxmlformats.org/drawingml/2006/main" noGrp="1"/>
          </p:cNvSpPr>
          <p:nvPr/>
        </p:nvSpPr>
        <p:spPr>
          <a:xfrm xmlns:a="http://schemas.openxmlformats.org/drawingml/2006/main">
            <a:off x="857250" y="3314700"/>
            <a:ext cx="20955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0B2545"/>
                </a:solidFill>
                <a:latin typeface="Aptos"/>
                <a:ea typeface="Aptos"/>
                <a:cs typeface="Aptos"/>
              </a:defRPr>
            </a:pPr>
            <a:r>
              <a:t>Independent scoring calibration</a:t>
            </a:r>
          </a:p>
        </p:txBody>
      </p:sp>
      <p:sp>
        <p:nvSpPr>
          <p:cNvPr id="11" name="">
            <a:extLst xmlns:a="http://schemas.openxmlformats.org/drawingml/2006/main">
              <a:ext uri="{FF2B5EF4-FFF2-40B4-BE49-F238E27FC236}">
                <a16:creationId xmlns:a16="http://schemas.microsoft.com/office/drawing/2014/main" id="{93795314-9544-4F63-AD68-D8CCF0773842}"/>
              </a:ext>
            </a:extLst>
          </p:cNvPr>
          <p:cNvSpPr>
            <a:spLocks xmlns:a="http://schemas.openxmlformats.org/drawingml/2006/main" noGrp="1"/>
          </p:cNvSpPr>
          <p:nvPr/>
        </p:nvSpPr>
        <p:spPr>
          <a:xfrm xmlns:a="http://schemas.openxmlformats.org/drawingml/2006/main">
            <a:off x="857250" y="3924300"/>
            <a:ext cx="20955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5B677A"/>
                </a:solidFill>
                <a:latin typeface="Aptos"/>
                <a:ea typeface="Aptos"/>
                <a:cs typeface="Aptos"/>
              </a:defRPr>
            </a:pPr>
            <a:r>
              <a:t>2+ blinded experts · 30–50 stratified items</a:t>
            </a:r>
          </a:p>
        </p:txBody>
      </p:sp>
      <p:sp>
        <p:nvSpPr>
          <p:cNvPr id="12" name="">
            <a:extLst xmlns:a="http://schemas.openxmlformats.org/drawingml/2006/main">
              <a:ext uri="{FF2B5EF4-FFF2-40B4-BE49-F238E27FC236}">
                <a16:creationId xmlns:a16="http://schemas.microsoft.com/office/drawing/2014/main" id="{DDEBFC6E-4A56-4126-9958-E5B1B27BD08C}"/>
              </a:ext>
            </a:extLst>
          </p:cNvPr>
          <p:cNvSpPr>
            <a:spLocks xmlns:a="http://schemas.openxmlformats.org/drawingml/2006/main" noGrp="1"/>
          </p:cNvSpPr>
          <p:nvPr/>
        </p:nvSpPr>
        <p:spPr>
          <a:xfrm xmlns:a="http://schemas.openxmlformats.org/drawingml/2006/main">
            <a:off x="4229100" y="2133600"/>
            <a:ext cx="438150" cy="438150"/>
          </a:xfrm>
          <a:prstGeom xmlns:a="http://schemas.openxmlformats.org/drawingml/2006/main" prst="ellipse">
            <a:avLst/>
          </a:prstGeom>
          <a:solidFill xmlns:a="http://schemas.openxmlformats.org/drawingml/2006/main">
            <a:srgbClr val="0F9D8A"/>
          </a:solidFill>
          <a:ln xmlns:a="http://schemas.openxmlformats.org/drawingml/2006/main" w="38100">
            <a:solidFill>
              <a:srgbClr val="FFFFFF"/>
            </a:solidFill>
            <a:prstDash val="solid"/>
          </a:ln>
        </p:spPr>
      </p:sp>
      <p:sp>
        <p:nvSpPr>
          <p:cNvPr id="13" name="">
            <a:extLst xmlns:a="http://schemas.openxmlformats.org/drawingml/2006/main">
              <a:ext uri="{FF2B5EF4-FFF2-40B4-BE49-F238E27FC236}">
                <a16:creationId xmlns:a16="http://schemas.microsoft.com/office/drawing/2014/main" id="{F941A82B-2956-464D-AA6C-C0F9BDE75193}"/>
              </a:ext>
            </a:extLst>
          </p:cNvPr>
          <p:cNvSpPr>
            <a:spLocks xmlns:a="http://schemas.openxmlformats.org/drawingml/2006/main" noGrp="1"/>
          </p:cNvSpPr>
          <p:nvPr/>
        </p:nvSpPr>
        <p:spPr>
          <a:xfrm xmlns:a="http://schemas.openxmlformats.org/drawingml/2006/main">
            <a:off x="4343400" y="2228850"/>
            <a:ext cx="2095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FFF"/>
                </a:solidFill>
                <a:latin typeface="Aptos"/>
                <a:ea typeface="Aptos"/>
                <a:cs typeface="Aptos"/>
              </a:defRPr>
            </a:pPr>
            <a:r>
              <a:t>2</a:t>
            </a:r>
          </a:p>
        </p:txBody>
      </p:sp>
      <p:sp>
        <p:nvSpPr>
          <p:cNvPr id="14" name="">
            <a:extLst xmlns:a="http://schemas.openxmlformats.org/drawingml/2006/main">
              <a:ext uri="{FF2B5EF4-FFF2-40B4-BE49-F238E27FC236}">
                <a16:creationId xmlns:a16="http://schemas.microsoft.com/office/drawing/2014/main" id="{17F09723-78B2-4EE5-9D53-931062B20F6C}"/>
              </a:ext>
            </a:extLst>
          </p:cNvPr>
          <p:cNvSpPr>
            <a:spLocks xmlns:a="http://schemas.openxmlformats.org/drawingml/2006/main" noGrp="1"/>
          </p:cNvSpPr>
          <p:nvPr/>
        </p:nvSpPr>
        <p:spPr>
          <a:xfrm xmlns:a="http://schemas.openxmlformats.org/drawingml/2006/main">
            <a:off x="3448050" y="2781300"/>
            <a:ext cx="2428875"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7DFE9"/>
            </a:solidFill>
            <a:prstDash val="solid"/>
          </a:ln>
        </p:spPr>
      </p:sp>
      <p:sp>
        <p:nvSpPr>
          <p:cNvPr id="15" name="">
            <a:extLst xmlns:a="http://schemas.openxmlformats.org/drawingml/2006/main">
              <a:ext uri="{FF2B5EF4-FFF2-40B4-BE49-F238E27FC236}">
                <a16:creationId xmlns:a16="http://schemas.microsoft.com/office/drawing/2014/main" id="{DC6DFF34-6C39-4A8E-85DC-F2193B1C8CAC}"/>
              </a:ext>
            </a:extLst>
          </p:cNvPr>
          <p:cNvSpPr>
            <a:spLocks xmlns:a="http://schemas.openxmlformats.org/drawingml/2006/main" noGrp="1"/>
          </p:cNvSpPr>
          <p:nvPr/>
        </p:nvSpPr>
        <p:spPr>
          <a:xfrm xmlns:a="http://schemas.openxmlformats.org/drawingml/2006/main">
            <a:off x="3619500" y="2971800"/>
            <a:ext cx="2095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0F9D8A"/>
                </a:solidFill>
                <a:latin typeface="Aptos"/>
                <a:ea typeface="Aptos"/>
                <a:cs typeface="Aptos"/>
              </a:defRPr>
            </a:pPr>
            <a:r>
              <a:t>Weeks 4–6</a:t>
            </a:r>
          </a:p>
        </p:txBody>
      </p:sp>
      <p:sp>
        <p:nvSpPr>
          <p:cNvPr id="16" name="">
            <a:extLst xmlns:a="http://schemas.openxmlformats.org/drawingml/2006/main">
              <a:ext uri="{FF2B5EF4-FFF2-40B4-BE49-F238E27FC236}">
                <a16:creationId xmlns:a16="http://schemas.microsoft.com/office/drawing/2014/main" id="{14C8E0B4-C103-40DF-ACFB-0BECDB159E8F}"/>
              </a:ext>
            </a:extLst>
          </p:cNvPr>
          <p:cNvSpPr>
            <a:spLocks xmlns:a="http://schemas.openxmlformats.org/drawingml/2006/main" noGrp="1"/>
          </p:cNvSpPr>
          <p:nvPr/>
        </p:nvSpPr>
        <p:spPr>
          <a:xfrm xmlns:a="http://schemas.openxmlformats.org/drawingml/2006/main">
            <a:off x="3619500" y="3314700"/>
            <a:ext cx="20955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0B2545"/>
                </a:solidFill>
                <a:latin typeface="Aptos"/>
                <a:ea typeface="Aptos"/>
                <a:cs typeface="Aptos"/>
              </a:defRPr>
            </a:pPr>
            <a:r>
              <a:t>Closed-loop dropout + recovery</a:t>
            </a:r>
          </a:p>
        </p:txBody>
      </p:sp>
      <p:sp>
        <p:nvSpPr>
          <p:cNvPr id="17" name="">
            <a:extLst xmlns:a="http://schemas.openxmlformats.org/drawingml/2006/main">
              <a:ext uri="{FF2B5EF4-FFF2-40B4-BE49-F238E27FC236}">
                <a16:creationId xmlns:a16="http://schemas.microsoft.com/office/drawing/2014/main" id="{B62620C2-9D48-47BB-8AD7-4FF0A55D9097}"/>
              </a:ext>
            </a:extLst>
          </p:cNvPr>
          <p:cNvSpPr>
            <a:spLocks xmlns:a="http://schemas.openxmlformats.org/drawingml/2006/main" noGrp="1"/>
          </p:cNvSpPr>
          <p:nvPr/>
        </p:nvSpPr>
        <p:spPr>
          <a:xfrm xmlns:a="http://schemas.openxmlformats.org/drawingml/2006/main">
            <a:off x="3619500" y="3924300"/>
            <a:ext cx="20955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5B677A"/>
                </a:solidFill>
                <a:latin typeface="Aptos"/>
                <a:ea typeface="Aptos"/>
                <a:cs typeface="Aptos"/>
              </a:defRPr>
            </a:pPr>
            <a:r>
              <a:t>time-aligned sensors · safe-state metrics</a:t>
            </a:r>
          </a:p>
        </p:txBody>
      </p:sp>
      <p:sp>
        <p:nvSpPr>
          <p:cNvPr id="18" name="">
            <a:extLst xmlns:a="http://schemas.openxmlformats.org/drawingml/2006/main">
              <a:ext uri="{FF2B5EF4-FFF2-40B4-BE49-F238E27FC236}">
                <a16:creationId xmlns:a16="http://schemas.microsoft.com/office/drawing/2014/main" id="{101DB72E-4613-4EF8-9AA3-240EA0CC9FD5}"/>
              </a:ext>
            </a:extLst>
          </p:cNvPr>
          <p:cNvSpPr>
            <a:spLocks xmlns:a="http://schemas.openxmlformats.org/drawingml/2006/main" noGrp="1"/>
          </p:cNvSpPr>
          <p:nvPr/>
        </p:nvSpPr>
        <p:spPr>
          <a:xfrm xmlns:a="http://schemas.openxmlformats.org/drawingml/2006/main">
            <a:off x="6991350" y="2133600"/>
            <a:ext cx="438150" cy="438150"/>
          </a:xfrm>
          <a:prstGeom xmlns:a="http://schemas.openxmlformats.org/drawingml/2006/main" prst="ellipse">
            <a:avLst/>
          </a:prstGeom>
          <a:solidFill xmlns:a="http://schemas.openxmlformats.org/drawingml/2006/main">
            <a:srgbClr val="D48A00"/>
          </a:solidFill>
          <a:ln xmlns:a="http://schemas.openxmlformats.org/drawingml/2006/main" w="38100">
            <a:solidFill>
              <a:srgbClr val="FFFFFF"/>
            </a:solidFill>
            <a:prstDash val="solid"/>
          </a:ln>
        </p:spPr>
      </p:sp>
      <p:sp>
        <p:nvSpPr>
          <p:cNvPr id="19" name="">
            <a:extLst xmlns:a="http://schemas.openxmlformats.org/drawingml/2006/main">
              <a:ext uri="{FF2B5EF4-FFF2-40B4-BE49-F238E27FC236}">
                <a16:creationId xmlns:a16="http://schemas.microsoft.com/office/drawing/2014/main" id="{DA4C273F-FEC6-49B6-83A6-97F55B968E59}"/>
              </a:ext>
            </a:extLst>
          </p:cNvPr>
          <p:cNvSpPr>
            <a:spLocks xmlns:a="http://schemas.openxmlformats.org/drawingml/2006/main" noGrp="1"/>
          </p:cNvSpPr>
          <p:nvPr/>
        </p:nvSpPr>
        <p:spPr>
          <a:xfrm xmlns:a="http://schemas.openxmlformats.org/drawingml/2006/main">
            <a:off x="7105650" y="2228850"/>
            <a:ext cx="2095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FFF"/>
                </a:solidFill>
                <a:latin typeface="Aptos"/>
                <a:ea typeface="Aptos"/>
                <a:cs typeface="Aptos"/>
              </a:defRPr>
            </a:pPr>
            <a:r>
              <a:t>3</a:t>
            </a:r>
          </a:p>
        </p:txBody>
      </p:sp>
      <p:sp>
        <p:nvSpPr>
          <p:cNvPr id="20" name="">
            <a:extLst xmlns:a="http://schemas.openxmlformats.org/drawingml/2006/main">
              <a:ext uri="{FF2B5EF4-FFF2-40B4-BE49-F238E27FC236}">
                <a16:creationId xmlns:a16="http://schemas.microsoft.com/office/drawing/2014/main" id="{DC334BC1-C4F0-4D24-ADA2-13B82CE25D93}"/>
              </a:ext>
            </a:extLst>
          </p:cNvPr>
          <p:cNvSpPr>
            <a:spLocks xmlns:a="http://schemas.openxmlformats.org/drawingml/2006/main" noGrp="1"/>
          </p:cNvSpPr>
          <p:nvPr/>
        </p:nvSpPr>
        <p:spPr>
          <a:xfrm xmlns:a="http://schemas.openxmlformats.org/drawingml/2006/main">
            <a:off x="6210300" y="2781300"/>
            <a:ext cx="2428875"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7DFE9"/>
            </a:solidFill>
            <a:prstDash val="solid"/>
          </a:ln>
        </p:spPr>
      </p:sp>
      <p:sp>
        <p:nvSpPr>
          <p:cNvPr id="21" name="">
            <a:extLst xmlns:a="http://schemas.openxmlformats.org/drawingml/2006/main">
              <a:ext uri="{FF2B5EF4-FFF2-40B4-BE49-F238E27FC236}">
                <a16:creationId xmlns:a16="http://schemas.microsoft.com/office/drawing/2014/main" id="{EA2F68BC-29A0-4205-8EDB-4157968D8B78}"/>
              </a:ext>
            </a:extLst>
          </p:cNvPr>
          <p:cNvSpPr>
            <a:spLocks xmlns:a="http://schemas.openxmlformats.org/drawingml/2006/main" noGrp="1"/>
          </p:cNvSpPr>
          <p:nvPr/>
        </p:nvSpPr>
        <p:spPr>
          <a:xfrm xmlns:a="http://schemas.openxmlformats.org/drawingml/2006/main">
            <a:off x="6381750" y="2971800"/>
            <a:ext cx="2095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D48A00"/>
                </a:solidFill>
                <a:latin typeface="Aptos"/>
                <a:ea typeface="Aptos"/>
                <a:cs typeface="Aptos"/>
              </a:defRPr>
            </a:pPr>
            <a:r>
              <a:t>Weeks 7–9</a:t>
            </a:r>
          </a:p>
        </p:txBody>
      </p:sp>
      <p:sp>
        <p:nvSpPr>
          <p:cNvPr id="22" name="">
            <a:extLst xmlns:a="http://schemas.openxmlformats.org/drawingml/2006/main">
              <a:ext uri="{FF2B5EF4-FFF2-40B4-BE49-F238E27FC236}">
                <a16:creationId xmlns:a16="http://schemas.microsoft.com/office/drawing/2014/main" id="{DCC9FBD7-93E3-4922-958A-55D639CC4A14}"/>
              </a:ext>
            </a:extLst>
          </p:cNvPr>
          <p:cNvSpPr>
            <a:spLocks xmlns:a="http://schemas.openxmlformats.org/drawingml/2006/main" noGrp="1"/>
          </p:cNvSpPr>
          <p:nvPr/>
        </p:nvSpPr>
        <p:spPr>
          <a:xfrm xmlns:a="http://schemas.openxmlformats.org/drawingml/2006/main">
            <a:off x="6381750" y="3314700"/>
            <a:ext cx="20955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0B2545"/>
                </a:solidFill>
                <a:latin typeface="Aptos"/>
                <a:ea typeface="Aptos"/>
                <a:cs typeface="Aptos"/>
              </a:defRPr>
            </a:pPr>
            <a:r>
              <a:t>RAG generalisation + drift</a:t>
            </a:r>
          </a:p>
        </p:txBody>
      </p:sp>
      <p:sp>
        <p:nvSpPr>
          <p:cNvPr id="23" name="">
            <a:extLst xmlns:a="http://schemas.openxmlformats.org/drawingml/2006/main">
              <a:ext uri="{FF2B5EF4-FFF2-40B4-BE49-F238E27FC236}">
                <a16:creationId xmlns:a16="http://schemas.microsoft.com/office/drawing/2014/main" id="{7BFF3573-DF49-4A7F-B317-96B7D9D0A0C8}"/>
              </a:ext>
            </a:extLst>
          </p:cNvPr>
          <p:cNvSpPr>
            <a:spLocks xmlns:a="http://schemas.openxmlformats.org/drawingml/2006/main" noGrp="1"/>
          </p:cNvSpPr>
          <p:nvPr/>
        </p:nvSpPr>
        <p:spPr>
          <a:xfrm xmlns:a="http://schemas.openxmlformats.org/drawingml/2006/main">
            <a:off x="6381750" y="3924300"/>
            <a:ext cx="20955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5B677A"/>
                </a:solidFill>
                <a:latin typeface="Aptos"/>
                <a:ea typeface="Aptos"/>
                <a:cs typeface="Aptos"/>
              </a:defRPr>
            </a:pPr>
            <a:r>
              <a:t>time slices · adversarial sources · 2 hardware targets</a:t>
            </a:r>
          </a:p>
        </p:txBody>
      </p:sp>
      <p:sp>
        <p:nvSpPr>
          <p:cNvPr id="24" name="">
            <a:extLst xmlns:a="http://schemas.openxmlformats.org/drawingml/2006/main">
              <a:ext uri="{FF2B5EF4-FFF2-40B4-BE49-F238E27FC236}">
                <a16:creationId xmlns:a16="http://schemas.microsoft.com/office/drawing/2014/main" id="{7E9A182F-E5BA-4635-BC4E-5F0FD1C28113}"/>
              </a:ext>
            </a:extLst>
          </p:cNvPr>
          <p:cNvSpPr>
            <a:spLocks xmlns:a="http://schemas.openxmlformats.org/drawingml/2006/main" noGrp="1"/>
          </p:cNvSpPr>
          <p:nvPr/>
        </p:nvSpPr>
        <p:spPr>
          <a:xfrm xmlns:a="http://schemas.openxmlformats.org/drawingml/2006/main">
            <a:off x="9753600" y="2133600"/>
            <a:ext cx="438150" cy="438150"/>
          </a:xfrm>
          <a:prstGeom xmlns:a="http://schemas.openxmlformats.org/drawingml/2006/main" prst="ellipse">
            <a:avLst/>
          </a:prstGeom>
          <a:solidFill xmlns:a="http://schemas.openxmlformats.org/drawingml/2006/main">
            <a:srgbClr val="D94B4B"/>
          </a:solidFill>
          <a:ln xmlns:a="http://schemas.openxmlformats.org/drawingml/2006/main" w="38100">
            <a:solidFill>
              <a:srgbClr val="FFFFFF"/>
            </a:solidFill>
            <a:prstDash val="solid"/>
          </a:ln>
        </p:spPr>
      </p:sp>
      <p:sp>
        <p:nvSpPr>
          <p:cNvPr id="25" name="">
            <a:extLst xmlns:a="http://schemas.openxmlformats.org/drawingml/2006/main">
              <a:ext uri="{FF2B5EF4-FFF2-40B4-BE49-F238E27FC236}">
                <a16:creationId xmlns:a16="http://schemas.microsoft.com/office/drawing/2014/main" id="{DA329613-C788-46F8-A825-EAD232D9330C}"/>
              </a:ext>
            </a:extLst>
          </p:cNvPr>
          <p:cNvSpPr>
            <a:spLocks xmlns:a="http://schemas.openxmlformats.org/drawingml/2006/main" noGrp="1"/>
          </p:cNvSpPr>
          <p:nvPr/>
        </p:nvSpPr>
        <p:spPr>
          <a:xfrm xmlns:a="http://schemas.openxmlformats.org/drawingml/2006/main">
            <a:off x="9867900" y="2228850"/>
            <a:ext cx="2095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FFF"/>
                </a:solidFill>
                <a:latin typeface="Aptos"/>
                <a:ea typeface="Aptos"/>
                <a:cs typeface="Aptos"/>
              </a:defRPr>
            </a:pPr>
            <a:r>
              <a:t>4</a:t>
            </a:r>
          </a:p>
        </p:txBody>
      </p:sp>
      <p:sp>
        <p:nvSpPr>
          <p:cNvPr id="26" name="">
            <a:extLst xmlns:a="http://schemas.openxmlformats.org/drawingml/2006/main">
              <a:ext uri="{FF2B5EF4-FFF2-40B4-BE49-F238E27FC236}">
                <a16:creationId xmlns:a16="http://schemas.microsoft.com/office/drawing/2014/main" id="{7DCA6FAC-F9B0-4AC3-A8F0-6F2D3E9C6315}"/>
              </a:ext>
            </a:extLst>
          </p:cNvPr>
          <p:cNvSpPr>
            <a:spLocks xmlns:a="http://schemas.openxmlformats.org/drawingml/2006/main" noGrp="1"/>
          </p:cNvSpPr>
          <p:nvPr/>
        </p:nvSpPr>
        <p:spPr>
          <a:xfrm xmlns:a="http://schemas.openxmlformats.org/drawingml/2006/main">
            <a:off x="8972550" y="2781300"/>
            <a:ext cx="2428875"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7DFE9"/>
            </a:solidFill>
            <a:prstDash val="solid"/>
          </a:ln>
        </p:spPr>
      </p:sp>
      <p:sp>
        <p:nvSpPr>
          <p:cNvPr id="27" name="">
            <a:extLst xmlns:a="http://schemas.openxmlformats.org/drawingml/2006/main">
              <a:ext uri="{FF2B5EF4-FFF2-40B4-BE49-F238E27FC236}">
                <a16:creationId xmlns:a16="http://schemas.microsoft.com/office/drawing/2014/main" id="{793F5E10-39B5-4A1A-B580-83D8876C8B4F}"/>
              </a:ext>
            </a:extLst>
          </p:cNvPr>
          <p:cNvSpPr>
            <a:spLocks xmlns:a="http://schemas.openxmlformats.org/drawingml/2006/main" noGrp="1"/>
          </p:cNvSpPr>
          <p:nvPr/>
        </p:nvSpPr>
        <p:spPr>
          <a:xfrm xmlns:a="http://schemas.openxmlformats.org/drawingml/2006/main">
            <a:off x="9144000" y="2971800"/>
            <a:ext cx="2095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D94B4B"/>
                </a:solidFill>
                <a:latin typeface="Aptos"/>
                <a:ea typeface="Aptos"/>
                <a:cs typeface="Aptos"/>
              </a:defRPr>
            </a:pPr>
            <a:r>
              <a:t>Weeks 10–12</a:t>
            </a:r>
          </a:p>
        </p:txBody>
      </p:sp>
      <p:sp>
        <p:nvSpPr>
          <p:cNvPr id="28" name="">
            <a:extLst xmlns:a="http://schemas.openxmlformats.org/drawingml/2006/main">
              <a:ext uri="{FF2B5EF4-FFF2-40B4-BE49-F238E27FC236}">
                <a16:creationId xmlns:a16="http://schemas.microsoft.com/office/drawing/2014/main" id="{FB492BD4-6FFB-4B99-82C6-B767D9583F7B}"/>
              </a:ext>
            </a:extLst>
          </p:cNvPr>
          <p:cNvSpPr>
            <a:spLocks xmlns:a="http://schemas.openxmlformats.org/drawingml/2006/main" noGrp="1"/>
          </p:cNvSpPr>
          <p:nvPr/>
        </p:nvSpPr>
        <p:spPr>
          <a:xfrm xmlns:a="http://schemas.openxmlformats.org/drawingml/2006/main">
            <a:off x="9144000" y="3314700"/>
            <a:ext cx="20955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0B2545"/>
                </a:solidFill>
                <a:latin typeface="Aptos"/>
                <a:ea typeface="Aptos"/>
                <a:cs typeface="Aptos"/>
              </a:defRPr>
            </a:pPr>
            <a:r>
              <a:t>Multi-agent communication loss</a:t>
            </a:r>
          </a:p>
        </p:txBody>
      </p:sp>
      <p:sp>
        <p:nvSpPr>
          <p:cNvPr id="29" name="">
            <a:extLst xmlns:a="http://schemas.openxmlformats.org/drawingml/2006/main">
              <a:ext uri="{FF2B5EF4-FFF2-40B4-BE49-F238E27FC236}">
                <a16:creationId xmlns:a16="http://schemas.microsoft.com/office/drawing/2014/main" id="{D5C6DE76-7A5C-46B6-9725-DA6B56914899}"/>
              </a:ext>
            </a:extLst>
          </p:cNvPr>
          <p:cNvSpPr>
            <a:spLocks xmlns:a="http://schemas.openxmlformats.org/drawingml/2006/main" noGrp="1"/>
          </p:cNvSpPr>
          <p:nvPr/>
        </p:nvSpPr>
        <p:spPr>
          <a:xfrm xmlns:a="http://schemas.openxmlformats.org/drawingml/2006/main">
            <a:off x="9144000" y="3924300"/>
            <a:ext cx="20955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5B677A"/>
                </a:solidFill>
                <a:latin typeface="Aptos"/>
                <a:ea typeface="Aptos"/>
                <a:cs typeface="Aptos"/>
              </a:defRPr>
            </a:pPr>
            <a:r>
              <a:t>bandwidth · agent dropout · forgetting</a:t>
            </a:r>
          </a:p>
        </p:txBody>
      </p:sp>
      <p:sp>
        <p:nvSpPr>
          <p:cNvPr id="30" name="">
            <a:extLst xmlns:a="http://schemas.openxmlformats.org/drawingml/2006/main">
              <a:ext uri="{FF2B5EF4-FFF2-40B4-BE49-F238E27FC236}">
                <a16:creationId xmlns:a16="http://schemas.microsoft.com/office/drawing/2014/main" id="{6029F05A-7C2F-428F-AD03-07698106FF06}"/>
              </a:ext>
            </a:extLst>
          </p:cNvPr>
          <p:cNvSpPr>
            <a:spLocks xmlns:a="http://schemas.openxmlformats.org/drawingml/2006/main" noGrp="1"/>
          </p:cNvSpPr>
          <p:nvPr/>
        </p:nvSpPr>
        <p:spPr>
          <a:xfrm xmlns:a="http://schemas.openxmlformats.org/drawingml/2006/main">
            <a:off x="685800" y="4905375"/>
            <a:ext cx="10620375" cy="1028700"/>
          </a:xfrm>
          <a:prstGeom xmlns:a="http://schemas.openxmlformats.org/drawingml/2006/main" prst="roundRect">
            <a:avLst>
              <a:gd name="adj" fmla="val 7407"/>
            </a:avLst>
          </a:prstGeom>
          <a:solidFill xmlns:a="http://schemas.openxmlformats.org/drawingml/2006/main">
            <a:srgbClr val="0B2545"/>
          </a:solidFill>
          <a:ln xmlns:a="http://schemas.openxmlformats.org/drawingml/2006/main" w="0">
            <a:solidFill>
              <a:srgbClr val="0B2545"/>
            </a:solidFill>
            <a:prstDash val="solid"/>
          </a:ln>
        </p:spPr>
      </p:sp>
      <p:sp>
        <p:nvSpPr>
          <p:cNvPr id="31" name="">
            <a:extLst xmlns:a="http://schemas.openxmlformats.org/drawingml/2006/main">
              <a:ext uri="{FF2B5EF4-FFF2-40B4-BE49-F238E27FC236}">
                <a16:creationId xmlns:a16="http://schemas.microsoft.com/office/drawing/2014/main" id="{7C46657F-79E2-4889-9478-EAEACDB5E861}"/>
              </a:ext>
            </a:extLst>
          </p:cNvPr>
          <p:cNvSpPr>
            <a:spLocks xmlns:a="http://schemas.openxmlformats.org/drawingml/2006/main" noGrp="1"/>
          </p:cNvSpPr>
          <p:nvPr/>
        </p:nvSpPr>
        <p:spPr>
          <a:xfrm xmlns:a="http://schemas.openxmlformats.org/drawingml/2006/main">
            <a:off x="933450" y="5105400"/>
            <a:ext cx="2286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67BDE5"/>
                </a:solidFill>
                <a:latin typeface="Aptos"/>
                <a:ea typeface="Aptos"/>
                <a:cs typeface="Aptos"/>
              </a:defRPr>
            </a:pPr>
            <a:r>
              <a:t>Final recommendation</a:t>
            </a:r>
          </a:p>
        </p:txBody>
      </p:sp>
      <p:sp>
        <p:nvSpPr>
          <p:cNvPr id="32" name="">
            <a:extLst xmlns:a="http://schemas.openxmlformats.org/drawingml/2006/main">
              <a:ext uri="{FF2B5EF4-FFF2-40B4-BE49-F238E27FC236}">
                <a16:creationId xmlns:a16="http://schemas.microsoft.com/office/drawing/2014/main" id="{1794E374-11AA-4532-AD15-F11DE32D7538}"/>
              </a:ext>
            </a:extLst>
          </p:cNvPr>
          <p:cNvSpPr>
            <a:spLocks xmlns:a="http://schemas.openxmlformats.org/drawingml/2006/main" noGrp="1"/>
          </p:cNvSpPr>
          <p:nvPr/>
        </p:nvSpPr>
        <p:spPr>
          <a:xfrm xmlns:a="http://schemas.openxmlformats.org/drawingml/2006/main">
            <a:off x="933450" y="5457825"/>
            <a:ext cx="10096500" cy="381000"/>
          </a:xfrm>
          <a:prstGeom xmlns:a="http://schemas.openxmlformats.org/drawingml/2006/main" prst="rect">
            <a:avLst/>
          </a:prstGeom>
        </p:spPr>
        <p:txBody>
          <a:bodyPr xmlns:a="http://schemas.openxmlformats.org/drawingml/2006/main" wrap="square" lIns="0" tIns="0" rIns="0" bIns="0" anchor="t">
            <a:normAutofit fontScale="88983"/>
          </a:bodyPr>
          <a:lstStyle xmlns:a="http://schemas.openxmlformats.org/drawingml/2006/main"/>
          <a:p xmlns:a="http://schemas.openxmlformats.org/drawingml/2006/main">
            <a:pPr algn="ctr">
              <a:defRPr sz="1575" b="1" i="0">
                <a:solidFill>
                  <a:srgbClr val="FFFFFF"/>
                </a:solidFill>
                <a:latin typeface="Aptos"/>
                <a:ea typeface="Aptos"/>
                <a:cs typeface="Aptos"/>
              </a:defRPr>
            </a:pPr>
            <a:r>
              <a:t>Close evaluator calibration first; then invest in closed-loop recovery and cross-corpus generalisation—not a larger diagnostic leaderboard.</a:t>
            </a:r>
          </a:p>
        </p:txBody>
      </p:sp>
      <p:sp>
        <p:nvSpPr>
          <p:cNvPr id="33" name="">
            <a:extLst xmlns:a="http://schemas.openxmlformats.org/drawingml/2006/main">
              <a:ext uri="{FF2B5EF4-FFF2-40B4-BE49-F238E27FC236}">
                <a16:creationId xmlns:a16="http://schemas.microsoft.com/office/drawing/2014/main" id="{69DD6547-3D2C-4788-9408-A91C77412FB9}"/>
              </a:ext>
            </a:extLst>
          </p:cNvPr>
          <p:cNvSpPr>
            <a:spLocks xmlns:a="http://schemas.openxmlformats.org/drawingml/2006/main" noGrp="1"/>
          </p:cNvSpPr>
          <p:nvPr/>
        </p:nvSpPr>
        <p:spPr>
          <a:xfrm xmlns:a="http://schemas.openxmlformats.org/drawingml/2006/main">
            <a:off x="9867900" y="6276975"/>
            <a:ext cx="1047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B677A"/>
                </a:solidFill>
                <a:latin typeface="Aptos"/>
                <a:ea typeface="Aptos"/>
                <a:cs typeface="Aptos"/>
              </a:defRPr>
            </a:pPr>
            <a:r>
              <a:t>Questions</a:t>
            </a:r>
          </a:p>
        </p:txBody>
      </p:sp>
    </p:spTree>
    <p:extLst>
      <p:ext uri="{BB962C8B-B14F-4D97-AF65-F5344CB8AC3E}">
        <p14:creationId xmlns:p14="http://schemas.microsoft.com/office/powerpoint/2010/main" val="14576761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2026-08-20T01:13:14.7880000Z</dcterms:created>
  <dcterms:modified xsi:type="dcterms:W3CDTF">2026-08-20T01:13:14.7880000Z</dcterms:modified>
</coreProperties>
</file>